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5.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d92637f7-b7de-d0b6-188e-d8894b072d75}">
          <p14:sldIdLst>
            <p14:sldId id="256"/>
            <p14:sldId id="257"/>
            <p14:sldId id="258"/>
          </p14:sldIdLst>
        </p14:section>
        <p14:section name="Yer ve saha" id="{f3d25fd1-6214-654c-c597-1fd7039c6a26}">
          <p14:sldIdLst>
            <p14:sldId id="259"/>
            <p14:sldId id="260"/>
            <p14:sldId id="261"/>
            <p14:sldId id="262"/>
            <p14:sldId id="263"/>
          </p14:sldIdLst>
        </p14:section>
        <p14:section name="Yaşam alanı" id="{2a8984db-92ab-e643-228d-24ed0c1649bb}">
          <p14:sldIdLst>
            <p14:sldId id="264"/>
            <p14:sldId id="265"/>
            <p14:sldId id="266"/>
            <p14:sldId id="267"/>
            <p14:sldId id="268"/>
            <p14:sldId id="269"/>
            <p14:sldId id="270"/>
            <p14:sldId id="271"/>
            <p14:sldId id="272"/>
            <p14:sldId id="273"/>
          </p14:sldIdLst>
        </p14:section>
        <p14:section name="Yatırım ve fayda" id="{27529f25-8f17-bbc8-647e-2569e5557152}">
          <p14:sldIdLst>
            <p14:sldId id="274"/>
            <p14:sldId id="275"/>
          </p14:sldIdLst>
        </p14:section>
        <p14:section name="Uygulama" id="{3bedae95-6181-47ae-3b19-095478678299}">
          <p14:sldIdLst>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Savunma sanayii istihdamı (bin kişi)</a:t>
            </a:r>
          </a:p>
        </c:rich>
      </c:tx>
      <c:layout/>
      <c:overlay val="0"/>
    </c:title>
    <c:autoTitleDeleted val="0"/>
    <c:plotArea>
      <c:layout/>
      <c:barChart>
        <c:barDir val="col"/>
        <c:grouping val="clustered"/>
        <c:varyColors val="0"/>
        <c:ser>
          <c:idx val="0"/>
          <c:order val="0"/>
          <c:tx>
            <c:strRef>
              <c:f>Sheet1!$B$1</c:f>
              <c:strCache>
                <c:ptCount val="1"/>
                <c:pt idx="0">
                  <c:v>Savunma sanayii istihdamı</c:v>
                </c:pt>
              </c:strCache>
            </c:strRef>
          </c:tx>
          <c:spPr>
            <a:solidFill>
              <a:srgbClr val="0B2E4F"/>
            </a:solidFill>
            <a:effectLst/>
          </c:spPr>
          <c:invertIfNegative val="0"/>
          <c:dLbls>
            <c:numFmt formatCode="General" sourceLinked="0"/>
            <c:txPr>
              <a:bodyPr/>
              <a:lstStyle/>
              <a:p>
                <a:pPr>
                  <a:defRPr b="0" i="0" strike="noStrike" sz="18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2022</c:v>
                  </c:pt>
                  <c:pt idx="1">
                    <c:v>2028 hedefi</c:v>
                  </c:pt>
                </c:lvl>
              </c:multiLvlStrCache>
            </c:multiLvlStrRef>
          </c:cat>
          <c:val>
            <c:numRef>
              <c:f>Sheet1!$B$2:$B$3</c:f>
              <c:numCache>
                <c:formatCode>General</c:formatCode>
                <c:ptCount val="2"/>
                <c:pt idx="0">
                  <c:v>81.1</c:v>
                </c:pt>
                <c:pt idx="1">
                  <c:v>158</c:v>
                </c:pt>
              </c:numCache>
            </c:numRef>
          </c:val>
        </c:ser>
        <c:dLbls>
          <c:numFmt formatCode="General" sourceLinked="0"/>
          <c:txPr>
            <a:bodyPr/>
            <a:lstStyle/>
            <a:p>
              <a:pPr>
                <a:defRPr b="0" i="0" strike="noStrike" sz="1800" u="none">
                  <a:solidFill>
                    <a:srgbClr val="1B243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8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E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Arazi kullanımı (ha; toplam 51,1)</a:t>
            </a:r>
          </a:p>
        </c:rich>
      </c:tx>
      <c:layout/>
      <c:overlay val="0"/>
    </c:title>
    <c:autoTitleDeleted val="0"/>
    <c:plotArea>
      <c:layout/>
      <c:barChart>
        <c:barDir val="bar"/>
        <c:grouping val="clustered"/>
        <c:varyColors val="0"/>
        <c:ser>
          <c:idx val="0"/>
          <c:order val="0"/>
          <c:tx>
            <c:strRef>
              <c:f>Sheet1!$B$1</c:f>
              <c:strCache>
                <c:ptCount val="1"/>
                <c:pt idx="0">
                  <c:v>Alan (ha)</c:v>
                </c:pt>
              </c:strCache>
            </c:strRef>
          </c:tx>
          <c:spPr>
            <a:solidFill>
              <a:srgbClr val="6B8F5E"/>
            </a:solidFill>
            <a:effectLst/>
          </c:spPr>
          <c:invertIfNegative val="0"/>
          <c:dLbls>
            <c:numFmt formatCode="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Konut adaları (net)</c:v>
                  </c:pt>
                  <c:pt idx="1">
                    <c:v>Yollar, otopark, aktarma</c:v>
                  </c:pt>
                  <c:pt idx="2">
                    <c:v>Korunan yamaç ve yarıntılar</c:v>
                  </c:pt>
                  <c:pt idx="3">
                    <c:v>Yapay göl ve göl parkı</c:v>
                  </c:pt>
                  <c:pt idx="4">
                    <c:v>Eğitim</c:v>
                  </c:pt>
                  <c:pt idx="5">
                    <c:v>Sağlık, sosyal, ibadet, teknik</c:v>
                  </c:pt>
                  <c:pt idx="6">
                    <c:v>Spor ve mahalle parkları</c:v>
                  </c:pt>
                  <c:pt idx="7">
                    <c:v>Mahalle merkezi ve ticaret</c:v>
                  </c:pt>
                </c:lvl>
              </c:multiLvlStrCache>
            </c:multiLvlStrRef>
          </c:cat>
          <c:val>
            <c:numRef>
              <c:f>Sheet1!$B$2:$B$9</c:f>
              <c:numCache>
                <c:formatCode>General</c:formatCode>
                <c:ptCount val="8"/>
                <c:pt idx="0">
                  <c:v>13.1</c:v>
                </c:pt>
                <c:pt idx="1">
                  <c:v>10.2</c:v>
                </c:pt>
                <c:pt idx="2">
                  <c:v>10</c:v>
                </c:pt>
                <c:pt idx="3">
                  <c:v>6</c:v>
                </c:pt>
                <c:pt idx="4">
                  <c:v>4.9</c:v>
                </c:pt>
                <c:pt idx="5">
                  <c:v>3.2</c:v>
                </c:pt>
                <c:pt idx="6">
                  <c:v>2.5</c:v>
                </c:pt>
                <c:pt idx="7">
                  <c:v>1.2</c:v>
                </c:pt>
              </c:numCache>
            </c:numRef>
          </c:val>
        </c:ser>
        <c:dLbls>
          <c:numFmt formatCode="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5"/>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E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Kademelere göre öğrenci</a:t>
            </a:r>
          </a:p>
        </c:rich>
      </c:tx>
      <c:layout/>
      <c:overlay val="0"/>
    </c:title>
    <c:autoTitleDeleted val="0"/>
    <c:plotArea>
      <c:layout/>
      <c:barChart>
        <c:barDir val="col"/>
        <c:grouping val="clustered"/>
        <c:varyColors val="0"/>
        <c:ser>
          <c:idx val="0"/>
          <c:order val="0"/>
          <c:tx>
            <c:strRef>
              <c:f>Sheet1!$B$1</c:f>
              <c:strCache>
                <c:ptCount val="1"/>
                <c:pt idx="0">
                  <c:v>Öğrenci</c:v>
                </c:pt>
              </c:strCache>
            </c:strRef>
          </c:tx>
          <c:spPr>
            <a:solidFill>
              <a:srgbClr val="3E7CB1"/>
            </a:solidFill>
            <a:effectLst/>
          </c:spPr>
          <c:invertIfNegative val="0"/>
          <c:dLbls>
            <c:numFmt formatCode="General"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Kreş ve anaokulu</c:v>
                  </c:pt>
                  <c:pt idx="1">
                    <c:v>İlkokul</c:v>
                  </c:pt>
                  <c:pt idx="2">
                    <c:v>Ortaokul</c:v>
                  </c:pt>
                  <c:pt idx="3">
                    <c:v>Lise</c:v>
                  </c:pt>
                </c:lvl>
              </c:multiLvlStrCache>
            </c:multiLvlStrRef>
          </c:cat>
          <c:val>
            <c:numRef>
              <c:f>Sheet1!$B$2:$B$5</c:f>
              <c:numCache>
                <c:formatCode>General</c:formatCode>
                <c:ptCount val="4"/>
                <c:pt idx="0">
                  <c:v>338</c:v>
                </c:pt>
                <c:pt idx="1">
                  <c:v>450</c:v>
                </c:pt>
                <c:pt idx="2">
                  <c:v>412</c:v>
                </c:pt>
                <c:pt idx="3">
                  <c:v>338</c:v>
                </c:pt>
              </c:numCache>
            </c:numRef>
          </c:val>
        </c:ser>
        <c:dLbls>
          <c:numFmt formatCode="General"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52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E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Baz senaryo, milyar TL</a:t>
            </a:r>
          </a:p>
        </c:rich>
      </c:tx>
      <c:layout/>
      <c:overlay val="0"/>
    </c:title>
    <c:autoTitleDeleted val="0"/>
    <c:plotArea>
      <c:layout/>
      <c:barChart>
        <c:barDir val="bar"/>
        <c:grouping val="clustered"/>
        <c:varyColors val="0"/>
        <c:ser>
          <c:idx val="0"/>
          <c:order val="0"/>
          <c:tx>
            <c:strRef>
              <c:f>Sheet1!$B$1</c:f>
              <c:strCache>
                <c:ptCount val="1"/>
                <c:pt idx="0">
                  <c:v>Baz senaryo (milyar TL)</c:v>
                </c:pt>
              </c:strCache>
            </c:strRef>
          </c:tx>
          <c:spPr>
            <a:solidFill>
              <a:srgbClr val="0B2E4F"/>
            </a:solidFill>
            <a:effectLst/>
          </c:spPr>
          <c:invertIfNegative val="0"/>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0B2E4F"/>
              </a:solidFill>
              <a:effectLst/>
            </c:spPr>
          </c:dPt>
          <c:dPt>
            <c:idx val="1"/>
            <c:invertIfNegative val="0"/>
            <c:bubble3D val="0"/>
            <c:spPr>
              <a:solidFill>
                <a:srgbClr val="9A5418"/>
              </a:solidFill>
              <a:effectLst/>
            </c:spPr>
          </c:dPt>
          <c:dPt>
            <c:idx val="2"/>
            <c:invertIfNegative val="0"/>
            <c:bubble3D val="0"/>
            <c:spPr>
              <a:solidFill>
                <a:srgbClr val="5E6875"/>
              </a:solidFill>
              <a:effectLst/>
            </c:spPr>
          </c:dPt>
          <c:dPt>
            <c:idx val="3"/>
            <c:invertIfNegative val="0"/>
            <c:bubble3D val="0"/>
            <c:spPr>
              <a:solidFill>
                <a:srgbClr val="9A5418"/>
              </a:solidFill>
              <a:effectLst/>
            </c:spPr>
          </c:dPt>
          <c:dPt>
            <c:idx val="4"/>
            <c:invertIfNegative val="0"/>
            <c:bubble3D val="0"/>
            <c:spPr>
              <a:solidFill>
                <a:srgbClr val="0B2E4F"/>
              </a:solidFill>
              <a:effectLst/>
            </c:spPr>
          </c:dPt>
          <c:dPt>
            <c:idx val="5"/>
            <c:invertIfNegative val="0"/>
            <c:bubble3D val="0"/>
            <c:spPr>
              <a:solidFill>
                <a:srgbClr val="9A5418"/>
              </a:solidFill>
              <a:effectLst/>
            </c:spPr>
          </c:dPt>
          <c:dPt>
            <c:idx val="6"/>
            <c:invertIfNegative val="0"/>
            <c:bubble3D val="0"/>
            <c:spPr>
              <a:solidFill>
                <a:srgbClr val="9A5418"/>
              </a:solidFill>
              <a:effectLst/>
            </c:spPr>
          </c:dPt>
          <c:dPt>
            <c:idx val="7"/>
            <c:invertIfNegative val="0"/>
            <c:bubble3D val="0"/>
            <c:spPr>
              <a:solidFill>
                <a:srgbClr val="9A5418"/>
              </a:solidFill>
              <a:effectLst/>
            </c:spPr>
          </c:dPt>
          <c:dPt>
            <c:idx val="8"/>
            <c:invertIfNegative val="0"/>
            <c:bubble3D val="0"/>
            <c:spPr>
              <a:solidFill>
                <a:srgbClr val="0B2E4F"/>
              </a:solidFill>
              <a:effectLst/>
            </c:spPr>
          </c:dPt>
          <c:dPt>
            <c:idx val="9"/>
            <c:invertIfNegative val="0"/>
            <c:bubble3D val="0"/>
            <c:spPr>
              <a:solidFill>
                <a:srgbClr val="9A5418"/>
              </a:solidFill>
              <a:effectLst/>
            </c:spPr>
          </c:dPt>
          <c:cat>
            <c:multiLvlStrRef>
              <c:f>Sheet1!$A$2:$A$11</c:f>
              <c:multiLvlStrCache>
                <c:ptCount val="10"/>
                <c:lvl>
                  <c:pt idx="0">
                    <c:v>Konutlar</c:v>
                  </c:pt>
                  <c:pt idx="1">
                    <c:v>Kentsel altyapı</c:v>
                  </c:pt>
                  <c:pt idx="2">
                    <c:v>Proje, etüt, beklenmeyen (%10)</c:v>
                  </c:pt>
                  <c:pt idx="3">
                    <c:v>Ekspres hat ve aktarma</c:v>
                  </c:pt>
                  <c:pt idx="4">
                    <c:v>Mahalle merkezi ve ticaret</c:v>
                  </c:pt>
                  <c:pt idx="5">
                    <c:v>Göl, parklar, yamaç parkurları</c:v>
                  </c:pt>
                  <c:pt idx="6">
                    <c:v>Kültür, spor, sağlık</c:v>
                  </c:pt>
                  <c:pt idx="7">
                    <c:v>Devlet okul kampüsü</c:v>
                  </c:pt>
                  <c:pt idx="8">
                    <c:v>Özel okul kampüsü</c:v>
                  </c:pt>
                  <c:pt idx="9">
                    <c:v>Akıllı şehir sistemleri</c:v>
                  </c:pt>
                </c:lvl>
              </c:multiLvlStrCache>
            </c:multiLvlStrRef>
          </c:cat>
          <c:val>
            <c:numRef>
              <c:f>Sheet1!$B$2:$B$11</c:f>
              <c:numCache>
                <c:formatCode>General</c:formatCode>
                <c:ptCount val="10"/>
                <c:pt idx="0">
                  <c:v>7.94</c:v>
                </c:pt>
                <c:pt idx="1">
                  <c:v>1.59</c:v>
                </c:pt>
                <c:pt idx="2">
                  <c:v>1.14</c:v>
                </c:pt>
                <c:pt idx="3">
                  <c:v>0.48</c:v>
                </c:pt>
                <c:pt idx="4">
                  <c:v>0.32</c:v>
                </c:pt>
                <c:pt idx="5">
                  <c:v>0.3</c:v>
                </c:pt>
                <c:pt idx="6">
                  <c:v>0.28</c:v>
                </c:pt>
                <c:pt idx="7">
                  <c:v>0.2</c:v>
                </c:pt>
                <c:pt idx="8">
                  <c:v>0.16</c:v>
                </c:pt>
                <c:pt idx="9">
                  <c:v>0.15</c:v>
                </c:pt>
              </c:numCache>
            </c:numRef>
          </c:val>
        </c:ser>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9.2"/>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E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Milyar TL (reel %5 indirim)</a:t>
            </a:r>
          </a:p>
        </c:rich>
      </c:tx>
      <c:layout/>
      <c:overlay val="0"/>
    </c:title>
    <c:autoTitleDeleted val="0"/>
    <c:plotArea>
      <c:layout/>
      <c:barChart>
        <c:barDir val="col"/>
        <c:grouping val="clustered"/>
        <c:varyColors val="0"/>
        <c:ser>
          <c:idx val="0"/>
          <c:order val="0"/>
          <c:tx>
            <c:strRef>
              <c:f>Sheet1!$B$1</c:f>
              <c:strCache>
                <c:ptCount val="1"/>
                <c:pt idx="0">
                  <c:v>Ulaşım faydası, 30 yıllık bugünkü değer</c:v>
                </c:pt>
              </c:strCache>
            </c:strRef>
          </c:tx>
          <c:spPr>
            <a:solidFill>
              <a:srgbClr val="6B8F5E"/>
            </a:solidFill>
            <a:effectLst/>
          </c:spPr>
          <c:invertIfNegative val="0"/>
          <c:dLbls>
            <c:numFmt formatCode="0.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Düşük</c:v>
                  </c:pt>
                  <c:pt idx="1">
                    <c:v>Baz</c:v>
                  </c:pt>
                  <c:pt idx="2">
                    <c:v>Yüksek</c:v>
                  </c:pt>
                </c:lvl>
              </c:multiLvlStrCache>
            </c:multiLvlStrRef>
          </c:cat>
          <c:val>
            <c:numRef>
              <c:f>Sheet1!$B$2:$B$4</c:f>
              <c:numCache>
                <c:formatCode>General</c:formatCode>
                <c:ptCount val="3"/>
                <c:pt idx="0">
                  <c:v>0.62</c:v>
                </c:pt>
                <c:pt idx="1">
                  <c:v>0.92</c:v>
                </c:pt>
                <c:pt idx="2">
                  <c:v>1.95</c:v>
                </c:pt>
              </c:numCache>
            </c:numRef>
          </c:val>
        </c:ser>
        <c:ser>
          <c:idx val="1"/>
          <c:order val="1"/>
          <c:tx>
            <c:strRef>
              <c:f>Sheet1!$C$1</c:f>
              <c:strCache>
                <c:ptCount val="1"/>
                <c:pt idx="0">
                  <c:v>Kamu ve ortak kullanım payı</c:v>
                </c:pt>
              </c:strCache>
            </c:strRef>
          </c:tx>
          <c:spPr>
            <a:solidFill>
              <a:srgbClr val="9A5418"/>
            </a:solidFill>
            <a:effectLst/>
          </c:spPr>
          <c:invertIfNegative val="0"/>
          <c:dLbls>
            <c:numFmt formatCode="0.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Düşük</c:v>
                  </c:pt>
                  <c:pt idx="1">
                    <c:v>Baz</c:v>
                  </c:pt>
                  <c:pt idx="2">
                    <c:v>Yüksek</c:v>
                  </c:pt>
                </c:lvl>
              </c:multiLvlStrCache>
            </c:multiLvlStrRef>
          </c:cat>
          <c:val>
            <c:numRef>
              <c:f>Sheet1!$C$2:$C$4</c:f>
              <c:numCache>
                <c:formatCode>General</c:formatCode>
                <c:ptCount val="3"/>
                <c:pt idx="0">
                  <c:v>2.54</c:v>
                </c:pt>
                <c:pt idx="1">
                  <c:v>3.29</c:v>
                </c:pt>
                <c:pt idx="2">
                  <c:v>4.11</c:v>
                </c:pt>
              </c:numCache>
            </c:numRef>
          </c:val>
        </c:ser>
        <c:dLbls>
          <c:numFmt formatCode="0.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4.8"/>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E68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Belen &amp; Partners olarak Kahramankazan Örencik Mahallesi'ndeki 511 bin metrekarelik Hazine arazisi için hazırladığımız fizibiliteyi sunuyoruz. Arka plandaki fotoğraf, arazinin bulunduğu platodan Kahramankazan ovasına bakıyor; drone çekimi 22 Eylül 2026. Bu bir taslaktır; rakamların bir kısmı kurumlardan teyit bekliyor.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cümlelik mesaj bu. Arazi Hazine'nin; satın alınmıyor, ne yapılacağına Cumhurbaşkanlığı karar verecek. Önerilen senaryo 2.500 konut ve yaklaşık 7.500 kişi. Toplam yatırım baz senaryoda yaklaşık 12,5 milyar TL; aralık 9,9 ile 15,9 milyar TL. TUSAŞ'a 35 dakikanın altı bir hedef; Örencik–TUSAŞ Ekspres ile sağlanıyor.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şimdi? Kalkınma Planı sektörün istihdamını altı yılda neredeyse ikiye katlamayı hedefliyor. Bu insanların yaşayacağı, çocuklarını okutacağı yer bir altyapı sorunu. SSB'nin kendi stratejik planı deneyimli personelin ayrılmasını resmi tehdit olarak tanımlıyor. TUSAŞ çalışan sayısı kaynağa göre 13 ile 17 bin arasında; 2026 için resmi rakam yok, teyit edilecek.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Örencik Kahramankazan ilçe merkezinin hemen kuzeyinde. TUSAŞ'a kuş uçuşu 19 ile 22 kilometre; Eryaman ve Yenikent daha yakın, bunu açıkça söylüyoruz. Avantaj yakınlık değil: Ankara'nın en sıkışık sabah koridoru Batıkent–Susuz kesimi. Örencik'ten gelen yolculuk bu kesime hiç girmiyor; ilçe içinden Saray üzerinden TUSAŞ'a ekspres hatla gidiyor. Yenikent aktarması ise Ankara'da oturmaya devam edenler için.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Örencik'i üç seçenekle karşılaştırdık: hiçbir şey yapmamak, TUSAŞ'ın hemen yanında bir saha ve Yenikent. Örencik'in iki zayıf noktası var: TUSAŞ'a uzaklık ve raylı sistem eksikliği; ikisini de ekspres hat ve Yenikent aktarmasıyla karşılıyoruz. Güçlü yanları: tek malikli kamu arazisi, kamulaştırma yok; askeri yasak bölgenin ve uçuş yüzeylerinin dışında; konut stratejik tesisin etrafını sarmıyor, tesisin büyüme alanı korunuyor; ilçe merkezinin hizmetlerine yaslanıyor. B ve C için arazi mülkiyeti araştırılmadı.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Drone görüntüleri arazinin düz olmadığını gösteriyor. Tepe üstündeki buğday platoları yapılaşmaya uygun bölümler. Yamaçlarda erozyon yarıntıları ve eşyükselti teraslarına dikilmiş genç çamlar var; bu teraslı ağaçlandırmanın hukuki statüsü teyit edilecek. Vadide eski Örencik köyü duruyor; yeni yaşam alanı köyle birlikte tasarlanmalı. Platolardan ovaya geniş bir manzara açılıyor; bu bir değer.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Sahanın yedi başlığı. En kritik teyit, yamaçlardaki teraslı ağaçlandırmanın orman ya da ağaçlandırma statüsü; 6831 sayılı Kanun kapsamındaysa o alanlar yapılaşma dışında kalır. Programımız bu alanları zaten korunan yamaç olarak ayırıyor. Zemin için jeoteknik etüt şart. Ankara'nın üst ölçek planı iptal edildiği için imar durumu kurumlardan yazıyla istenmeli. Pistin uzatma ekseni arazinin güneydoğu köşesine yakın geçiyor; bunu gürültü ve algı riski olarak ele alıyor, okul ve sağlık tesislerini eksenden uzak yerleştiriyoruz.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 beş belgeyle doğrudan örtüşüyor. En güçlü bağ, Kalkınma Planı'nın savunma sanayii istihdam hedefi ve SSB'nin insan kaynağı tehdidi. Yerleşim ile toplu taşımanın birlikte planlanması, akıllı ve yeşil yerleşim ve sıfır atık da plan maddeleri. Akıllı şehirler stratejisinin hangi eylemine karşılık geldiğini sunumdan önce teyit edeceğiz.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senaryo hesapladık: 2.000, 2.500 ve 3.000 konut. Önerimiz 2.500 konut, yaklaşık 7.500 kişi. Arazinin yaklaşık beşte biri korunan yamaç; konut adaları net 13,1 hektar. Donatı alanları imar yönetmeliğinin Ek-2 standartlarıyla, ihtiyatlı kademeden hesaplandı. Brüt yoğunluk hektarda 49 konut; kendi projemiz TAI Ankara Lodgings'te bu değer 37,5.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şema ölçekli ama haritaya oturtulmadı, çünkü parsel sınırı elimizde değil. Mantık şu: yapay göl ve göl parkı merkezde. Kuzey kıyısında mahalle merkezi, kültür merkezi ve cami; doğuda aile sağlığı merkezi ve 112; güneyde spor kompleksi. Okullar batıda, konutlara yürüme mesafesinde. Dört mahalle platolarda. Yamaçlar ve yarıntılar alanı saran bir yeşil kuşak.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Eğitim, ailelerin taşınma kararında birinci ölçüt. Genç aile varsayımıyla yaklaşık 1.540 öğrenci ve 57 derslik çıkıyor. Önerimiz iki kampüs: MEB normunda bir devlet okul kampüsü ve iki dilli bir özel okul kampüsü; özel okulun lise kademesi STEM ve havacılık ağırlıklı. Kalıcı binalar bitene kadar modüler sınıflar ilk gün hizmet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Dünyada büyük işverenlerin yanında okul kurmak yaygın. Toulouse'daki uluslararası okul Airbus'ın talebiyle açıldı. Songdo'daki Chadwick 260–280 öğrenciyle başladı, bugün yaklaşık 1.500 öğrencisi var: talep büyüyor, kampüs buna göre planlanmalı. Wolfsburg'da Volkswagen okulu kurup şehre bağışladı. Türkiye'de Deneyap atölyeleri okullara eklenebilecek hazır bir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Sağlıkta üç basamak. Yerleşim içinde ilk günden aile sağlığı merkezi, 112 istasyonu ve poliklinik. İlçede, 2022'de açılan Kahramankazan Devlet Hastanesi; kaynaklarda yatak sayısı 150 ile 190 arasında değişiyor. Proje ekibi bu hastaneyi yeni şehir hastanesi olarak anmıştı; kaynaklarda devlet hastanesi olarak geçiyor. Bu yüzden arazide hastaneye yer ayırmıyoruz. Sejong'un dersi: acil hizmet baştan planlanmazsa aileler gitmiyor.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 ekibinin planladığı yapay göl arazinin içinde, 2,5 hektar; çevresinde 3,5 hektar park. Doğal su kaynağı yok ve Ankara kuraklık yaşıyor: Ocak 2026'da barajlarda aktif doluluk yüzde 1'e indi. Bu yüzden önerimiz: göl yağmur suyu hasadı ve ileri arıtılmış atıksuyla beslenir, şebeke yalnızca acil durumda. Yarıntılardan gelen sediment için çökeltim havuzu, suyun durgunlaşmaması için sirkülasyon ve biyolojik arıtma ilk günden tasarlanır. Göl aynı zamanda taşkın dengeleme havzası ve sosyal yaşamın merkezi.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Planlı kentlerde göl mahallenin merkezi olarak kullanılıyor. Reston'da Lake Anne köy merkezi bugün tescilli miras. Columbia'da göllerin bakımı sakin aidatıyla yapılıyor; yani işletme modeli baştan kuruluyor. Singapur Bishan'da beton bir kanal doğal bir nehir parkına dönüştürüldü. Ankara'daki yerel ders Göksu Parkı: 2021–22'de su kalitesi sorunları yaşandı. Bu yüzden Örencik'te sirkülasyon, arıtma ve bir işletmeci ilk günden planlanıyor.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Ulaşımda hedef, TUSAŞ'a kapıdan kapıya 35 dakikanın altında ve her gün aynı sürede varmak. İlk günden mesaiye bağlı elektrikli ekspres otobüsler çalışır: 13 otobüs, sabah pikinde yaklaşık 875 yolcu. Bu, Batıkent–Susuz–Eryaman koridorundan pikte yaklaşık 560 otomobil çeker. Tek başına koridoru çözmez, ama aynı model başka firmalara yayılınca etki büyür. Koridor baştan raylı sistem standardında ayrılır; raya geçiş talebe bağlı bir karar kapısı.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Akıllı şehir burada bir vitrin değil, ulaşım, eğitim ve sosyal yaşam sorunlarına hizmet eden araçlar. Songdo'nun dersi, teknolojinin tek başına topluluk kurmadığı; bu yüzden fiziksel buluşma yerleri ile birlikte planlanıyor. En önemli konu veri güvenliği: sakinlerin büyük kısmı savunma çalışanı olacak. Veri yurt içinde ve yerli altyapıda tutulur, yalnızca gereken veri toplanır, bağımsız güvenlik denetimi yapılır.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Sektör açısından iki hedef var: yeni mühendisleri bölgeye çekmek ve deneyimlileri tutmak. Bunu altı başlıkta karşılıyoruz: zaman, aile, eşler, topluluk, konut ve güven. Konutlar satılık ve herkese açık; savunma çalışanlarına öncelik tanınıyor. Kimin yapıp satacağı, yani uygulama modeli bu çalışmanın konusu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Toplam yatırım baz senaryoda 12,54 milyar TL, aralık 9,9 ile 15,9 milyar. Bunun büyük kısmı konut; konutlar, özel okul ve ticaret satış ve işletme gelirleriyle karşılanan kalemler. Kamu ve ortak kullanım payı, yani altyapı, devlet okulları, sağlık, kültür ve spor, göl ve parklar, akıllı şehir ve ekspres hat, yaklaşık 3,3 milyar TL, toplamın yüzde 26'sı. Tutarlar KDV ve arazi hariç; arazi Hazine'nin ve satın alınmıyor.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Ölçülebilen kamu faydasını dürüstçe hesapladık: kazanılan zaman, yakıt ve önlenen emisyon yılda 40 ile 127 milyon TL. Otuz yıllık bugünkü değeri kamu payının yüzde 19 ile 59'u arasında; yani tek başına kamu payını geri ödemiyor. Bu bir alt sınır, çünkü pek çok fayda ölçülmedi. Asıl gerekçe stratejik: Kalkınma Planı'nın istihdam hedefine ve SSB'nin tanımladığı yetenek kaybı tehdidine karşı bir yaşam alanı altyapısı.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Planlı kentlerden çıkan ana ders: hizmetler geç gelirse aileler taşınmıyor. Bu yüzden Aşama 0'da ulaşım, sağlık, kreş ve sosyal yaşamın ilk parçaları ilk konut teslimiyle aynı gün açılıyor; modüler yapılar bunu mümkün kılıyor. Her aşamanın önünde bir karar kapısı var: ilki bugün talep ettiğimiz karar, son kapı ise raylı sisteme ancak talep yeterse geçilmesi.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TUSAŞ için iki şehirde yerleşke ölçeğinde iş yaptık. Kahramankazan'da TAI Ankara Lodgings: 2022, 400 bin metrekare, 1.500 konut; okul, sağlık ocağı ve spor yürüme mesafesinde. Kahramanmaraş'ta TUSAŞ lojmanları ve fabrikası; alan ve yıl bilgisi eklenecek. Ayrıca Kahramankazan'ın kentsel dönüşümü, kent merkezi ve Serapınar aynı ilçede. Örencik bu planlama zincirinin yeni halkası.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kritik iki risk sahayla ilgili: yamaçların hukuki statüsü ve zemin. İkisi de sunumdan sonraki ilk teyit adımları. Su riski göl için özel bir kaynak planıyla, gürültü riski yerleşim düzeniyle, hizmetlerin geç gelmesi riski Aşama 0 ile karşılanıyor.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Talebimiz tek cümle: Örencik'teki Hazine arazisinin savunma ve havacılık sanayi çalışanlarına yönelik bir yaşam alanı olarak değerlendirilmesi. Bu karar verilirse ilk işler şunlar: parsel bilgisi ve halihazır harita, yamaçların statüsü ve zemin etüdü, imar ve altyapı kapasite görüşleri, TUSAŞ çalışanlarına ön talep anketi ve kurumlar arası bir çalışma grubu. Teşekkür ederiz.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ERIK">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419088"/>
            <a:ext cx="8229600" cy="256032"/>
          </a:xfrm>
          <a:prstGeom prst="rect">
            <a:avLst/>
          </a:prstGeom>
          <a:noFill/>
          <a:ln/>
        </p:spPr>
        <p:txBody>
          <a:bodyPr wrap="square" lIns="0" tIns="0" rIns="0" bIns="0" rtlCol="0" anchor="ctr"/>
          <a:lstStyle/>
          <a:p>
            <a:pPr indent="0" marL="0">
              <a:buNone/>
            </a:pPr>
            <a:r>
              <a:rPr lang="en-US" sz="1000" dirty="0">
                <a:solidFill>
                  <a:schemeClr val="accent5"/>
                </a:solidFill>
              </a:rPr>
              <a:t>Belen &amp; Partners · Örencik yaşam alanı fizibilitesi · Ekim 2026 · Taslak</a:t>
            </a:r>
            <a:endParaRPr lang="en-US" sz="10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OYU">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15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419088"/>
            <a:ext cx="8229600" cy="256032"/>
          </a:xfrm>
          <a:prstGeom prst="rect">
            <a:avLst/>
          </a:prstGeom>
          <a:noFill/>
          <a:ln/>
        </p:spPr>
        <p:txBody>
          <a:bodyPr wrap="square" lIns="0" tIns="0" rIns="0" bIns="0" rtlCol="0" anchor="ctr"/>
          <a:lstStyle/>
          <a:p>
            <a:pPr indent="0" marL="0">
              <a:buNone/>
            </a:pPr>
            <a:r>
              <a:rPr lang="en-US" sz="1000" dirty="0">
                <a:solidFill>
                  <a:schemeClr val="bg2"/>
                </a:solidFill>
              </a:rPr>
              <a:t>Belen &amp; Partners · Örencik yaşam alanı fizibilitesi · Ekim 2026 · Taslak</a:t>
            </a:r>
            <a:endParaRPr lang="en-US" sz="10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APA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868680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383280"/>
            <a:ext cx="7863840" cy="914400"/>
          </a:xfrm>
          <a:prstGeom prst="rect">
            <a:avLst/>
          </a:prstGeom>
          <a:noFill/>
          <a:ln/>
        </p:spPr>
        <p:txBody>
          <a:bodyPr wrap="square" rtlCol="0"/>
          <a:lstStyle>
            <a:lvl1pPr algn="l" indent="0" marL="0">
              <a:buNone/>
              <a:defRPr lang="en-US" sz="2200" dirty="0">
                <a:solidFill>
                  <a:schemeClr val="bg1"/>
                </a:solidFill>
              </a:defRPr>
            </a:lvl1pPr>
          </a:lstStyle>
          <a:p>
            <a:pPr algn="l" indent="0" marL="0">
              <a:buNone/>
            </a:pPr>
            <a:endParaRPr lang="en-US" sz="2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ARA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15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548640" y="658368"/>
            <a:ext cx="6949440" cy="749808"/>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419088"/>
            <a:ext cx="6949440" cy="256032"/>
          </a:xfrm>
          <a:prstGeom prst="rect">
            <a:avLst/>
          </a:prstGeom>
          <a:noFill/>
          <a:ln/>
        </p:spPr>
        <p:txBody>
          <a:bodyPr wrap="square" lIns="0" tIns="0" rIns="0" bIns="0" rtlCol="0" anchor="ctr"/>
          <a:lstStyle/>
          <a:p>
            <a:pPr indent="0" marL="0">
              <a:buNone/>
            </a:pPr>
            <a:r>
              <a:rPr lang="en-US" sz="1000" dirty="0">
                <a:solidFill>
                  <a:schemeClr val="bg2"/>
                </a:solidFill>
              </a:rPr>
              <a:t>Belen &amp; Partners · Örencik yaşam alanı fizibilitesi · Ekim 2026 · Taslak</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2.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2.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Kapak fotoğrafı: Örencik platosundan ova" descr="/home/user/sunum/araclar/sunum/assets/kapak.jpg">    </p:cNvPr>
          <p:cNvPicPr>
            <a:picLocks noChangeAspect="1"/>
          </p:cNvPicPr>
          <p:nvPr/>
        </p:nvPicPr>
        <p:blipFill>
          <a:blip r:embed="rId1"/>
          <a:stretch>
            <a:fillRect/>
          </a:stretch>
        </p:blipFill>
        <p:spPr>
          <a:xfrm>
            <a:off x="0" y="0"/>
            <a:ext cx="12191695" cy="6858000"/>
          </a:xfrm>
          <a:prstGeom prst="rect">
            <a:avLst/>
          </a:prstGeom>
        </p:spPr>
      </p:pic>
      <p:sp>
        <p:nvSpPr>
          <p:cNvPr id="3" name="Karartma"/>
          <p:cNvSpPr/>
          <p:nvPr/>
        </p:nvSpPr>
        <p:spPr>
          <a:xfrm>
            <a:off x="0" y="0"/>
            <a:ext cx="12191695" cy="6858000"/>
          </a:xfrm>
          <a:prstGeom prst="rect">
            <a:avLst/>
          </a:prstGeom>
          <a:solidFill>
            <a:schemeClr val="tx2">
              <a:alpha val="72000"/>
            </a:schemeClr>
          </a:solidFill>
          <a:ln/>
        </p:spPr>
      </p:sp>
      <p:sp>
        <p:nvSpPr>
          <p:cNvPr id="4" name="Text 1"/>
          <p:cNvSpPr txBox="1"/>
          <p:nvPr/>
        </p:nvSpPr>
        <p:spPr>
          <a:xfrm>
            <a:off x="548640" y="1600200"/>
            <a:ext cx="7315200" cy="320040"/>
          </a:xfrm>
          <a:prstGeom prst="rect">
            <a:avLst/>
          </a:prstGeom>
          <a:noFill/>
          <a:ln/>
        </p:spPr>
        <p:txBody>
          <a:bodyPr wrap="square" lIns="0" tIns="0" rIns="0" bIns="0" rtlCol="0" anchor="t"/>
          <a:lstStyle/>
          <a:p>
            <a:pPr indent="0" marL="0">
              <a:buNone/>
            </a:pPr>
            <a:r>
              <a:rPr lang="en-US" sz="1400" b="1" spc="200" kern="0" dirty="0">
                <a:solidFill>
                  <a:schemeClr val="accent4"/>
                </a:solidFill>
              </a:rPr>
              <a:t>FİZİBİLİTE SUNUMU · TASLAK</a:t>
            </a:r>
            <a:endParaRPr lang="en-US" sz="1400" dirty="0"/>
          </a:p>
        </p:txBody>
      </p:sp>
      <p:sp>
        <p:nvSpPr>
          <p:cNvPr id="5" name="Text 0"/>
          <p:cNvSpPr/>
          <p:nvPr>
            <p:ph idx="100" type="title" hasCustomPrompt="1"/>
          </p:nvPr>
        </p:nvSpPr>
        <p:spPr>
          <a:xfrm>
            <a:off x="548640" y="2148840"/>
            <a:ext cx="8686800" cy="1097280"/>
          </a:xfrm>
          <a:prstGeom prst="rect">
            <a:avLst/>
          </a:prstGeom>
          <a:noFill/>
          <a:ln/>
        </p:spPr>
        <p:txBody>
          <a:bodyPr wrap="square" lIns="0" tIns="0" rIns="0" bIns="0" rtlCol="0" anchor="b"/>
          <a:lstStyle/>
          <a:p>
            <a:pPr algn="l" indent="0" marL="0">
              <a:buNone/>
            </a:pPr>
            <a:r>
              <a:rPr lang="en-US" sz="5400" b="1" dirty="0">
                <a:solidFill>
                  <a:schemeClr val="bg1"/>
                </a:solidFill>
              </a:rPr>
              <a:t>Örencik yaşam alanı</a:t>
            </a:r>
            <a:endParaRPr lang="en-US" sz="5400" dirty="0"/>
          </a:p>
        </p:txBody>
      </p:sp>
      <p:sp>
        <p:nvSpPr>
          <p:cNvPr id="6" name="Text 0"/>
          <p:cNvSpPr/>
          <p:nvPr>
            <p:ph idx="101" type="body" hasCustomPrompt="1"/>
          </p:nvPr>
        </p:nvSpPr>
        <p:spPr>
          <a:xfrm>
            <a:off x="548640" y="3383280"/>
            <a:ext cx="7863840" cy="914400"/>
          </a:xfrm>
          <a:prstGeom prst="rect">
            <a:avLst/>
          </a:prstGeom>
          <a:noFill/>
          <a:ln/>
        </p:spPr>
        <p:txBody>
          <a:bodyPr wrap="square" lIns="0" tIns="0" rIns="0" bIns="0" rtlCol="0" anchor="t"/>
          <a:lstStyle/>
          <a:p>
            <a:pPr algn="l" indent="0" marL="0">
              <a:buNone/>
            </a:pPr>
            <a:r>
              <a:rPr lang="en-US" sz="2200" dirty="0">
                <a:solidFill>
                  <a:schemeClr val="bg1"/>
                </a:solidFill>
              </a:rPr>
              <a:t>Savunma ve havacılık sanayi çalışanları için akıllı bir yaşam alanı</a:t>
            </a:r>
            <a:endParaRPr lang="en-US" sz="2200" dirty="0"/>
          </a:p>
        </p:txBody>
      </p:sp>
      <p:sp>
        <p:nvSpPr>
          <p:cNvPr id="7" name="Text 4"/>
          <p:cNvSpPr txBox="1"/>
          <p:nvPr/>
        </p:nvSpPr>
        <p:spPr>
          <a:xfrm>
            <a:off x="548640" y="4480560"/>
            <a:ext cx="7315200" cy="320040"/>
          </a:xfrm>
          <a:prstGeom prst="rect">
            <a:avLst/>
          </a:prstGeom>
          <a:noFill/>
          <a:ln/>
        </p:spPr>
        <p:txBody>
          <a:bodyPr wrap="square" lIns="0" tIns="0" rIns="0" bIns="0" rtlCol="0" anchor="t"/>
          <a:lstStyle/>
          <a:p>
            <a:pPr indent="0" marL="0">
              <a:buNone/>
            </a:pPr>
            <a:r>
              <a:rPr lang="en-US" sz="1600" dirty="0">
                <a:solidFill>
                  <a:schemeClr val="bg2"/>
                </a:solidFill>
              </a:rPr>
              <a:t>Kahramankazan, Ankara · 511.000 m² Hazine arazisi</a:t>
            </a:r>
            <a:endParaRPr lang="en-US" sz="1600" dirty="0"/>
          </a:p>
        </p:txBody>
      </p:sp>
      <p:sp>
        <p:nvSpPr>
          <p:cNvPr id="8" name="Text 5"/>
          <p:cNvSpPr txBox="1"/>
          <p:nvPr/>
        </p:nvSpPr>
        <p:spPr>
          <a:xfrm>
            <a:off x="548640" y="5989320"/>
            <a:ext cx="7315200" cy="320040"/>
          </a:xfrm>
          <a:prstGeom prst="rect">
            <a:avLst/>
          </a:prstGeom>
          <a:noFill/>
          <a:ln/>
        </p:spPr>
        <p:txBody>
          <a:bodyPr wrap="square" lIns="0" tIns="0" rIns="0" bIns="0" rtlCol="0" anchor="t"/>
          <a:lstStyle/>
          <a:p>
            <a:pPr indent="0" marL="0">
              <a:buNone/>
            </a:pPr>
            <a:r>
              <a:rPr lang="en-US" sz="1400" b="1" dirty="0">
                <a:solidFill>
                  <a:schemeClr val="bg1"/>
                </a:solidFill>
              </a:rPr>
              <a:t>Belen &amp; Partners · Ekim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ÖZET</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bg1"/>
                </a:solidFill>
              </a:rPr>
              <a:t>Önerimiz bir cümlede</a:t>
            </a:r>
            <a:endParaRPr lang="en-US" sz="3600" dirty="0"/>
          </a:p>
        </p:txBody>
      </p:sp>
      <p:sp>
        <p:nvSpPr>
          <p:cNvPr id="4" name="Text 2"/>
          <p:cNvSpPr txBox="1"/>
          <p:nvPr/>
        </p:nvSpPr>
        <p:spPr>
          <a:xfrm>
            <a:off x="548640" y="1691640"/>
            <a:ext cx="10241280" cy="1371600"/>
          </a:xfrm>
          <a:prstGeom prst="rect">
            <a:avLst/>
          </a:prstGeom>
          <a:noFill/>
          <a:ln/>
        </p:spPr>
        <p:txBody>
          <a:bodyPr wrap="square" lIns="0" tIns="0" rIns="0" bIns="0" rtlCol="0" anchor="t"/>
          <a:lstStyle/>
          <a:p>
            <a:pPr indent="0" marL="0">
              <a:buNone/>
            </a:pPr>
            <a:r>
              <a:rPr lang="en-US" sz="2600" i="1" dirty="0">
                <a:solidFill>
                  <a:schemeClr val="bg1"/>
                </a:solidFill>
                <a:latin typeface="Cambria" pitchFamily="34" charset="0"/>
                <a:ea typeface="Cambria" pitchFamily="34" charset="-122"/>
                <a:cs typeface="Cambria" pitchFamily="34" charset="-120"/>
              </a:rPr>
              <a:t>Örencik'teki 511 bin m²'lik Hazine arazisine, savunma ve havacılık sanayi çalışanları için okulu, sağlığı ve gölüyle, herkese açık bir yaşam alanı kurulabilir.</a:t>
            </a:r>
            <a:endParaRPr lang="en-US" sz="2600" dirty="0"/>
          </a:p>
        </p:txBody>
      </p:sp>
      <p:sp>
        <p:nvSpPr>
          <p:cNvPr id="5" name="Gösterge"/>
          <p:cNvSpPr/>
          <p:nvPr/>
        </p:nvSpPr>
        <p:spPr>
          <a:xfrm>
            <a:off x="548640" y="3520440"/>
            <a:ext cx="2036003" cy="1783080"/>
          </a:xfrm>
          <a:prstGeom prst="roundRect">
            <a:avLst>
              <a:gd name="adj" fmla="val 4103"/>
            </a:avLst>
          </a:prstGeom>
          <a:solidFill>
            <a:schemeClr val="bg1">
              <a:alpha val="12000"/>
            </a:schemeClr>
          </a:solidFill>
          <a:ln/>
        </p:spPr>
      </p:sp>
      <p:sp>
        <p:nvSpPr>
          <p:cNvPr id="6" name="Text 4"/>
          <p:cNvSpPr txBox="1"/>
          <p:nvPr/>
        </p:nvSpPr>
        <p:spPr>
          <a:xfrm>
            <a:off x="731520" y="3648456"/>
            <a:ext cx="1670243" cy="891540"/>
          </a:xfrm>
          <a:prstGeom prst="rect">
            <a:avLst/>
          </a:prstGeom>
          <a:noFill/>
          <a:ln/>
        </p:spPr>
        <p:txBody>
          <a:bodyPr wrap="square" lIns="0" tIns="0" rIns="0" bIns="0" rtlCol="0" anchor="b"/>
          <a:lstStyle/>
          <a:p>
            <a:pPr indent="0" marL="0">
              <a:buNone/>
            </a:pPr>
            <a:r>
              <a:rPr lang="en-US" sz="2800" b="1" dirty="0">
                <a:solidFill>
                  <a:schemeClr val="accent4"/>
                </a:solidFill>
                <a:latin typeface="Cambria" pitchFamily="34" charset="0"/>
                <a:ea typeface="Cambria" pitchFamily="34" charset="-122"/>
                <a:cs typeface="Cambria" pitchFamily="34" charset="-120"/>
              </a:rPr>
              <a:t>51,1 ha</a:t>
            </a:r>
            <a:endParaRPr lang="en-US" sz="2800" dirty="0"/>
          </a:p>
        </p:txBody>
      </p:sp>
      <p:sp>
        <p:nvSpPr>
          <p:cNvPr id="7" name="Text 5"/>
          <p:cNvSpPr txBox="1"/>
          <p:nvPr/>
        </p:nvSpPr>
        <p:spPr>
          <a:xfrm>
            <a:off x="731520" y="4558284"/>
            <a:ext cx="1670243" cy="653796"/>
          </a:xfrm>
          <a:prstGeom prst="rect">
            <a:avLst/>
          </a:prstGeom>
          <a:noFill/>
          <a:ln/>
        </p:spPr>
        <p:txBody>
          <a:bodyPr wrap="square" lIns="0" tIns="0" rIns="0" bIns="0" rtlCol="0" anchor="t"/>
          <a:lstStyle/>
          <a:p>
            <a:pPr indent="0" marL="0">
              <a:buNone/>
            </a:pPr>
            <a:r>
              <a:rPr lang="en-US" sz="1400" dirty="0">
                <a:solidFill>
                  <a:schemeClr val="bg1"/>
                </a:solidFill>
              </a:rPr>
              <a:t>Hazine arazisi; satın alma yok</a:t>
            </a:r>
            <a:endParaRPr lang="en-US" sz="1400" dirty="0"/>
          </a:p>
        </p:txBody>
      </p:sp>
      <p:sp>
        <p:nvSpPr>
          <p:cNvPr id="8" name="Gösterge"/>
          <p:cNvSpPr/>
          <p:nvPr/>
        </p:nvSpPr>
        <p:spPr>
          <a:xfrm>
            <a:off x="2813243" y="3520440"/>
            <a:ext cx="2036003" cy="1783080"/>
          </a:xfrm>
          <a:prstGeom prst="roundRect">
            <a:avLst>
              <a:gd name="adj" fmla="val 4103"/>
            </a:avLst>
          </a:prstGeom>
          <a:solidFill>
            <a:schemeClr val="bg1">
              <a:alpha val="12000"/>
            </a:schemeClr>
          </a:solidFill>
          <a:ln/>
        </p:spPr>
      </p:sp>
      <p:sp>
        <p:nvSpPr>
          <p:cNvPr id="9" name="Text 7"/>
          <p:cNvSpPr txBox="1"/>
          <p:nvPr/>
        </p:nvSpPr>
        <p:spPr>
          <a:xfrm>
            <a:off x="2996123" y="3648456"/>
            <a:ext cx="1670243" cy="891540"/>
          </a:xfrm>
          <a:prstGeom prst="rect">
            <a:avLst/>
          </a:prstGeom>
          <a:noFill/>
          <a:ln/>
        </p:spPr>
        <p:txBody>
          <a:bodyPr wrap="square" lIns="0" tIns="0" rIns="0" bIns="0" rtlCol="0" anchor="b"/>
          <a:lstStyle/>
          <a:p>
            <a:pPr indent="0" marL="0">
              <a:buNone/>
            </a:pPr>
            <a:r>
              <a:rPr lang="en-US" sz="2800" b="1" dirty="0">
                <a:solidFill>
                  <a:schemeClr val="accent4"/>
                </a:solidFill>
                <a:latin typeface="Cambria" pitchFamily="34" charset="0"/>
                <a:ea typeface="Cambria" pitchFamily="34" charset="-122"/>
                <a:cs typeface="Cambria" pitchFamily="34" charset="-120"/>
              </a:rPr>
              <a:t>2.500</a:t>
            </a:r>
            <a:endParaRPr lang="en-US" sz="2800" dirty="0"/>
          </a:p>
        </p:txBody>
      </p:sp>
      <p:sp>
        <p:nvSpPr>
          <p:cNvPr id="10" name="Text 8"/>
          <p:cNvSpPr txBox="1"/>
          <p:nvPr/>
        </p:nvSpPr>
        <p:spPr>
          <a:xfrm>
            <a:off x="2996123" y="4558284"/>
            <a:ext cx="1670243" cy="653796"/>
          </a:xfrm>
          <a:prstGeom prst="rect">
            <a:avLst/>
          </a:prstGeom>
          <a:noFill/>
          <a:ln/>
        </p:spPr>
        <p:txBody>
          <a:bodyPr wrap="square" lIns="0" tIns="0" rIns="0" bIns="0" rtlCol="0" anchor="t"/>
          <a:lstStyle/>
          <a:p>
            <a:pPr indent="0" marL="0">
              <a:buNone/>
            </a:pPr>
            <a:r>
              <a:rPr lang="en-US" sz="1400" dirty="0">
                <a:solidFill>
                  <a:schemeClr val="bg1"/>
                </a:solidFill>
              </a:rPr>
              <a:t>konut (önerilen senaryo)</a:t>
            </a:r>
            <a:endParaRPr lang="en-US" sz="1400" dirty="0"/>
          </a:p>
        </p:txBody>
      </p:sp>
      <p:sp>
        <p:nvSpPr>
          <p:cNvPr id="11" name="Gösterge"/>
          <p:cNvSpPr/>
          <p:nvPr/>
        </p:nvSpPr>
        <p:spPr>
          <a:xfrm>
            <a:off x="5077846" y="3520440"/>
            <a:ext cx="2036003" cy="1783080"/>
          </a:xfrm>
          <a:prstGeom prst="roundRect">
            <a:avLst>
              <a:gd name="adj" fmla="val 4103"/>
            </a:avLst>
          </a:prstGeom>
          <a:solidFill>
            <a:schemeClr val="bg1">
              <a:alpha val="12000"/>
            </a:schemeClr>
          </a:solidFill>
          <a:ln/>
        </p:spPr>
      </p:sp>
      <p:sp>
        <p:nvSpPr>
          <p:cNvPr id="12" name="Text 10"/>
          <p:cNvSpPr txBox="1"/>
          <p:nvPr/>
        </p:nvSpPr>
        <p:spPr>
          <a:xfrm>
            <a:off x="5260726" y="3648456"/>
            <a:ext cx="1670243" cy="891540"/>
          </a:xfrm>
          <a:prstGeom prst="rect">
            <a:avLst/>
          </a:prstGeom>
          <a:noFill/>
          <a:ln/>
        </p:spPr>
        <p:txBody>
          <a:bodyPr wrap="square" lIns="0" tIns="0" rIns="0" bIns="0" rtlCol="0" anchor="b"/>
          <a:lstStyle/>
          <a:p>
            <a:pPr indent="0" marL="0">
              <a:buNone/>
            </a:pPr>
            <a:r>
              <a:rPr lang="en-US" sz="2800" b="1" dirty="0">
                <a:solidFill>
                  <a:schemeClr val="accent4"/>
                </a:solidFill>
                <a:latin typeface="Cambria" pitchFamily="34" charset="0"/>
                <a:ea typeface="Cambria" pitchFamily="34" charset="-122"/>
                <a:cs typeface="Cambria" pitchFamily="34" charset="-120"/>
              </a:rPr>
              <a:t>~7.500</a:t>
            </a:r>
            <a:endParaRPr lang="en-US" sz="2800" dirty="0"/>
          </a:p>
        </p:txBody>
      </p:sp>
      <p:sp>
        <p:nvSpPr>
          <p:cNvPr id="13" name="Text 11"/>
          <p:cNvSpPr txBox="1"/>
          <p:nvPr/>
        </p:nvSpPr>
        <p:spPr>
          <a:xfrm>
            <a:off x="5260726" y="4558284"/>
            <a:ext cx="1670243" cy="653796"/>
          </a:xfrm>
          <a:prstGeom prst="rect">
            <a:avLst/>
          </a:prstGeom>
          <a:noFill/>
          <a:ln/>
        </p:spPr>
        <p:txBody>
          <a:bodyPr wrap="square" lIns="0" tIns="0" rIns="0" bIns="0" rtlCol="0" anchor="t"/>
          <a:lstStyle/>
          <a:p>
            <a:pPr indent="0" marL="0">
              <a:buNone/>
            </a:pPr>
            <a:r>
              <a:rPr lang="en-US" sz="1400" dirty="0">
                <a:solidFill>
                  <a:schemeClr val="bg1"/>
                </a:solidFill>
              </a:rPr>
              <a:t>kişi</a:t>
            </a:r>
            <a:endParaRPr lang="en-US" sz="1400" dirty="0"/>
          </a:p>
        </p:txBody>
      </p:sp>
      <p:sp>
        <p:nvSpPr>
          <p:cNvPr id="14" name="Gösterge"/>
          <p:cNvSpPr/>
          <p:nvPr/>
        </p:nvSpPr>
        <p:spPr>
          <a:xfrm>
            <a:off x="7342449" y="3520440"/>
            <a:ext cx="2036003" cy="1783080"/>
          </a:xfrm>
          <a:prstGeom prst="roundRect">
            <a:avLst>
              <a:gd name="adj" fmla="val 4103"/>
            </a:avLst>
          </a:prstGeom>
          <a:solidFill>
            <a:schemeClr val="bg1">
              <a:alpha val="12000"/>
            </a:schemeClr>
          </a:solidFill>
          <a:ln/>
        </p:spPr>
      </p:sp>
      <p:sp>
        <p:nvSpPr>
          <p:cNvPr id="15" name="Text 13"/>
          <p:cNvSpPr txBox="1"/>
          <p:nvPr/>
        </p:nvSpPr>
        <p:spPr>
          <a:xfrm>
            <a:off x="7525329" y="3648456"/>
            <a:ext cx="1670243" cy="891540"/>
          </a:xfrm>
          <a:prstGeom prst="rect">
            <a:avLst/>
          </a:prstGeom>
          <a:noFill/>
          <a:ln/>
        </p:spPr>
        <p:txBody>
          <a:bodyPr wrap="square" lIns="0" tIns="0" rIns="0" bIns="0" rtlCol="0" anchor="b"/>
          <a:lstStyle/>
          <a:p>
            <a:pPr indent="0" marL="0">
              <a:buNone/>
            </a:pPr>
            <a:r>
              <a:rPr lang="en-US" sz="2800" b="1" dirty="0">
                <a:solidFill>
                  <a:schemeClr val="accent4"/>
                </a:solidFill>
                <a:latin typeface="Cambria" pitchFamily="34" charset="0"/>
                <a:ea typeface="Cambria" pitchFamily="34" charset="-122"/>
                <a:cs typeface="Cambria" pitchFamily="34" charset="-120"/>
              </a:rPr>
              <a:t>~12,5 mlr</a:t>
            </a:r>
            <a:endParaRPr lang="en-US" sz="2800" dirty="0"/>
          </a:p>
        </p:txBody>
      </p:sp>
      <p:sp>
        <p:nvSpPr>
          <p:cNvPr id="16" name="Text 14"/>
          <p:cNvSpPr txBox="1"/>
          <p:nvPr/>
        </p:nvSpPr>
        <p:spPr>
          <a:xfrm>
            <a:off x="7525329" y="4558284"/>
            <a:ext cx="1670243" cy="653796"/>
          </a:xfrm>
          <a:prstGeom prst="rect">
            <a:avLst/>
          </a:prstGeom>
          <a:noFill/>
          <a:ln/>
        </p:spPr>
        <p:txBody>
          <a:bodyPr wrap="square" lIns="0" tIns="0" rIns="0" bIns="0" rtlCol="0" anchor="t"/>
          <a:lstStyle/>
          <a:p>
            <a:pPr indent="0" marL="0">
              <a:buNone/>
            </a:pPr>
            <a:r>
              <a:rPr lang="en-US" sz="1400" dirty="0">
                <a:solidFill>
                  <a:schemeClr val="bg1"/>
                </a:solidFill>
              </a:rPr>
              <a:t>TL toplam yatırım (9,9–15,9)</a:t>
            </a:r>
            <a:endParaRPr lang="en-US" sz="1400" dirty="0"/>
          </a:p>
        </p:txBody>
      </p:sp>
      <p:sp>
        <p:nvSpPr>
          <p:cNvPr id="17" name="Gösterge"/>
          <p:cNvSpPr/>
          <p:nvPr/>
        </p:nvSpPr>
        <p:spPr>
          <a:xfrm>
            <a:off x="9607052" y="3520440"/>
            <a:ext cx="2036003" cy="1783080"/>
          </a:xfrm>
          <a:prstGeom prst="roundRect">
            <a:avLst>
              <a:gd name="adj" fmla="val 4103"/>
            </a:avLst>
          </a:prstGeom>
          <a:solidFill>
            <a:schemeClr val="bg1">
              <a:alpha val="12000"/>
            </a:schemeClr>
          </a:solidFill>
          <a:ln/>
        </p:spPr>
      </p:sp>
      <p:sp>
        <p:nvSpPr>
          <p:cNvPr id="18" name="Text 16"/>
          <p:cNvSpPr txBox="1"/>
          <p:nvPr/>
        </p:nvSpPr>
        <p:spPr>
          <a:xfrm>
            <a:off x="9789932" y="3648456"/>
            <a:ext cx="1670243" cy="891540"/>
          </a:xfrm>
          <a:prstGeom prst="rect">
            <a:avLst/>
          </a:prstGeom>
          <a:noFill/>
          <a:ln/>
        </p:spPr>
        <p:txBody>
          <a:bodyPr wrap="square" lIns="0" tIns="0" rIns="0" bIns="0" rtlCol="0" anchor="b"/>
          <a:lstStyle/>
          <a:p>
            <a:pPr indent="0" marL="0">
              <a:buNone/>
            </a:pPr>
            <a:r>
              <a:rPr lang="en-US" sz="2800" b="1" dirty="0">
                <a:solidFill>
                  <a:schemeClr val="accent4"/>
                </a:solidFill>
                <a:latin typeface="Cambria" pitchFamily="34" charset="0"/>
                <a:ea typeface="Cambria" pitchFamily="34" charset="-122"/>
                <a:cs typeface="Cambria" pitchFamily="34" charset="-120"/>
              </a:rPr>
              <a:t>&lt; 35 dk</a:t>
            </a:r>
            <a:endParaRPr lang="en-US" sz="2800" dirty="0"/>
          </a:p>
        </p:txBody>
      </p:sp>
      <p:sp>
        <p:nvSpPr>
          <p:cNvPr id="19" name="Text 17"/>
          <p:cNvSpPr txBox="1"/>
          <p:nvPr/>
        </p:nvSpPr>
        <p:spPr>
          <a:xfrm>
            <a:off x="9789932" y="4558284"/>
            <a:ext cx="1670243" cy="653796"/>
          </a:xfrm>
          <a:prstGeom prst="rect">
            <a:avLst/>
          </a:prstGeom>
          <a:noFill/>
          <a:ln/>
        </p:spPr>
        <p:txBody>
          <a:bodyPr wrap="square" lIns="0" tIns="0" rIns="0" bIns="0" rtlCol="0" anchor="t"/>
          <a:lstStyle/>
          <a:p>
            <a:pPr indent="0" marL="0">
              <a:buNone/>
            </a:pPr>
            <a:r>
              <a:rPr lang="en-US" sz="1400" dirty="0">
                <a:solidFill>
                  <a:schemeClr val="bg1"/>
                </a:solidFill>
              </a:rPr>
              <a:t>TUSAŞ'a ekspresle (hedef)</a:t>
            </a:r>
            <a:endParaRPr lang="en-US" sz="1400" dirty="0"/>
          </a:p>
        </p:txBody>
      </p:sp>
      <p:sp>
        <p:nvSpPr>
          <p:cNvPr id="20" name="Text 18"/>
          <p:cNvSpPr txBox="1"/>
          <p:nvPr/>
        </p:nvSpPr>
        <p:spPr>
          <a:xfrm>
            <a:off x="548640" y="5623560"/>
            <a:ext cx="11094415" cy="320040"/>
          </a:xfrm>
          <a:prstGeom prst="rect">
            <a:avLst/>
          </a:prstGeom>
          <a:noFill/>
          <a:ln/>
        </p:spPr>
        <p:txBody>
          <a:bodyPr wrap="square" lIns="0" tIns="0" rIns="0" bIns="0" rtlCol="0" anchor="t"/>
          <a:lstStyle/>
          <a:p>
            <a:pPr indent="0" marL="0">
              <a:buNone/>
            </a:pPr>
            <a:r>
              <a:rPr lang="en-US" sz="1300" dirty="0">
                <a:solidFill>
                  <a:schemeClr val="bg2"/>
                </a:solidFill>
              </a:rPr>
              <a:t>Konutlar satılık ve herkese açık; savunma sanayi çalışanlarına öncelikli. Tutarlar 2026 TL, KDV ve arazi hariç.</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GİRİŞ · NEDEN ŞİMDİ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Sektör büyüyor, insan kaynağı kritik</a:t>
            </a:r>
            <a:endParaRPr lang="en-US" sz="3600" dirty="0"/>
          </a:p>
        </p:txBody>
      </p:sp>
      <p:graphicFrame>
        <p:nvGraphicFramePr>
          <p:cNvPr id="4" name="Chart 0" descr=""/>
          <p:cNvGraphicFramePr/>
          <p:nvPr/>
        </p:nvGraphicFramePr>
        <p:xfrm>
          <a:off x="548640" y="1600200"/>
          <a:ext cx="4846320" cy="4343400"/>
        </p:xfrm>
        <a:graphic xmlns:a="http://schemas.openxmlformats.org/drawingml/2006/main">
          <a:graphicData uri="http://schemas.openxmlformats.org/drawingml/2006/chart">
            <c:chart xmlns:c="http://schemas.openxmlformats.org/drawingml/2006/chart" r:id="rId1"/>
          </a:graphicData>
        </a:graphic>
      </p:graphicFrame>
      <p:sp>
        <p:nvSpPr>
          <p:cNvPr id="5" name="İkon zemini"/>
          <p:cNvSpPr/>
          <p:nvPr/>
        </p:nvSpPr>
        <p:spPr>
          <a:xfrm>
            <a:off x="5852160" y="1645920"/>
            <a:ext cx="640080" cy="640080"/>
          </a:xfrm>
          <a:prstGeom prst="ellipse">
            <a:avLst/>
          </a:prstGeom>
          <a:solidFill>
            <a:schemeClr val="tx2"/>
          </a:solidFill>
          <a:ln/>
        </p:spPr>
      </p:sp>
      <p:pic>
        <p:nvPicPr>
          <p:cNvPr id="6" name="İkon FaChartLine" descr="preencoded.png">    </p:cNvPr>
          <p:cNvPicPr>
            <a:picLocks noChangeAspect="1"/>
          </p:cNvPicPr>
          <p:nvPr/>
        </p:nvPicPr>
        <p:blipFill>
          <a:blip r:embed="rId2"/>
          <a:stretch>
            <a:fillRect/>
          </a:stretch>
        </p:blipFill>
        <p:spPr>
          <a:xfrm>
            <a:off x="6005779" y="1799539"/>
            <a:ext cx="332842" cy="332842"/>
          </a:xfrm>
          <a:prstGeom prst="rect">
            <a:avLst/>
          </a:prstGeom>
        </p:spPr>
      </p:pic>
      <p:sp>
        <p:nvSpPr>
          <p:cNvPr id="7" name="Text 3"/>
          <p:cNvSpPr txBox="1"/>
          <p:nvPr/>
        </p:nvSpPr>
        <p:spPr>
          <a:xfrm>
            <a:off x="6675120" y="1645920"/>
            <a:ext cx="4937760" cy="365760"/>
          </a:xfrm>
          <a:prstGeom prst="rect">
            <a:avLst/>
          </a:prstGeom>
          <a:noFill/>
          <a:ln/>
        </p:spPr>
        <p:txBody>
          <a:bodyPr wrap="square" lIns="0" tIns="0" rIns="0" bIns="0" rtlCol="0" anchor="t"/>
          <a:lstStyle/>
          <a:p>
            <a:pPr indent="0" marL="0">
              <a:buNone/>
            </a:pPr>
            <a:r>
              <a:rPr lang="en-US" sz="1800" b="1" dirty="0">
                <a:solidFill>
                  <a:schemeClr val="tx2"/>
                </a:solidFill>
              </a:rPr>
              <a:t>Hedef: iki kat istihdam</a:t>
            </a:r>
            <a:endParaRPr lang="en-US" sz="1800" dirty="0"/>
          </a:p>
        </p:txBody>
      </p:sp>
      <p:sp>
        <p:nvSpPr>
          <p:cNvPr id="8" name="Text 4"/>
          <p:cNvSpPr txBox="1"/>
          <p:nvPr/>
        </p:nvSpPr>
        <p:spPr>
          <a:xfrm>
            <a:off x="6675120" y="2057400"/>
            <a:ext cx="4937760" cy="868680"/>
          </a:xfrm>
          <a:prstGeom prst="rect">
            <a:avLst/>
          </a:prstGeom>
          <a:noFill/>
          <a:ln/>
        </p:spPr>
        <p:txBody>
          <a:bodyPr wrap="square" lIns="0" tIns="0" rIns="0" bIns="0" rtlCol="0" anchor="t"/>
          <a:lstStyle/>
          <a:p>
            <a:pPr indent="0" marL="0">
              <a:buNone/>
            </a:pPr>
            <a:r>
              <a:rPr lang="en-US" sz="1500" dirty="0">
                <a:solidFill>
                  <a:schemeClr val="tx1"/>
                </a:solidFill>
              </a:rPr>
              <a:t>12. Kalkınma Planı, sektör istihdamını 2022'deki 81,1 binden 2028'de 158 bine çıkarmayı hedefliyor.</a:t>
            </a:r>
            <a:endParaRPr lang="en-US" sz="1500" dirty="0"/>
          </a:p>
        </p:txBody>
      </p:sp>
      <p:sp>
        <p:nvSpPr>
          <p:cNvPr id="9" name="İkon zemini"/>
          <p:cNvSpPr/>
          <p:nvPr/>
        </p:nvSpPr>
        <p:spPr>
          <a:xfrm>
            <a:off x="5852160" y="3108960"/>
            <a:ext cx="640080" cy="640080"/>
          </a:xfrm>
          <a:prstGeom prst="ellipse">
            <a:avLst/>
          </a:prstGeom>
          <a:solidFill>
            <a:schemeClr val="tx2"/>
          </a:solidFill>
          <a:ln/>
        </p:spPr>
      </p:sp>
      <p:pic>
        <p:nvPicPr>
          <p:cNvPr id="10" name="İkon FaTriangleExclamation" descr="preencoded.png">    </p:cNvPr>
          <p:cNvPicPr>
            <a:picLocks noChangeAspect="1"/>
          </p:cNvPicPr>
          <p:nvPr/>
        </p:nvPicPr>
        <p:blipFill>
          <a:blip r:embed="rId3"/>
          <a:stretch>
            <a:fillRect/>
          </a:stretch>
        </p:blipFill>
        <p:spPr>
          <a:xfrm>
            <a:off x="6005779" y="3262579"/>
            <a:ext cx="332842" cy="332842"/>
          </a:xfrm>
          <a:prstGeom prst="rect">
            <a:avLst/>
          </a:prstGeom>
        </p:spPr>
      </p:pic>
      <p:sp>
        <p:nvSpPr>
          <p:cNvPr id="11" name="Text 6"/>
          <p:cNvSpPr txBox="1"/>
          <p:nvPr/>
        </p:nvSpPr>
        <p:spPr>
          <a:xfrm>
            <a:off x="6675120" y="3108960"/>
            <a:ext cx="4937760" cy="365760"/>
          </a:xfrm>
          <a:prstGeom prst="rect">
            <a:avLst/>
          </a:prstGeom>
          <a:noFill/>
          <a:ln/>
        </p:spPr>
        <p:txBody>
          <a:bodyPr wrap="square" lIns="0" tIns="0" rIns="0" bIns="0" rtlCol="0" anchor="t"/>
          <a:lstStyle/>
          <a:p>
            <a:pPr indent="0" marL="0">
              <a:buNone/>
            </a:pPr>
            <a:r>
              <a:rPr lang="en-US" sz="1800" b="1" dirty="0">
                <a:solidFill>
                  <a:schemeClr val="tx2"/>
                </a:solidFill>
              </a:rPr>
              <a:t>Resmi tehdit: yetenek kaybı</a:t>
            </a:r>
            <a:endParaRPr lang="en-US" sz="1800" dirty="0"/>
          </a:p>
        </p:txBody>
      </p:sp>
      <p:sp>
        <p:nvSpPr>
          <p:cNvPr id="12" name="Text 7"/>
          <p:cNvSpPr txBox="1"/>
          <p:nvPr/>
        </p:nvSpPr>
        <p:spPr>
          <a:xfrm>
            <a:off x="6675120" y="3520440"/>
            <a:ext cx="4937760" cy="868680"/>
          </a:xfrm>
          <a:prstGeom prst="rect">
            <a:avLst/>
          </a:prstGeom>
          <a:noFill/>
          <a:ln/>
        </p:spPr>
        <p:txBody>
          <a:bodyPr wrap="square" lIns="0" tIns="0" rIns="0" bIns="0" rtlCol="0" anchor="t"/>
          <a:lstStyle/>
          <a:p>
            <a:pPr indent="0" marL="0">
              <a:buNone/>
            </a:pPr>
            <a:r>
              <a:rPr lang="en-US" sz="1500" dirty="0">
                <a:solidFill>
                  <a:schemeClr val="tx1"/>
                </a:solidFill>
              </a:rPr>
              <a:t>SSB Stratejik Planı 2024–2028, deneyimli personelin yurt dışına ya da başka sektörlere geçmesini tehdit olarak yazıyor.</a:t>
            </a:r>
            <a:endParaRPr lang="en-US" sz="1500" dirty="0"/>
          </a:p>
        </p:txBody>
      </p:sp>
      <p:sp>
        <p:nvSpPr>
          <p:cNvPr id="13" name="İkon zemini"/>
          <p:cNvSpPr/>
          <p:nvPr/>
        </p:nvSpPr>
        <p:spPr>
          <a:xfrm>
            <a:off x="5852160" y="4572000"/>
            <a:ext cx="640080" cy="640080"/>
          </a:xfrm>
          <a:prstGeom prst="ellipse">
            <a:avLst/>
          </a:prstGeom>
          <a:solidFill>
            <a:schemeClr val="tx2"/>
          </a:solidFill>
          <a:ln/>
        </p:spPr>
      </p:sp>
      <p:pic>
        <p:nvPicPr>
          <p:cNvPr id="14" name="İkon FaIndustry" descr="preencoded.png">    </p:cNvPr>
          <p:cNvPicPr>
            <a:picLocks noChangeAspect="1"/>
          </p:cNvPicPr>
          <p:nvPr/>
        </p:nvPicPr>
        <p:blipFill>
          <a:blip r:embed="rId4"/>
          <a:stretch>
            <a:fillRect/>
          </a:stretch>
        </p:blipFill>
        <p:spPr>
          <a:xfrm>
            <a:off x="6005779" y="4725619"/>
            <a:ext cx="332842" cy="332842"/>
          </a:xfrm>
          <a:prstGeom prst="rect">
            <a:avLst/>
          </a:prstGeom>
        </p:spPr>
      </p:pic>
      <p:sp>
        <p:nvSpPr>
          <p:cNvPr id="15" name="Text 9"/>
          <p:cNvSpPr txBox="1"/>
          <p:nvPr/>
        </p:nvSpPr>
        <p:spPr>
          <a:xfrm>
            <a:off x="6675120" y="4572000"/>
            <a:ext cx="4937760" cy="365760"/>
          </a:xfrm>
          <a:prstGeom prst="rect">
            <a:avLst/>
          </a:prstGeom>
          <a:noFill/>
          <a:ln/>
        </p:spPr>
        <p:txBody>
          <a:bodyPr wrap="square" lIns="0" tIns="0" rIns="0" bIns="0" rtlCol="0" anchor="t"/>
          <a:lstStyle/>
          <a:p>
            <a:pPr indent="0" marL="0">
              <a:buNone/>
            </a:pPr>
            <a:r>
              <a:rPr lang="en-US" sz="1800" b="1" dirty="0">
                <a:solidFill>
                  <a:schemeClr val="tx2"/>
                </a:solidFill>
              </a:rPr>
              <a:t>Kahramankazan kümesi</a:t>
            </a:r>
            <a:endParaRPr lang="en-US" sz="1800" dirty="0"/>
          </a:p>
        </p:txBody>
      </p:sp>
      <p:sp>
        <p:nvSpPr>
          <p:cNvPr id="16" name="Text 10"/>
          <p:cNvSpPr txBox="1"/>
          <p:nvPr/>
        </p:nvSpPr>
        <p:spPr>
          <a:xfrm>
            <a:off x="6675120" y="4983480"/>
            <a:ext cx="4937760" cy="868680"/>
          </a:xfrm>
          <a:prstGeom prst="rect">
            <a:avLst/>
          </a:prstGeom>
          <a:noFill/>
          <a:ln/>
        </p:spPr>
        <p:txBody>
          <a:bodyPr wrap="square" lIns="0" tIns="0" rIns="0" bIns="0" rtlCol="0" anchor="t"/>
          <a:lstStyle/>
          <a:p>
            <a:pPr indent="0" marL="0">
              <a:buNone/>
            </a:pPr>
            <a:r>
              <a:rPr lang="en-US" sz="1500" dirty="0">
                <a:solidFill>
                  <a:schemeClr val="tx1"/>
                </a:solidFill>
              </a:rPr>
              <a:t>TUSAŞ'ta 13–17 bin çalışan (2023–24 beyanları); bitişikteki HAB OSB'de 15 bin istihdam hedefi.</a:t>
            </a:r>
            <a:endParaRPr lang="en-US" sz="1500" dirty="0"/>
          </a:p>
        </p:txBody>
      </p:sp>
      <p:sp>
        <p:nvSpPr>
          <p:cNvPr id="17" name="Text 11"/>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12. Kalkınma Planı, Tablo 22; SSB Stratejik Planı 2024–2028, s. 46; TUSAŞ çalışan sayıları basın beyanlarından,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YER VE SAHA · KONUM</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Aynı ilçede, sıkışık koridorun dışında</a:t>
            </a:r>
            <a:endParaRPr lang="en-US" sz="3600" dirty="0"/>
          </a:p>
        </p:txBody>
      </p:sp>
      <p:pic>
        <p:nvPicPr>
          <p:cNvPr id="4" name="Konum ve koridor diyagramı" descr="/home/user/sunum/araclar/sunum/assets/harita.png">    </p:cNvPr>
          <p:cNvPicPr>
            <a:picLocks noChangeAspect="1"/>
          </p:cNvPicPr>
          <p:nvPr/>
        </p:nvPicPr>
        <p:blipFill>
          <a:blip r:embed="rId1"/>
          <a:stretch>
            <a:fillRect/>
          </a:stretch>
        </p:blipFill>
        <p:spPr>
          <a:xfrm>
            <a:off x="548640" y="1600200"/>
            <a:ext cx="4367796" cy="4434840"/>
          </a:xfrm>
          <a:prstGeom prst="rect">
            <a:avLst/>
          </a:prstGeom>
        </p:spPr>
      </p:pic>
      <p:sp>
        <p:nvSpPr>
          <p:cNvPr id="5" name="Text 2"/>
          <p:cNvSpPr txBox="1"/>
          <p:nvPr/>
        </p:nvSpPr>
        <p:spPr>
          <a:xfrm>
            <a:off x="5669280" y="1600200"/>
            <a:ext cx="5971032" cy="320040"/>
          </a:xfrm>
          <a:prstGeom prst="rect">
            <a:avLst/>
          </a:prstGeom>
          <a:noFill/>
          <a:ln/>
        </p:spPr>
        <p:txBody>
          <a:bodyPr wrap="square" lIns="0" tIns="0" rIns="0" bIns="0" rtlCol="0" anchor="t"/>
          <a:lstStyle/>
          <a:p>
            <a:pPr indent="0" marL="0">
              <a:buNone/>
            </a:pPr>
            <a:r>
              <a:rPr lang="en-US" sz="1600" b="1" dirty="0">
                <a:solidFill>
                  <a:schemeClr val="tx2"/>
                </a:solidFill>
              </a:rPr>
              <a:t>TUSAŞ'a kuş uçuşu uzaklık (km)</a:t>
            </a:r>
            <a:endParaRPr lang="en-US" sz="1600" dirty="0"/>
          </a:p>
        </p:txBody>
      </p:sp>
      <p:sp>
        <p:nvSpPr>
          <p:cNvPr id="6" name="Text 3"/>
          <p:cNvSpPr txBox="1"/>
          <p:nvPr/>
        </p:nvSpPr>
        <p:spPr>
          <a:xfrm>
            <a:off x="5669280" y="2039112"/>
            <a:ext cx="2103120" cy="329184"/>
          </a:xfrm>
          <a:prstGeom prst="rect">
            <a:avLst/>
          </a:prstGeom>
          <a:noFill/>
          <a:ln/>
        </p:spPr>
        <p:txBody>
          <a:bodyPr wrap="square" lIns="0" tIns="0" rIns="0" bIns="0" rtlCol="0" anchor="ctr"/>
          <a:lstStyle/>
          <a:p>
            <a:pPr algn="r" indent="0" marL="0">
              <a:buNone/>
            </a:pPr>
            <a:r>
              <a:rPr lang="en-US" sz="1400" dirty="0">
                <a:solidFill>
                  <a:schemeClr val="tx1"/>
                </a:solidFill>
              </a:rPr>
              <a:t>Yenikent</a:t>
            </a:r>
            <a:endParaRPr lang="en-US" sz="1400" dirty="0"/>
          </a:p>
        </p:txBody>
      </p:sp>
      <p:sp>
        <p:nvSpPr>
          <p:cNvPr id="7" name="Uzaklık çubuğu Yenikent"/>
          <p:cNvSpPr/>
          <p:nvPr/>
        </p:nvSpPr>
        <p:spPr>
          <a:xfrm>
            <a:off x="7863840" y="2093976"/>
            <a:ext cx="1134687" cy="219456"/>
          </a:xfrm>
          <a:prstGeom prst="rect">
            <a:avLst/>
          </a:prstGeom>
          <a:solidFill>
            <a:schemeClr val="accent5"/>
          </a:solidFill>
          <a:ln/>
        </p:spPr>
      </p:sp>
      <p:sp>
        <p:nvSpPr>
          <p:cNvPr id="8" name="Text 5"/>
          <p:cNvSpPr txBox="1"/>
          <p:nvPr/>
        </p:nvSpPr>
        <p:spPr>
          <a:xfrm>
            <a:off x="9089967" y="2039112"/>
            <a:ext cx="914400" cy="329184"/>
          </a:xfrm>
          <a:prstGeom prst="rect">
            <a:avLst/>
          </a:prstGeom>
          <a:noFill/>
          <a:ln/>
        </p:spPr>
        <p:txBody>
          <a:bodyPr wrap="square" lIns="0" tIns="0" rIns="0" bIns="0" rtlCol="0" anchor="ctr"/>
          <a:lstStyle/>
          <a:p>
            <a:pPr indent="0" marL="0">
              <a:buNone/>
            </a:pPr>
            <a:r>
              <a:rPr lang="en-US" sz="1400" dirty="0">
                <a:solidFill>
                  <a:schemeClr val="tx1"/>
                </a:solidFill>
              </a:rPr>
              <a:t>9,1</a:t>
            </a:r>
            <a:endParaRPr lang="en-US" sz="1400" dirty="0"/>
          </a:p>
        </p:txBody>
      </p:sp>
      <p:sp>
        <p:nvSpPr>
          <p:cNvPr id="9" name="Text 6"/>
          <p:cNvSpPr txBox="1"/>
          <p:nvPr/>
        </p:nvSpPr>
        <p:spPr>
          <a:xfrm>
            <a:off x="5669280" y="2441448"/>
            <a:ext cx="2103120" cy="329184"/>
          </a:xfrm>
          <a:prstGeom prst="rect">
            <a:avLst/>
          </a:prstGeom>
          <a:noFill/>
          <a:ln/>
        </p:spPr>
        <p:txBody>
          <a:bodyPr wrap="square" lIns="0" tIns="0" rIns="0" bIns="0" rtlCol="0" anchor="ctr"/>
          <a:lstStyle/>
          <a:p>
            <a:pPr algn="r" indent="0" marL="0">
              <a:buNone/>
            </a:pPr>
            <a:r>
              <a:rPr lang="en-US" sz="1400" dirty="0">
                <a:solidFill>
                  <a:schemeClr val="tx1"/>
                </a:solidFill>
              </a:rPr>
              <a:t>Eryaman</a:t>
            </a:r>
            <a:endParaRPr lang="en-US" sz="1400" dirty="0"/>
          </a:p>
        </p:txBody>
      </p:sp>
      <p:sp>
        <p:nvSpPr>
          <p:cNvPr id="10" name="Uzaklık çubuğu Eryaman"/>
          <p:cNvSpPr/>
          <p:nvPr/>
        </p:nvSpPr>
        <p:spPr>
          <a:xfrm>
            <a:off x="7863840" y="2496312"/>
            <a:ext cx="1458884" cy="219456"/>
          </a:xfrm>
          <a:prstGeom prst="rect">
            <a:avLst/>
          </a:prstGeom>
          <a:solidFill>
            <a:schemeClr val="accent5"/>
          </a:solidFill>
          <a:ln/>
        </p:spPr>
      </p:sp>
      <p:sp>
        <p:nvSpPr>
          <p:cNvPr id="11" name="Text 8"/>
          <p:cNvSpPr txBox="1"/>
          <p:nvPr/>
        </p:nvSpPr>
        <p:spPr>
          <a:xfrm>
            <a:off x="9414164" y="2441448"/>
            <a:ext cx="914400" cy="329184"/>
          </a:xfrm>
          <a:prstGeom prst="rect">
            <a:avLst/>
          </a:prstGeom>
          <a:noFill/>
          <a:ln/>
        </p:spPr>
        <p:txBody>
          <a:bodyPr wrap="square" lIns="0" tIns="0" rIns="0" bIns="0" rtlCol="0" anchor="ctr"/>
          <a:lstStyle/>
          <a:p>
            <a:pPr indent="0" marL="0">
              <a:buNone/>
            </a:pPr>
            <a:r>
              <a:rPr lang="en-US" sz="1400" dirty="0">
                <a:solidFill>
                  <a:schemeClr val="tx1"/>
                </a:solidFill>
              </a:rPr>
              <a:t>11,7</a:t>
            </a:r>
            <a:endParaRPr lang="en-US" sz="1400" dirty="0"/>
          </a:p>
        </p:txBody>
      </p:sp>
      <p:sp>
        <p:nvSpPr>
          <p:cNvPr id="12" name="Text 9"/>
          <p:cNvSpPr txBox="1"/>
          <p:nvPr/>
        </p:nvSpPr>
        <p:spPr>
          <a:xfrm>
            <a:off x="5669280" y="2843784"/>
            <a:ext cx="2103120" cy="329184"/>
          </a:xfrm>
          <a:prstGeom prst="rect">
            <a:avLst/>
          </a:prstGeom>
          <a:noFill/>
          <a:ln/>
        </p:spPr>
        <p:txBody>
          <a:bodyPr wrap="square" lIns="0" tIns="0" rIns="0" bIns="0" rtlCol="0" anchor="ctr"/>
          <a:lstStyle/>
          <a:p>
            <a:pPr algn="r" indent="0" marL="0">
              <a:buNone/>
            </a:pPr>
            <a:r>
              <a:rPr lang="en-US" sz="1400" dirty="0">
                <a:solidFill>
                  <a:schemeClr val="tx1"/>
                </a:solidFill>
              </a:rPr>
              <a:t>Kahramankazan merkezi</a:t>
            </a:r>
            <a:endParaRPr lang="en-US" sz="1400" dirty="0"/>
          </a:p>
        </p:txBody>
      </p:sp>
      <p:sp>
        <p:nvSpPr>
          <p:cNvPr id="13" name="Uzaklık çubuğu Kahramankazan merkezi"/>
          <p:cNvSpPr/>
          <p:nvPr/>
        </p:nvSpPr>
        <p:spPr>
          <a:xfrm>
            <a:off x="7863840" y="2898648"/>
            <a:ext cx="2107276" cy="219456"/>
          </a:xfrm>
          <a:prstGeom prst="rect">
            <a:avLst/>
          </a:prstGeom>
          <a:solidFill>
            <a:schemeClr val="accent5"/>
          </a:solidFill>
          <a:ln/>
        </p:spPr>
      </p:sp>
      <p:sp>
        <p:nvSpPr>
          <p:cNvPr id="14" name="Text 11"/>
          <p:cNvSpPr txBox="1"/>
          <p:nvPr/>
        </p:nvSpPr>
        <p:spPr>
          <a:xfrm>
            <a:off x="10062556" y="2843784"/>
            <a:ext cx="914400" cy="329184"/>
          </a:xfrm>
          <a:prstGeom prst="rect">
            <a:avLst/>
          </a:prstGeom>
          <a:noFill/>
          <a:ln/>
        </p:spPr>
        <p:txBody>
          <a:bodyPr wrap="square" lIns="0" tIns="0" rIns="0" bIns="0" rtlCol="0" anchor="ctr"/>
          <a:lstStyle/>
          <a:p>
            <a:pPr indent="0" marL="0">
              <a:buNone/>
            </a:pPr>
            <a:r>
              <a:rPr lang="en-US" sz="1400" dirty="0">
                <a:solidFill>
                  <a:schemeClr val="tx1"/>
                </a:solidFill>
              </a:rPr>
              <a:t>16,9</a:t>
            </a:r>
            <a:endParaRPr lang="en-US" sz="1400" dirty="0"/>
          </a:p>
        </p:txBody>
      </p:sp>
      <p:sp>
        <p:nvSpPr>
          <p:cNvPr id="15" name="Text 12"/>
          <p:cNvSpPr txBox="1"/>
          <p:nvPr/>
        </p:nvSpPr>
        <p:spPr>
          <a:xfrm>
            <a:off x="5669280" y="3246120"/>
            <a:ext cx="2103120" cy="329184"/>
          </a:xfrm>
          <a:prstGeom prst="rect">
            <a:avLst/>
          </a:prstGeom>
          <a:noFill/>
          <a:ln/>
        </p:spPr>
        <p:txBody>
          <a:bodyPr wrap="square" lIns="0" tIns="0" rIns="0" bIns="0" rtlCol="0" anchor="ctr"/>
          <a:lstStyle/>
          <a:p>
            <a:pPr algn="r" indent="0" marL="0">
              <a:buNone/>
            </a:pPr>
            <a:r>
              <a:rPr lang="en-US" sz="1400" dirty="0">
                <a:solidFill>
                  <a:schemeClr val="tx1"/>
                </a:solidFill>
              </a:rPr>
              <a:t>Batıkent</a:t>
            </a:r>
            <a:endParaRPr lang="en-US" sz="1400" dirty="0"/>
          </a:p>
        </p:txBody>
      </p:sp>
      <p:sp>
        <p:nvSpPr>
          <p:cNvPr id="16" name="Uzaklık çubuğu Batıkent"/>
          <p:cNvSpPr/>
          <p:nvPr/>
        </p:nvSpPr>
        <p:spPr>
          <a:xfrm>
            <a:off x="7863840" y="3300984"/>
            <a:ext cx="2107276" cy="219456"/>
          </a:xfrm>
          <a:prstGeom prst="rect">
            <a:avLst/>
          </a:prstGeom>
          <a:solidFill>
            <a:schemeClr val="accent5"/>
          </a:solidFill>
          <a:ln/>
        </p:spPr>
      </p:sp>
      <p:sp>
        <p:nvSpPr>
          <p:cNvPr id="17" name="Text 14"/>
          <p:cNvSpPr txBox="1"/>
          <p:nvPr/>
        </p:nvSpPr>
        <p:spPr>
          <a:xfrm>
            <a:off x="10062556" y="3246120"/>
            <a:ext cx="914400" cy="329184"/>
          </a:xfrm>
          <a:prstGeom prst="rect">
            <a:avLst/>
          </a:prstGeom>
          <a:noFill/>
          <a:ln/>
        </p:spPr>
        <p:txBody>
          <a:bodyPr wrap="square" lIns="0" tIns="0" rIns="0" bIns="0" rtlCol="0" anchor="ctr"/>
          <a:lstStyle/>
          <a:p>
            <a:pPr indent="0" marL="0">
              <a:buNone/>
            </a:pPr>
            <a:r>
              <a:rPr lang="en-US" sz="1400" dirty="0">
                <a:solidFill>
                  <a:schemeClr val="tx1"/>
                </a:solidFill>
              </a:rPr>
              <a:t>16,9</a:t>
            </a:r>
            <a:endParaRPr lang="en-US" sz="1400" dirty="0"/>
          </a:p>
        </p:txBody>
      </p:sp>
      <p:sp>
        <p:nvSpPr>
          <p:cNvPr id="18" name="Text 15"/>
          <p:cNvSpPr txBox="1"/>
          <p:nvPr/>
        </p:nvSpPr>
        <p:spPr>
          <a:xfrm>
            <a:off x="5669280" y="3648456"/>
            <a:ext cx="2103120" cy="329184"/>
          </a:xfrm>
          <a:prstGeom prst="rect">
            <a:avLst/>
          </a:prstGeom>
          <a:noFill/>
          <a:ln/>
        </p:spPr>
        <p:txBody>
          <a:bodyPr wrap="square" lIns="0" tIns="0" rIns="0" bIns="0" rtlCol="0" anchor="ctr"/>
          <a:lstStyle/>
          <a:p>
            <a:pPr algn="r" indent="0" marL="0">
              <a:buNone/>
            </a:pPr>
            <a:r>
              <a:rPr lang="en-US" sz="1400" b="1" dirty="0">
                <a:solidFill>
                  <a:schemeClr val="accent1"/>
                </a:solidFill>
              </a:rPr>
              <a:t>Örencik</a:t>
            </a:r>
            <a:endParaRPr lang="en-US" sz="1400" dirty="0"/>
          </a:p>
        </p:txBody>
      </p:sp>
      <p:sp>
        <p:nvSpPr>
          <p:cNvPr id="19" name="Uzaklık çubuğu Örencik"/>
          <p:cNvSpPr/>
          <p:nvPr/>
        </p:nvSpPr>
        <p:spPr>
          <a:xfrm>
            <a:off x="7863840" y="3703320"/>
            <a:ext cx="2331720" cy="219456"/>
          </a:xfrm>
          <a:prstGeom prst="rect">
            <a:avLst/>
          </a:prstGeom>
          <a:solidFill>
            <a:schemeClr val="accent1"/>
          </a:solidFill>
          <a:ln/>
        </p:spPr>
      </p:sp>
      <p:sp>
        <p:nvSpPr>
          <p:cNvPr id="20" name="Uzaklık aralığı"/>
          <p:cNvSpPr/>
          <p:nvPr/>
        </p:nvSpPr>
        <p:spPr>
          <a:xfrm>
            <a:off x="10195560" y="3703320"/>
            <a:ext cx="374073" cy="219456"/>
          </a:xfrm>
          <a:prstGeom prst="rect">
            <a:avLst/>
          </a:prstGeom>
          <a:solidFill>
            <a:schemeClr val="accent1">
              <a:alpha val="45000"/>
            </a:schemeClr>
          </a:solidFill>
          <a:ln/>
        </p:spPr>
      </p:sp>
      <p:sp>
        <p:nvSpPr>
          <p:cNvPr id="21" name="Text 18"/>
          <p:cNvSpPr txBox="1"/>
          <p:nvPr/>
        </p:nvSpPr>
        <p:spPr>
          <a:xfrm>
            <a:off x="10661073" y="3648456"/>
            <a:ext cx="914400" cy="329184"/>
          </a:xfrm>
          <a:prstGeom prst="rect">
            <a:avLst/>
          </a:prstGeom>
          <a:noFill/>
          <a:ln/>
        </p:spPr>
        <p:txBody>
          <a:bodyPr wrap="square" lIns="0" tIns="0" rIns="0" bIns="0" rtlCol="0" anchor="ctr"/>
          <a:lstStyle/>
          <a:p>
            <a:pPr indent="0" marL="0">
              <a:buNone/>
            </a:pPr>
            <a:r>
              <a:rPr lang="en-US" sz="1400" b="1" dirty="0">
                <a:solidFill>
                  <a:schemeClr val="accent1"/>
                </a:solidFill>
              </a:rPr>
              <a:t>18,7–21,7</a:t>
            </a:r>
            <a:endParaRPr lang="en-US" sz="1400" dirty="0"/>
          </a:p>
        </p:txBody>
      </p:sp>
      <p:sp>
        <p:nvSpPr>
          <p:cNvPr id="22" name="Kart"/>
          <p:cNvSpPr/>
          <p:nvPr/>
        </p:nvSpPr>
        <p:spPr>
          <a:xfrm>
            <a:off x="5669280" y="4069080"/>
            <a:ext cx="5971032" cy="1874520"/>
          </a:xfrm>
          <a:prstGeom prst="roundRect">
            <a:avLst>
              <a:gd name="adj" fmla="val 3902"/>
            </a:avLst>
          </a:prstGeom>
          <a:solidFill>
            <a:schemeClr val="bg1"/>
          </a:solidFill>
          <a:ln/>
          <a:effectLst>
            <a:outerShdw sx="100000" sy="100000" kx="0" ky="0" algn="bl" rotWithShape="0" blurRad="76200" dist="19050" dir="5400000">
              <a:srgbClr val="000000">
                <a:alpha val="12000"/>
              </a:srgbClr>
            </a:outerShdw>
          </a:effectLst>
        </p:spPr>
      </p:sp>
      <p:sp>
        <p:nvSpPr>
          <p:cNvPr id="23" name="Text 20"/>
          <p:cNvSpPr txBox="1"/>
          <p:nvPr/>
        </p:nvSpPr>
        <p:spPr>
          <a:xfrm>
            <a:off x="5897880" y="4224528"/>
            <a:ext cx="5513832" cy="160020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Mesaj: yakınlık değil, koridor değişimi</a:t>
            </a:r>
            <a:endParaRPr lang="en-US" sz="1400" dirty="0"/>
          </a:p>
          <a:p>
            <a:pPr indent="0" marL="0">
              <a:spcAft>
                <a:spcPts val="600"/>
              </a:spcAft>
              <a:buNone/>
            </a:pPr>
            <a:r>
              <a:rPr lang="en-US" sz="1400" dirty="0">
                <a:solidFill>
                  <a:schemeClr val="tx1"/>
                </a:solidFill>
              </a:rPr>
              <a:t>Örencik TUSAŞ'a en yakın nokta değil. Kazanç, işe yolculuğun Batıkent–Susuz kentsel kesiminden çıkıp Kahramankazan–Saray koridoruna geçmesi. Örencik–TUSAŞ Ekspres bu yolu sabit sürede bağlar.</a:t>
            </a:r>
            <a:endParaRPr lang="en-US" sz="1400" dirty="0"/>
          </a:p>
        </p:txBody>
      </p:sp>
      <p:sp>
        <p:nvSpPr>
          <p:cNvPr id="24" name="Text 21"/>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Mesafeler OSM koordinatlarıyla kuş uçuşu hesaplandı; Örencik için mahalle güney sınırı ile merkezi arası. Yol mesafesi ~24–28 km (tahmin).</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YER VE SAHA · YER SEÇİMİ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Alternatiflere göre Örencik</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920240"/>
                <a:gridCol w="2057400"/>
                <a:gridCol w="2514600"/>
                <a:gridCol w="2057400"/>
                <a:gridCol w="2544775"/>
              </a:tblGrid>
              <a:tr h="512064">
                <a:tc>
                  <a:txBody>
                    <a:bodyPr/>
                    <a:lstStyle/>
                    <a:p>
                      <a:pPr indent="0" marL="0">
                        <a:buNone/>
                      </a:pPr>
                      <a:r>
                        <a:rPr lang="en-US" sz="1400" b="1" dirty="0">
                          <a:solidFill>
                            <a:srgbClr val="FFFFFF"/>
                          </a:solidFill>
                        </a:rPr>
                        <a:t>Ölçüt</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(A) Bir şey yapmamak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(B) TUSAŞ'a bitişik saha</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(C) Yenikent</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Örencik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9A5418"/>
                    </a:solidFill>
                  </a:tcPr>
                </a:tc>
              </a:tr>
              <a:tr h="512064">
                <a:tc>
                  <a:txBody>
                    <a:bodyPr/>
                    <a:lstStyle/>
                    <a:p>
                      <a:pPr indent="0" marL="0">
                        <a:buNone/>
                      </a:pPr>
                      <a:r>
                        <a:rPr lang="en-US" sz="1400" b="1" dirty="0">
                          <a:solidFill>
                            <a:srgbClr val="1B2430"/>
                          </a:solidFill>
                        </a:rPr>
                        <a:t>Arazi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Yeni arazi yok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Belirsiz; askeri alan ve OSB ile iç içe</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Belirsiz, kentsel parseller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7EBD3"/>
                    </a:solidFill>
                  </a:tcPr>
                </a:tc>
                <a:tc>
                  <a:txBody>
                    <a:bodyPr/>
                    <a:lstStyle/>
                    <a:p>
                      <a:pPr indent="0" marL="0">
                        <a:buNone/>
                      </a:pPr>
                      <a:r>
                        <a:rPr lang="en-US" sz="1400" b="1" dirty="0">
                          <a:solidFill>
                            <a:srgbClr val="1B2430"/>
                          </a:solidFill>
                        </a:rPr>
                        <a:t>511 bin m², tek malik Hazine</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r>
              <a:tr h="512064">
                <a:tc>
                  <a:txBody>
                    <a:bodyPr/>
                    <a:lstStyle/>
                    <a:p>
                      <a:pPr indent="0" marL="0">
                        <a:buNone/>
                      </a:pPr>
                      <a:r>
                        <a:rPr lang="en-US" sz="1400" b="1" dirty="0">
                          <a:solidFill>
                            <a:srgbClr val="1B2430"/>
                          </a:solidFill>
                        </a:rPr>
                        <a:t>Askeri kısıtlar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Etkilenmez</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Yasak bölge içinde, yükseklik sınırı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Sınıra yakın olabilir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7EBD3"/>
                    </a:solidFill>
                  </a:tcPr>
                </a:tc>
                <a:tc>
                  <a:txBody>
                    <a:bodyPr/>
                    <a:lstStyle/>
                    <a:p>
                      <a:pPr indent="0" marL="0">
                        <a:buNone/>
                      </a:pPr>
                      <a:r>
                        <a:rPr lang="en-US" sz="1400" b="1" dirty="0">
                          <a:solidFill>
                            <a:srgbClr val="1B2430"/>
                          </a:solidFill>
                        </a:rPr>
                        <a:t>Yasak bölgenin ve ICAO yüzeylerinin dışında</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r>
              <a:tr h="512064">
                <a:tc>
                  <a:txBody>
                    <a:bodyPr/>
                    <a:lstStyle/>
                    <a:p>
                      <a:pPr indent="0" marL="0">
                        <a:buNone/>
                      </a:pPr>
                      <a:r>
                        <a:rPr lang="en-US" sz="1400" b="1" dirty="0">
                          <a:solidFill>
                            <a:srgbClr val="1B2430"/>
                          </a:solidFill>
                        </a:rPr>
                        <a:t>Sabah piki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Sürer ve büyür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Azalır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Azalır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b="1" dirty="0">
                          <a:solidFill>
                            <a:srgbClr val="1B2430"/>
                          </a:solidFill>
                        </a:rPr>
                        <a:t>Azalır: yolculuk koridor değiştirir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r>
              <a:tr h="512064">
                <a:tc>
                  <a:txBody>
                    <a:bodyPr/>
                    <a:lstStyle/>
                    <a:p>
                      <a:pPr indent="0" marL="0">
                        <a:buNone/>
                      </a:pPr>
                      <a:r>
                        <a:rPr lang="en-US" sz="1400" b="1" dirty="0">
                          <a:solidFill>
                            <a:srgbClr val="1B2430"/>
                          </a:solidFill>
                        </a:rPr>
                        <a:t>TUSAŞ'a uzaklık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12–17 km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7EBD3"/>
                    </a:solidFill>
                  </a:tcPr>
                </a:tc>
                <a:tc>
                  <a:txBody>
                    <a:bodyPr/>
                    <a:lstStyle/>
                    <a:p>
                      <a:pPr indent="0" marL="0">
                        <a:buNone/>
                      </a:pPr>
                      <a:r>
                        <a:rPr lang="en-US" sz="1400" dirty="0">
                          <a:solidFill>
                            <a:srgbClr val="1B2430"/>
                          </a:solidFill>
                        </a:rPr>
                        <a:t>5 km'den az</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~9 km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b="1" dirty="0">
                          <a:solidFill>
                            <a:srgbClr val="1B2430"/>
                          </a:solidFill>
                        </a:rPr>
                        <a:t>19–22 km: ekspresle telafi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r>
              <a:tr h="512064">
                <a:tc>
                  <a:txBody>
                    <a:bodyPr/>
                    <a:lstStyle/>
                    <a:p>
                      <a:pPr indent="0" marL="0">
                        <a:buNone/>
                      </a:pPr>
                      <a:r>
                        <a:rPr lang="en-US" sz="1400" b="1" dirty="0">
                          <a:solidFill>
                            <a:srgbClr val="1B2430"/>
                          </a:solidFill>
                        </a:rPr>
                        <a:t>Raylı erişim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Var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Yok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Var (Başkentray)</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b="1" dirty="0">
                          <a:solidFill>
                            <a:srgbClr val="1B2430"/>
                          </a:solidFill>
                        </a:rPr>
                        <a:t>Yok: Yenikent aktarması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r>
              <a:tr h="512064">
                <a:tc>
                  <a:txBody>
                    <a:bodyPr/>
                    <a:lstStyle/>
                    <a:p>
                      <a:pPr indent="0" marL="0">
                        <a:buNone/>
                      </a:pPr>
                      <a:r>
                        <a:rPr lang="en-US" sz="1400" b="1" dirty="0">
                          <a:solidFill>
                            <a:srgbClr val="1B2430"/>
                          </a:solidFill>
                        </a:rPr>
                        <a:t>Kent hizmetleri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Tam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Sıfırdan kurulur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Sincan hizmetleri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b="1" dirty="0">
                          <a:solidFill>
                            <a:srgbClr val="1B2430"/>
                          </a:solidFill>
                        </a:rPr>
                        <a:t>İlçe merkezi 3–6 km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r>
              <a:tr h="512064">
                <a:tc>
                  <a:txBody>
                    <a:bodyPr/>
                    <a:lstStyle/>
                    <a:p>
                      <a:pPr indent="0" marL="0">
                        <a:buNone/>
                      </a:pPr>
                      <a:r>
                        <a:rPr lang="en-US" sz="1400" b="1" dirty="0">
                          <a:solidFill>
                            <a:srgbClr val="1B2430"/>
                          </a:solidFill>
                        </a:rPr>
                        <a:t>Tesisin büyüme alanı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Korunur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c>
                  <a:txBody>
                    <a:bodyPr/>
                    <a:lstStyle/>
                    <a:p>
                      <a:pPr indent="0" marL="0">
                        <a:buNone/>
                      </a:pPr>
                      <a:r>
                        <a:rPr lang="en-US" sz="1400" dirty="0">
                          <a:solidFill>
                            <a:srgbClr val="1B2430"/>
                          </a:solidFill>
                        </a:rPr>
                        <a:t>Daralır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DFDB"/>
                    </a:solidFill>
                  </a:tcPr>
                </a:tc>
                <a:tc>
                  <a:txBody>
                    <a:bodyPr/>
                    <a:lstStyle/>
                    <a:p>
                      <a:pPr indent="0" marL="0">
                        <a:buNone/>
                      </a:pPr>
                      <a:r>
                        <a:rPr lang="en-US" sz="1400" dirty="0">
                          <a:solidFill>
                            <a:srgbClr val="1B2430"/>
                          </a:solidFill>
                        </a:rPr>
                        <a:t>Kısmen etkilenir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7EBD3"/>
                    </a:solidFill>
                  </a:tcPr>
                </a:tc>
                <a:tc>
                  <a:txBody>
                    <a:bodyPr/>
                    <a:lstStyle/>
                    <a:p>
                      <a:pPr indent="0" marL="0">
                        <a:buNone/>
                      </a:pPr>
                      <a:r>
                        <a:rPr lang="en-US" sz="1400" b="1" dirty="0">
                          <a:solidFill>
                            <a:srgbClr val="1B2430"/>
                          </a:solidFill>
                        </a:rPr>
                        <a:t>Korunur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2ECDD"/>
                    </a:solidFill>
                  </a:tcPr>
                </a:tc>
              </a:tr>
            </a:tbl>
          </a:graphicData>
        </a:graphic>
      </p:graphicFrame>
      <p:sp>
        <p:nvSpPr>
          <p:cNvPr id="5" name="Gösterim"/>
          <p:cNvSpPr/>
          <p:nvPr/>
        </p:nvSpPr>
        <p:spPr>
          <a:xfrm>
            <a:off x="548640" y="5879592"/>
            <a:ext cx="201168" cy="201168"/>
          </a:xfrm>
          <a:prstGeom prst="rect">
            <a:avLst/>
          </a:prstGeom>
          <a:solidFill>
            <a:srgbClr val="E2ECDD"/>
          </a:solidFill>
          <a:ln w="9525">
            <a:solidFill>
              <a:srgbClr val="DDD8CC"/>
            </a:solidFill>
            <a:prstDash val="solid"/>
          </a:ln>
        </p:spPr>
      </p:sp>
      <p:sp>
        <p:nvSpPr>
          <p:cNvPr id="6" name="Text 3"/>
          <p:cNvSpPr txBox="1"/>
          <p:nvPr/>
        </p:nvSpPr>
        <p:spPr>
          <a:xfrm>
            <a:off x="822960" y="5833872"/>
            <a:ext cx="1188720" cy="292608"/>
          </a:xfrm>
          <a:prstGeom prst="rect">
            <a:avLst/>
          </a:prstGeom>
          <a:noFill/>
          <a:ln/>
        </p:spPr>
        <p:txBody>
          <a:bodyPr wrap="square" lIns="0" tIns="0" rIns="0" bIns="0" rtlCol="0" anchor="ctr"/>
          <a:lstStyle/>
          <a:p>
            <a:pPr indent="0" marL="0">
              <a:buNone/>
            </a:pPr>
            <a:r>
              <a:rPr lang="en-US" sz="1200" dirty="0">
                <a:solidFill>
                  <a:schemeClr val="tx1"/>
                </a:solidFill>
              </a:rPr>
              <a:t>Avantaj</a:t>
            </a:r>
            <a:endParaRPr lang="en-US" sz="1200" dirty="0"/>
          </a:p>
        </p:txBody>
      </p:sp>
      <p:sp>
        <p:nvSpPr>
          <p:cNvPr id="7" name="Gösterim"/>
          <p:cNvSpPr/>
          <p:nvPr/>
        </p:nvSpPr>
        <p:spPr>
          <a:xfrm>
            <a:off x="2103120" y="5879592"/>
            <a:ext cx="201168" cy="201168"/>
          </a:xfrm>
          <a:prstGeom prst="rect">
            <a:avLst/>
          </a:prstGeom>
          <a:solidFill>
            <a:srgbClr val="F7EBD3"/>
          </a:solidFill>
          <a:ln w="9525">
            <a:solidFill>
              <a:srgbClr val="DDD8CC"/>
            </a:solidFill>
            <a:prstDash val="solid"/>
          </a:ln>
        </p:spPr>
      </p:sp>
      <p:sp>
        <p:nvSpPr>
          <p:cNvPr id="8" name="Text 5"/>
          <p:cNvSpPr txBox="1"/>
          <p:nvPr/>
        </p:nvSpPr>
        <p:spPr>
          <a:xfrm>
            <a:off x="2377440" y="5833872"/>
            <a:ext cx="1188720" cy="292608"/>
          </a:xfrm>
          <a:prstGeom prst="rect">
            <a:avLst/>
          </a:prstGeom>
          <a:noFill/>
          <a:ln/>
        </p:spPr>
        <p:txBody>
          <a:bodyPr wrap="square" lIns="0" tIns="0" rIns="0" bIns="0" rtlCol="0" anchor="ctr"/>
          <a:lstStyle/>
          <a:p>
            <a:pPr indent="0" marL="0">
              <a:buNone/>
            </a:pPr>
            <a:r>
              <a:rPr lang="en-US" sz="1200" dirty="0">
                <a:solidFill>
                  <a:schemeClr val="tx1"/>
                </a:solidFill>
              </a:rPr>
              <a:t>Orta</a:t>
            </a:r>
            <a:endParaRPr lang="en-US" sz="1200" dirty="0"/>
          </a:p>
        </p:txBody>
      </p:sp>
      <p:sp>
        <p:nvSpPr>
          <p:cNvPr id="9" name="Gösterim"/>
          <p:cNvSpPr/>
          <p:nvPr/>
        </p:nvSpPr>
        <p:spPr>
          <a:xfrm>
            <a:off x="3657600" y="5879592"/>
            <a:ext cx="201168" cy="201168"/>
          </a:xfrm>
          <a:prstGeom prst="rect">
            <a:avLst/>
          </a:prstGeom>
          <a:solidFill>
            <a:srgbClr val="F6DFDB"/>
          </a:solidFill>
          <a:ln w="9525">
            <a:solidFill>
              <a:srgbClr val="DDD8CC"/>
            </a:solidFill>
            <a:prstDash val="solid"/>
          </a:ln>
        </p:spPr>
      </p:sp>
      <p:sp>
        <p:nvSpPr>
          <p:cNvPr id="10" name="Text 7"/>
          <p:cNvSpPr txBox="1"/>
          <p:nvPr/>
        </p:nvSpPr>
        <p:spPr>
          <a:xfrm>
            <a:off x="3931920" y="5833872"/>
            <a:ext cx="1188720" cy="292608"/>
          </a:xfrm>
          <a:prstGeom prst="rect">
            <a:avLst/>
          </a:prstGeom>
          <a:noFill/>
          <a:ln/>
        </p:spPr>
        <p:txBody>
          <a:bodyPr wrap="square" lIns="0" tIns="0" rIns="0" bIns="0" rtlCol="0" anchor="ctr"/>
          <a:lstStyle/>
          <a:p>
            <a:pPr indent="0" marL="0">
              <a:buNone/>
            </a:pPr>
            <a:r>
              <a:rPr lang="en-US" sz="1200" dirty="0">
                <a:solidFill>
                  <a:schemeClr val="tx1"/>
                </a:solidFill>
              </a:rPr>
              <a:t>Zayıf nokta</a:t>
            </a:r>
            <a:endParaRPr lang="en-US" sz="1200" dirty="0"/>
          </a:p>
        </p:txBody>
      </p:sp>
      <p:sp>
        <p:nvSpPr>
          <p:cNvPr id="11" name="Text 8"/>
          <p:cNvSpPr txBox="1"/>
          <p:nvPr/>
        </p:nvSpPr>
        <p:spPr>
          <a:xfrm>
            <a:off x="5303520" y="5833872"/>
            <a:ext cx="6336792" cy="292608"/>
          </a:xfrm>
          <a:prstGeom prst="rect">
            <a:avLst/>
          </a:prstGeom>
          <a:noFill/>
          <a:ln/>
        </p:spPr>
        <p:txBody>
          <a:bodyPr wrap="square" lIns="0" tIns="0" rIns="0" bIns="0" rtlCol="0" anchor="ctr"/>
          <a:lstStyle/>
          <a:p>
            <a:pPr algn="r" indent="0" marL="0">
              <a:buNone/>
            </a:pPr>
            <a:r>
              <a:rPr lang="en-US" sz="1300" b="1" dirty="0">
                <a:solidFill>
                  <a:schemeClr val="tx2"/>
                </a:solidFill>
              </a:rPr>
              <a:t>Zayıf noktaların yanıtı: Örencik–TUSAŞ Ekspres ve Yenikent aktarması.</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YER VE SAHA · DRONE ÇEKİMİ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Saha: platolar ve yeşil yamaçlar</a:t>
            </a:r>
            <a:endParaRPr lang="en-US" sz="3600" dirty="0"/>
          </a:p>
        </p:txBody>
      </p:sp>
      <p:pic>
        <p:nvPicPr>
          <p:cNvPr id="4" name="Örencik köyü ve plato" descr="/home/user/sunum/araclar/sunum/assets/saha_buyuk.jpg">    </p:cNvPr>
          <p:cNvPicPr>
            <a:picLocks noChangeAspect="1"/>
          </p:cNvPicPr>
          <p:nvPr/>
        </p:nvPicPr>
        <p:blipFill>
          <a:blip r:embed="rId1"/>
          <a:stretch>
            <a:fillRect/>
          </a:stretch>
        </p:blipFill>
        <p:spPr>
          <a:xfrm>
            <a:off x="548640" y="1600200"/>
            <a:ext cx="6720840" cy="4389120"/>
          </a:xfrm>
          <a:prstGeom prst="rect">
            <a:avLst/>
          </a:prstGeom>
        </p:spPr>
      </p:pic>
      <p:pic>
        <p:nvPicPr>
          <p:cNvPr id="5" name="Yarıntı ve teraslı ağaçlandırma" descr="/home/user/sunum/araclar/sunum/assets/saha_sag1.jpg">    </p:cNvPr>
          <p:cNvPicPr>
            <a:picLocks noChangeAspect="1"/>
          </p:cNvPicPr>
          <p:nvPr/>
        </p:nvPicPr>
        <p:blipFill>
          <a:blip r:embed="rId2"/>
          <a:stretch>
            <a:fillRect/>
          </a:stretch>
        </p:blipFill>
        <p:spPr>
          <a:xfrm>
            <a:off x="7452360" y="1600200"/>
            <a:ext cx="4187952" cy="2103120"/>
          </a:xfrm>
          <a:prstGeom prst="rect">
            <a:avLst/>
          </a:prstGeom>
        </p:spPr>
      </p:pic>
      <p:pic>
        <p:nvPicPr>
          <p:cNvPr id="6" name="Yamaç terasları ve yollar" descr="/home/user/sunum/araclar/sunum/assets/saha_sag2.jpg">    </p:cNvPr>
          <p:cNvPicPr>
            <a:picLocks noChangeAspect="1"/>
          </p:cNvPicPr>
          <p:nvPr/>
        </p:nvPicPr>
        <p:blipFill>
          <a:blip r:embed="rId3"/>
          <a:stretch>
            <a:fillRect/>
          </a:stretch>
        </p:blipFill>
        <p:spPr>
          <a:xfrm>
            <a:off x="7452360" y="3886200"/>
            <a:ext cx="4187952" cy="2103120"/>
          </a:xfrm>
          <a:prstGeom prst="rect">
            <a:avLst/>
          </a:prstGeom>
        </p:spPr>
      </p:pic>
      <p:sp>
        <p:nvSpPr>
          <p:cNvPr id="7" name="Fotoğraf etiketi"/>
          <p:cNvSpPr/>
          <p:nvPr/>
        </p:nvSpPr>
        <p:spPr>
          <a:xfrm>
            <a:off x="731520" y="5440680"/>
            <a:ext cx="3840480" cy="365760"/>
          </a:xfrm>
          <a:prstGeom prst="roundRect">
            <a:avLst>
              <a:gd name="adj" fmla="val 15000"/>
            </a:avLst>
          </a:prstGeom>
          <a:solidFill>
            <a:schemeClr val="tx2">
              <a:alpha val="90000"/>
            </a:schemeClr>
          </a:solidFill>
          <a:ln/>
        </p:spPr>
        <p:txBody>
          <a:bodyPr wrap="square" lIns="0" tIns="1524" rIns="1524" bIns="0" rtlCol="0" anchor="ctr"/>
          <a:lstStyle/>
          <a:p>
            <a:pPr indent="0" marL="0">
              <a:buNone/>
            </a:pPr>
            <a:r>
              <a:rPr lang="en-US" sz="1300" b="1" dirty="0">
                <a:solidFill>
                  <a:schemeClr val="bg1"/>
                </a:solidFill>
              </a:rPr>
              <a:t>Vadide eski Örencik köyü, platoda tarlalar</a:t>
            </a:r>
            <a:endParaRPr lang="en-US" sz="1300" dirty="0"/>
          </a:p>
        </p:txBody>
      </p:sp>
      <p:sp>
        <p:nvSpPr>
          <p:cNvPr id="8" name="Fotoğraf etiketi"/>
          <p:cNvSpPr/>
          <p:nvPr/>
        </p:nvSpPr>
        <p:spPr>
          <a:xfrm>
            <a:off x="7635240" y="3154680"/>
            <a:ext cx="3108960" cy="365760"/>
          </a:xfrm>
          <a:prstGeom prst="roundRect">
            <a:avLst>
              <a:gd name="adj" fmla="val 15000"/>
            </a:avLst>
          </a:prstGeom>
          <a:solidFill>
            <a:schemeClr val="tx2">
              <a:alpha val="90000"/>
            </a:schemeClr>
          </a:solidFill>
          <a:ln/>
        </p:spPr>
        <p:txBody>
          <a:bodyPr wrap="square" lIns="0" tIns="1524" rIns="1524" bIns="0" rtlCol="0" anchor="ctr"/>
          <a:lstStyle/>
          <a:p>
            <a:pPr indent="0" marL="0">
              <a:buNone/>
            </a:pPr>
            <a:r>
              <a:rPr lang="en-US" sz="1300" b="1" dirty="0">
                <a:solidFill>
                  <a:schemeClr val="bg1"/>
                </a:solidFill>
              </a:rPr>
              <a:t>Yarıntı ve teraslı çam ağaçlandırması</a:t>
            </a:r>
            <a:endParaRPr lang="en-US" sz="1300" dirty="0"/>
          </a:p>
        </p:txBody>
      </p:sp>
      <p:sp>
        <p:nvSpPr>
          <p:cNvPr id="9" name="Fotoğraf etiketi"/>
          <p:cNvSpPr/>
          <p:nvPr/>
        </p:nvSpPr>
        <p:spPr>
          <a:xfrm>
            <a:off x="7635240" y="5440680"/>
            <a:ext cx="3154680" cy="365760"/>
          </a:xfrm>
          <a:prstGeom prst="roundRect">
            <a:avLst>
              <a:gd name="adj" fmla="val 15000"/>
            </a:avLst>
          </a:prstGeom>
          <a:solidFill>
            <a:schemeClr val="tx2">
              <a:alpha val="90000"/>
            </a:schemeClr>
          </a:solidFill>
          <a:ln/>
        </p:spPr>
        <p:txBody>
          <a:bodyPr wrap="square" lIns="0" tIns="1524" rIns="1524" bIns="0" rtlCol="0" anchor="ctr"/>
          <a:lstStyle/>
          <a:p>
            <a:pPr indent="0" marL="0">
              <a:buNone/>
            </a:pPr>
            <a:r>
              <a:rPr lang="en-US" sz="1300" b="1" dirty="0">
                <a:solidFill>
                  <a:schemeClr val="bg1"/>
                </a:solidFill>
              </a:rPr>
              <a:t>Yamaç terasları, enerji hattı ve yollar</a:t>
            </a:r>
            <a:endParaRPr lang="en-US" sz="1300" dirty="0"/>
          </a:p>
        </p:txBody>
      </p:sp>
      <p:sp>
        <p:nvSpPr>
          <p:cNvPr id="10" name="Text 5"/>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Drone çekimi: 22 Eylül 2026, proje ekibi. Parsel sınırı elde olmadığı için fotoğraflar sınırı göstermez.</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YER VE SAHA · SAHA ANALİZİ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Saha bulguları ve sonraki adımlar</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600200"/>
                <a:gridCol w="3566160"/>
                <a:gridCol w="2926080"/>
                <a:gridCol w="3001975"/>
              </a:tblGrid>
              <a:tr h="530352">
                <a:tc>
                  <a:txBody>
                    <a:bodyPr/>
                    <a:lstStyle/>
                    <a:p>
                      <a:pPr indent="0" marL="0">
                        <a:buNone/>
                      </a:pPr>
                      <a:r>
                        <a:rPr lang="en-US" sz="1400" b="1" dirty="0">
                          <a:solidFill>
                            <a:srgbClr val="FFFFFF"/>
                          </a:solidFill>
                        </a:rPr>
                        <a:t>Konu</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Bulgu</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Anlamı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Sonraki adım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530352">
                <a:tc>
                  <a:txBody>
                    <a:bodyPr/>
                    <a:lstStyle/>
                    <a:p>
                      <a:pPr indent="0" marL="0">
                        <a:buNone/>
                      </a:pPr>
                      <a:r>
                        <a:rPr lang="en-US" sz="1400" b="1" dirty="0">
                          <a:solidFill>
                            <a:srgbClr val="1B2430"/>
                          </a:solidFill>
                        </a:rPr>
                        <a:t>Topoğrafya</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Düz platolar, dik yamaçlar, erozyon yarıntıları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Konut platolara; alanın ~%20'si korunur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Halihazır harita, eğim analizi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Ağaçlandırma</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Yamaçlarda teraslı genç çam dikimi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Statü varsa yapılaşma dışında kalır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6831 statüsü: Orman İşletme, Milli Emlak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Zemin</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Olası jipsli, marnlı birimler (tahmin)</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Temel ve altyapı maliyetini etkiler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Zemin etüdü ve jeoteknik rapor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Plan durumu</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Ankara ÇDP 2020'de iptal; 2050 planı onaylanmadı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İmar statüsü belirsiz</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İmar durumu yazısı (ABB, ÇŞİDB)</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Deprem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Akademik çalışma: Kazan için 0,30–0,35 g bandı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Ankara ortalamasının üzerinde olabilir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AFAD sorgusu, TBDY 2018</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Altyapı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Enerji hattı, stabilize yollar; kapasite verisi yok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Hat güzergâhı yerleşimi etkiler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ASKİ, Başkent EDAŞ, Başkentgaz görüşü</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B2430"/>
                          </a:solidFill>
                        </a:rPr>
                        <a:t>Uçuş ekseni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Pist uzatma ekseni güneydoğu köşeye ~0,4 km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Gürültü ve algı riski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Okul ve sağlık eksenden uzakta; MSB verisi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drone tespitleri (22 Eylül 2026), ABB jeoloji raporu, akademik olasılıksal tehlike çalışması, OSM. Tümü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YER VE SAHA · POLİTİKA UYUMU</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Üst politika belgeleriyle uyum</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017520"/>
                <a:gridCol w="3657600"/>
                <a:gridCol w="4419295"/>
              </a:tblGrid>
              <a:tr h="457200">
                <a:tc>
                  <a:txBody>
                    <a:bodyPr/>
                    <a:lstStyle/>
                    <a:p>
                      <a:pPr indent="0" marL="0">
                        <a:buNone/>
                      </a:pPr>
                      <a:r>
                        <a:rPr lang="en-US" sz="1400" b="1" dirty="0">
                          <a:solidFill>
                            <a:srgbClr val="FFFFFF"/>
                          </a:solidFill>
                        </a:rPr>
                        <a:t>Belge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Madde ve hedef</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Örencik'teki karşılığı</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57200">
                <a:tc rowSpan="5">
                  <a:txBody>
                    <a:bodyPr/>
                    <a:lstStyle/>
                    <a:p>
                      <a:pPr indent="0" marL="0">
                        <a:buNone/>
                      </a:pPr>
                      <a:r>
                        <a:rPr lang="en-US" sz="1400" b="1" dirty="0">
                          <a:solidFill>
                            <a:srgbClr val="1B2430"/>
                          </a:solidFill>
                        </a:rPr>
                        <a:t>12. Kalkınma Planı (2024–2028)</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m. 520.3, Tablo 22: istihdam 81,1 → 158 bin</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Nitelikli personelin bölgede yerleşmesi</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vMerge="1">
                  <a:tcPr/>
                </a:tc>
                <a:tc>
                  <a:txBody>
                    <a:bodyPr/>
                    <a:lstStyle/>
                    <a:p>
                      <a:pPr indent="0" marL="0">
                        <a:buNone/>
                      </a:pPr>
                      <a:r>
                        <a:rPr lang="en-US" sz="1400" dirty="0">
                          <a:solidFill>
                            <a:srgbClr val="1B2430"/>
                          </a:solidFill>
                        </a:rPr>
                        <a:t>m. 430</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Sanayi yatırım yeri ile yaşam alanı erişimi</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vMerge="1">
                  <a:tcPr/>
                </a:tc>
                <a:tc>
                  <a:txBody>
                    <a:bodyPr/>
                    <a:lstStyle/>
                    <a:p>
                      <a:pPr indent="0" marL="0">
                        <a:buNone/>
                      </a:pPr>
                      <a:r>
                        <a:rPr lang="en-US" sz="1400" dirty="0">
                          <a:solidFill>
                            <a:srgbClr val="1B2430"/>
                          </a:solidFill>
                        </a:rPr>
                        <a:t>m. 850, 853.2, 857</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Akıllı, yeşil, dirençli, mahalle kültürlü yerleşim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vMerge="1">
                  <a:tcPr/>
                </a:tc>
                <a:tc>
                  <a:txBody>
                    <a:bodyPr/>
                    <a:lstStyle/>
                    <a:p>
                      <a:pPr indent="0" marL="0">
                        <a:buNone/>
                      </a:pPr>
                      <a:r>
                        <a:rPr lang="en-US" sz="1400" dirty="0">
                          <a:solidFill>
                            <a:srgbClr val="1B2430"/>
                          </a:solidFill>
                        </a:rPr>
                        <a:t>m. 884.2, 885</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Yerleşim ile toplu taşımanın birlikte planlanması</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vMerge="1">
                  <a:tcPr/>
                </a:tc>
                <a:tc>
                  <a:txBody>
                    <a:bodyPr/>
                    <a:lstStyle/>
                    <a:p>
                      <a:pPr indent="0" marL="0">
                        <a:buNone/>
                      </a:pPr>
                      <a:r>
                        <a:rPr lang="en-US" sz="1400" dirty="0">
                          <a:solidFill>
                            <a:srgbClr val="1B2430"/>
                          </a:solidFill>
                        </a:rPr>
                        <a:t>m. 880.5, 881–882</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Sıfır atık, yağmur suyu hasadı (göl ve peyzaj)</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430"/>
                          </a:solidFill>
                        </a:rPr>
                        <a:t>2026 Yıllık Program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853.2, 885.4</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Akıllı şehir öğeleri; Akıllı Ulaşım Eylem Planı 2025–2030</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430"/>
                          </a:solidFill>
                        </a:rPr>
                        <a:t>SSB Stratejik Planı 2024–2028</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H3.5; s. 46 tehdit tespiti</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Deneyimli personeli sektörde tutmak</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430"/>
                          </a:solidFill>
                        </a:rPr>
                        <a:t>2030 Ulusal Akıllı Şehirler Stratejisi</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Veri yönetimi, dijital güvenlik</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Akıllı yaşam alanı ve veri güvenliği</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12. Kalkınma Planı; 2026 Cumhurbaşkanlığı Yıllık Programı; SSB Stratejik Planı 2024–2028. Akıllı şehirler stratejisindeki eylem numarası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ALAN PROGRAMI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Önerilen program: 2.500 konut</a:t>
            </a:r>
            <a:endParaRPr lang="en-US" sz="3600" dirty="0"/>
          </a:p>
        </p:txBody>
      </p:sp>
      <p:graphicFrame>
        <p:nvGraphicFramePr>
          <p:cNvPr id="4" name="Chart 0" descr=""/>
          <p:cNvGraphicFramePr/>
          <p:nvPr/>
        </p:nvGraphicFramePr>
        <p:xfrm>
          <a:off x="548640" y="1600200"/>
          <a:ext cx="6035040" cy="4389120"/>
        </p:xfrm>
        <a:graphic xmlns:a="http://schemas.openxmlformats.org/drawingml/2006/main">
          <a:graphicData uri="http://schemas.openxmlformats.org/drawingml/2006/chart">
            <c:chart xmlns:c="http://schemas.openxmlformats.org/drawingml/2006/chart" r:id="rId1"/>
          </a:graphicData>
        </a:graphic>
      </p:graphicFrame>
      <p:sp>
        <p:nvSpPr>
          <p:cNvPr id="5" name="Gösterge"/>
          <p:cNvSpPr/>
          <p:nvPr/>
        </p:nvSpPr>
        <p:spPr>
          <a:xfrm>
            <a:off x="6903720" y="1600200"/>
            <a:ext cx="2286000" cy="1078992"/>
          </a:xfrm>
          <a:prstGeom prst="roundRect">
            <a:avLst>
              <a:gd name="adj" fmla="val 6780"/>
            </a:avLst>
          </a:prstGeom>
          <a:solidFill>
            <a:schemeClr val="bg1"/>
          </a:solidFill>
          <a:ln/>
          <a:effectLst>
            <a:outerShdw sx="100000" sy="100000" kx="0" ky="0" algn="bl" rotWithShape="0" blurRad="76200" dist="19050" dir="5400000">
              <a:srgbClr val="000000">
                <a:alpha val="12000"/>
              </a:srgbClr>
            </a:outerShdw>
          </a:effectLst>
        </p:spPr>
      </p:sp>
      <p:sp>
        <p:nvSpPr>
          <p:cNvPr id="6" name="Text 3"/>
          <p:cNvSpPr txBox="1"/>
          <p:nvPr/>
        </p:nvSpPr>
        <p:spPr>
          <a:xfrm>
            <a:off x="7086600" y="1728216"/>
            <a:ext cx="1920240" cy="539496"/>
          </a:xfrm>
          <a:prstGeom prst="rect">
            <a:avLst/>
          </a:prstGeom>
          <a:noFill/>
          <a:ln/>
        </p:spPr>
        <p:txBody>
          <a:bodyPr wrap="square" lIns="0" tIns="0" rIns="0" bIns="0" rtlCol="0" anchor="b"/>
          <a:lstStyle/>
          <a:p>
            <a:pPr indent="0" marL="0">
              <a:buNone/>
            </a:pPr>
            <a:r>
              <a:rPr lang="en-US" sz="2600" b="1" dirty="0">
                <a:solidFill>
                  <a:schemeClr val="tx2"/>
                </a:solidFill>
                <a:latin typeface="Cambria" pitchFamily="34" charset="0"/>
                <a:ea typeface="Cambria" pitchFamily="34" charset="-122"/>
                <a:cs typeface="Cambria" pitchFamily="34" charset="-120"/>
              </a:rPr>
              <a:t>13,1 ha</a:t>
            </a:r>
            <a:endParaRPr lang="en-US" sz="2600" dirty="0"/>
          </a:p>
        </p:txBody>
      </p:sp>
      <p:sp>
        <p:nvSpPr>
          <p:cNvPr id="7" name="Text 4"/>
          <p:cNvSpPr txBox="1"/>
          <p:nvPr/>
        </p:nvSpPr>
        <p:spPr>
          <a:xfrm>
            <a:off x="7086600" y="2286000"/>
            <a:ext cx="1920240" cy="301752"/>
          </a:xfrm>
          <a:prstGeom prst="rect">
            <a:avLst/>
          </a:prstGeom>
          <a:noFill/>
          <a:ln/>
        </p:spPr>
        <p:txBody>
          <a:bodyPr wrap="square" lIns="0" tIns="0" rIns="0" bIns="0" rtlCol="0" anchor="t"/>
          <a:lstStyle/>
          <a:p>
            <a:pPr indent="0" marL="0">
              <a:buNone/>
            </a:pPr>
            <a:r>
              <a:rPr lang="en-US" sz="1300" dirty="0">
                <a:solidFill>
                  <a:schemeClr val="tx1"/>
                </a:solidFill>
              </a:rPr>
              <a:t>net konut alanı</a:t>
            </a:r>
            <a:endParaRPr lang="en-US" sz="1300" dirty="0"/>
          </a:p>
        </p:txBody>
      </p:sp>
      <p:sp>
        <p:nvSpPr>
          <p:cNvPr id="8" name="Gösterge"/>
          <p:cNvSpPr/>
          <p:nvPr/>
        </p:nvSpPr>
        <p:spPr>
          <a:xfrm>
            <a:off x="9372600" y="1600200"/>
            <a:ext cx="2286000" cy="1078992"/>
          </a:xfrm>
          <a:prstGeom prst="roundRect">
            <a:avLst>
              <a:gd name="adj" fmla="val 6780"/>
            </a:avLst>
          </a:prstGeom>
          <a:solidFill>
            <a:schemeClr val="bg1"/>
          </a:solidFill>
          <a:ln/>
          <a:effectLst>
            <a:outerShdw sx="100000" sy="100000" kx="0" ky="0" algn="bl" rotWithShape="0" blurRad="76200" dist="19050" dir="5400000">
              <a:srgbClr val="000000">
                <a:alpha val="12000"/>
              </a:srgbClr>
            </a:outerShdw>
          </a:effectLst>
        </p:spPr>
      </p:sp>
      <p:sp>
        <p:nvSpPr>
          <p:cNvPr id="9" name="Text 6"/>
          <p:cNvSpPr txBox="1"/>
          <p:nvPr/>
        </p:nvSpPr>
        <p:spPr>
          <a:xfrm>
            <a:off x="9555480" y="1728216"/>
            <a:ext cx="1920240" cy="539496"/>
          </a:xfrm>
          <a:prstGeom prst="rect">
            <a:avLst/>
          </a:prstGeom>
          <a:noFill/>
          <a:ln/>
        </p:spPr>
        <p:txBody>
          <a:bodyPr wrap="square" lIns="0" tIns="0" rIns="0" bIns="0" rtlCol="0" anchor="b"/>
          <a:lstStyle/>
          <a:p>
            <a:pPr indent="0" marL="0">
              <a:buNone/>
            </a:pPr>
            <a:r>
              <a:rPr lang="en-US" sz="2600" b="1" dirty="0">
                <a:solidFill>
                  <a:schemeClr val="tx2"/>
                </a:solidFill>
                <a:latin typeface="Cambria" pitchFamily="34" charset="0"/>
                <a:ea typeface="Cambria" pitchFamily="34" charset="-122"/>
                <a:cs typeface="Cambria" pitchFamily="34" charset="-120"/>
              </a:rPr>
              <a:t>2,29</a:t>
            </a:r>
            <a:endParaRPr lang="en-US" sz="2600" dirty="0"/>
          </a:p>
        </p:txBody>
      </p:sp>
      <p:sp>
        <p:nvSpPr>
          <p:cNvPr id="10" name="Text 7"/>
          <p:cNvSpPr txBox="1"/>
          <p:nvPr/>
        </p:nvSpPr>
        <p:spPr>
          <a:xfrm>
            <a:off x="9555480" y="2286000"/>
            <a:ext cx="1920240" cy="301752"/>
          </a:xfrm>
          <a:prstGeom prst="rect">
            <a:avLst/>
          </a:prstGeom>
          <a:noFill/>
          <a:ln/>
        </p:spPr>
        <p:txBody>
          <a:bodyPr wrap="square" lIns="0" tIns="0" rIns="0" bIns="0" rtlCol="0" anchor="t"/>
          <a:lstStyle/>
          <a:p>
            <a:pPr indent="0" marL="0">
              <a:buNone/>
            </a:pPr>
            <a:r>
              <a:rPr lang="en-US" sz="1300" dirty="0">
                <a:solidFill>
                  <a:schemeClr val="tx1"/>
                </a:solidFill>
              </a:rPr>
              <a:t>net emsal</a:t>
            </a:r>
            <a:endParaRPr lang="en-US" sz="1300" dirty="0"/>
          </a:p>
        </p:txBody>
      </p:sp>
      <p:sp>
        <p:nvSpPr>
          <p:cNvPr id="11" name="Gösterge"/>
          <p:cNvSpPr/>
          <p:nvPr/>
        </p:nvSpPr>
        <p:spPr>
          <a:xfrm>
            <a:off x="6903720" y="2834640"/>
            <a:ext cx="2286000" cy="1078992"/>
          </a:xfrm>
          <a:prstGeom prst="roundRect">
            <a:avLst>
              <a:gd name="adj" fmla="val 6780"/>
            </a:avLst>
          </a:prstGeom>
          <a:solidFill>
            <a:schemeClr val="bg1"/>
          </a:solidFill>
          <a:ln/>
          <a:effectLst>
            <a:outerShdw sx="100000" sy="100000" kx="0" ky="0" algn="bl" rotWithShape="0" blurRad="76200" dist="19050" dir="5400000">
              <a:srgbClr val="000000">
                <a:alpha val="12000"/>
              </a:srgbClr>
            </a:outerShdw>
          </a:effectLst>
        </p:spPr>
      </p:sp>
      <p:sp>
        <p:nvSpPr>
          <p:cNvPr id="12" name="Text 9"/>
          <p:cNvSpPr txBox="1"/>
          <p:nvPr/>
        </p:nvSpPr>
        <p:spPr>
          <a:xfrm>
            <a:off x="7086600" y="2962656"/>
            <a:ext cx="1920240" cy="539496"/>
          </a:xfrm>
          <a:prstGeom prst="rect">
            <a:avLst/>
          </a:prstGeom>
          <a:noFill/>
          <a:ln/>
        </p:spPr>
        <p:txBody>
          <a:bodyPr wrap="square" lIns="0" tIns="0" rIns="0" bIns="0" rtlCol="0" anchor="b"/>
          <a:lstStyle/>
          <a:p>
            <a:pPr indent="0" marL="0">
              <a:buNone/>
            </a:pPr>
            <a:r>
              <a:rPr lang="en-US" sz="2600" b="1" dirty="0">
                <a:solidFill>
                  <a:schemeClr val="tx2"/>
                </a:solidFill>
                <a:latin typeface="Cambria" pitchFamily="34" charset="0"/>
                <a:ea typeface="Cambria" pitchFamily="34" charset="-122"/>
                <a:cs typeface="Cambria" pitchFamily="34" charset="-120"/>
              </a:rPr>
              <a:t>49</a:t>
            </a:r>
            <a:endParaRPr lang="en-US" sz="2600" dirty="0"/>
          </a:p>
        </p:txBody>
      </p:sp>
      <p:sp>
        <p:nvSpPr>
          <p:cNvPr id="13" name="Text 10"/>
          <p:cNvSpPr txBox="1"/>
          <p:nvPr/>
        </p:nvSpPr>
        <p:spPr>
          <a:xfrm>
            <a:off x="7086600" y="3520440"/>
            <a:ext cx="1920240" cy="301752"/>
          </a:xfrm>
          <a:prstGeom prst="rect">
            <a:avLst/>
          </a:prstGeom>
          <a:noFill/>
          <a:ln/>
        </p:spPr>
        <p:txBody>
          <a:bodyPr wrap="square" lIns="0" tIns="0" rIns="0" bIns="0" rtlCol="0" anchor="t"/>
          <a:lstStyle/>
          <a:p>
            <a:pPr indent="0" marL="0">
              <a:buNone/>
            </a:pPr>
            <a:r>
              <a:rPr lang="en-US" sz="1300" dirty="0">
                <a:solidFill>
                  <a:schemeClr val="tx1"/>
                </a:solidFill>
              </a:rPr>
              <a:t>konut/ha (brüt)</a:t>
            </a:r>
            <a:endParaRPr lang="en-US" sz="1300" dirty="0"/>
          </a:p>
        </p:txBody>
      </p:sp>
      <p:sp>
        <p:nvSpPr>
          <p:cNvPr id="14" name="Gösterge"/>
          <p:cNvSpPr/>
          <p:nvPr/>
        </p:nvSpPr>
        <p:spPr>
          <a:xfrm>
            <a:off x="9372600" y="2834640"/>
            <a:ext cx="2286000" cy="1078992"/>
          </a:xfrm>
          <a:prstGeom prst="roundRect">
            <a:avLst>
              <a:gd name="adj" fmla="val 6780"/>
            </a:avLst>
          </a:prstGeom>
          <a:solidFill>
            <a:schemeClr val="bg1"/>
          </a:solidFill>
          <a:ln/>
          <a:effectLst>
            <a:outerShdw sx="100000" sy="100000" kx="0" ky="0" algn="bl" rotWithShape="0" blurRad="76200" dist="19050" dir="5400000">
              <a:srgbClr val="000000">
                <a:alpha val="12000"/>
              </a:srgbClr>
            </a:outerShdw>
          </a:effectLst>
        </p:spPr>
      </p:sp>
      <p:sp>
        <p:nvSpPr>
          <p:cNvPr id="15" name="Text 12"/>
          <p:cNvSpPr txBox="1"/>
          <p:nvPr/>
        </p:nvSpPr>
        <p:spPr>
          <a:xfrm>
            <a:off x="9555480" y="2962656"/>
            <a:ext cx="1920240" cy="539496"/>
          </a:xfrm>
          <a:prstGeom prst="rect">
            <a:avLst/>
          </a:prstGeom>
          <a:noFill/>
          <a:ln/>
        </p:spPr>
        <p:txBody>
          <a:bodyPr wrap="square" lIns="0" tIns="0" rIns="0" bIns="0" rtlCol="0" anchor="b"/>
          <a:lstStyle/>
          <a:p>
            <a:pPr indent="0" marL="0">
              <a:buNone/>
            </a:pPr>
            <a:r>
              <a:rPr lang="en-US" sz="2600" b="1" dirty="0">
                <a:solidFill>
                  <a:schemeClr val="tx2"/>
                </a:solidFill>
                <a:latin typeface="Cambria" pitchFamily="34" charset="0"/>
                <a:ea typeface="Cambria" pitchFamily="34" charset="-122"/>
                <a:cs typeface="Cambria" pitchFamily="34" charset="-120"/>
              </a:rPr>
              <a:t>24,7 m²</a:t>
            </a:r>
            <a:endParaRPr lang="en-US" sz="2600" dirty="0"/>
          </a:p>
        </p:txBody>
      </p:sp>
      <p:sp>
        <p:nvSpPr>
          <p:cNvPr id="16" name="Text 13"/>
          <p:cNvSpPr txBox="1"/>
          <p:nvPr/>
        </p:nvSpPr>
        <p:spPr>
          <a:xfrm>
            <a:off x="9555480" y="3520440"/>
            <a:ext cx="1920240" cy="301752"/>
          </a:xfrm>
          <a:prstGeom prst="rect">
            <a:avLst/>
          </a:prstGeom>
          <a:noFill/>
          <a:ln/>
        </p:spPr>
        <p:txBody>
          <a:bodyPr wrap="square" lIns="0" tIns="0" rIns="0" bIns="0" rtlCol="0" anchor="t"/>
          <a:lstStyle/>
          <a:p>
            <a:pPr indent="0" marL="0">
              <a:buNone/>
            </a:pPr>
            <a:r>
              <a:rPr lang="en-US" sz="1300" dirty="0">
                <a:solidFill>
                  <a:schemeClr val="tx1"/>
                </a:solidFill>
              </a:rPr>
              <a:t>kişi başı yeşil alan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903720" y="4206240"/>
          <a:ext cx="4736592" cy="914400"/>
        </p:xfrm>
        <a:graphic>
          <a:graphicData uri="http://schemas.openxmlformats.org/drawingml/2006/table">
            <a:tbl>
              <a:tblPr/>
              <a:tblGrid>
                <a:gridCol w="1993392"/>
                <a:gridCol w="914400"/>
                <a:gridCol w="914400"/>
                <a:gridCol w="914400"/>
              </a:tblGrid>
              <a:tr h="384048">
                <a:tc>
                  <a:txBody>
                    <a:bodyPr/>
                    <a:lstStyle/>
                    <a:p>
                      <a:pPr algn="l" indent="0" marL="0">
                        <a:buNone/>
                      </a:pPr>
                      <a:r>
                        <a:rPr lang="en-US" sz="1400" b="1" dirty="0">
                          <a:solidFill>
                            <a:srgbClr val="FFFFFF"/>
                          </a:solidFill>
                        </a:rPr>
                        <a:t>Senaryo</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400" b="1" dirty="0">
                          <a:solidFill>
                            <a:srgbClr val="FFFFFF"/>
                          </a:solidFill>
                        </a:rPr>
                        <a:t>2.000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400" b="1" dirty="0">
                          <a:solidFill>
                            <a:srgbClr val="FFFFFF"/>
                          </a:solidFill>
                        </a:rPr>
                        <a:t>2.500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9A5418"/>
                    </a:solidFill>
                  </a:tcPr>
                </a:tc>
                <a:tc>
                  <a:txBody>
                    <a:bodyPr/>
                    <a:lstStyle/>
                    <a:p>
                      <a:pPr algn="r" indent="0" marL="0">
                        <a:buNone/>
                      </a:pPr>
                      <a:r>
                        <a:rPr lang="en-US" sz="1400" b="1" dirty="0">
                          <a:solidFill>
                            <a:srgbClr val="FFFFFF"/>
                          </a:solidFill>
                        </a:rPr>
                        <a:t>3.000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384048">
                <a:tc>
                  <a:txBody>
                    <a:bodyPr/>
                    <a:lstStyle/>
                    <a:p>
                      <a:pPr algn="l" indent="0" marL="0">
                        <a:buNone/>
                      </a:pPr>
                      <a:r>
                        <a:rPr lang="en-US" sz="1400" b="1" dirty="0">
                          <a:solidFill>
                            <a:srgbClr val="1B2430"/>
                          </a:solidFill>
                        </a:rPr>
                        <a:t>Nüfus</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6.000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B2430"/>
                          </a:solidFill>
                        </a:rPr>
                        <a:t>7.500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dirty="0">
                          <a:solidFill>
                            <a:srgbClr val="1B2430"/>
                          </a:solidFill>
                        </a:rPr>
                        <a:t>9.000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B2430"/>
                          </a:solidFill>
                        </a:rPr>
                        <a:t>Net emsal</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1,60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B2430"/>
                          </a:solidFill>
                        </a:rPr>
                        <a:t>2,29</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dirty="0">
                          <a:solidFill>
                            <a:srgbClr val="1B2430"/>
                          </a:solidFill>
                        </a:rPr>
                        <a:t>3,21</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B2430"/>
                          </a:solidFill>
                        </a:rPr>
                        <a:t>Kişi başı yeşil (m²)</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30,3</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B2430"/>
                          </a:solidFill>
                        </a:rPr>
                        <a:t>24,7</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dirty="0">
                          <a:solidFill>
                            <a:srgbClr val="1B2430"/>
                          </a:solidFill>
                        </a:rPr>
                        <a:t>20,9</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18" name="Text 14"/>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Varsayımlar: hane 3,0 kişi; konut başına 120 m² brüt inşaat; donatılar MPYY Ek-2. Karşılaştırma: TAI Ankara Lodgings brüt ~37,5 konut/ha.</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BÖLGELEME</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Göl merkezde, mahalleler platolarda</a:t>
            </a:r>
            <a:endParaRPr lang="en-US" sz="3600" dirty="0"/>
          </a:p>
        </p:txBody>
      </p:sp>
      <p:sp>
        <p:nvSpPr>
          <p:cNvPr id="4" name="Kart"/>
          <p:cNvSpPr/>
          <p:nvPr/>
        </p:nvSpPr>
        <p:spPr>
          <a:xfrm>
            <a:off x="548640" y="1600200"/>
            <a:ext cx="7215033" cy="4434840"/>
          </a:xfrm>
          <a:prstGeom prst="roundRect">
            <a:avLst>
              <a:gd name="adj" fmla="val 1649"/>
            </a:avLst>
          </a:prstGeom>
          <a:solidFill>
            <a:schemeClr val="bg1"/>
          </a:solidFill>
          <a:ln/>
          <a:effectLst>
            <a:outerShdw sx="100000" sy="100000" kx="0" ky="0" algn="bl" rotWithShape="0" blurRad="76200" dist="19050" dir="5400000">
              <a:srgbClr val="000000">
                <a:alpha val="12000"/>
              </a:srgbClr>
            </a:outerShdw>
          </a:effectLst>
        </p:spPr>
      </p:sp>
      <p:pic>
        <p:nvPicPr>
          <p:cNvPr id="5" name="Bölgeleme şeması" descr="/home/user/sunum/araclar/sunum/assets/bolgeleme.png">    </p:cNvPr>
          <p:cNvPicPr>
            <a:picLocks noChangeAspect="1"/>
          </p:cNvPicPr>
          <p:nvPr/>
        </p:nvPicPr>
        <p:blipFill>
          <a:blip r:embed="rId1"/>
          <a:stretch>
            <a:fillRect/>
          </a:stretch>
        </p:blipFill>
        <p:spPr>
          <a:xfrm>
            <a:off x="548640" y="1600200"/>
            <a:ext cx="7215033" cy="4434840"/>
          </a:xfrm>
          <a:prstGeom prst="rect">
            <a:avLst/>
          </a:prstGeom>
        </p:spPr>
      </p:pic>
      <p:sp>
        <p:nvSpPr>
          <p:cNvPr id="6" name="İkon zemini"/>
          <p:cNvSpPr/>
          <p:nvPr/>
        </p:nvSpPr>
        <p:spPr>
          <a:xfrm>
            <a:off x="8083713" y="1691640"/>
            <a:ext cx="548640" cy="548640"/>
          </a:xfrm>
          <a:prstGeom prst="ellipse">
            <a:avLst/>
          </a:prstGeom>
          <a:solidFill>
            <a:schemeClr val="tx2"/>
          </a:solidFill>
          <a:ln/>
        </p:spPr>
      </p:sp>
      <p:pic>
        <p:nvPicPr>
          <p:cNvPr id="7" name="İkon FaHouse" descr="preencoded.png">    </p:cNvPr>
          <p:cNvPicPr>
            <a:picLocks noChangeAspect="1"/>
          </p:cNvPicPr>
          <p:nvPr/>
        </p:nvPicPr>
        <p:blipFill>
          <a:blip r:embed="rId2"/>
          <a:stretch>
            <a:fillRect/>
          </a:stretch>
        </p:blipFill>
        <p:spPr>
          <a:xfrm>
            <a:off x="8215386" y="1823314"/>
            <a:ext cx="285293" cy="285293"/>
          </a:xfrm>
          <a:prstGeom prst="rect">
            <a:avLst/>
          </a:prstGeom>
        </p:spPr>
      </p:pic>
      <p:sp>
        <p:nvSpPr>
          <p:cNvPr id="8" name="Text 4"/>
          <p:cNvSpPr txBox="1"/>
          <p:nvPr/>
        </p:nvSpPr>
        <p:spPr>
          <a:xfrm>
            <a:off x="8769513" y="1673352"/>
            <a:ext cx="2873543" cy="960120"/>
          </a:xfrm>
          <a:prstGeom prst="rect">
            <a:avLst/>
          </a:prstGeom>
          <a:noFill/>
          <a:ln/>
        </p:spPr>
        <p:txBody>
          <a:bodyPr wrap="square" lIns="0" tIns="0" rIns="0" bIns="0" rtlCol="0" anchor="t"/>
          <a:lstStyle/>
          <a:p>
            <a:pPr indent="0" marL="0">
              <a:buNone/>
            </a:pPr>
            <a:r>
              <a:rPr lang="en-US" sz="1500" dirty="0">
                <a:solidFill>
                  <a:schemeClr val="tx1"/>
                </a:solidFill>
              </a:rPr>
              <a:t>Dört mahalle platolarda, manzaraya yönelik</a:t>
            </a:r>
            <a:endParaRPr lang="en-US" sz="1500" dirty="0"/>
          </a:p>
        </p:txBody>
      </p:sp>
      <p:sp>
        <p:nvSpPr>
          <p:cNvPr id="9" name="İkon zemini"/>
          <p:cNvSpPr/>
          <p:nvPr/>
        </p:nvSpPr>
        <p:spPr>
          <a:xfrm>
            <a:off x="8083713" y="2788920"/>
            <a:ext cx="548640" cy="548640"/>
          </a:xfrm>
          <a:prstGeom prst="ellipse">
            <a:avLst/>
          </a:prstGeom>
          <a:solidFill>
            <a:schemeClr val="tx2"/>
          </a:solidFill>
          <a:ln/>
        </p:spPr>
      </p:sp>
      <p:pic>
        <p:nvPicPr>
          <p:cNvPr id="10" name="İkon FaSchool" descr="preencoded.png">    </p:cNvPr>
          <p:cNvPicPr>
            <a:picLocks noChangeAspect="1"/>
          </p:cNvPicPr>
          <p:nvPr/>
        </p:nvPicPr>
        <p:blipFill>
          <a:blip r:embed="rId3"/>
          <a:stretch>
            <a:fillRect/>
          </a:stretch>
        </p:blipFill>
        <p:spPr>
          <a:xfrm>
            <a:off x="8215386" y="2920594"/>
            <a:ext cx="285293" cy="285293"/>
          </a:xfrm>
          <a:prstGeom prst="rect">
            <a:avLst/>
          </a:prstGeom>
        </p:spPr>
      </p:pic>
      <p:sp>
        <p:nvSpPr>
          <p:cNvPr id="11" name="Text 6"/>
          <p:cNvSpPr txBox="1"/>
          <p:nvPr/>
        </p:nvSpPr>
        <p:spPr>
          <a:xfrm>
            <a:off x="8769513" y="2770632"/>
            <a:ext cx="2873543" cy="960120"/>
          </a:xfrm>
          <a:prstGeom prst="rect">
            <a:avLst/>
          </a:prstGeom>
          <a:noFill/>
          <a:ln/>
        </p:spPr>
        <p:txBody>
          <a:bodyPr wrap="square" lIns="0" tIns="0" rIns="0" bIns="0" rtlCol="0" anchor="t"/>
          <a:lstStyle/>
          <a:p>
            <a:pPr indent="0" marL="0">
              <a:buNone/>
            </a:pPr>
            <a:r>
              <a:rPr lang="en-US" sz="1500" dirty="0">
                <a:solidFill>
                  <a:schemeClr val="tx1"/>
                </a:solidFill>
              </a:rPr>
              <a:t>İki okul kampüsü göl parkının batısında; en uzak konut ~500 m</a:t>
            </a:r>
            <a:endParaRPr lang="en-US" sz="1500" dirty="0"/>
          </a:p>
        </p:txBody>
      </p:sp>
      <p:sp>
        <p:nvSpPr>
          <p:cNvPr id="12" name="İkon zemini"/>
          <p:cNvSpPr/>
          <p:nvPr/>
        </p:nvSpPr>
        <p:spPr>
          <a:xfrm>
            <a:off x="8083713" y="3886200"/>
            <a:ext cx="548640" cy="548640"/>
          </a:xfrm>
          <a:prstGeom prst="ellipse">
            <a:avLst/>
          </a:prstGeom>
          <a:solidFill>
            <a:schemeClr val="tx2"/>
          </a:solidFill>
          <a:ln/>
        </p:spPr>
      </p:sp>
      <p:pic>
        <p:nvPicPr>
          <p:cNvPr id="13" name="İkon FaBus" descr="preencoded.png">    </p:cNvPr>
          <p:cNvPicPr>
            <a:picLocks noChangeAspect="1"/>
          </p:cNvPicPr>
          <p:nvPr/>
        </p:nvPicPr>
        <p:blipFill>
          <a:blip r:embed="rId4"/>
          <a:stretch>
            <a:fillRect/>
          </a:stretch>
        </p:blipFill>
        <p:spPr>
          <a:xfrm>
            <a:off x="8215386" y="4017874"/>
            <a:ext cx="285293" cy="285293"/>
          </a:xfrm>
          <a:prstGeom prst="rect">
            <a:avLst/>
          </a:prstGeom>
        </p:spPr>
      </p:pic>
      <p:sp>
        <p:nvSpPr>
          <p:cNvPr id="14" name="Text 8"/>
          <p:cNvSpPr txBox="1"/>
          <p:nvPr/>
        </p:nvSpPr>
        <p:spPr>
          <a:xfrm>
            <a:off x="8769513" y="3867912"/>
            <a:ext cx="2873543" cy="960120"/>
          </a:xfrm>
          <a:prstGeom prst="rect">
            <a:avLst/>
          </a:prstGeom>
          <a:noFill/>
          <a:ln/>
        </p:spPr>
        <p:txBody>
          <a:bodyPr wrap="square" lIns="0" tIns="0" rIns="0" bIns="0" rtlCol="0" anchor="t"/>
          <a:lstStyle/>
          <a:p>
            <a:pPr indent="0" marL="0">
              <a:buNone/>
            </a:pPr>
            <a:r>
              <a:rPr lang="en-US" sz="1500" dirty="0">
                <a:solidFill>
                  <a:schemeClr val="tx1"/>
                </a:solidFill>
              </a:rPr>
              <a:t>Güneybatı girişinde servis ve aktarma istasyonu</a:t>
            </a:r>
            <a:endParaRPr lang="en-US" sz="1500" dirty="0"/>
          </a:p>
        </p:txBody>
      </p:sp>
      <p:sp>
        <p:nvSpPr>
          <p:cNvPr id="15" name="İkon zemini"/>
          <p:cNvSpPr/>
          <p:nvPr/>
        </p:nvSpPr>
        <p:spPr>
          <a:xfrm>
            <a:off x="8083713" y="4983480"/>
            <a:ext cx="548640" cy="548640"/>
          </a:xfrm>
          <a:prstGeom prst="ellipse">
            <a:avLst/>
          </a:prstGeom>
          <a:solidFill>
            <a:schemeClr val="tx2"/>
          </a:solidFill>
          <a:ln/>
        </p:spPr>
      </p:sp>
      <p:pic>
        <p:nvPicPr>
          <p:cNvPr id="16" name="İkon FaTree" descr="preencoded.png">    </p:cNvPr>
          <p:cNvPicPr>
            <a:picLocks noChangeAspect="1"/>
          </p:cNvPicPr>
          <p:nvPr/>
        </p:nvPicPr>
        <p:blipFill>
          <a:blip r:embed="rId5"/>
          <a:stretch>
            <a:fillRect/>
          </a:stretch>
        </p:blipFill>
        <p:spPr>
          <a:xfrm>
            <a:off x="8215386" y="5115154"/>
            <a:ext cx="285293" cy="285293"/>
          </a:xfrm>
          <a:prstGeom prst="rect">
            <a:avLst/>
          </a:prstGeom>
        </p:spPr>
      </p:pic>
      <p:sp>
        <p:nvSpPr>
          <p:cNvPr id="17" name="Text 10"/>
          <p:cNvSpPr txBox="1"/>
          <p:nvPr/>
        </p:nvSpPr>
        <p:spPr>
          <a:xfrm>
            <a:off x="8769513" y="4965192"/>
            <a:ext cx="2873543" cy="960120"/>
          </a:xfrm>
          <a:prstGeom prst="rect">
            <a:avLst/>
          </a:prstGeom>
          <a:noFill/>
          <a:ln/>
        </p:spPr>
        <p:txBody>
          <a:bodyPr wrap="square" lIns="0" tIns="0" rIns="0" bIns="0" rtlCol="0" anchor="t"/>
          <a:lstStyle/>
          <a:p>
            <a:pPr indent="0" marL="0">
              <a:buNone/>
            </a:pPr>
            <a:r>
              <a:rPr lang="en-US" sz="1500" dirty="0">
                <a:solidFill>
                  <a:schemeClr val="tx1"/>
                </a:solidFill>
              </a:rPr>
              <a:t>Korunan yamaçlar yeşil kuşak: yürüyüş ve seyir noktaları</a:t>
            </a:r>
            <a:endParaRPr lang="en-US" sz="1500" dirty="0"/>
          </a:p>
        </p:txBody>
      </p:sp>
      <p:sp>
        <p:nvSpPr>
          <p:cNvPr id="18" name="Text 11"/>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Şematiktir. Ölçeklidir; parsel sınırı ve yön temsilidir. Sınır ve topoğrafik harita gelince yeniden çizilecek.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EĞİTİM</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Eğitim: yürüme mesafesinde okul</a:t>
            </a:r>
            <a:endParaRPr lang="en-US" sz="3600" dirty="0"/>
          </a:p>
        </p:txBody>
      </p:sp>
      <p:sp>
        <p:nvSpPr>
          <p:cNvPr id="4" name="Gösterge"/>
          <p:cNvSpPr/>
          <p:nvPr/>
        </p:nvSpPr>
        <p:spPr>
          <a:xfrm>
            <a:off x="548640" y="1600200"/>
            <a:ext cx="2057400" cy="1097280"/>
          </a:xfrm>
          <a:prstGeom prst="roundRect">
            <a:avLst>
              <a:gd name="adj" fmla="val 6667"/>
            </a:avLst>
          </a:prstGeom>
          <a:solidFill>
            <a:schemeClr val="bg1"/>
          </a:solidFill>
          <a:ln/>
          <a:effectLst>
            <a:outerShdw sx="100000" sy="100000" kx="0" ky="0" algn="bl" rotWithShape="0" blurRad="76200" dist="19050" dir="5400000">
              <a:srgbClr val="000000">
                <a:alpha val="12000"/>
              </a:srgbClr>
            </a:outerShdw>
          </a:effectLst>
        </p:spPr>
      </p:sp>
      <p:sp>
        <p:nvSpPr>
          <p:cNvPr id="5" name="Text 3"/>
          <p:cNvSpPr txBox="1"/>
          <p:nvPr/>
        </p:nvSpPr>
        <p:spPr>
          <a:xfrm>
            <a:off x="731520" y="1728216"/>
            <a:ext cx="1691640" cy="548640"/>
          </a:xfrm>
          <a:prstGeom prst="rect">
            <a:avLst/>
          </a:prstGeom>
          <a:noFill/>
          <a:ln/>
        </p:spPr>
        <p:txBody>
          <a:bodyPr wrap="square" lIns="0" tIns="0" rIns="0" bIns="0" rtlCol="0" anchor="b"/>
          <a:lstStyle/>
          <a:p>
            <a:pPr indent="0" marL="0">
              <a:buNone/>
            </a:pPr>
            <a:r>
              <a:rPr lang="en-US" sz="3000" b="1" dirty="0">
                <a:solidFill>
                  <a:schemeClr val="tx2"/>
                </a:solidFill>
                <a:latin typeface="Cambria" pitchFamily="34" charset="0"/>
                <a:ea typeface="Cambria" pitchFamily="34" charset="-122"/>
                <a:cs typeface="Cambria" pitchFamily="34" charset="-120"/>
              </a:rPr>
              <a:t>~1.540</a:t>
            </a:r>
            <a:endParaRPr lang="en-US" sz="3000" dirty="0"/>
          </a:p>
        </p:txBody>
      </p:sp>
      <p:sp>
        <p:nvSpPr>
          <p:cNvPr id="6" name="Text 4"/>
          <p:cNvSpPr txBox="1"/>
          <p:nvPr/>
        </p:nvSpPr>
        <p:spPr>
          <a:xfrm>
            <a:off x="731520" y="2295144"/>
            <a:ext cx="1691640" cy="310896"/>
          </a:xfrm>
          <a:prstGeom prst="rect">
            <a:avLst/>
          </a:prstGeom>
          <a:noFill/>
          <a:ln/>
        </p:spPr>
        <p:txBody>
          <a:bodyPr wrap="square" lIns="0" tIns="0" rIns="0" bIns="0" rtlCol="0" anchor="t"/>
          <a:lstStyle/>
          <a:p>
            <a:pPr indent="0" marL="0">
              <a:buNone/>
            </a:pPr>
            <a:r>
              <a:rPr lang="en-US" sz="1300" dirty="0">
                <a:solidFill>
                  <a:schemeClr val="tx1"/>
                </a:solidFill>
              </a:rPr>
              <a:t>öğrenci (tahmin)</a:t>
            </a:r>
            <a:endParaRPr lang="en-US" sz="1300" dirty="0"/>
          </a:p>
        </p:txBody>
      </p:sp>
      <p:sp>
        <p:nvSpPr>
          <p:cNvPr id="7" name="Gösterge"/>
          <p:cNvSpPr/>
          <p:nvPr/>
        </p:nvSpPr>
        <p:spPr>
          <a:xfrm>
            <a:off x="2788920" y="1600200"/>
            <a:ext cx="2057400" cy="1097280"/>
          </a:xfrm>
          <a:prstGeom prst="roundRect">
            <a:avLst>
              <a:gd name="adj" fmla="val 6667"/>
            </a:avLst>
          </a:prstGeom>
          <a:solidFill>
            <a:schemeClr val="bg1"/>
          </a:solidFill>
          <a:ln/>
          <a:effectLst>
            <a:outerShdw sx="100000" sy="100000" kx="0" ky="0" algn="bl" rotWithShape="0" blurRad="76200" dist="19050" dir="5400000">
              <a:srgbClr val="000000">
                <a:alpha val="12000"/>
              </a:srgbClr>
            </a:outerShdw>
          </a:effectLst>
        </p:spPr>
      </p:sp>
      <p:sp>
        <p:nvSpPr>
          <p:cNvPr id="8" name="Text 6"/>
          <p:cNvSpPr txBox="1"/>
          <p:nvPr/>
        </p:nvSpPr>
        <p:spPr>
          <a:xfrm>
            <a:off x="2971800" y="1728216"/>
            <a:ext cx="1691640" cy="548640"/>
          </a:xfrm>
          <a:prstGeom prst="rect">
            <a:avLst/>
          </a:prstGeom>
          <a:noFill/>
          <a:ln/>
        </p:spPr>
        <p:txBody>
          <a:bodyPr wrap="square" lIns="0" tIns="0" rIns="0" bIns="0" rtlCol="0" anchor="b"/>
          <a:lstStyle/>
          <a:p>
            <a:pPr indent="0" marL="0">
              <a:buNone/>
            </a:pPr>
            <a:r>
              <a:rPr lang="en-US" sz="3000" b="1" dirty="0">
                <a:solidFill>
                  <a:schemeClr val="tx2"/>
                </a:solidFill>
                <a:latin typeface="Cambria" pitchFamily="34" charset="0"/>
                <a:ea typeface="Cambria" pitchFamily="34" charset="-122"/>
                <a:cs typeface="Cambria" pitchFamily="34" charset="-120"/>
              </a:rPr>
              <a:t>~57</a:t>
            </a:r>
            <a:endParaRPr lang="en-US" sz="3000" dirty="0"/>
          </a:p>
        </p:txBody>
      </p:sp>
      <p:sp>
        <p:nvSpPr>
          <p:cNvPr id="9" name="Text 7"/>
          <p:cNvSpPr txBox="1"/>
          <p:nvPr/>
        </p:nvSpPr>
        <p:spPr>
          <a:xfrm>
            <a:off x="2971800" y="2295144"/>
            <a:ext cx="1691640" cy="310896"/>
          </a:xfrm>
          <a:prstGeom prst="rect">
            <a:avLst/>
          </a:prstGeom>
          <a:noFill/>
          <a:ln/>
        </p:spPr>
        <p:txBody>
          <a:bodyPr wrap="square" lIns="0" tIns="0" rIns="0" bIns="0" rtlCol="0" anchor="t"/>
          <a:lstStyle/>
          <a:p>
            <a:pPr indent="0" marL="0">
              <a:buNone/>
            </a:pPr>
            <a:r>
              <a:rPr lang="en-US" sz="1300" dirty="0">
                <a:solidFill>
                  <a:schemeClr val="tx1"/>
                </a:solidFill>
              </a:rPr>
              <a:t>derslik</a:t>
            </a:r>
            <a:endParaRPr lang="en-US" sz="1300" dirty="0"/>
          </a:p>
        </p:txBody>
      </p:sp>
      <p:graphicFrame>
        <p:nvGraphicFramePr>
          <p:cNvPr id="10" name="Chart 0" descr=""/>
          <p:cNvGraphicFramePr/>
          <p:nvPr/>
        </p:nvGraphicFramePr>
        <p:xfrm>
          <a:off x="548640" y="2880360"/>
          <a:ext cx="4297680" cy="3108960"/>
        </p:xfrm>
        <a:graphic xmlns:a="http://schemas.openxmlformats.org/drawingml/2006/main">
          <a:graphicData uri="http://schemas.openxmlformats.org/drawingml/2006/chart">
            <c:chart xmlns:c="http://schemas.openxmlformats.org/drawingml/2006/chart" r:id="rId1"/>
          </a:graphicData>
        </a:graphic>
      </p:graphicFrame>
      <p:sp>
        <p:nvSpPr>
          <p:cNvPr id="11" name="Kart"/>
          <p:cNvSpPr/>
          <p:nvPr/>
        </p:nvSpPr>
        <p:spPr>
          <a:xfrm>
            <a:off x="5166360" y="1600200"/>
            <a:ext cx="3101188" cy="2468880"/>
          </a:xfrm>
          <a:prstGeom prst="roundRect">
            <a:avLst>
              <a:gd name="adj" fmla="val 2963"/>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5394960" y="1828800"/>
            <a:ext cx="548640" cy="548640"/>
          </a:xfrm>
          <a:prstGeom prst="ellipse">
            <a:avLst/>
          </a:prstGeom>
          <a:solidFill>
            <a:schemeClr val="tx2"/>
          </a:solidFill>
          <a:ln/>
        </p:spPr>
      </p:sp>
      <p:pic>
        <p:nvPicPr>
          <p:cNvPr id="13" name="İkon FaSchool" descr="preencoded.png">    </p:cNvPr>
          <p:cNvPicPr>
            <a:picLocks noChangeAspect="1"/>
          </p:cNvPicPr>
          <p:nvPr/>
        </p:nvPicPr>
        <p:blipFill>
          <a:blip r:embed="rId2"/>
          <a:stretch>
            <a:fillRect/>
          </a:stretch>
        </p:blipFill>
        <p:spPr>
          <a:xfrm>
            <a:off x="5526634" y="1960474"/>
            <a:ext cx="285293" cy="285293"/>
          </a:xfrm>
          <a:prstGeom prst="rect">
            <a:avLst/>
          </a:prstGeom>
        </p:spPr>
      </p:pic>
      <p:sp>
        <p:nvSpPr>
          <p:cNvPr id="14" name="Text 10"/>
          <p:cNvSpPr txBox="1"/>
          <p:nvPr/>
        </p:nvSpPr>
        <p:spPr>
          <a:xfrm>
            <a:off x="6080760" y="1828800"/>
            <a:ext cx="2003908" cy="320040"/>
          </a:xfrm>
          <a:prstGeom prst="rect">
            <a:avLst/>
          </a:prstGeom>
          <a:noFill/>
          <a:ln/>
        </p:spPr>
        <p:txBody>
          <a:bodyPr wrap="square" lIns="0" tIns="0" rIns="0" bIns="0" rtlCol="0" anchor="t"/>
          <a:lstStyle/>
          <a:p>
            <a:pPr indent="0" marL="0">
              <a:buNone/>
            </a:pPr>
            <a:r>
              <a:rPr lang="en-US" sz="1700" b="1" dirty="0">
                <a:solidFill>
                  <a:schemeClr val="tx2"/>
                </a:solidFill>
              </a:rPr>
              <a:t>Devlet okul kampüsü</a:t>
            </a:r>
            <a:endParaRPr lang="en-US" sz="1700" dirty="0"/>
          </a:p>
        </p:txBody>
      </p:sp>
      <p:sp>
        <p:nvSpPr>
          <p:cNvPr id="15" name="Text 11"/>
          <p:cNvSpPr txBox="1"/>
          <p:nvPr/>
        </p:nvSpPr>
        <p:spPr>
          <a:xfrm>
            <a:off x="6080760" y="2148840"/>
            <a:ext cx="2003908" cy="274320"/>
          </a:xfrm>
          <a:prstGeom prst="rect">
            <a:avLst/>
          </a:prstGeom>
          <a:noFill/>
          <a:ln/>
        </p:spPr>
        <p:txBody>
          <a:bodyPr wrap="square" lIns="0" tIns="0" rIns="0" bIns="0" rtlCol="0" anchor="t"/>
          <a:lstStyle/>
          <a:p>
            <a:pPr indent="0" marL="0">
              <a:buNone/>
            </a:pPr>
            <a:r>
              <a:rPr lang="en-US" sz="1300" b="1" dirty="0">
                <a:solidFill>
                  <a:schemeClr val="accent1"/>
                </a:solidFill>
              </a:rPr>
              <a:t>2,2 ha · ~32 derslik</a:t>
            </a:r>
            <a:endParaRPr lang="en-US" sz="1300" dirty="0"/>
          </a:p>
        </p:txBody>
      </p:sp>
      <p:sp>
        <p:nvSpPr>
          <p:cNvPr id="16" name="Text 12"/>
          <p:cNvSpPr txBox="1"/>
          <p:nvPr/>
        </p:nvSpPr>
        <p:spPr>
          <a:xfrm>
            <a:off x="5394960" y="2606040"/>
            <a:ext cx="2643988" cy="1371600"/>
          </a:xfrm>
          <a:prstGeom prst="rect">
            <a:avLst/>
          </a:prstGeom>
          <a:noFill/>
          <a:ln/>
        </p:spPr>
        <p:txBody>
          <a:bodyPr wrap="square" lIns="0" tIns="0" rIns="0" bIns="0" rtlCol="0" anchor="t"/>
          <a:lstStyle/>
          <a:p>
            <a:pPr indent="0" marL="0">
              <a:buNone/>
            </a:pPr>
            <a:r>
              <a:rPr lang="en-US" sz="1500" dirty="0">
                <a:solidFill>
                  <a:schemeClr val="tx1"/>
                </a:solidFill>
              </a:rPr>
              <a:t>Anaokulu, ilkokul ve ortaokul bir arada; MEB normunda. Spor salonu ve kütüphane akşamları mahalleye açık.</a:t>
            </a:r>
            <a:endParaRPr lang="en-US" sz="1500" dirty="0"/>
          </a:p>
        </p:txBody>
      </p:sp>
      <p:sp>
        <p:nvSpPr>
          <p:cNvPr id="17" name="Kart"/>
          <p:cNvSpPr/>
          <p:nvPr/>
        </p:nvSpPr>
        <p:spPr>
          <a:xfrm>
            <a:off x="8541868" y="1600200"/>
            <a:ext cx="3101188" cy="2468880"/>
          </a:xfrm>
          <a:prstGeom prst="roundRect">
            <a:avLst>
              <a:gd name="adj" fmla="val 2963"/>
            </a:avLst>
          </a:prstGeom>
          <a:solidFill>
            <a:schemeClr val="bg1"/>
          </a:solidFill>
          <a:ln/>
          <a:effectLst>
            <a:outerShdw sx="100000" sy="100000" kx="0" ky="0" algn="bl" rotWithShape="0" blurRad="76200" dist="19050" dir="5400000">
              <a:srgbClr val="000000">
                <a:alpha val="12000"/>
              </a:srgbClr>
            </a:outerShdw>
          </a:effectLst>
        </p:spPr>
      </p:sp>
      <p:sp>
        <p:nvSpPr>
          <p:cNvPr id="18" name="İkon zemini"/>
          <p:cNvSpPr/>
          <p:nvPr/>
        </p:nvSpPr>
        <p:spPr>
          <a:xfrm>
            <a:off x="8770468" y="1828800"/>
            <a:ext cx="548640" cy="548640"/>
          </a:xfrm>
          <a:prstGeom prst="ellipse">
            <a:avLst/>
          </a:prstGeom>
          <a:solidFill>
            <a:schemeClr val="tx2"/>
          </a:solidFill>
          <a:ln/>
        </p:spPr>
      </p:sp>
      <p:pic>
        <p:nvPicPr>
          <p:cNvPr id="19" name="İkon FaUserGraduate" descr="preencoded.png">    </p:cNvPr>
          <p:cNvPicPr>
            <a:picLocks noChangeAspect="1"/>
          </p:cNvPicPr>
          <p:nvPr/>
        </p:nvPicPr>
        <p:blipFill>
          <a:blip r:embed="rId3"/>
          <a:stretch>
            <a:fillRect/>
          </a:stretch>
        </p:blipFill>
        <p:spPr>
          <a:xfrm>
            <a:off x="8902141" y="1960474"/>
            <a:ext cx="285293" cy="285293"/>
          </a:xfrm>
          <a:prstGeom prst="rect">
            <a:avLst/>
          </a:prstGeom>
        </p:spPr>
      </p:pic>
      <p:sp>
        <p:nvSpPr>
          <p:cNvPr id="20" name="Text 15"/>
          <p:cNvSpPr txBox="1"/>
          <p:nvPr/>
        </p:nvSpPr>
        <p:spPr>
          <a:xfrm>
            <a:off x="9456268" y="1828800"/>
            <a:ext cx="2003908" cy="320040"/>
          </a:xfrm>
          <a:prstGeom prst="rect">
            <a:avLst/>
          </a:prstGeom>
          <a:noFill/>
          <a:ln/>
        </p:spPr>
        <p:txBody>
          <a:bodyPr wrap="square" lIns="0" tIns="0" rIns="0" bIns="0" rtlCol="0" anchor="t"/>
          <a:lstStyle/>
          <a:p>
            <a:pPr indent="0" marL="0">
              <a:buNone/>
            </a:pPr>
            <a:r>
              <a:rPr lang="en-US" sz="1700" b="1" dirty="0">
                <a:solidFill>
                  <a:schemeClr val="tx2"/>
                </a:solidFill>
              </a:rPr>
              <a:t>Özel okul kampüsü</a:t>
            </a:r>
            <a:endParaRPr lang="en-US" sz="1700" dirty="0"/>
          </a:p>
        </p:txBody>
      </p:sp>
      <p:sp>
        <p:nvSpPr>
          <p:cNvPr id="21" name="Text 16"/>
          <p:cNvSpPr txBox="1"/>
          <p:nvPr/>
        </p:nvSpPr>
        <p:spPr>
          <a:xfrm>
            <a:off x="9456268" y="2148840"/>
            <a:ext cx="2003908" cy="274320"/>
          </a:xfrm>
          <a:prstGeom prst="rect">
            <a:avLst/>
          </a:prstGeom>
          <a:noFill/>
          <a:ln/>
        </p:spPr>
        <p:txBody>
          <a:bodyPr wrap="square" lIns="0" tIns="0" rIns="0" bIns="0" rtlCol="0" anchor="t"/>
          <a:lstStyle/>
          <a:p>
            <a:pPr indent="0" marL="0">
              <a:buNone/>
            </a:pPr>
            <a:r>
              <a:rPr lang="en-US" sz="1300" b="1" dirty="0">
                <a:solidFill>
                  <a:schemeClr val="accent1"/>
                </a:solidFill>
              </a:rPr>
              <a:t>2,4 ha · ~25 derslik</a:t>
            </a:r>
            <a:endParaRPr lang="en-US" sz="1300" dirty="0"/>
          </a:p>
        </p:txBody>
      </p:sp>
      <p:sp>
        <p:nvSpPr>
          <p:cNvPr id="22" name="Text 17"/>
          <p:cNvSpPr txBox="1"/>
          <p:nvPr/>
        </p:nvSpPr>
        <p:spPr>
          <a:xfrm>
            <a:off x="8770468" y="2606040"/>
            <a:ext cx="2643988" cy="1371600"/>
          </a:xfrm>
          <a:prstGeom prst="rect">
            <a:avLst/>
          </a:prstGeom>
          <a:noFill/>
          <a:ln/>
        </p:spPr>
        <p:txBody>
          <a:bodyPr wrap="square" lIns="0" tIns="0" rIns="0" bIns="0" rtlCol="0" anchor="t"/>
          <a:lstStyle/>
          <a:p>
            <a:pPr indent="0" marL="0">
              <a:buNone/>
            </a:pPr>
            <a:r>
              <a:rPr lang="en-US" sz="1500" dirty="0">
                <a:solidFill>
                  <a:schemeClr val="tx1"/>
                </a:solidFill>
              </a:rPr>
              <a:t>İki dilli; anaokulundan liseye. Lise kademesi STEM ve havacılık ağırlıklı.</a:t>
            </a:r>
            <a:endParaRPr lang="en-US" sz="1500" dirty="0"/>
          </a:p>
        </p:txBody>
      </p:sp>
      <p:sp>
        <p:nvSpPr>
          <p:cNvPr id="23" name="Kart"/>
          <p:cNvSpPr/>
          <p:nvPr/>
        </p:nvSpPr>
        <p:spPr>
          <a:xfrm>
            <a:off x="5166360" y="4297680"/>
            <a:ext cx="6476695" cy="1691640"/>
          </a:xfrm>
          <a:prstGeom prst="roundRect">
            <a:avLst>
              <a:gd name="adj" fmla="val 4324"/>
            </a:avLst>
          </a:prstGeom>
          <a:solidFill>
            <a:schemeClr val="bg1"/>
          </a:solidFill>
          <a:ln/>
          <a:effectLst>
            <a:outerShdw sx="100000" sy="100000" kx="0" ky="0" algn="bl" rotWithShape="0" blurRad="76200" dist="19050" dir="5400000">
              <a:srgbClr val="000000">
                <a:alpha val="12000"/>
              </a:srgbClr>
            </a:outerShdw>
          </a:effectLst>
        </p:spPr>
      </p:sp>
      <p:sp>
        <p:nvSpPr>
          <p:cNvPr id="24" name="Text 19"/>
          <p:cNvSpPr txBox="1"/>
          <p:nvPr/>
        </p:nvSpPr>
        <p:spPr>
          <a:xfrm>
            <a:off x="5394960" y="4453128"/>
            <a:ext cx="6019495" cy="141732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rPr>
              <a:t>Ayrıca: </a:t>
            </a:r>
            <a:pPr indent="0" marL="0">
              <a:spcAft>
                <a:spcPts val="800"/>
              </a:spcAft>
              <a:buNone/>
            </a:pPr>
            <a:r>
              <a:rPr lang="en-US" sz="1500" dirty="0">
                <a:solidFill>
                  <a:schemeClr val="tx1"/>
                </a:solidFill>
              </a:rPr>
              <a:t>kreşler zemin katlarda ve mahalle merkezinde; her okulda Deneyap ve makerspace atölyesi; Gazi Üniversitesi TUSAŞ Kazan MYO ile staj ve sürekli eğitim.</a:t>
            </a:r>
            <a:endParaRPr lang="en-US" sz="1500" dirty="0"/>
          </a:p>
          <a:p>
            <a:pPr indent="0" marL="0">
              <a:spcAft>
                <a:spcPts val="800"/>
              </a:spcAft>
              <a:buNone/>
            </a:pPr>
            <a:r>
              <a:rPr lang="en-US" sz="1500" b="1" dirty="0">
                <a:solidFill>
                  <a:schemeClr val="tx2"/>
                </a:solidFill>
              </a:rPr>
              <a:t>Kim ve ne zaman: </a:t>
            </a:r>
            <a:pPr indent="0" marL="0">
              <a:spcAft>
                <a:spcPts val="800"/>
              </a:spcAft>
              <a:buNone/>
            </a:pPr>
            <a:r>
              <a:rPr lang="en-US" sz="1500" dirty="0">
                <a:solidFill>
                  <a:schemeClr val="tx1"/>
                </a:solidFill>
              </a:rPr>
              <a:t>MEB, özel okul yatırımcıları, TUSAŞ. İlk gün kreş ve modüler sınıflar.</a:t>
            </a:r>
            <a:endParaRPr lang="en-US" sz="1500" dirty="0"/>
          </a:p>
        </p:txBody>
      </p:sp>
      <p:sp>
        <p:nvSpPr>
          <p:cNvPr id="25" name="Text 20"/>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1.000 kişi başına öğrenci (genç aile varsayımı): kreş-anaokulu 45, ilkokul 60, ortaokul 55, lise 45. Derslik başına 30 öğrenci (anaokulunda 20).</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DÜNYADAN ÖRNEKLER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Bunlar yapılıyor: işveren yakınında okul</a:t>
            </a:r>
            <a:endParaRPr lang="en-US" sz="3600" dirty="0"/>
          </a:p>
        </p:txBody>
      </p:sp>
      <p:sp>
        <p:nvSpPr>
          <p:cNvPr id="4" name="Kart"/>
          <p:cNvSpPr/>
          <p:nvPr/>
        </p:nvSpPr>
        <p:spPr>
          <a:xfrm>
            <a:off x="548640"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77240" y="1828800"/>
            <a:ext cx="566928" cy="566928"/>
          </a:xfrm>
          <a:prstGeom prst="ellipse">
            <a:avLst/>
          </a:prstGeom>
          <a:solidFill>
            <a:schemeClr val="tx2"/>
          </a:solidFill>
          <a:ln/>
        </p:spPr>
      </p:sp>
      <p:pic>
        <p:nvPicPr>
          <p:cNvPr id="6" name="İkon FaPlaneDeparture"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777240"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Toulouse, Fransa · 1999</a:t>
            </a:r>
            <a:endParaRPr lang="en-US" sz="1300" dirty="0"/>
          </a:p>
        </p:txBody>
      </p:sp>
      <p:sp>
        <p:nvSpPr>
          <p:cNvPr id="8" name="Text 5"/>
          <p:cNvSpPr txBox="1"/>
          <p:nvPr/>
        </p:nvSpPr>
        <p:spPr>
          <a:xfrm>
            <a:off x="777240"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International School of Toulouse</a:t>
            </a:r>
            <a:endParaRPr lang="en-US" sz="1700" dirty="0"/>
          </a:p>
        </p:txBody>
      </p:sp>
      <p:sp>
        <p:nvSpPr>
          <p:cNvPr id="9" name="Text 6"/>
          <p:cNvSpPr txBox="1"/>
          <p:nvPr/>
        </p:nvSpPr>
        <p:spPr>
          <a:xfrm>
            <a:off x="777240"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Airbus'ın talebiyle kuruldu; uluslararası mühendis aileleri için.</a:t>
            </a:r>
            <a:endParaRPr lang="en-US" sz="1500" dirty="0"/>
          </a:p>
        </p:txBody>
      </p:sp>
      <p:sp>
        <p:nvSpPr>
          <p:cNvPr id="10" name="Text 7"/>
          <p:cNvSpPr txBox="1"/>
          <p:nvPr/>
        </p:nvSpPr>
        <p:spPr>
          <a:xfrm>
            <a:off x="777240"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Örencik için ders</a:t>
            </a:r>
            <a:endParaRPr lang="en-US" sz="1400" dirty="0"/>
          </a:p>
          <a:p>
            <a:pPr indent="0" marL="0">
              <a:buNone/>
            </a:pPr>
            <a:r>
              <a:rPr lang="en-US" sz="1500" dirty="0">
                <a:solidFill>
                  <a:schemeClr val="tx1"/>
                </a:solidFill>
              </a:rPr>
              <a:t>Okul, mühendis ailesini çeken ilk unsur.</a:t>
            </a:r>
            <a:endParaRPr lang="en-US" sz="1400" dirty="0"/>
          </a:p>
        </p:txBody>
      </p:sp>
      <p:sp>
        <p:nvSpPr>
          <p:cNvPr id="11" name="Kart"/>
          <p:cNvSpPr/>
          <p:nvPr/>
        </p:nvSpPr>
        <p:spPr>
          <a:xfrm>
            <a:off x="3390824"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3619424" y="1828800"/>
            <a:ext cx="566928" cy="566928"/>
          </a:xfrm>
          <a:prstGeom prst="ellipse">
            <a:avLst/>
          </a:prstGeom>
          <a:solidFill>
            <a:schemeClr val="tx2"/>
          </a:solidFill>
          <a:ln/>
        </p:spPr>
      </p:sp>
      <p:pic>
        <p:nvPicPr>
          <p:cNvPr id="13" name="İkon FaSchool" descr="preencoded.png">    </p:cNvPr>
          <p:cNvPicPr>
            <a:picLocks noChangeAspect="1"/>
          </p:cNvPicPr>
          <p:nvPr/>
        </p:nvPicPr>
        <p:blipFill>
          <a:blip r:embed="rId2"/>
          <a:stretch>
            <a:fillRect/>
          </a:stretch>
        </p:blipFill>
        <p:spPr>
          <a:xfrm>
            <a:off x="3755487" y="1964863"/>
            <a:ext cx="294803" cy="294803"/>
          </a:xfrm>
          <a:prstGeom prst="rect">
            <a:avLst/>
          </a:prstGeom>
        </p:spPr>
      </p:pic>
      <p:sp>
        <p:nvSpPr>
          <p:cNvPr id="14" name="Text 10"/>
          <p:cNvSpPr txBox="1"/>
          <p:nvPr/>
        </p:nvSpPr>
        <p:spPr>
          <a:xfrm>
            <a:off x="3619424"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Songdo, Kore · 2010</a:t>
            </a:r>
            <a:endParaRPr lang="en-US" sz="1300" dirty="0"/>
          </a:p>
        </p:txBody>
      </p:sp>
      <p:sp>
        <p:nvSpPr>
          <p:cNvPr id="15" name="Text 11"/>
          <p:cNvSpPr txBox="1"/>
          <p:nvPr/>
        </p:nvSpPr>
        <p:spPr>
          <a:xfrm>
            <a:off x="3619424"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Chadwick International</a:t>
            </a:r>
            <a:endParaRPr lang="en-US" sz="1700" dirty="0"/>
          </a:p>
        </p:txBody>
      </p:sp>
      <p:sp>
        <p:nvSpPr>
          <p:cNvPr id="16" name="Text 12"/>
          <p:cNvSpPr txBox="1"/>
          <p:nvPr/>
        </p:nvSpPr>
        <p:spPr>
          <a:xfrm>
            <a:off x="3619424"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260–280 öğrenciyle açıldı; bugün ~1.500 öğrenci.</a:t>
            </a:r>
            <a:endParaRPr lang="en-US" sz="1500" dirty="0"/>
          </a:p>
        </p:txBody>
      </p:sp>
      <p:sp>
        <p:nvSpPr>
          <p:cNvPr id="17" name="Text 13"/>
          <p:cNvSpPr txBox="1"/>
          <p:nvPr/>
        </p:nvSpPr>
        <p:spPr>
          <a:xfrm>
            <a:off x="3619424"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Örencik için ders</a:t>
            </a:r>
            <a:endParaRPr lang="en-US" sz="1400" dirty="0"/>
          </a:p>
          <a:p>
            <a:pPr indent="0" marL="0">
              <a:buNone/>
            </a:pPr>
            <a:r>
              <a:rPr lang="en-US" sz="1500" dirty="0">
                <a:solidFill>
                  <a:schemeClr val="tx1"/>
                </a:solidFill>
              </a:rPr>
              <a:t>Okul talebi büyür; kampüs büyümeye göre planlanır.</a:t>
            </a:r>
            <a:endParaRPr lang="en-US" sz="1400" dirty="0"/>
          </a:p>
        </p:txBody>
      </p:sp>
      <p:sp>
        <p:nvSpPr>
          <p:cNvPr id="18" name="Kart"/>
          <p:cNvSpPr/>
          <p:nvPr/>
        </p:nvSpPr>
        <p:spPr>
          <a:xfrm>
            <a:off x="6233008"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19" name="İkon zemini"/>
          <p:cNvSpPr/>
          <p:nvPr/>
        </p:nvSpPr>
        <p:spPr>
          <a:xfrm>
            <a:off x="6461608" y="1828800"/>
            <a:ext cx="566928" cy="566928"/>
          </a:xfrm>
          <a:prstGeom prst="ellipse">
            <a:avLst/>
          </a:prstGeom>
          <a:solidFill>
            <a:schemeClr val="tx2"/>
          </a:solidFill>
          <a:ln/>
        </p:spPr>
      </p:sp>
      <p:pic>
        <p:nvPicPr>
          <p:cNvPr id="20" name="İkon FaBuildingColumns" descr="preencoded.png">    </p:cNvPr>
          <p:cNvPicPr>
            <a:picLocks noChangeAspect="1"/>
          </p:cNvPicPr>
          <p:nvPr/>
        </p:nvPicPr>
        <p:blipFill>
          <a:blip r:embed="rId3"/>
          <a:stretch>
            <a:fillRect/>
          </a:stretch>
        </p:blipFill>
        <p:spPr>
          <a:xfrm>
            <a:off x="6597670" y="1964863"/>
            <a:ext cx="294803" cy="294803"/>
          </a:xfrm>
          <a:prstGeom prst="rect">
            <a:avLst/>
          </a:prstGeom>
        </p:spPr>
      </p:pic>
      <p:sp>
        <p:nvSpPr>
          <p:cNvPr id="21" name="Text 16"/>
          <p:cNvSpPr txBox="1"/>
          <p:nvPr/>
        </p:nvSpPr>
        <p:spPr>
          <a:xfrm>
            <a:off x="6461608"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Wolfsburg, Almanya · 2009</a:t>
            </a:r>
            <a:endParaRPr lang="en-US" sz="1300" dirty="0"/>
          </a:p>
        </p:txBody>
      </p:sp>
      <p:sp>
        <p:nvSpPr>
          <p:cNvPr id="22" name="Text 17"/>
          <p:cNvSpPr txBox="1"/>
          <p:nvPr/>
        </p:nvSpPr>
        <p:spPr>
          <a:xfrm>
            <a:off x="6461608"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Neue Schule Wolfsburg</a:t>
            </a:r>
            <a:endParaRPr lang="en-US" sz="1700" dirty="0"/>
          </a:p>
        </p:txBody>
      </p:sp>
      <p:sp>
        <p:nvSpPr>
          <p:cNvPr id="23" name="Text 18"/>
          <p:cNvSpPr txBox="1"/>
          <p:nvPr/>
        </p:nvSpPr>
        <p:spPr>
          <a:xfrm>
            <a:off x="6461608"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Volkswagen okulu kurdu ve şehre bağışladı.</a:t>
            </a:r>
            <a:endParaRPr lang="en-US" sz="1500" dirty="0"/>
          </a:p>
        </p:txBody>
      </p:sp>
      <p:sp>
        <p:nvSpPr>
          <p:cNvPr id="24" name="Text 19"/>
          <p:cNvSpPr txBox="1"/>
          <p:nvPr/>
        </p:nvSpPr>
        <p:spPr>
          <a:xfrm>
            <a:off x="6461608"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Örencik için ders</a:t>
            </a:r>
            <a:endParaRPr lang="en-US" sz="1400" dirty="0"/>
          </a:p>
          <a:p>
            <a:pPr indent="0" marL="0">
              <a:buNone/>
            </a:pPr>
            <a:r>
              <a:rPr lang="en-US" sz="1500" dirty="0">
                <a:solidFill>
                  <a:schemeClr val="tx1"/>
                </a:solidFill>
              </a:rPr>
              <a:t>İşveren katkısıyla nitelikli okul mümkün.</a:t>
            </a:r>
            <a:endParaRPr lang="en-US" sz="1400" dirty="0"/>
          </a:p>
        </p:txBody>
      </p:sp>
      <p:sp>
        <p:nvSpPr>
          <p:cNvPr id="25" name="Kart"/>
          <p:cNvSpPr/>
          <p:nvPr/>
        </p:nvSpPr>
        <p:spPr>
          <a:xfrm>
            <a:off x="9075191"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26" name="İkon zemini"/>
          <p:cNvSpPr/>
          <p:nvPr/>
        </p:nvSpPr>
        <p:spPr>
          <a:xfrm>
            <a:off x="9303791" y="1828800"/>
            <a:ext cx="566928" cy="566928"/>
          </a:xfrm>
          <a:prstGeom prst="ellipse">
            <a:avLst/>
          </a:prstGeom>
          <a:solidFill>
            <a:schemeClr val="tx2"/>
          </a:solidFill>
          <a:ln/>
        </p:spPr>
      </p:sp>
      <p:pic>
        <p:nvPicPr>
          <p:cNvPr id="27" name="İkon FaFlask" descr="preencoded.png">    </p:cNvPr>
          <p:cNvPicPr>
            <a:picLocks noChangeAspect="1"/>
          </p:cNvPicPr>
          <p:nvPr/>
        </p:nvPicPr>
        <p:blipFill>
          <a:blip r:embed="rId4"/>
          <a:stretch>
            <a:fillRect/>
          </a:stretch>
        </p:blipFill>
        <p:spPr>
          <a:xfrm>
            <a:off x="9439854" y="1964863"/>
            <a:ext cx="294803" cy="294803"/>
          </a:xfrm>
          <a:prstGeom prst="rect">
            <a:avLst/>
          </a:prstGeom>
        </p:spPr>
      </p:pic>
      <p:sp>
        <p:nvSpPr>
          <p:cNvPr id="28" name="Text 22"/>
          <p:cNvSpPr txBox="1"/>
          <p:nvPr/>
        </p:nvSpPr>
        <p:spPr>
          <a:xfrm>
            <a:off x="9303791"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Türkiye · 2022</a:t>
            </a:r>
            <a:endParaRPr lang="en-US" sz="1300" dirty="0"/>
          </a:p>
        </p:txBody>
      </p:sp>
      <p:sp>
        <p:nvSpPr>
          <p:cNvPr id="29" name="Text 23"/>
          <p:cNvSpPr txBox="1"/>
          <p:nvPr/>
        </p:nvSpPr>
        <p:spPr>
          <a:xfrm>
            <a:off x="9303791"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Deneyap atölyeleri</a:t>
            </a:r>
            <a:endParaRPr lang="en-US" sz="1700" dirty="0"/>
          </a:p>
        </p:txBody>
      </p:sp>
      <p:sp>
        <p:nvSpPr>
          <p:cNvPr id="30" name="Text 24"/>
          <p:cNvSpPr txBox="1"/>
          <p:nvPr/>
        </p:nvSpPr>
        <p:spPr>
          <a:xfrm>
            <a:off x="9303791"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50 atölye, 6.803 öğrenci.</a:t>
            </a:r>
            <a:endParaRPr lang="en-US" sz="1500" dirty="0"/>
          </a:p>
        </p:txBody>
      </p:sp>
      <p:sp>
        <p:nvSpPr>
          <p:cNvPr id="31" name="Text 25"/>
          <p:cNvSpPr txBox="1"/>
          <p:nvPr/>
        </p:nvSpPr>
        <p:spPr>
          <a:xfrm>
            <a:off x="9303791"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Örencik için ders</a:t>
            </a:r>
            <a:endParaRPr lang="en-US" sz="1400" dirty="0"/>
          </a:p>
          <a:p>
            <a:pPr indent="0" marL="0">
              <a:buNone/>
            </a:pPr>
            <a:r>
              <a:rPr lang="en-US" sz="1500" dirty="0">
                <a:solidFill>
                  <a:schemeClr val="tx1"/>
                </a:solidFill>
              </a:rPr>
              <a:t>Teknoloji atölyesi her okula eklenebilir.</a:t>
            </a:r>
            <a:endParaRPr lang="en-US" sz="1400" dirty="0"/>
          </a:p>
        </p:txBody>
      </p:sp>
      <p:sp>
        <p:nvSpPr>
          <p:cNvPr id="32" name="Text 26"/>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araştırma notları 04 ve 07 (kurum ve basın kaynakları). Dünya örneklerinin fotoğrafları telif nedeniyle kullanılmadı.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SAĞLIK</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Sağlık: birinci basamak yerleşimde</a:t>
            </a:r>
            <a:endParaRPr lang="en-US" sz="3600" dirty="0"/>
          </a:p>
        </p:txBody>
      </p:sp>
      <p:sp>
        <p:nvSpPr>
          <p:cNvPr id="4" name="Kart"/>
          <p:cNvSpPr/>
          <p:nvPr/>
        </p:nvSpPr>
        <p:spPr>
          <a:xfrm>
            <a:off x="548640" y="1600200"/>
            <a:ext cx="6583680" cy="1298448"/>
          </a:xfrm>
          <a:prstGeom prst="roundRect">
            <a:avLst>
              <a:gd name="adj" fmla="val 5634"/>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77240" y="1929384"/>
            <a:ext cx="640080" cy="640080"/>
          </a:xfrm>
          <a:prstGeom prst="ellipse">
            <a:avLst/>
          </a:prstGeom>
          <a:solidFill>
            <a:schemeClr val="accent1"/>
          </a:solidFill>
          <a:ln/>
        </p:spPr>
      </p:sp>
      <p:pic>
        <p:nvPicPr>
          <p:cNvPr id="6" name="İkon FaKitMedical" descr="preencoded.png">    </p:cNvPr>
          <p:cNvPicPr>
            <a:picLocks noChangeAspect="1"/>
          </p:cNvPicPr>
          <p:nvPr/>
        </p:nvPicPr>
        <p:blipFill>
          <a:blip r:embed="rId1"/>
          <a:stretch>
            <a:fillRect/>
          </a:stretch>
        </p:blipFill>
        <p:spPr>
          <a:xfrm>
            <a:off x="930859" y="2083003"/>
            <a:ext cx="332842" cy="332842"/>
          </a:xfrm>
          <a:prstGeom prst="rect">
            <a:avLst/>
          </a:prstGeom>
        </p:spPr>
      </p:pic>
      <p:sp>
        <p:nvSpPr>
          <p:cNvPr id="7" name="Text 4"/>
          <p:cNvSpPr txBox="1"/>
          <p:nvPr/>
        </p:nvSpPr>
        <p:spPr>
          <a:xfrm>
            <a:off x="1600200" y="1737360"/>
            <a:ext cx="5349240" cy="274320"/>
          </a:xfrm>
          <a:prstGeom prst="rect">
            <a:avLst/>
          </a:prstGeom>
          <a:noFill/>
          <a:ln/>
        </p:spPr>
        <p:txBody>
          <a:bodyPr wrap="square" lIns="0" tIns="0" rIns="0" bIns="0" rtlCol="0" anchor="t"/>
          <a:lstStyle/>
          <a:p>
            <a:pPr indent="0" marL="0">
              <a:buNone/>
            </a:pPr>
            <a:r>
              <a:rPr lang="en-US" sz="1300" b="1" dirty="0">
                <a:solidFill>
                  <a:schemeClr val="accent1"/>
                </a:solidFill>
              </a:rPr>
              <a:t>Yerleşim içinde · ilk gün</a:t>
            </a:r>
            <a:endParaRPr lang="en-US" sz="1300" dirty="0"/>
          </a:p>
        </p:txBody>
      </p:sp>
      <p:sp>
        <p:nvSpPr>
          <p:cNvPr id="8" name="Text 5"/>
          <p:cNvSpPr txBox="1"/>
          <p:nvPr/>
        </p:nvSpPr>
        <p:spPr>
          <a:xfrm>
            <a:off x="1600200" y="2011680"/>
            <a:ext cx="5349240" cy="320040"/>
          </a:xfrm>
          <a:prstGeom prst="rect">
            <a:avLst/>
          </a:prstGeom>
          <a:noFill/>
          <a:ln/>
        </p:spPr>
        <p:txBody>
          <a:bodyPr wrap="square" lIns="0" tIns="0" rIns="0" bIns="0" rtlCol="0" anchor="t"/>
          <a:lstStyle/>
          <a:p>
            <a:pPr indent="0" marL="0">
              <a:buNone/>
            </a:pPr>
            <a:r>
              <a:rPr lang="en-US" sz="1700" b="1" dirty="0">
                <a:solidFill>
                  <a:schemeClr val="tx2"/>
                </a:solidFill>
              </a:rPr>
              <a:t>Aile sağlığı merkezi, 112 istasyonu ve poliklinik</a:t>
            </a:r>
            <a:endParaRPr lang="en-US" sz="1700" dirty="0"/>
          </a:p>
        </p:txBody>
      </p:sp>
      <p:sp>
        <p:nvSpPr>
          <p:cNvPr id="9" name="Text 6"/>
          <p:cNvSpPr txBox="1"/>
          <p:nvPr/>
        </p:nvSpPr>
        <p:spPr>
          <a:xfrm>
            <a:off x="1600200" y="2350008"/>
            <a:ext cx="5349240" cy="502920"/>
          </a:xfrm>
          <a:prstGeom prst="rect">
            <a:avLst/>
          </a:prstGeom>
          <a:noFill/>
          <a:ln/>
        </p:spPr>
        <p:txBody>
          <a:bodyPr wrap="square" lIns="0" tIns="0" rIns="0" bIns="0" rtlCol="0" anchor="t"/>
          <a:lstStyle/>
          <a:p>
            <a:pPr indent="0" marL="0">
              <a:buNone/>
            </a:pPr>
            <a:r>
              <a:rPr lang="en-US" sz="1400" dirty="0">
                <a:solidFill>
                  <a:schemeClr val="tx1"/>
                </a:solidFill>
              </a:rPr>
              <a:t>~2.500 m² bina, 1,12 ha alan; yürüme mesafesinde.</a:t>
            </a:r>
            <a:endParaRPr lang="en-US" sz="1400" dirty="0"/>
          </a:p>
        </p:txBody>
      </p:sp>
      <p:sp>
        <p:nvSpPr>
          <p:cNvPr id="10" name="Kart"/>
          <p:cNvSpPr/>
          <p:nvPr/>
        </p:nvSpPr>
        <p:spPr>
          <a:xfrm>
            <a:off x="548640" y="3081528"/>
            <a:ext cx="6583680" cy="1298448"/>
          </a:xfrm>
          <a:prstGeom prst="roundRect">
            <a:avLst>
              <a:gd name="adj" fmla="val 5634"/>
            </a:avLst>
          </a:prstGeom>
          <a:solidFill>
            <a:schemeClr val="bg1"/>
          </a:solidFill>
          <a:ln/>
          <a:effectLst>
            <a:outerShdw sx="100000" sy="100000" kx="0" ky="0" algn="bl" rotWithShape="0" blurRad="76200" dist="19050" dir="5400000">
              <a:srgbClr val="000000">
                <a:alpha val="12000"/>
              </a:srgbClr>
            </a:outerShdw>
          </a:effectLst>
        </p:spPr>
      </p:sp>
      <p:sp>
        <p:nvSpPr>
          <p:cNvPr id="11" name="İkon zemini"/>
          <p:cNvSpPr/>
          <p:nvPr/>
        </p:nvSpPr>
        <p:spPr>
          <a:xfrm>
            <a:off x="777240" y="3410712"/>
            <a:ext cx="640080" cy="640080"/>
          </a:xfrm>
          <a:prstGeom prst="ellipse">
            <a:avLst/>
          </a:prstGeom>
          <a:solidFill>
            <a:schemeClr val="tx2"/>
          </a:solidFill>
          <a:ln/>
        </p:spPr>
      </p:sp>
      <p:pic>
        <p:nvPicPr>
          <p:cNvPr id="12" name="İkon FaHospital" descr="preencoded.png">    </p:cNvPr>
          <p:cNvPicPr>
            <a:picLocks noChangeAspect="1"/>
          </p:cNvPicPr>
          <p:nvPr/>
        </p:nvPicPr>
        <p:blipFill>
          <a:blip r:embed="rId2"/>
          <a:stretch>
            <a:fillRect/>
          </a:stretch>
        </p:blipFill>
        <p:spPr>
          <a:xfrm>
            <a:off x="930859" y="3564331"/>
            <a:ext cx="332842" cy="332842"/>
          </a:xfrm>
          <a:prstGeom prst="rect">
            <a:avLst/>
          </a:prstGeom>
        </p:spPr>
      </p:pic>
      <p:sp>
        <p:nvSpPr>
          <p:cNvPr id="13" name="Text 9"/>
          <p:cNvSpPr txBox="1"/>
          <p:nvPr/>
        </p:nvSpPr>
        <p:spPr>
          <a:xfrm>
            <a:off x="1600200" y="3218688"/>
            <a:ext cx="5349240" cy="274320"/>
          </a:xfrm>
          <a:prstGeom prst="rect">
            <a:avLst/>
          </a:prstGeom>
          <a:noFill/>
          <a:ln/>
        </p:spPr>
        <p:txBody>
          <a:bodyPr wrap="square" lIns="0" tIns="0" rIns="0" bIns="0" rtlCol="0" anchor="t"/>
          <a:lstStyle/>
          <a:p>
            <a:pPr indent="0" marL="0">
              <a:buNone/>
            </a:pPr>
            <a:r>
              <a:rPr lang="en-US" sz="1300" b="1" dirty="0">
                <a:solidFill>
                  <a:schemeClr val="accent1"/>
                </a:solidFill>
              </a:rPr>
              <a:t>İlçede · 3–6 km</a:t>
            </a:r>
            <a:endParaRPr lang="en-US" sz="1300" dirty="0"/>
          </a:p>
        </p:txBody>
      </p:sp>
      <p:sp>
        <p:nvSpPr>
          <p:cNvPr id="14" name="Text 10"/>
          <p:cNvSpPr txBox="1"/>
          <p:nvPr/>
        </p:nvSpPr>
        <p:spPr>
          <a:xfrm>
            <a:off x="1600200" y="3493008"/>
            <a:ext cx="5349240" cy="320040"/>
          </a:xfrm>
          <a:prstGeom prst="rect">
            <a:avLst/>
          </a:prstGeom>
          <a:noFill/>
          <a:ln/>
        </p:spPr>
        <p:txBody>
          <a:bodyPr wrap="square" lIns="0" tIns="0" rIns="0" bIns="0" rtlCol="0" anchor="t"/>
          <a:lstStyle/>
          <a:p>
            <a:pPr indent="0" marL="0">
              <a:buNone/>
            </a:pPr>
            <a:r>
              <a:rPr lang="en-US" sz="1700" b="1" dirty="0">
                <a:solidFill>
                  <a:schemeClr val="tx2"/>
                </a:solidFill>
              </a:rPr>
              <a:t>Kahramankazan Devlet Hastanesi</a:t>
            </a:r>
            <a:endParaRPr lang="en-US" sz="1700" dirty="0"/>
          </a:p>
        </p:txBody>
      </p:sp>
      <p:sp>
        <p:nvSpPr>
          <p:cNvPr id="15" name="Text 11"/>
          <p:cNvSpPr txBox="1"/>
          <p:nvPr/>
        </p:nvSpPr>
        <p:spPr>
          <a:xfrm>
            <a:off x="1600200" y="3831336"/>
            <a:ext cx="5349240" cy="502920"/>
          </a:xfrm>
          <a:prstGeom prst="rect">
            <a:avLst/>
          </a:prstGeom>
          <a:noFill/>
          <a:ln/>
        </p:spPr>
        <p:txBody>
          <a:bodyPr wrap="square" lIns="0" tIns="0" rIns="0" bIns="0" rtlCol="0" anchor="t"/>
          <a:lstStyle/>
          <a:p>
            <a:pPr indent="0" marL="0">
              <a:buNone/>
            </a:pPr>
            <a:r>
              <a:rPr lang="en-US" sz="1400" dirty="0">
                <a:solidFill>
                  <a:schemeClr val="tx1"/>
                </a:solidFill>
              </a:rPr>
              <a:t>2022'de açıldı; ~150 yatak (kaynaklarda 150–190). Ring hat ve randevuya bağlı servis.</a:t>
            </a:r>
            <a:endParaRPr lang="en-US" sz="1400" dirty="0"/>
          </a:p>
        </p:txBody>
      </p:sp>
      <p:sp>
        <p:nvSpPr>
          <p:cNvPr id="16" name="Kart"/>
          <p:cNvSpPr/>
          <p:nvPr/>
        </p:nvSpPr>
        <p:spPr>
          <a:xfrm>
            <a:off x="548640" y="4562856"/>
            <a:ext cx="6583680" cy="1298448"/>
          </a:xfrm>
          <a:prstGeom prst="roundRect">
            <a:avLst>
              <a:gd name="adj" fmla="val 5634"/>
            </a:avLst>
          </a:prstGeom>
          <a:solidFill>
            <a:schemeClr val="bg1"/>
          </a:solidFill>
          <a:ln/>
          <a:effectLst>
            <a:outerShdw sx="100000" sy="100000" kx="0" ky="0" algn="bl" rotWithShape="0" blurRad="76200" dist="19050" dir="5400000">
              <a:srgbClr val="000000">
                <a:alpha val="12000"/>
              </a:srgbClr>
            </a:outerShdw>
          </a:effectLst>
        </p:spPr>
      </p:sp>
      <p:sp>
        <p:nvSpPr>
          <p:cNvPr id="17" name="İkon zemini"/>
          <p:cNvSpPr/>
          <p:nvPr/>
        </p:nvSpPr>
        <p:spPr>
          <a:xfrm>
            <a:off x="777240" y="4892040"/>
            <a:ext cx="640080" cy="640080"/>
          </a:xfrm>
          <a:prstGeom prst="ellipse">
            <a:avLst/>
          </a:prstGeom>
          <a:solidFill>
            <a:schemeClr val="tx2"/>
          </a:solidFill>
          <a:ln/>
        </p:spPr>
      </p:sp>
      <p:pic>
        <p:nvPicPr>
          <p:cNvPr id="18" name="İkon FaHeartPulse" descr="preencoded.png">    </p:cNvPr>
          <p:cNvPicPr>
            <a:picLocks noChangeAspect="1"/>
          </p:cNvPicPr>
          <p:nvPr/>
        </p:nvPicPr>
        <p:blipFill>
          <a:blip r:embed="rId3"/>
          <a:stretch>
            <a:fillRect/>
          </a:stretch>
        </p:blipFill>
        <p:spPr>
          <a:xfrm>
            <a:off x="930859" y="5045659"/>
            <a:ext cx="332842" cy="332842"/>
          </a:xfrm>
          <a:prstGeom prst="rect">
            <a:avLst/>
          </a:prstGeom>
        </p:spPr>
      </p:pic>
      <p:sp>
        <p:nvSpPr>
          <p:cNvPr id="19" name="Text 14"/>
          <p:cNvSpPr txBox="1"/>
          <p:nvPr/>
        </p:nvSpPr>
        <p:spPr>
          <a:xfrm>
            <a:off x="1600200" y="4700016"/>
            <a:ext cx="5349240" cy="274320"/>
          </a:xfrm>
          <a:prstGeom prst="rect">
            <a:avLst/>
          </a:prstGeom>
          <a:noFill/>
          <a:ln/>
        </p:spPr>
        <p:txBody>
          <a:bodyPr wrap="square" lIns="0" tIns="0" rIns="0" bIns="0" rtlCol="0" anchor="t"/>
          <a:lstStyle/>
          <a:p>
            <a:pPr indent="0" marL="0">
              <a:buNone/>
            </a:pPr>
            <a:r>
              <a:rPr lang="en-US" sz="1300" b="1" dirty="0">
                <a:solidFill>
                  <a:schemeClr val="accent1"/>
                </a:solidFill>
              </a:rPr>
              <a:t>Ankara</a:t>
            </a:r>
            <a:endParaRPr lang="en-US" sz="1300" dirty="0"/>
          </a:p>
        </p:txBody>
      </p:sp>
      <p:sp>
        <p:nvSpPr>
          <p:cNvPr id="20" name="Text 15"/>
          <p:cNvSpPr txBox="1"/>
          <p:nvPr/>
        </p:nvSpPr>
        <p:spPr>
          <a:xfrm>
            <a:off x="1600200" y="4974336"/>
            <a:ext cx="5349240" cy="320040"/>
          </a:xfrm>
          <a:prstGeom prst="rect">
            <a:avLst/>
          </a:prstGeom>
          <a:noFill/>
          <a:ln/>
        </p:spPr>
        <p:txBody>
          <a:bodyPr wrap="square" lIns="0" tIns="0" rIns="0" bIns="0" rtlCol="0" anchor="t"/>
          <a:lstStyle/>
          <a:p>
            <a:pPr indent="0" marL="0">
              <a:buNone/>
            </a:pPr>
            <a:r>
              <a:rPr lang="en-US" sz="1700" b="1" dirty="0">
                <a:solidFill>
                  <a:schemeClr val="tx2"/>
                </a:solidFill>
              </a:rPr>
              <a:t>Üst basamak hastaneler</a:t>
            </a:r>
            <a:endParaRPr lang="en-US" sz="1700" dirty="0"/>
          </a:p>
        </p:txBody>
      </p:sp>
      <p:sp>
        <p:nvSpPr>
          <p:cNvPr id="21" name="Text 16"/>
          <p:cNvSpPr txBox="1"/>
          <p:nvPr/>
        </p:nvSpPr>
        <p:spPr>
          <a:xfrm>
            <a:off x="1600200" y="5312664"/>
            <a:ext cx="5349240" cy="502920"/>
          </a:xfrm>
          <a:prstGeom prst="rect">
            <a:avLst/>
          </a:prstGeom>
          <a:noFill/>
          <a:ln/>
        </p:spPr>
        <p:txBody>
          <a:bodyPr wrap="square" lIns="0" tIns="0" rIns="0" bIns="0" rtlCol="0" anchor="t"/>
          <a:lstStyle/>
          <a:p>
            <a:pPr indent="0" marL="0">
              <a:buNone/>
            </a:pPr>
            <a:r>
              <a:rPr lang="en-US" sz="1400" dirty="0">
                <a:solidFill>
                  <a:schemeClr val="tx1"/>
                </a:solidFill>
              </a:rPr>
              <a:t>Sevk zinciri ve tele-sağlık bağlantısı.</a:t>
            </a:r>
            <a:endParaRPr lang="en-US" sz="1400" dirty="0"/>
          </a:p>
        </p:txBody>
      </p:sp>
      <p:sp>
        <p:nvSpPr>
          <p:cNvPr id="22" name="Text 17"/>
          <p:cNvSpPr txBox="1"/>
          <p:nvPr/>
        </p:nvSpPr>
        <p:spPr>
          <a:xfrm>
            <a:off x="7543800" y="1600200"/>
            <a:ext cx="4099255" cy="320040"/>
          </a:xfrm>
          <a:prstGeom prst="rect">
            <a:avLst/>
          </a:prstGeom>
          <a:noFill/>
          <a:ln/>
        </p:spPr>
        <p:txBody>
          <a:bodyPr wrap="square" lIns="0" tIns="0" rIns="0" bIns="0" rtlCol="0" anchor="t"/>
          <a:lstStyle/>
          <a:p>
            <a:pPr indent="0" marL="0">
              <a:buNone/>
            </a:pPr>
            <a:r>
              <a:rPr lang="en-US" sz="1700" b="1" dirty="0">
                <a:solidFill>
                  <a:schemeClr val="tx2"/>
                </a:solidFill>
              </a:rPr>
              <a:t>Dünyadan dersler</a:t>
            </a:r>
            <a:endParaRPr lang="en-US" sz="1700" dirty="0"/>
          </a:p>
        </p:txBody>
      </p:sp>
      <p:sp>
        <p:nvSpPr>
          <p:cNvPr id="23" name="Kart"/>
          <p:cNvSpPr/>
          <p:nvPr/>
        </p:nvSpPr>
        <p:spPr>
          <a:xfrm>
            <a:off x="7543800" y="2057400"/>
            <a:ext cx="4099255" cy="1417320"/>
          </a:xfrm>
          <a:prstGeom prst="roundRect">
            <a:avLst>
              <a:gd name="adj" fmla="val 5161"/>
            </a:avLst>
          </a:prstGeom>
          <a:solidFill>
            <a:schemeClr val="bg1"/>
          </a:solidFill>
          <a:ln/>
          <a:effectLst>
            <a:outerShdw sx="100000" sy="100000" kx="0" ky="0" algn="bl" rotWithShape="0" blurRad="76200" dist="19050" dir="5400000">
              <a:srgbClr val="000000">
                <a:alpha val="12000"/>
              </a:srgbClr>
            </a:outerShdw>
          </a:effectLst>
        </p:spPr>
      </p:sp>
      <p:sp>
        <p:nvSpPr>
          <p:cNvPr id="24" name="Text 19"/>
          <p:cNvSpPr txBox="1"/>
          <p:nvPr/>
        </p:nvSpPr>
        <p:spPr>
          <a:xfrm>
            <a:off x="7726680" y="2194560"/>
            <a:ext cx="3733495" cy="1188720"/>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Sejong, Kore · 2024</a:t>
            </a:r>
            <a:endParaRPr lang="en-US" sz="1400" dirty="0"/>
          </a:p>
          <a:p>
            <a:pPr indent="0" marL="0">
              <a:spcAft>
                <a:spcPts val="400"/>
              </a:spcAft>
              <a:buNone/>
            </a:pPr>
            <a:r>
              <a:rPr lang="en-US" sz="1400" dirty="0">
                <a:solidFill>
                  <a:schemeClr val="tx1"/>
                </a:solidFill>
              </a:rPr>
              <a:t>Tek acil merkezi gece yetişkin hizmetini kesti.</a:t>
            </a:r>
            <a:endParaRPr lang="en-US" sz="1400" dirty="0"/>
          </a:p>
          <a:p>
            <a:pPr indent="0" marL="0">
              <a:spcAft>
                <a:spcPts val="400"/>
              </a:spcAft>
              <a:buNone/>
            </a:pPr>
            <a:r>
              <a:rPr lang="en-US" sz="1400" b="1" dirty="0">
                <a:solidFill>
                  <a:schemeClr val="tx2"/>
                </a:solidFill>
              </a:rPr>
              <a:t>Acil ve 112 baştan planlanmalı.</a:t>
            </a:r>
            <a:endParaRPr lang="en-US" sz="1400" dirty="0"/>
          </a:p>
        </p:txBody>
      </p:sp>
      <p:sp>
        <p:nvSpPr>
          <p:cNvPr id="25" name="Kart"/>
          <p:cNvSpPr/>
          <p:nvPr/>
        </p:nvSpPr>
        <p:spPr>
          <a:xfrm>
            <a:off x="7543800" y="3657600"/>
            <a:ext cx="4099255" cy="1417320"/>
          </a:xfrm>
          <a:prstGeom prst="roundRect">
            <a:avLst>
              <a:gd name="adj" fmla="val 5161"/>
            </a:avLst>
          </a:prstGeom>
          <a:solidFill>
            <a:schemeClr val="bg1"/>
          </a:solidFill>
          <a:ln/>
          <a:effectLst>
            <a:outerShdw sx="100000" sy="100000" kx="0" ky="0" algn="bl" rotWithShape="0" blurRad="76200" dist="19050" dir="5400000">
              <a:srgbClr val="000000">
                <a:alpha val="12000"/>
              </a:srgbClr>
            </a:outerShdw>
          </a:effectLst>
        </p:spPr>
      </p:sp>
      <p:sp>
        <p:nvSpPr>
          <p:cNvPr id="26" name="Text 21"/>
          <p:cNvSpPr txBox="1"/>
          <p:nvPr/>
        </p:nvSpPr>
        <p:spPr>
          <a:xfrm>
            <a:off x="7726680" y="3794760"/>
            <a:ext cx="3733495" cy="1188720"/>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Lake Nona, ABD · 2012</a:t>
            </a:r>
            <a:endParaRPr lang="en-US" sz="1400" dirty="0"/>
          </a:p>
          <a:p>
            <a:pPr indent="0" marL="0">
              <a:spcAft>
                <a:spcPts val="400"/>
              </a:spcAft>
              <a:buNone/>
            </a:pPr>
            <a:r>
              <a:rPr lang="en-US" sz="1400" dirty="0">
                <a:solidFill>
                  <a:schemeClr val="tx1"/>
                </a:solidFill>
              </a:rPr>
              <a:t>Nemours çocuk hastanesi yerleşimin kurum çıpası oldu.</a:t>
            </a:r>
            <a:endParaRPr lang="en-US" sz="1400" dirty="0"/>
          </a:p>
          <a:p>
            <a:pPr indent="0" marL="0">
              <a:spcAft>
                <a:spcPts val="400"/>
              </a:spcAft>
              <a:buNone/>
            </a:pPr>
            <a:r>
              <a:rPr lang="en-US" sz="1400" b="1" dirty="0">
                <a:solidFill>
                  <a:schemeClr val="tx2"/>
                </a:solidFill>
              </a:rPr>
              <a:t>Sağlık kurumu, yerleşime güven verir.</a:t>
            </a:r>
            <a:endParaRPr lang="en-US" sz="1400" dirty="0"/>
          </a:p>
        </p:txBody>
      </p:sp>
      <p:sp>
        <p:nvSpPr>
          <p:cNvPr id="27" name="Text 22"/>
          <p:cNvSpPr txBox="1"/>
          <p:nvPr/>
        </p:nvSpPr>
        <p:spPr>
          <a:xfrm>
            <a:off x="7543800" y="5349240"/>
            <a:ext cx="4099255" cy="548640"/>
          </a:xfrm>
          <a:prstGeom prst="rect">
            <a:avLst/>
          </a:prstGeom>
          <a:noFill/>
          <a:ln/>
        </p:spPr>
        <p:txBody>
          <a:bodyPr wrap="square" lIns="0" tIns="0" rIns="0" bIns="0" rtlCol="0" anchor="t"/>
          <a:lstStyle/>
          <a:p>
            <a:pPr indent="0" marL="0">
              <a:buNone/>
            </a:pPr>
            <a:r>
              <a:rPr lang="en-US" sz="1400" b="1" dirty="0">
                <a:solidFill>
                  <a:schemeClr val="tx2"/>
                </a:solidFill>
              </a:rPr>
              <a:t>Kim: </a:t>
            </a:r>
            <a:pPr indent="0" marL="0">
              <a:buNone/>
            </a:pPr>
            <a:r>
              <a:rPr lang="en-US" sz="1400" dirty="0">
                <a:solidFill>
                  <a:schemeClr val="tx1"/>
                </a:solidFill>
              </a:rPr>
              <a:t>Sağlık Bakanlığı, Ankara İl Sağlık Müdürlüğü.</a:t>
            </a:r>
            <a:endParaRPr lang="en-US" sz="1400" dirty="0"/>
          </a:p>
        </p:txBody>
      </p:sp>
      <p:sp>
        <p:nvSpPr>
          <p:cNvPr id="28" name="Text 23"/>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Proje ekibinin "yeni şehir hastanesi" dediği tesis, kaynaklarda Kahramankazan Devlet Hastanesi olarak geçiyor; adı ve kapasitesi teyit edilecek.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SOSYAL YAŞAM VE YAPAY GÖL</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Göl: sosyal yaşamın merkezi</a:t>
            </a:r>
            <a:endParaRPr lang="en-US" sz="3600" dirty="0"/>
          </a:p>
        </p:txBody>
      </p:sp>
      <p:sp>
        <p:nvSpPr>
          <p:cNvPr id="4" name="Kart"/>
          <p:cNvSpPr/>
          <p:nvPr/>
        </p:nvSpPr>
        <p:spPr>
          <a:xfrm>
            <a:off x="548640" y="1600200"/>
            <a:ext cx="3063240" cy="1024128"/>
          </a:xfrm>
          <a:prstGeom prst="roundRect">
            <a:avLst>
              <a:gd name="adj" fmla="val 7143"/>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13232" y="1819656"/>
            <a:ext cx="566928" cy="566928"/>
          </a:xfrm>
          <a:prstGeom prst="ellipse">
            <a:avLst/>
          </a:prstGeom>
          <a:solidFill>
            <a:schemeClr val="accent2"/>
          </a:solidFill>
          <a:ln/>
        </p:spPr>
      </p:sp>
      <p:pic>
        <p:nvPicPr>
          <p:cNvPr id="6" name="İkon FaCloudRain" descr="preencoded.png">    </p:cNvPr>
          <p:cNvPicPr>
            <a:picLocks noChangeAspect="1"/>
          </p:cNvPicPr>
          <p:nvPr/>
        </p:nvPicPr>
        <p:blipFill>
          <a:blip r:embed="rId1"/>
          <a:stretch>
            <a:fillRect/>
          </a:stretch>
        </p:blipFill>
        <p:spPr>
          <a:xfrm>
            <a:off x="849295" y="1955719"/>
            <a:ext cx="294803" cy="294803"/>
          </a:xfrm>
          <a:prstGeom prst="rect">
            <a:avLst/>
          </a:prstGeom>
        </p:spPr>
      </p:pic>
      <p:sp>
        <p:nvSpPr>
          <p:cNvPr id="7" name="Text 4"/>
          <p:cNvSpPr txBox="1"/>
          <p:nvPr/>
        </p:nvSpPr>
        <p:spPr>
          <a:xfrm>
            <a:off x="1417320" y="1728216"/>
            <a:ext cx="2103120" cy="292608"/>
          </a:xfrm>
          <a:prstGeom prst="rect">
            <a:avLst/>
          </a:prstGeom>
          <a:noFill/>
          <a:ln/>
        </p:spPr>
        <p:txBody>
          <a:bodyPr wrap="square" lIns="0" tIns="0" rIns="0" bIns="0" rtlCol="0" anchor="t"/>
          <a:lstStyle/>
          <a:p>
            <a:pPr indent="0" marL="0">
              <a:buNone/>
            </a:pPr>
            <a:r>
              <a:rPr lang="en-US" sz="1500" b="1" dirty="0">
                <a:solidFill>
                  <a:schemeClr val="tx2"/>
                </a:solidFill>
              </a:rPr>
              <a:t>Yağmur suyu hasadı</a:t>
            </a:r>
            <a:endParaRPr lang="en-US" sz="1500" dirty="0"/>
          </a:p>
        </p:txBody>
      </p:sp>
      <p:sp>
        <p:nvSpPr>
          <p:cNvPr id="8" name="Text 5"/>
          <p:cNvSpPr txBox="1"/>
          <p:nvPr/>
        </p:nvSpPr>
        <p:spPr>
          <a:xfrm>
            <a:off x="1417320" y="2039112"/>
            <a:ext cx="2103120" cy="530352"/>
          </a:xfrm>
          <a:prstGeom prst="rect">
            <a:avLst/>
          </a:prstGeom>
          <a:noFill/>
          <a:ln/>
        </p:spPr>
        <p:txBody>
          <a:bodyPr wrap="square" lIns="0" tIns="0" rIns="0" bIns="0" rtlCol="0" anchor="t"/>
          <a:lstStyle/>
          <a:p>
            <a:pPr indent="0" marL="0">
              <a:buNone/>
            </a:pPr>
            <a:r>
              <a:rPr lang="en-US" sz="1300" dirty="0">
                <a:solidFill>
                  <a:schemeClr val="tx1"/>
                </a:solidFill>
              </a:rPr>
              <a:t>~80–120 bin m³/yıl; kurak yıllarda düşer</a:t>
            </a:r>
            <a:endParaRPr lang="en-US" sz="1300" dirty="0"/>
          </a:p>
        </p:txBody>
      </p:sp>
      <p:sp>
        <p:nvSpPr>
          <p:cNvPr id="9" name="Ok"/>
          <p:cNvSpPr/>
          <p:nvPr/>
        </p:nvSpPr>
        <p:spPr>
          <a:xfrm>
            <a:off x="3657600" y="2112264"/>
            <a:ext cx="685800" cy="648767"/>
          </a:xfrm>
          <a:prstGeom prst="line">
            <a:avLst/>
          </a:prstGeom>
          <a:noFill/>
          <a:ln w="25400">
            <a:solidFill>
              <a:schemeClr val="accent2"/>
            </a:solidFill>
            <a:prstDash val="solid"/>
            <a:tailEnd type="triangle"/>
          </a:ln>
        </p:spPr>
      </p:sp>
      <p:sp>
        <p:nvSpPr>
          <p:cNvPr id="10" name="Kart"/>
          <p:cNvSpPr/>
          <p:nvPr/>
        </p:nvSpPr>
        <p:spPr>
          <a:xfrm>
            <a:off x="548640" y="2807208"/>
            <a:ext cx="3063240" cy="1024128"/>
          </a:xfrm>
          <a:prstGeom prst="roundRect">
            <a:avLst>
              <a:gd name="adj" fmla="val 7143"/>
            </a:avLst>
          </a:prstGeom>
          <a:solidFill>
            <a:schemeClr val="bg1"/>
          </a:solidFill>
          <a:ln/>
          <a:effectLst>
            <a:outerShdw sx="100000" sy="100000" kx="0" ky="0" algn="bl" rotWithShape="0" blurRad="76200" dist="19050" dir="5400000">
              <a:srgbClr val="000000">
                <a:alpha val="12000"/>
              </a:srgbClr>
            </a:outerShdw>
          </a:effectLst>
        </p:spPr>
      </p:sp>
      <p:sp>
        <p:nvSpPr>
          <p:cNvPr id="11" name="İkon zemini"/>
          <p:cNvSpPr/>
          <p:nvPr/>
        </p:nvSpPr>
        <p:spPr>
          <a:xfrm>
            <a:off x="713232" y="3026664"/>
            <a:ext cx="566928" cy="566928"/>
          </a:xfrm>
          <a:prstGeom prst="ellipse">
            <a:avLst/>
          </a:prstGeom>
          <a:solidFill>
            <a:schemeClr val="accent2"/>
          </a:solidFill>
          <a:ln/>
        </p:spPr>
      </p:sp>
      <p:pic>
        <p:nvPicPr>
          <p:cNvPr id="12" name="İkon FaRecycle" descr="preencoded.png">    </p:cNvPr>
          <p:cNvPicPr>
            <a:picLocks noChangeAspect="1"/>
          </p:cNvPicPr>
          <p:nvPr/>
        </p:nvPicPr>
        <p:blipFill>
          <a:blip r:embed="rId2"/>
          <a:stretch>
            <a:fillRect/>
          </a:stretch>
        </p:blipFill>
        <p:spPr>
          <a:xfrm>
            <a:off x="849295" y="3162727"/>
            <a:ext cx="294803" cy="294803"/>
          </a:xfrm>
          <a:prstGeom prst="rect">
            <a:avLst/>
          </a:prstGeom>
        </p:spPr>
      </p:pic>
      <p:sp>
        <p:nvSpPr>
          <p:cNvPr id="13" name="Text 9"/>
          <p:cNvSpPr txBox="1"/>
          <p:nvPr/>
        </p:nvSpPr>
        <p:spPr>
          <a:xfrm>
            <a:off x="1417320" y="2935224"/>
            <a:ext cx="2103120" cy="292608"/>
          </a:xfrm>
          <a:prstGeom prst="rect">
            <a:avLst/>
          </a:prstGeom>
          <a:noFill/>
          <a:ln/>
        </p:spPr>
        <p:txBody>
          <a:bodyPr wrap="square" lIns="0" tIns="0" rIns="0" bIns="0" rtlCol="0" anchor="t"/>
          <a:lstStyle/>
          <a:p>
            <a:pPr indent="0" marL="0">
              <a:buNone/>
            </a:pPr>
            <a:r>
              <a:rPr lang="en-US" sz="1500" b="1" dirty="0">
                <a:solidFill>
                  <a:schemeClr val="tx2"/>
                </a:solidFill>
              </a:rPr>
              <a:t>İleri arıtılmış atıksu</a:t>
            </a:r>
            <a:endParaRPr lang="en-US" sz="1500" dirty="0"/>
          </a:p>
        </p:txBody>
      </p:sp>
      <p:sp>
        <p:nvSpPr>
          <p:cNvPr id="14" name="Text 10"/>
          <p:cNvSpPr txBox="1"/>
          <p:nvPr/>
        </p:nvSpPr>
        <p:spPr>
          <a:xfrm>
            <a:off x="1417320" y="3246120"/>
            <a:ext cx="2103120" cy="530352"/>
          </a:xfrm>
          <a:prstGeom prst="rect">
            <a:avLst/>
          </a:prstGeom>
          <a:noFill/>
          <a:ln/>
        </p:spPr>
        <p:txBody>
          <a:bodyPr wrap="square" lIns="0" tIns="0" rIns="0" bIns="0" rtlCol="0" anchor="t"/>
          <a:lstStyle/>
          <a:p>
            <a:pPr indent="0" marL="0">
              <a:buNone/>
            </a:pPr>
            <a:r>
              <a:rPr lang="en-US" sz="1300" dirty="0">
                <a:solidFill>
                  <a:schemeClr val="tx1"/>
                </a:solidFill>
              </a:rPr>
              <a:t>Tatlar / Kahramankazan AAT; sürekli takviye</a:t>
            </a:r>
            <a:endParaRPr lang="en-US" sz="1300" dirty="0"/>
          </a:p>
        </p:txBody>
      </p:sp>
      <p:sp>
        <p:nvSpPr>
          <p:cNvPr id="15" name="Ok"/>
          <p:cNvSpPr/>
          <p:nvPr/>
        </p:nvSpPr>
        <p:spPr>
          <a:xfrm>
            <a:off x="3657600" y="3319272"/>
            <a:ext cx="685800" cy="-15088"/>
          </a:xfrm>
          <a:prstGeom prst="line">
            <a:avLst/>
          </a:prstGeom>
          <a:noFill/>
          <a:ln w="25400">
            <a:solidFill>
              <a:schemeClr val="accent2"/>
            </a:solidFill>
            <a:prstDash val="solid"/>
            <a:tailEnd type="triangle"/>
          </a:ln>
        </p:spPr>
      </p:sp>
      <p:sp>
        <p:nvSpPr>
          <p:cNvPr id="16" name="Kart"/>
          <p:cNvSpPr/>
          <p:nvPr/>
        </p:nvSpPr>
        <p:spPr>
          <a:xfrm>
            <a:off x="548640" y="4014216"/>
            <a:ext cx="3063240" cy="1024128"/>
          </a:xfrm>
          <a:prstGeom prst="roundRect">
            <a:avLst>
              <a:gd name="adj" fmla="val 7143"/>
            </a:avLst>
          </a:prstGeom>
          <a:solidFill>
            <a:schemeClr val="bg2"/>
          </a:solidFill>
          <a:ln w="12700">
            <a:solidFill>
              <a:srgbClr val="5E6875"/>
            </a:solidFill>
            <a:prstDash val="dash"/>
          </a:ln>
        </p:spPr>
      </p:sp>
      <p:sp>
        <p:nvSpPr>
          <p:cNvPr id="17" name="İkon zemini"/>
          <p:cNvSpPr/>
          <p:nvPr/>
        </p:nvSpPr>
        <p:spPr>
          <a:xfrm>
            <a:off x="713232" y="4233672"/>
            <a:ext cx="566928" cy="566928"/>
          </a:xfrm>
          <a:prstGeom prst="ellipse">
            <a:avLst/>
          </a:prstGeom>
          <a:solidFill>
            <a:schemeClr val="accent5"/>
          </a:solidFill>
          <a:ln/>
        </p:spPr>
      </p:sp>
      <p:pic>
        <p:nvPicPr>
          <p:cNvPr id="18" name="İkon FaFaucetDrip" descr="preencoded.png">    </p:cNvPr>
          <p:cNvPicPr>
            <a:picLocks noChangeAspect="1"/>
          </p:cNvPicPr>
          <p:nvPr/>
        </p:nvPicPr>
        <p:blipFill>
          <a:blip r:embed="rId3"/>
          <a:stretch>
            <a:fillRect/>
          </a:stretch>
        </p:blipFill>
        <p:spPr>
          <a:xfrm>
            <a:off x="849295" y="4369735"/>
            <a:ext cx="294803" cy="294803"/>
          </a:xfrm>
          <a:prstGeom prst="rect">
            <a:avLst/>
          </a:prstGeom>
        </p:spPr>
      </p:pic>
      <p:sp>
        <p:nvSpPr>
          <p:cNvPr id="19" name="Text 14"/>
          <p:cNvSpPr txBox="1"/>
          <p:nvPr/>
        </p:nvSpPr>
        <p:spPr>
          <a:xfrm>
            <a:off x="1417320" y="4142232"/>
            <a:ext cx="2103120" cy="292608"/>
          </a:xfrm>
          <a:prstGeom prst="rect">
            <a:avLst/>
          </a:prstGeom>
          <a:noFill/>
          <a:ln/>
        </p:spPr>
        <p:txBody>
          <a:bodyPr wrap="square" lIns="0" tIns="0" rIns="0" bIns="0" rtlCol="0" anchor="t"/>
          <a:lstStyle/>
          <a:p>
            <a:pPr indent="0" marL="0">
              <a:buNone/>
            </a:pPr>
            <a:r>
              <a:rPr lang="en-US" sz="1500" b="1" dirty="0">
                <a:solidFill>
                  <a:schemeClr val="tx2"/>
                </a:solidFill>
              </a:rPr>
              <a:t>Şebeke suyu</a:t>
            </a:r>
            <a:endParaRPr lang="en-US" sz="1500" dirty="0"/>
          </a:p>
        </p:txBody>
      </p:sp>
      <p:sp>
        <p:nvSpPr>
          <p:cNvPr id="20" name="Text 15"/>
          <p:cNvSpPr txBox="1"/>
          <p:nvPr/>
        </p:nvSpPr>
        <p:spPr>
          <a:xfrm>
            <a:off x="1417320" y="4453128"/>
            <a:ext cx="2103120" cy="530352"/>
          </a:xfrm>
          <a:prstGeom prst="rect">
            <a:avLst/>
          </a:prstGeom>
          <a:noFill/>
          <a:ln/>
        </p:spPr>
        <p:txBody>
          <a:bodyPr wrap="square" lIns="0" tIns="0" rIns="0" bIns="0" rtlCol="0" anchor="t"/>
          <a:lstStyle/>
          <a:p>
            <a:pPr indent="0" marL="0">
              <a:buNone/>
            </a:pPr>
            <a:r>
              <a:rPr lang="en-US" sz="1300" dirty="0">
                <a:solidFill>
                  <a:schemeClr val="tx1"/>
                </a:solidFill>
              </a:rPr>
              <a:t>Yalnızca acil durumda</a:t>
            </a:r>
            <a:endParaRPr lang="en-US" sz="1300" dirty="0"/>
          </a:p>
        </p:txBody>
      </p:sp>
      <p:sp>
        <p:nvSpPr>
          <p:cNvPr id="21" name="Ok"/>
          <p:cNvSpPr/>
          <p:nvPr/>
        </p:nvSpPr>
        <p:spPr>
          <a:xfrm>
            <a:off x="3657600" y="4526280"/>
            <a:ext cx="685800" cy="-678942"/>
          </a:xfrm>
          <a:prstGeom prst="line">
            <a:avLst/>
          </a:prstGeom>
          <a:noFill/>
          <a:ln w="25400">
            <a:solidFill>
              <a:schemeClr val="accent5"/>
            </a:solidFill>
            <a:prstDash val="dash"/>
            <a:tailEnd type="triangle"/>
          </a:ln>
        </p:spPr>
      </p:sp>
      <p:sp>
        <p:nvSpPr>
          <p:cNvPr id="22" name="Yapay göl"/>
          <p:cNvSpPr/>
          <p:nvPr/>
        </p:nvSpPr>
        <p:spPr>
          <a:xfrm>
            <a:off x="4343400" y="2103120"/>
            <a:ext cx="2834640" cy="2194560"/>
          </a:xfrm>
          <a:prstGeom prst="ellipse">
            <a:avLst/>
          </a:prstGeom>
          <a:solidFill>
            <a:schemeClr val="accent2"/>
          </a:solidFill>
          <a:ln w="127000">
            <a:solidFill>
              <a:schemeClr val="accent3"/>
            </a:solidFill>
            <a:prstDash val="solid"/>
          </a:ln>
        </p:spPr>
      </p:sp>
      <p:sp>
        <p:nvSpPr>
          <p:cNvPr id="23" name="Text 18"/>
          <p:cNvSpPr txBox="1"/>
          <p:nvPr/>
        </p:nvSpPr>
        <p:spPr>
          <a:xfrm>
            <a:off x="4434840" y="2697480"/>
            <a:ext cx="2651760" cy="1097280"/>
          </a:xfrm>
          <a:prstGeom prst="rect">
            <a:avLst/>
          </a:prstGeom>
          <a:noFill/>
          <a:ln/>
        </p:spPr>
        <p:txBody>
          <a:bodyPr wrap="square" lIns="0" tIns="0" rIns="0" bIns="0" rtlCol="0" anchor="t"/>
          <a:lstStyle/>
          <a:p>
            <a:pPr algn="ctr" indent="0" marL="0">
              <a:buNone/>
            </a:pPr>
            <a:r>
              <a:rPr lang="en-US" sz="2000" b="1" dirty="0">
                <a:solidFill>
                  <a:schemeClr val="bg1"/>
                </a:solidFill>
              </a:rPr>
              <a:t>Yapay göl</a:t>
            </a:r>
            <a:endParaRPr lang="en-US" sz="1400" dirty="0"/>
          </a:p>
          <a:p>
            <a:pPr algn="ctr" indent="0" marL="0">
              <a:buNone/>
            </a:pPr>
            <a:r>
              <a:rPr lang="en-US" sz="1500" dirty="0">
                <a:solidFill>
                  <a:schemeClr val="bg1"/>
                </a:solidFill>
              </a:rPr>
              <a:t>2,5 ha su yüzeyi</a:t>
            </a:r>
            <a:endParaRPr lang="en-US" sz="1400" dirty="0"/>
          </a:p>
          <a:p>
            <a:pPr algn="ctr" indent="0" marL="0">
              <a:buNone/>
            </a:pPr>
            <a:r>
              <a:rPr lang="en-US" sz="1500" dirty="0">
                <a:solidFill>
                  <a:schemeClr val="bg1"/>
                </a:solidFill>
              </a:rPr>
              <a:t>+ 3,5 ha göl parkı</a:t>
            </a:r>
            <a:endParaRPr lang="en-US" sz="1400" dirty="0"/>
          </a:p>
        </p:txBody>
      </p:sp>
      <p:sp>
        <p:nvSpPr>
          <p:cNvPr id="24" name="Arıtma etiketi"/>
          <p:cNvSpPr/>
          <p:nvPr/>
        </p:nvSpPr>
        <p:spPr>
          <a:xfrm>
            <a:off x="4023360" y="4526280"/>
            <a:ext cx="3474720" cy="384048"/>
          </a:xfrm>
          <a:prstGeom prst="roundRect">
            <a:avLst>
              <a:gd name="adj" fmla="val 14286"/>
            </a:avLst>
          </a:prstGeom>
          <a:solidFill>
            <a:schemeClr val="bg1"/>
          </a:solidFill>
          <a:ln w="12700">
            <a:solidFill>
              <a:schemeClr val="accent2"/>
            </a:solidFill>
          </a:ln>
        </p:spPr>
        <p:txBody>
          <a:bodyPr wrap="square" lIns="0" tIns="0" rIns="0" bIns="0" rtlCol="0" anchor="ctr"/>
          <a:lstStyle/>
          <a:p>
            <a:pPr algn="ctr" indent="0" marL="0">
              <a:buNone/>
            </a:pPr>
            <a:r>
              <a:rPr lang="en-US" sz="1300" b="1" dirty="0">
                <a:solidFill>
                  <a:schemeClr val="tx2"/>
                </a:solidFill>
              </a:rPr>
              <a:t>Çökeltim havuzu · sirkülasyon · biyolojik arıtma</a:t>
            </a:r>
            <a:endParaRPr lang="en-US" sz="1300" dirty="0"/>
          </a:p>
        </p:txBody>
      </p:sp>
      <p:sp>
        <p:nvSpPr>
          <p:cNvPr id="25" name="Ok"/>
          <p:cNvSpPr/>
          <p:nvPr/>
        </p:nvSpPr>
        <p:spPr>
          <a:xfrm>
            <a:off x="7223760" y="3200400"/>
            <a:ext cx="502920" cy="0"/>
          </a:xfrm>
          <a:prstGeom prst="line">
            <a:avLst/>
          </a:prstGeom>
          <a:noFill/>
          <a:ln w="25400">
            <a:solidFill>
              <a:schemeClr val="accent2"/>
            </a:solidFill>
            <a:prstDash val="solid"/>
            <a:tailEnd type="triangle"/>
          </a:ln>
        </p:spPr>
      </p:sp>
      <p:sp>
        <p:nvSpPr>
          <p:cNvPr id="26" name="Kart"/>
          <p:cNvSpPr/>
          <p:nvPr/>
        </p:nvSpPr>
        <p:spPr>
          <a:xfrm>
            <a:off x="7818120" y="1600200"/>
            <a:ext cx="3824935" cy="1024128"/>
          </a:xfrm>
          <a:prstGeom prst="roundRect">
            <a:avLst>
              <a:gd name="adj" fmla="val 7143"/>
            </a:avLst>
          </a:prstGeom>
          <a:solidFill>
            <a:schemeClr val="bg1"/>
          </a:solidFill>
          <a:ln/>
          <a:effectLst>
            <a:outerShdw sx="100000" sy="100000" kx="0" ky="0" algn="bl" rotWithShape="0" blurRad="76200" dist="19050" dir="5400000">
              <a:srgbClr val="000000">
                <a:alpha val="12000"/>
              </a:srgbClr>
            </a:outerShdw>
          </a:effectLst>
        </p:spPr>
      </p:sp>
      <p:sp>
        <p:nvSpPr>
          <p:cNvPr id="27" name="İkon zemini"/>
          <p:cNvSpPr/>
          <p:nvPr/>
        </p:nvSpPr>
        <p:spPr>
          <a:xfrm>
            <a:off x="7982712" y="1819656"/>
            <a:ext cx="566928" cy="566928"/>
          </a:xfrm>
          <a:prstGeom prst="ellipse">
            <a:avLst/>
          </a:prstGeom>
          <a:solidFill>
            <a:schemeClr val="accent3"/>
          </a:solidFill>
          <a:ln/>
        </p:spPr>
      </p:sp>
      <p:pic>
        <p:nvPicPr>
          <p:cNvPr id="28" name="İkon FaPersonWalking" descr="preencoded.png">    </p:cNvPr>
          <p:cNvPicPr>
            <a:picLocks noChangeAspect="1"/>
          </p:cNvPicPr>
          <p:nvPr/>
        </p:nvPicPr>
        <p:blipFill>
          <a:blip r:embed="rId4"/>
          <a:stretch>
            <a:fillRect/>
          </a:stretch>
        </p:blipFill>
        <p:spPr>
          <a:xfrm>
            <a:off x="8118775" y="1955719"/>
            <a:ext cx="294803" cy="294803"/>
          </a:xfrm>
          <a:prstGeom prst="rect">
            <a:avLst/>
          </a:prstGeom>
        </p:spPr>
      </p:pic>
      <p:sp>
        <p:nvSpPr>
          <p:cNvPr id="29" name="Text 23"/>
          <p:cNvSpPr txBox="1"/>
          <p:nvPr/>
        </p:nvSpPr>
        <p:spPr>
          <a:xfrm>
            <a:off x="8686800" y="1728216"/>
            <a:ext cx="2743200" cy="292608"/>
          </a:xfrm>
          <a:prstGeom prst="rect">
            <a:avLst/>
          </a:prstGeom>
          <a:noFill/>
          <a:ln/>
        </p:spPr>
        <p:txBody>
          <a:bodyPr wrap="square" lIns="0" tIns="0" rIns="0" bIns="0" rtlCol="0" anchor="t"/>
          <a:lstStyle/>
          <a:p>
            <a:pPr indent="0" marL="0">
              <a:buNone/>
            </a:pPr>
            <a:r>
              <a:rPr lang="en-US" sz="1500" b="1" dirty="0">
                <a:solidFill>
                  <a:schemeClr val="tx2"/>
                </a:solidFill>
              </a:rPr>
              <a:t>Göl çevresi</a:t>
            </a:r>
            <a:endParaRPr lang="en-US" sz="1500" dirty="0"/>
          </a:p>
        </p:txBody>
      </p:sp>
      <p:sp>
        <p:nvSpPr>
          <p:cNvPr id="30" name="Text 24"/>
          <p:cNvSpPr txBox="1"/>
          <p:nvPr/>
        </p:nvSpPr>
        <p:spPr>
          <a:xfrm>
            <a:off x="8686800" y="2039112"/>
            <a:ext cx="2880360" cy="548640"/>
          </a:xfrm>
          <a:prstGeom prst="rect">
            <a:avLst/>
          </a:prstGeom>
          <a:noFill/>
          <a:ln/>
        </p:spPr>
        <p:txBody>
          <a:bodyPr wrap="square" lIns="0" tIns="0" rIns="0" bIns="0" rtlCol="0" anchor="t"/>
          <a:lstStyle/>
          <a:p>
            <a:pPr indent="0" marL="0">
              <a:buNone/>
            </a:pPr>
            <a:r>
              <a:rPr lang="en-US" sz="1300" dirty="0">
                <a:solidFill>
                  <a:schemeClr val="tx1"/>
                </a:solidFill>
              </a:rPr>
              <a:t>Yürüyüş ve koşu parkuru, kafe, amfi, çocuk oyun alanları</a:t>
            </a:r>
            <a:endParaRPr lang="en-US" sz="1300" dirty="0"/>
          </a:p>
        </p:txBody>
      </p:sp>
      <p:sp>
        <p:nvSpPr>
          <p:cNvPr id="31" name="Kart"/>
          <p:cNvSpPr/>
          <p:nvPr/>
        </p:nvSpPr>
        <p:spPr>
          <a:xfrm>
            <a:off x="7818120" y="2807208"/>
            <a:ext cx="3824935" cy="1024128"/>
          </a:xfrm>
          <a:prstGeom prst="roundRect">
            <a:avLst>
              <a:gd name="adj" fmla="val 7143"/>
            </a:avLst>
          </a:prstGeom>
          <a:solidFill>
            <a:schemeClr val="bg1"/>
          </a:solidFill>
          <a:ln/>
          <a:effectLst>
            <a:outerShdw sx="100000" sy="100000" kx="0" ky="0" algn="bl" rotWithShape="0" blurRad="76200" dist="19050" dir="5400000">
              <a:srgbClr val="000000">
                <a:alpha val="12000"/>
              </a:srgbClr>
            </a:outerShdw>
          </a:effectLst>
        </p:spPr>
      </p:sp>
      <p:sp>
        <p:nvSpPr>
          <p:cNvPr id="32" name="İkon zemini"/>
          <p:cNvSpPr/>
          <p:nvPr/>
        </p:nvSpPr>
        <p:spPr>
          <a:xfrm>
            <a:off x="7982712" y="3026664"/>
            <a:ext cx="566928" cy="566928"/>
          </a:xfrm>
          <a:prstGeom prst="ellipse">
            <a:avLst/>
          </a:prstGeom>
          <a:solidFill>
            <a:schemeClr val="accent3"/>
          </a:solidFill>
          <a:ln/>
        </p:spPr>
      </p:sp>
      <p:pic>
        <p:nvPicPr>
          <p:cNvPr id="33" name="İkon FaSailboat" descr="preencoded.png">    </p:cNvPr>
          <p:cNvPicPr>
            <a:picLocks noChangeAspect="1"/>
          </p:cNvPicPr>
          <p:nvPr/>
        </p:nvPicPr>
        <p:blipFill>
          <a:blip r:embed="rId5"/>
          <a:stretch>
            <a:fillRect/>
          </a:stretch>
        </p:blipFill>
        <p:spPr>
          <a:xfrm>
            <a:off x="8118775" y="3162727"/>
            <a:ext cx="294803" cy="294803"/>
          </a:xfrm>
          <a:prstGeom prst="rect">
            <a:avLst/>
          </a:prstGeom>
        </p:spPr>
      </p:pic>
      <p:sp>
        <p:nvSpPr>
          <p:cNvPr id="34" name="Text 27"/>
          <p:cNvSpPr txBox="1"/>
          <p:nvPr/>
        </p:nvSpPr>
        <p:spPr>
          <a:xfrm>
            <a:off x="8686800" y="2935224"/>
            <a:ext cx="2743200" cy="292608"/>
          </a:xfrm>
          <a:prstGeom prst="rect">
            <a:avLst/>
          </a:prstGeom>
          <a:noFill/>
          <a:ln/>
        </p:spPr>
        <p:txBody>
          <a:bodyPr wrap="square" lIns="0" tIns="0" rIns="0" bIns="0" rtlCol="0" anchor="t"/>
          <a:lstStyle/>
          <a:p>
            <a:pPr indent="0" marL="0">
              <a:buNone/>
            </a:pPr>
            <a:r>
              <a:rPr lang="en-US" sz="1500" b="1" dirty="0">
                <a:solidFill>
                  <a:schemeClr val="tx2"/>
                </a:solidFill>
              </a:rPr>
              <a:t>Su üstü</a:t>
            </a:r>
            <a:endParaRPr lang="en-US" sz="1500" dirty="0"/>
          </a:p>
        </p:txBody>
      </p:sp>
      <p:sp>
        <p:nvSpPr>
          <p:cNvPr id="35" name="Text 28"/>
          <p:cNvSpPr txBox="1"/>
          <p:nvPr/>
        </p:nvSpPr>
        <p:spPr>
          <a:xfrm>
            <a:off x="8686800" y="3246120"/>
            <a:ext cx="2880360" cy="548640"/>
          </a:xfrm>
          <a:prstGeom prst="rect">
            <a:avLst/>
          </a:prstGeom>
          <a:noFill/>
          <a:ln/>
        </p:spPr>
        <p:txBody>
          <a:bodyPr wrap="square" lIns="0" tIns="0" rIns="0" bIns="0" rtlCol="0" anchor="t"/>
          <a:lstStyle/>
          <a:p>
            <a:pPr indent="0" marL="0">
              <a:buNone/>
            </a:pPr>
            <a:r>
              <a:rPr lang="en-US" sz="1300" dirty="0">
                <a:solidFill>
                  <a:schemeClr val="tx1"/>
                </a:solidFill>
              </a:rPr>
              <a:t>Kano ve pedal tekne; kışın uygunsa buz pateni</a:t>
            </a:r>
            <a:endParaRPr lang="en-US" sz="1300" dirty="0"/>
          </a:p>
        </p:txBody>
      </p:sp>
      <p:sp>
        <p:nvSpPr>
          <p:cNvPr id="36" name="Kart"/>
          <p:cNvSpPr/>
          <p:nvPr/>
        </p:nvSpPr>
        <p:spPr>
          <a:xfrm>
            <a:off x="7818120" y="4014216"/>
            <a:ext cx="3824935" cy="1024128"/>
          </a:xfrm>
          <a:prstGeom prst="roundRect">
            <a:avLst>
              <a:gd name="adj" fmla="val 7143"/>
            </a:avLst>
          </a:prstGeom>
          <a:solidFill>
            <a:schemeClr val="bg1"/>
          </a:solidFill>
          <a:ln/>
          <a:effectLst>
            <a:outerShdw sx="100000" sy="100000" kx="0" ky="0" algn="bl" rotWithShape="0" blurRad="76200" dist="19050" dir="5400000">
              <a:srgbClr val="000000">
                <a:alpha val="12000"/>
              </a:srgbClr>
            </a:outerShdw>
          </a:effectLst>
        </p:spPr>
      </p:sp>
      <p:sp>
        <p:nvSpPr>
          <p:cNvPr id="37" name="İkon zemini"/>
          <p:cNvSpPr/>
          <p:nvPr/>
        </p:nvSpPr>
        <p:spPr>
          <a:xfrm>
            <a:off x="7982712" y="4233672"/>
            <a:ext cx="566928" cy="566928"/>
          </a:xfrm>
          <a:prstGeom prst="ellipse">
            <a:avLst/>
          </a:prstGeom>
          <a:solidFill>
            <a:schemeClr val="accent3"/>
          </a:solidFill>
          <a:ln/>
        </p:spPr>
      </p:sp>
      <p:pic>
        <p:nvPicPr>
          <p:cNvPr id="38" name="İkon FaBookOpen" descr="preencoded.png">    </p:cNvPr>
          <p:cNvPicPr>
            <a:picLocks noChangeAspect="1"/>
          </p:cNvPicPr>
          <p:nvPr/>
        </p:nvPicPr>
        <p:blipFill>
          <a:blip r:embed="rId6"/>
          <a:stretch>
            <a:fillRect/>
          </a:stretch>
        </p:blipFill>
        <p:spPr>
          <a:xfrm>
            <a:off x="8118775" y="4369735"/>
            <a:ext cx="294803" cy="294803"/>
          </a:xfrm>
          <a:prstGeom prst="rect">
            <a:avLst/>
          </a:prstGeom>
        </p:spPr>
      </p:pic>
      <p:sp>
        <p:nvSpPr>
          <p:cNvPr id="39" name="Text 31"/>
          <p:cNvSpPr txBox="1"/>
          <p:nvPr/>
        </p:nvSpPr>
        <p:spPr>
          <a:xfrm>
            <a:off x="8686800" y="4142232"/>
            <a:ext cx="2743200" cy="292608"/>
          </a:xfrm>
          <a:prstGeom prst="rect">
            <a:avLst/>
          </a:prstGeom>
          <a:noFill/>
          <a:ln/>
        </p:spPr>
        <p:txBody>
          <a:bodyPr wrap="square" lIns="0" tIns="0" rIns="0" bIns="0" rtlCol="0" anchor="t"/>
          <a:lstStyle/>
          <a:p>
            <a:pPr indent="0" marL="0">
              <a:buNone/>
            </a:pPr>
            <a:r>
              <a:rPr lang="en-US" sz="1500" b="1" dirty="0">
                <a:solidFill>
                  <a:schemeClr val="tx2"/>
                </a:solidFill>
              </a:rPr>
              <a:t>Kıyıda</a:t>
            </a:r>
            <a:endParaRPr lang="en-US" sz="1500" dirty="0"/>
          </a:p>
        </p:txBody>
      </p:sp>
      <p:sp>
        <p:nvSpPr>
          <p:cNvPr id="40" name="Text 32"/>
          <p:cNvSpPr txBox="1"/>
          <p:nvPr/>
        </p:nvSpPr>
        <p:spPr>
          <a:xfrm>
            <a:off x="8686800" y="4453128"/>
            <a:ext cx="2880360" cy="548640"/>
          </a:xfrm>
          <a:prstGeom prst="rect">
            <a:avLst/>
          </a:prstGeom>
          <a:noFill/>
          <a:ln/>
        </p:spPr>
        <p:txBody>
          <a:bodyPr wrap="square" lIns="0" tIns="0" rIns="0" bIns="0" rtlCol="0" anchor="t"/>
          <a:lstStyle/>
          <a:p>
            <a:pPr indent="0" marL="0">
              <a:buNone/>
            </a:pPr>
            <a:r>
              <a:rPr lang="en-US" sz="1300" dirty="0">
                <a:solidFill>
                  <a:schemeClr val="tx1"/>
                </a:solidFill>
              </a:rPr>
              <a:t>Kültür merkezi, kütüphane, meydan ve haftalık pazar</a:t>
            </a:r>
            <a:endParaRPr lang="en-US" sz="1300" dirty="0"/>
          </a:p>
        </p:txBody>
      </p:sp>
      <p:sp>
        <p:nvSpPr>
          <p:cNvPr id="41" name="Kart"/>
          <p:cNvSpPr/>
          <p:nvPr/>
        </p:nvSpPr>
        <p:spPr>
          <a:xfrm>
            <a:off x="548640" y="5303520"/>
            <a:ext cx="11094415" cy="658368"/>
          </a:xfrm>
          <a:prstGeom prst="roundRect">
            <a:avLst>
              <a:gd name="adj" fmla="val 11111"/>
            </a:avLst>
          </a:prstGeom>
          <a:solidFill>
            <a:srgbClr val="F6DFDB"/>
          </a:solidFill>
          <a:ln/>
        </p:spPr>
      </p:sp>
      <p:sp>
        <p:nvSpPr>
          <p:cNvPr id="42" name="İkon zemini"/>
          <p:cNvSpPr/>
          <p:nvPr/>
        </p:nvSpPr>
        <p:spPr>
          <a:xfrm>
            <a:off x="713232" y="5385816"/>
            <a:ext cx="475488" cy="475488"/>
          </a:xfrm>
          <a:prstGeom prst="ellipse">
            <a:avLst/>
          </a:prstGeom>
          <a:solidFill>
            <a:schemeClr val="accent6"/>
          </a:solidFill>
          <a:ln/>
        </p:spPr>
      </p:sp>
      <p:pic>
        <p:nvPicPr>
          <p:cNvPr id="43" name="İkon FaTriangleExclamation" descr="preencoded.png">    </p:cNvPr>
          <p:cNvPicPr>
            <a:picLocks noChangeAspect="1"/>
          </p:cNvPicPr>
          <p:nvPr/>
        </p:nvPicPr>
        <p:blipFill>
          <a:blip r:embed="rId7"/>
          <a:stretch>
            <a:fillRect/>
          </a:stretch>
        </p:blipFill>
        <p:spPr>
          <a:xfrm>
            <a:off x="827349" y="5499933"/>
            <a:ext cx="247254" cy="247254"/>
          </a:xfrm>
          <a:prstGeom prst="rect">
            <a:avLst/>
          </a:prstGeom>
        </p:spPr>
      </p:pic>
      <p:sp>
        <p:nvSpPr>
          <p:cNvPr id="44" name="Text 35"/>
          <p:cNvSpPr txBox="1"/>
          <p:nvPr/>
        </p:nvSpPr>
        <p:spPr>
          <a:xfrm>
            <a:off x="1325880" y="5367528"/>
            <a:ext cx="10134295" cy="548640"/>
          </a:xfrm>
          <a:prstGeom prst="rect">
            <a:avLst/>
          </a:prstGeom>
          <a:noFill/>
          <a:ln/>
        </p:spPr>
        <p:txBody>
          <a:bodyPr wrap="square" lIns="0" tIns="0" rIns="0" bIns="0" rtlCol="0" anchor="ctr"/>
          <a:lstStyle/>
          <a:p>
            <a:pPr indent="0" marL="0">
              <a:buNone/>
            </a:pPr>
            <a:r>
              <a:rPr lang="en-US" sz="1400" dirty="0">
                <a:solidFill>
                  <a:schemeClr val="tx1"/>
                </a:solidFill>
              </a:rPr>
              <a:t>Ankara barajlarında aktif doluluk 8 Ocak 2026'da %1'e indi. Göl şebeke suyuyla doldurulmaz; ilk dolum ~50 bin m³ (30–75 bin) yağmur suyu ve arıtılmış atıksuyla yapılır.</a:t>
            </a:r>
            <a:endParaRPr lang="en-US" sz="1400" dirty="0"/>
          </a:p>
        </p:txBody>
      </p:sp>
      <p:sp>
        <p:nvSpPr>
          <p:cNvPr id="45" name="Text 36"/>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ASKİ verisi (BirGün, 10 Ocak 2026); yağış 350–450 mm/yıl, akış katsayısı 0,4–0,6 ile hasat tahmini. Buharlaşma kaybı hesaplanacak.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DÜNYADAN ÖRNEKLER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Bunlar yapılıyor: mahalle merkezinde göl</a:t>
            </a:r>
            <a:endParaRPr lang="en-US" sz="3600" dirty="0"/>
          </a:p>
        </p:txBody>
      </p:sp>
      <p:sp>
        <p:nvSpPr>
          <p:cNvPr id="4" name="Kart"/>
          <p:cNvSpPr/>
          <p:nvPr/>
        </p:nvSpPr>
        <p:spPr>
          <a:xfrm>
            <a:off x="548640"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77240" y="1828800"/>
            <a:ext cx="566928" cy="566928"/>
          </a:xfrm>
          <a:prstGeom prst="ellipse">
            <a:avLst/>
          </a:prstGeom>
          <a:solidFill>
            <a:schemeClr val="accent2"/>
          </a:solidFill>
          <a:ln/>
        </p:spPr>
      </p:sp>
      <p:pic>
        <p:nvPicPr>
          <p:cNvPr id="6" name="İkon FaWater"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777240"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Reston, ABD · 1963–67</a:t>
            </a:r>
            <a:endParaRPr lang="en-US" sz="1300" dirty="0"/>
          </a:p>
        </p:txBody>
      </p:sp>
      <p:sp>
        <p:nvSpPr>
          <p:cNvPr id="8" name="Text 5"/>
          <p:cNvSpPr txBox="1"/>
          <p:nvPr/>
        </p:nvSpPr>
        <p:spPr>
          <a:xfrm>
            <a:off x="777240"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Lake Anne köy merkezi</a:t>
            </a:r>
            <a:endParaRPr lang="en-US" sz="1700" dirty="0"/>
          </a:p>
        </p:txBody>
      </p:sp>
      <p:sp>
        <p:nvSpPr>
          <p:cNvPr id="9" name="Text 6"/>
          <p:cNvSpPr txBox="1"/>
          <p:nvPr/>
        </p:nvSpPr>
        <p:spPr>
          <a:xfrm>
            <a:off x="777240"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17 ha'lık köy merkezi gölün kıyısında; 2017'de tescilli miras.</a:t>
            </a:r>
            <a:endParaRPr lang="en-US" sz="1500" dirty="0"/>
          </a:p>
        </p:txBody>
      </p:sp>
      <p:sp>
        <p:nvSpPr>
          <p:cNvPr id="10" name="Text 7"/>
          <p:cNvSpPr txBox="1"/>
          <p:nvPr/>
        </p:nvSpPr>
        <p:spPr>
          <a:xfrm>
            <a:off x="777240"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Örencik için ders</a:t>
            </a:r>
            <a:endParaRPr lang="en-US" sz="1400" dirty="0"/>
          </a:p>
          <a:p>
            <a:pPr indent="0" marL="0">
              <a:buNone/>
            </a:pPr>
            <a:r>
              <a:rPr lang="en-US" sz="1500" dirty="0">
                <a:solidFill>
                  <a:schemeClr val="tx1"/>
                </a:solidFill>
              </a:rPr>
              <a:t>Göl ile meydan birlikte tasarlanınca merkez olur.</a:t>
            </a:r>
            <a:endParaRPr lang="en-US" sz="1400" dirty="0"/>
          </a:p>
        </p:txBody>
      </p:sp>
      <p:sp>
        <p:nvSpPr>
          <p:cNvPr id="11" name="Kart"/>
          <p:cNvSpPr/>
          <p:nvPr/>
        </p:nvSpPr>
        <p:spPr>
          <a:xfrm>
            <a:off x="3390824"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12" name="İkon zemini"/>
          <p:cNvSpPr/>
          <p:nvPr/>
        </p:nvSpPr>
        <p:spPr>
          <a:xfrm>
            <a:off x="3619424" y="1828800"/>
            <a:ext cx="566928" cy="566928"/>
          </a:xfrm>
          <a:prstGeom prst="ellipse">
            <a:avLst/>
          </a:prstGeom>
          <a:solidFill>
            <a:schemeClr val="accent2"/>
          </a:solidFill>
          <a:ln/>
        </p:spPr>
      </p:sp>
      <p:pic>
        <p:nvPicPr>
          <p:cNvPr id="13" name="İkon FaPeopleGroup" descr="preencoded.png">    </p:cNvPr>
          <p:cNvPicPr>
            <a:picLocks noChangeAspect="1"/>
          </p:cNvPicPr>
          <p:nvPr/>
        </p:nvPicPr>
        <p:blipFill>
          <a:blip r:embed="rId2"/>
          <a:stretch>
            <a:fillRect/>
          </a:stretch>
        </p:blipFill>
        <p:spPr>
          <a:xfrm>
            <a:off x="3755487" y="1964863"/>
            <a:ext cx="294803" cy="294803"/>
          </a:xfrm>
          <a:prstGeom prst="rect">
            <a:avLst/>
          </a:prstGeom>
        </p:spPr>
      </p:pic>
      <p:sp>
        <p:nvSpPr>
          <p:cNvPr id="14" name="Text 10"/>
          <p:cNvSpPr txBox="1"/>
          <p:nvPr/>
        </p:nvSpPr>
        <p:spPr>
          <a:xfrm>
            <a:off x="3619424"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Columbia, ABD · 1966–74</a:t>
            </a:r>
            <a:endParaRPr lang="en-US" sz="1300" dirty="0"/>
          </a:p>
        </p:txBody>
      </p:sp>
      <p:sp>
        <p:nvSpPr>
          <p:cNvPr id="15" name="Text 11"/>
          <p:cNvSpPr txBox="1"/>
          <p:nvPr/>
        </p:nvSpPr>
        <p:spPr>
          <a:xfrm>
            <a:off x="3619424"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Wilde Lake ve Kittamaqundi</a:t>
            </a:r>
            <a:endParaRPr lang="en-US" sz="1700" dirty="0"/>
          </a:p>
        </p:txBody>
      </p:sp>
      <p:sp>
        <p:nvSpPr>
          <p:cNvPr id="16" name="Text 12"/>
          <p:cNvSpPr txBox="1"/>
          <p:nvPr/>
        </p:nvSpPr>
        <p:spPr>
          <a:xfrm>
            <a:off x="3619424"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9–15 ha'lık mahalle gölleri; bakım sakin aidatıyla.</a:t>
            </a:r>
            <a:endParaRPr lang="en-US" sz="1500" dirty="0"/>
          </a:p>
        </p:txBody>
      </p:sp>
      <p:sp>
        <p:nvSpPr>
          <p:cNvPr id="17" name="Text 13"/>
          <p:cNvSpPr txBox="1"/>
          <p:nvPr/>
        </p:nvSpPr>
        <p:spPr>
          <a:xfrm>
            <a:off x="3619424"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Örencik için ders</a:t>
            </a:r>
            <a:endParaRPr lang="en-US" sz="1400" dirty="0"/>
          </a:p>
          <a:p>
            <a:pPr indent="0" marL="0">
              <a:buNone/>
            </a:pPr>
            <a:r>
              <a:rPr lang="en-US" sz="1500" dirty="0">
                <a:solidFill>
                  <a:schemeClr val="tx1"/>
                </a:solidFill>
              </a:rPr>
              <a:t>İşletme modeli baştan kurulur.</a:t>
            </a:r>
            <a:endParaRPr lang="en-US" sz="1400" dirty="0"/>
          </a:p>
        </p:txBody>
      </p:sp>
      <p:sp>
        <p:nvSpPr>
          <p:cNvPr id="18" name="Kart"/>
          <p:cNvSpPr/>
          <p:nvPr/>
        </p:nvSpPr>
        <p:spPr>
          <a:xfrm>
            <a:off x="6233008" y="1600200"/>
            <a:ext cx="2567864" cy="4343400"/>
          </a:xfrm>
          <a:prstGeom prst="roundRect">
            <a:avLst>
              <a:gd name="adj" fmla="val 2849"/>
            </a:avLst>
          </a:prstGeom>
          <a:solidFill>
            <a:schemeClr val="bg1"/>
          </a:solidFill>
          <a:ln/>
          <a:effectLst>
            <a:outerShdw sx="100000" sy="100000" kx="0" ky="0" algn="bl" rotWithShape="0" blurRad="76200" dist="19050" dir="5400000">
              <a:srgbClr val="000000">
                <a:alpha val="12000"/>
              </a:srgbClr>
            </a:outerShdw>
          </a:effectLst>
        </p:spPr>
      </p:sp>
      <p:sp>
        <p:nvSpPr>
          <p:cNvPr id="19" name="İkon zemini"/>
          <p:cNvSpPr/>
          <p:nvPr/>
        </p:nvSpPr>
        <p:spPr>
          <a:xfrm>
            <a:off x="6461608" y="1828800"/>
            <a:ext cx="566928" cy="566928"/>
          </a:xfrm>
          <a:prstGeom prst="ellipse">
            <a:avLst/>
          </a:prstGeom>
          <a:solidFill>
            <a:schemeClr val="accent2"/>
          </a:solidFill>
          <a:ln/>
        </p:spPr>
      </p:sp>
      <p:pic>
        <p:nvPicPr>
          <p:cNvPr id="20" name="İkon FaLeaf" descr="preencoded.png">    </p:cNvPr>
          <p:cNvPicPr>
            <a:picLocks noChangeAspect="1"/>
          </p:cNvPicPr>
          <p:nvPr/>
        </p:nvPicPr>
        <p:blipFill>
          <a:blip r:embed="rId3"/>
          <a:stretch>
            <a:fillRect/>
          </a:stretch>
        </p:blipFill>
        <p:spPr>
          <a:xfrm>
            <a:off x="6597670" y="1964863"/>
            <a:ext cx="294803" cy="294803"/>
          </a:xfrm>
          <a:prstGeom prst="rect">
            <a:avLst/>
          </a:prstGeom>
        </p:spPr>
      </p:pic>
      <p:sp>
        <p:nvSpPr>
          <p:cNvPr id="21" name="Text 16"/>
          <p:cNvSpPr txBox="1"/>
          <p:nvPr/>
        </p:nvSpPr>
        <p:spPr>
          <a:xfrm>
            <a:off x="6461608"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Bishan-AMK, Singapur · 2012</a:t>
            </a:r>
            <a:endParaRPr lang="en-US" sz="1300" dirty="0"/>
          </a:p>
        </p:txBody>
      </p:sp>
      <p:sp>
        <p:nvSpPr>
          <p:cNvPr id="22" name="Text 17"/>
          <p:cNvSpPr txBox="1"/>
          <p:nvPr/>
        </p:nvSpPr>
        <p:spPr>
          <a:xfrm>
            <a:off x="6461608"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Beton kanaldan nehir parkına</a:t>
            </a:r>
            <a:endParaRPr lang="en-US" sz="1700" dirty="0"/>
          </a:p>
        </p:txBody>
      </p:sp>
      <p:sp>
        <p:nvSpPr>
          <p:cNvPr id="23" name="Text 18"/>
          <p:cNvSpPr txBox="1"/>
          <p:nvPr/>
        </p:nvSpPr>
        <p:spPr>
          <a:xfrm>
            <a:off x="6461608"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2,7 km kanal 3 km doğal nehre dönüştü; 76 milyon SGD.</a:t>
            </a:r>
            <a:endParaRPr lang="en-US" sz="1500" dirty="0"/>
          </a:p>
        </p:txBody>
      </p:sp>
      <p:sp>
        <p:nvSpPr>
          <p:cNvPr id="24" name="Text 19"/>
          <p:cNvSpPr txBox="1"/>
          <p:nvPr/>
        </p:nvSpPr>
        <p:spPr>
          <a:xfrm>
            <a:off x="6461608"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Örencik için ders</a:t>
            </a:r>
            <a:endParaRPr lang="en-US" sz="1400" dirty="0"/>
          </a:p>
          <a:p>
            <a:pPr indent="0" marL="0">
              <a:buNone/>
            </a:pPr>
            <a:r>
              <a:rPr lang="en-US" sz="1500" dirty="0">
                <a:solidFill>
                  <a:schemeClr val="tx1"/>
                </a:solidFill>
              </a:rPr>
              <a:t>Su altyapısı aynı zamanda park olabilir.</a:t>
            </a:r>
            <a:endParaRPr lang="en-US" sz="1400" dirty="0"/>
          </a:p>
        </p:txBody>
      </p:sp>
      <p:sp>
        <p:nvSpPr>
          <p:cNvPr id="25" name="Kart"/>
          <p:cNvSpPr/>
          <p:nvPr/>
        </p:nvSpPr>
        <p:spPr>
          <a:xfrm>
            <a:off x="9075191" y="1600200"/>
            <a:ext cx="2567864" cy="4343400"/>
          </a:xfrm>
          <a:prstGeom prst="roundRect">
            <a:avLst>
              <a:gd name="adj" fmla="val 2849"/>
            </a:avLst>
          </a:prstGeom>
          <a:solidFill>
            <a:schemeClr val="bg1"/>
          </a:solidFill>
          <a:ln w="12700">
            <a:solidFill>
              <a:srgbClr val="9A5418"/>
            </a:solidFill>
            <a:prstDash val="solid"/>
          </a:ln>
          <a:effectLst>
            <a:outerShdw sx="100000" sy="100000" kx="0" ky="0" algn="bl" rotWithShape="0" blurRad="76200" dist="19050" dir="5400000">
              <a:srgbClr val="000000">
                <a:alpha val="12000"/>
              </a:srgbClr>
            </a:outerShdw>
          </a:effectLst>
        </p:spPr>
      </p:sp>
      <p:sp>
        <p:nvSpPr>
          <p:cNvPr id="26" name="İkon zemini"/>
          <p:cNvSpPr/>
          <p:nvPr/>
        </p:nvSpPr>
        <p:spPr>
          <a:xfrm>
            <a:off x="9303791" y="1828800"/>
            <a:ext cx="566928" cy="566928"/>
          </a:xfrm>
          <a:prstGeom prst="ellipse">
            <a:avLst/>
          </a:prstGeom>
          <a:solidFill>
            <a:schemeClr val="accent1"/>
          </a:solidFill>
          <a:ln/>
        </p:spPr>
      </p:sp>
      <p:pic>
        <p:nvPicPr>
          <p:cNvPr id="27" name="İkon FaLocationDot" descr="preencoded.png">    </p:cNvPr>
          <p:cNvPicPr>
            <a:picLocks noChangeAspect="1"/>
          </p:cNvPicPr>
          <p:nvPr/>
        </p:nvPicPr>
        <p:blipFill>
          <a:blip r:embed="rId4"/>
          <a:stretch>
            <a:fillRect/>
          </a:stretch>
        </p:blipFill>
        <p:spPr>
          <a:xfrm>
            <a:off x="9439854" y="1964863"/>
            <a:ext cx="294803" cy="294803"/>
          </a:xfrm>
          <a:prstGeom prst="rect">
            <a:avLst/>
          </a:prstGeom>
        </p:spPr>
      </p:pic>
      <p:sp>
        <p:nvSpPr>
          <p:cNvPr id="28" name="Text 22"/>
          <p:cNvSpPr txBox="1"/>
          <p:nvPr/>
        </p:nvSpPr>
        <p:spPr>
          <a:xfrm>
            <a:off x="9303791" y="2560320"/>
            <a:ext cx="2110664" cy="274320"/>
          </a:xfrm>
          <a:prstGeom prst="rect">
            <a:avLst/>
          </a:prstGeom>
          <a:noFill/>
          <a:ln/>
        </p:spPr>
        <p:txBody>
          <a:bodyPr wrap="square" lIns="0" tIns="0" rIns="0" bIns="0" rtlCol="0" anchor="t"/>
          <a:lstStyle/>
          <a:p>
            <a:pPr indent="0" marL="0">
              <a:buNone/>
            </a:pPr>
            <a:r>
              <a:rPr lang="en-US" sz="1300" b="1" dirty="0">
                <a:solidFill>
                  <a:schemeClr val="accent1"/>
                </a:solidFill>
              </a:rPr>
              <a:t>Göksu Parkı, Ankara · 2003</a:t>
            </a:r>
            <a:endParaRPr lang="en-US" sz="1300" dirty="0"/>
          </a:p>
        </p:txBody>
      </p:sp>
      <p:sp>
        <p:nvSpPr>
          <p:cNvPr id="29" name="Text 23"/>
          <p:cNvSpPr txBox="1"/>
          <p:nvPr/>
        </p:nvSpPr>
        <p:spPr>
          <a:xfrm>
            <a:off x="9303791" y="2880360"/>
            <a:ext cx="2110664" cy="685800"/>
          </a:xfrm>
          <a:prstGeom prst="rect">
            <a:avLst/>
          </a:prstGeom>
          <a:noFill/>
          <a:ln/>
        </p:spPr>
        <p:txBody>
          <a:bodyPr wrap="square" lIns="0" tIns="0" rIns="0" bIns="0" rtlCol="0" anchor="t"/>
          <a:lstStyle/>
          <a:p>
            <a:pPr indent="0" marL="0">
              <a:buNone/>
            </a:pPr>
            <a:r>
              <a:rPr lang="en-US" sz="1700" b="1" dirty="0">
                <a:solidFill>
                  <a:schemeClr val="tx2"/>
                </a:solidFill>
              </a:rPr>
              <a:t>Eryaman'ın göl parkı</a:t>
            </a:r>
            <a:endParaRPr lang="en-US" sz="1700" dirty="0"/>
          </a:p>
        </p:txBody>
      </p:sp>
      <p:sp>
        <p:nvSpPr>
          <p:cNvPr id="30" name="Text 24"/>
          <p:cNvSpPr txBox="1"/>
          <p:nvPr/>
        </p:nvSpPr>
        <p:spPr>
          <a:xfrm>
            <a:off x="9303791" y="3611880"/>
            <a:ext cx="2110664" cy="1097280"/>
          </a:xfrm>
          <a:prstGeom prst="rect">
            <a:avLst/>
          </a:prstGeom>
          <a:noFill/>
          <a:ln/>
        </p:spPr>
        <p:txBody>
          <a:bodyPr wrap="square" lIns="0" tIns="0" rIns="0" bIns="0" rtlCol="0" anchor="t"/>
          <a:lstStyle/>
          <a:p>
            <a:pPr indent="0" marL="0">
              <a:buNone/>
            </a:pPr>
            <a:r>
              <a:rPr lang="en-US" sz="1500" dirty="0">
                <a:solidFill>
                  <a:schemeClr val="tx1"/>
                </a:solidFill>
              </a:rPr>
              <a:t>50,8 ha park, 12–14 ha gölet; 2021–22'de su kalitesi sorunu.</a:t>
            </a:r>
            <a:endParaRPr lang="en-US" sz="1500" dirty="0"/>
          </a:p>
        </p:txBody>
      </p:sp>
      <p:sp>
        <p:nvSpPr>
          <p:cNvPr id="31" name="Text 25"/>
          <p:cNvSpPr txBox="1"/>
          <p:nvPr/>
        </p:nvSpPr>
        <p:spPr>
          <a:xfrm>
            <a:off x="9303791" y="4754880"/>
            <a:ext cx="2110664" cy="1097280"/>
          </a:xfrm>
          <a:prstGeom prst="rect">
            <a:avLst/>
          </a:prstGeom>
          <a:noFill/>
          <a:ln/>
        </p:spPr>
        <p:txBody>
          <a:bodyPr wrap="square" lIns="0" tIns="0" rIns="0" bIns="0" rtlCol="0" anchor="t"/>
          <a:lstStyle/>
          <a:p>
            <a:pPr indent="0" marL="0">
              <a:buNone/>
            </a:pPr>
            <a:r>
              <a:rPr lang="en-US" sz="1300" b="1" dirty="0">
                <a:solidFill>
                  <a:schemeClr val="accent1"/>
                </a:solidFill>
              </a:rPr>
              <a:t>Örencik için ders</a:t>
            </a:r>
            <a:endParaRPr lang="en-US" sz="1400" dirty="0"/>
          </a:p>
          <a:p>
            <a:pPr indent="0" marL="0">
              <a:buNone/>
            </a:pPr>
            <a:r>
              <a:rPr lang="en-US" sz="1500" dirty="0">
                <a:solidFill>
                  <a:schemeClr val="tx1"/>
                </a:solidFill>
              </a:rPr>
              <a:t>Sirkülasyon, arıtma ve işletmeci ilk günden.</a:t>
            </a:r>
            <a:endParaRPr lang="en-US" sz="1400" dirty="0"/>
          </a:p>
        </p:txBody>
      </p:sp>
      <p:sp>
        <p:nvSpPr>
          <p:cNvPr id="32" name="Text 26"/>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araştırma notları 04 ve 07. Columbia gölleri 22–37 acre. Bishan ziyaretçi sayısı (yılda 6 milyonu aşkın) kurum beyanıdır.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ULAŞIM VE TRAFİK</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Ulaşım: TUSAŞ'a 35 dakikanın altında</a:t>
            </a:r>
            <a:endParaRPr lang="en-US" sz="3600" dirty="0"/>
          </a:p>
        </p:txBody>
      </p:sp>
      <p:sp>
        <p:nvSpPr>
          <p:cNvPr id="4" name="Ekspres hat"/>
          <p:cNvSpPr/>
          <p:nvPr/>
        </p:nvSpPr>
        <p:spPr>
          <a:xfrm>
            <a:off x="868680" y="2331720"/>
            <a:ext cx="5943600" cy="0"/>
          </a:xfrm>
          <a:prstGeom prst="line">
            <a:avLst/>
          </a:prstGeom>
          <a:noFill/>
          <a:ln w="76200">
            <a:solidFill>
              <a:schemeClr val="tx2"/>
            </a:solidFill>
            <a:prstDash val="solid"/>
          </a:ln>
        </p:spPr>
      </p:sp>
      <p:sp>
        <p:nvSpPr>
          <p:cNvPr id="5" name="Durak Örencik"/>
          <p:cNvSpPr/>
          <p:nvPr/>
        </p:nvSpPr>
        <p:spPr>
          <a:xfrm>
            <a:off x="685800" y="2148840"/>
            <a:ext cx="365760" cy="365760"/>
          </a:xfrm>
          <a:prstGeom prst="ellipse">
            <a:avLst/>
          </a:prstGeom>
          <a:solidFill>
            <a:schemeClr val="accent1"/>
          </a:solidFill>
          <a:ln w="38100">
            <a:solidFill>
              <a:schemeClr val="tx2"/>
            </a:solidFill>
            <a:prstDash val="solid"/>
          </a:ln>
        </p:spPr>
      </p:sp>
      <p:sp>
        <p:nvSpPr>
          <p:cNvPr id="6" name="Text 4"/>
          <p:cNvSpPr txBox="1"/>
          <p:nvPr/>
        </p:nvSpPr>
        <p:spPr>
          <a:xfrm>
            <a:off x="-45720" y="2606040"/>
            <a:ext cx="1828800" cy="548640"/>
          </a:xfrm>
          <a:prstGeom prst="rect">
            <a:avLst/>
          </a:prstGeom>
          <a:noFill/>
          <a:ln/>
        </p:spPr>
        <p:txBody>
          <a:bodyPr wrap="square" lIns="0" tIns="0" rIns="0" bIns="0" rtlCol="0" anchor="t"/>
          <a:lstStyle/>
          <a:p>
            <a:pPr algn="ctr" indent="0" marL="0">
              <a:buNone/>
            </a:pPr>
            <a:r>
              <a:rPr lang="en-US" sz="1400" b="1" dirty="0">
                <a:solidFill>
                  <a:schemeClr val="tx2"/>
                </a:solidFill>
              </a:rPr>
              <a:t>Örencik</a:t>
            </a:r>
            <a:endParaRPr lang="en-US" sz="1400" dirty="0"/>
          </a:p>
        </p:txBody>
      </p:sp>
      <p:sp>
        <p:nvSpPr>
          <p:cNvPr id="7" name="Durak Kahramankazan merkezi"/>
          <p:cNvSpPr/>
          <p:nvPr/>
        </p:nvSpPr>
        <p:spPr>
          <a:xfrm>
            <a:off x="2697480" y="2148840"/>
            <a:ext cx="365760" cy="365760"/>
          </a:xfrm>
          <a:prstGeom prst="ellipse">
            <a:avLst/>
          </a:prstGeom>
          <a:solidFill>
            <a:schemeClr val="bg1"/>
          </a:solidFill>
          <a:ln w="38100">
            <a:solidFill>
              <a:schemeClr val="tx2"/>
            </a:solidFill>
            <a:prstDash val="solid"/>
          </a:ln>
        </p:spPr>
      </p:sp>
      <p:sp>
        <p:nvSpPr>
          <p:cNvPr id="8" name="Text 6"/>
          <p:cNvSpPr txBox="1"/>
          <p:nvPr/>
        </p:nvSpPr>
        <p:spPr>
          <a:xfrm>
            <a:off x="1965960" y="2606040"/>
            <a:ext cx="1828800" cy="548640"/>
          </a:xfrm>
          <a:prstGeom prst="rect">
            <a:avLst/>
          </a:prstGeom>
          <a:noFill/>
          <a:ln/>
        </p:spPr>
        <p:txBody>
          <a:bodyPr wrap="square" lIns="0" tIns="0" rIns="0" bIns="0" rtlCol="0" anchor="t"/>
          <a:lstStyle/>
          <a:p>
            <a:pPr algn="ctr" indent="0" marL="0">
              <a:buNone/>
            </a:pPr>
            <a:r>
              <a:rPr lang="en-US" sz="1400" dirty="0">
                <a:solidFill>
                  <a:schemeClr val="tx1"/>
                </a:solidFill>
              </a:rPr>
              <a:t>Kahramankazan merkezi</a:t>
            </a:r>
            <a:endParaRPr lang="en-US" sz="1400" dirty="0"/>
          </a:p>
        </p:txBody>
      </p:sp>
      <p:sp>
        <p:nvSpPr>
          <p:cNvPr id="9" name="Durak Saray"/>
          <p:cNvSpPr/>
          <p:nvPr/>
        </p:nvSpPr>
        <p:spPr>
          <a:xfrm>
            <a:off x="4709160" y="2148840"/>
            <a:ext cx="365760" cy="365760"/>
          </a:xfrm>
          <a:prstGeom prst="ellipse">
            <a:avLst/>
          </a:prstGeom>
          <a:solidFill>
            <a:schemeClr val="bg1"/>
          </a:solidFill>
          <a:ln w="38100">
            <a:solidFill>
              <a:schemeClr val="tx2"/>
            </a:solidFill>
            <a:prstDash val="solid"/>
          </a:ln>
        </p:spPr>
      </p:sp>
      <p:sp>
        <p:nvSpPr>
          <p:cNvPr id="10" name="Text 8"/>
          <p:cNvSpPr txBox="1"/>
          <p:nvPr/>
        </p:nvSpPr>
        <p:spPr>
          <a:xfrm>
            <a:off x="3977640" y="2606040"/>
            <a:ext cx="1828800" cy="548640"/>
          </a:xfrm>
          <a:prstGeom prst="rect">
            <a:avLst/>
          </a:prstGeom>
          <a:noFill/>
          <a:ln/>
        </p:spPr>
        <p:txBody>
          <a:bodyPr wrap="square" lIns="0" tIns="0" rIns="0" bIns="0" rtlCol="0" anchor="t"/>
          <a:lstStyle/>
          <a:p>
            <a:pPr algn="ctr" indent="0" marL="0">
              <a:buNone/>
            </a:pPr>
            <a:r>
              <a:rPr lang="en-US" sz="1400" dirty="0">
                <a:solidFill>
                  <a:schemeClr val="tx1"/>
                </a:solidFill>
              </a:rPr>
              <a:t>Saray</a:t>
            </a:r>
            <a:endParaRPr lang="en-US" sz="1400" dirty="0"/>
          </a:p>
        </p:txBody>
      </p:sp>
      <p:sp>
        <p:nvSpPr>
          <p:cNvPr id="11" name="Durak TUSAŞ"/>
          <p:cNvSpPr/>
          <p:nvPr/>
        </p:nvSpPr>
        <p:spPr>
          <a:xfrm>
            <a:off x="6629400" y="2148840"/>
            <a:ext cx="365760" cy="365760"/>
          </a:xfrm>
          <a:prstGeom prst="ellipse">
            <a:avLst/>
          </a:prstGeom>
          <a:solidFill>
            <a:schemeClr val="accent1"/>
          </a:solidFill>
          <a:ln w="38100">
            <a:solidFill>
              <a:schemeClr val="tx2"/>
            </a:solidFill>
            <a:prstDash val="solid"/>
          </a:ln>
        </p:spPr>
      </p:sp>
      <p:sp>
        <p:nvSpPr>
          <p:cNvPr id="12" name="Text 10"/>
          <p:cNvSpPr txBox="1"/>
          <p:nvPr/>
        </p:nvSpPr>
        <p:spPr>
          <a:xfrm>
            <a:off x="5897880" y="2606040"/>
            <a:ext cx="1828800" cy="548640"/>
          </a:xfrm>
          <a:prstGeom prst="rect">
            <a:avLst/>
          </a:prstGeom>
          <a:noFill/>
          <a:ln/>
        </p:spPr>
        <p:txBody>
          <a:bodyPr wrap="square" lIns="0" tIns="0" rIns="0" bIns="0" rtlCol="0" anchor="t"/>
          <a:lstStyle/>
          <a:p>
            <a:pPr algn="ctr" indent="0" marL="0">
              <a:buNone/>
            </a:pPr>
            <a:r>
              <a:rPr lang="en-US" sz="1400" b="1" dirty="0">
                <a:solidFill>
                  <a:schemeClr val="tx2"/>
                </a:solidFill>
              </a:rPr>
              <a:t>TUSAŞ</a:t>
            </a:r>
            <a:endParaRPr lang="en-US" sz="1400" dirty="0"/>
          </a:p>
        </p:txBody>
      </p:sp>
      <p:sp>
        <p:nvSpPr>
          <p:cNvPr id="13" name="Text 11"/>
          <p:cNvSpPr txBox="1"/>
          <p:nvPr/>
        </p:nvSpPr>
        <p:spPr>
          <a:xfrm>
            <a:off x="548640" y="1600200"/>
            <a:ext cx="6766560" cy="320040"/>
          </a:xfrm>
          <a:prstGeom prst="rect">
            <a:avLst/>
          </a:prstGeom>
          <a:noFill/>
          <a:ln/>
        </p:spPr>
        <p:txBody>
          <a:bodyPr wrap="square" lIns="0" tIns="0" rIns="0" bIns="0" rtlCol="0" anchor="t"/>
          <a:lstStyle/>
          <a:p>
            <a:pPr indent="0" marL="0">
              <a:buNone/>
            </a:pPr>
            <a:r>
              <a:rPr lang="en-US" sz="1500" b="1" dirty="0">
                <a:solidFill>
                  <a:schemeClr val="tx2"/>
                </a:solidFill>
              </a:rPr>
              <a:t>Örencik–TUSAŞ Ekspres · yol ~24–28 km (tahmin) · hedef kapıdan kapıya 35 dk'nın altı</a:t>
            </a:r>
            <a:endParaRPr lang="en-US" sz="1500" dirty="0"/>
          </a:p>
        </p:txBody>
      </p:sp>
      <p:sp>
        <p:nvSpPr>
          <p:cNvPr id="14" name="Kart"/>
          <p:cNvSpPr/>
          <p:nvPr/>
        </p:nvSpPr>
        <p:spPr>
          <a:xfrm>
            <a:off x="548640" y="3429000"/>
            <a:ext cx="2103120" cy="1828800"/>
          </a:xfrm>
          <a:prstGeom prst="roundRect">
            <a:avLst>
              <a:gd name="adj" fmla="val 4000"/>
            </a:avLst>
          </a:prstGeom>
          <a:solidFill>
            <a:schemeClr val="bg1"/>
          </a:solidFill>
          <a:ln/>
          <a:effectLst>
            <a:outerShdw sx="100000" sy="100000" kx="0" ky="0" algn="bl" rotWithShape="0" blurRad="76200" dist="19050" dir="5400000">
              <a:srgbClr val="000000">
                <a:alpha val="12000"/>
              </a:srgbClr>
            </a:outerShdw>
          </a:effectLst>
        </p:spPr>
      </p:sp>
      <p:sp>
        <p:nvSpPr>
          <p:cNvPr id="15" name="Text 13"/>
          <p:cNvSpPr txBox="1"/>
          <p:nvPr/>
        </p:nvSpPr>
        <p:spPr>
          <a:xfrm>
            <a:off x="731520" y="3593592"/>
            <a:ext cx="1737360" cy="320040"/>
          </a:xfrm>
          <a:prstGeom prst="rect">
            <a:avLst/>
          </a:prstGeom>
          <a:noFill/>
          <a:ln/>
        </p:spPr>
        <p:txBody>
          <a:bodyPr wrap="square" lIns="0" tIns="0" rIns="0" bIns="0" rtlCol="0" anchor="t"/>
          <a:lstStyle/>
          <a:p>
            <a:pPr indent="0" marL="0">
              <a:buNone/>
            </a:pPr>
            <a:r>
              <a:rPr lang="en-US" sz="1700" b="1" dirty="0">
                <a:solidFill>
                  <a:schemeClr val="accent1"/>
                </a:solidFill>
              </a:rPr>
              <a:t>İlk gün</a:t>
            </a:r>
            <a:endParaRPr lang="en-US" sz="1700" dirty="0"/>
          </a:p>
        </p:txBody>
      </p:sp>
      <p:sp>
        <p:nvSpPr>
          <p:cNvPr id="16" name="Text 14"/>
          <p:cNvSpPr txBox="1"/>
          <p:nvPr/>
        </p:nvSpPr>
        <p:spPr>
          <a:xfrm>
            <a:off x="731520" y="3977640"/>
            <a:ext cx="1737360" cy="1234440"/>
          </a:xfrm>
          <a:prstGeom prst="rect">
            <a:avLst/>
          </a:prstGeom>
          <a:noFill/>
          <a:ln/>
        </p:spPr>
        <p:txBody>
          <a:bodyPr wrap="square" lIns="0" tIns="0" rIns="0" bIns="0" rtlCol="0" anchor="t"/>
          <a:lstStyle/>
          <a:p>
            <a:pPr indent="0" marL="0">
              <a:buNone/>
            </a:pPr>
            <a:r>
              <a:rPr lang="en-US" sz="1400" dirty="0">
                <a:solidFill>
                  <a:schemeClr val="tx1"/>
                </a:solidFill>
              </a:rPr>
              <a:t>Mesaiye bağlı elektrikli ekspres otobüs; garantili koltuk, sabit sefer süresi</a:t>
            </a:r>
            <a:endParaRPr lang="en-US" sz="1400" dirty="0"/>
          </a:p>
        </p:txBody>
      </p:sp>
      <p:sp>
        <p:nvSpPr>
          <p:cNvPr id="17" name="Kart"/>
          <p:cNvSpPr/>
          <p:nvPr/>
        </p:nvSpPr>
        <p:spPr>
          <a:xfrm>
            <a:off x="2880360" y="3429000"/>
            <a:ext cx="2103120" cy="1828800"/>
          </a:xfrm>
          <a:prstGeom prst="roundRect">
            <a:avLst>
              <a:gd name="adj" fmla="val 4000"/>
            </a:avLst>
          </a:prstGeom>
          <a:solidFill>
            <a:schemeClr val="bg1"/>
          </a:solidFill>
          <a:ln/>
          <a:effectLst>
            <a:outerShdw sx="100000" sy="100000" kx="0" ky="0" algn="bl" rotWithShape="0" blurRad="76200" dist="19050" dir="5400000">
              <a:srgbClr val="000000">
                <a:alpha val="12000"/>
              </a:srgbClr>
            </a:outerShdw>
          </a:effectLst>
        </p:spPr>
      </p:sp>
      <p:sp>
        <p:nvSpPr>
          <p:cNvPr id="18" name="Text 16"/>
          <p:cNvSpPr txBox="1"/>
          <p:nvPr/>
        </p:nvSpPr>
        <p:spPr>
          <a:xfrm>
            <a:off x="3063240" y="3593592"/>
            <a:ext cx="1737360" cy="320040"/>
          </a:xfrm>
          <a:prstGeom prst="rect">
            <a:avLst/>
          </a:prstGeom>
          <a:noFill/>
          <a:ln/>
        </p:spPr>
        <p:txBody>
          <a:bodyPr wrap="square" lIns="0" tIns="0" rIns="0" bIns="0" rtlCol="0" anchor="t"/>
          <a:lstStyle/>
          <a:p>
            <a:pPr indent="0" marL="0">
              <a:buNone/>
            </a:pPr>
            <a:r>
              <a:rPr lang="en-US" sz="1700" b="1" dirty="0">
                <a:solidFill>
                  <a:schemeClr val="accent1"/>
                </a:solidFill>
              </a:rPr>
              <a:t>3–6 yıl</a:t>
            </a:r>
            <a:endParaRPr lang="en-US" sz="1700" dirty="0"/>
          </a:p>
        </p:txBody>
      </p:sp>
      <p:sp>
        <p:nvSpPr>
          <p:cNvPr id="19" name="Text 17"/>
          <p:cNvSpPr txBox="1"/>
          <p:nvPr/>
        </p:nvSpPr>
        <p:spPr>
          <a:xfrm>
            <a:off x="3063240" y="3977640"/>
            <a:ext cx="1737360" cy="1234440"/>
          </a:xfrm>
          <a:prstGeom prst="rect">
            <a:avLst/>
          </a:prstGeom>
          <a:noFill/>
          <a:ln/>
        </p:spPr>
        <p:txBody>
          <a:bodyPr wrap="square" lIns="0" tIns="0" rIns="0" bIns="0" rtlCol="0" anchor="t"/>
          <a:lstStyle/>
          <a:p>
            <a:pPr indent="0" marL="0">
              <a:buNone/>
            </a:pPr>
            <a:r>
              <a:rPr lang="en-US" sz="1400" dirty="0">
                <a:solidFill>
                  <a:schemeClr val="tx1"/>
                </a:solidFill>
              </a:rPr>
              <a:t>Otobüs öncelikli koridor (BRT); koridor raylı sistem standardında ayrılır</a:t>
            </a:r>
            <a:endParaRPr lang="en-US" sz="1400" dirty="0"/>
          </a:p>
        </p:txBody>
      </p:sp>
      <p:sp>
        <p:nvSpPr>
          <p:cNvPr id="20" name="Kart"/>
          <p:cNvSpPr/>
          <p:nvPr/>
        </p:nvSpPr>
        <p:spPr>
          <a:xfrm>
            <a:off x="5212080" y="3429000"/>
            <a:ext cx="2103120" cy="1828800"/>
          </a:xfrm>
          <a:prstGeom prst="roundRect">
            <a:avLst>
              <a:gd name="adj" fmla="val 4000"/>
            </a:avLst>
          </a:prstGeom>
          <a:solidFill>
            <a:schemeClr val="bg1"/>
          </a:solidFill>
          <a:ln/>
          <a:effectLst>
            <a:outerShdw sx="100000" sy="100000" kx="0" ky="0" algn="bl" rotWithShape="0" blurRad="76200" dist="19050" dir="5400000">
              <a:srgbClr val="000000">
                <a:alpha val="12000"/>
              </a:srgbClr>
            </a:outerShdw>
          </a:effectLst>
        </p:spPr>
      </p:sp>
      <p:sp>
        <p:nvSpPr>
          <p:cNvPr id="21" name="Text 19"/>
          <p:cNvSpPr txBox="1"/>
          <p:nvPr/>
        </p:nvSpPr>
        <p:spPr>
          <a:xfrm>
            <a:off x="5394960" y="3593592"/>
            <a:ext cx="1737360" cy="320040"/>
          </a:xfrm>
          <a:prstGeom prst="rect">
            <a:avLst/>
          </a:prstGeom>
          <a:noFill/>
          <a:ln/>
        </p:spPr>
        <p:txBody>
          <a:bodyPr wrap="square" lIns="0" tIns="0" rIns="0" bIns="0" rtlCol="0" anchor="t"/>
          <a:lstStyle/>
          <a:p>
            <a:pPr indent="0" marL="0">
              <a:buNone/>
            </a:pPr>
            <a:r>
              <a:rPr lang="en-US" sz="1700" b="1" dirty="0">
                <a:solidFill>
                  <a:schemeClr val="accent1"/>
                </a:solidFill>
              </a:rPr>
              <a:t>6–12 yıl</a:t>
            </a:r>
            <a:endParaRPr lang="en-US" sz="1700" dirty="0"/>
          </a:p>
        </p:txBody>
      </p:sp>
      <p:sp>
        <p:nvSpPr>
          <p:cNvPr id="22" name="Text 20"/>
          <p:cNvSpPr txBox="1"/>
          <p:nvPr/>
        </p:nvSpPr>
        <p:spPr>
          <a:xfrm>
            <a:off x="5394960" y="3977640"/>
            <a:ext cx="1737360" cy="1234440"/>
          </a:xfrm>
          <a:prstGeom prst="rect">
            <a:avLst/>
          </a:prstGeom>
          <a:noFill/>
          <a:ln/>
        </p:spPr>
        <p:txBody>
          <a:bodyPr wrap="square" lIns="0" tIns="0" rIns="0" bIns="0" rtlCol="0" anchor="t"/>
          <a:lstStyle/>
          <a:p>
            <a:pPr indent="0" marL="0">
              <a:buNone/>
            </a:pPr>
            <a:r>
              <a:rPr lang="en-US" sz="1400" dirty="0">
                <a:solidFill>
                  <a:schemeClr val="tx1"/>
                </a:solidFill>
              </a:rPr>
              <a:t>Talep saatte tek yönde 4–5 bin yolcuya ulaşırsa raylı sistem</a:t>
            </a:r>
            <a:endParaRPr lang="en-US" sz="1400" dirty="0"/>
          </a:p>
        </p:txBody>
      </p:sp>
      <p:sp>
        <p:nvSpPr>
          <p:cNvPr id="23" name="Text 21"/>
          <p:cNvSpPr txBox="1"/>
          <p:nvPr/>
        </p:nvSpPr>
        <p:spPr>
          <a:xfrm>
            <a:off x="548640" y="5440680"/>
            <a:ext cx="6766560" cy="548640"/>
          </a:xfrm>
          <a:prstGeom prst="rect">
            <a:avLst/>
          </a:prstGeom>
          <a:noFill/>
          <a:ln/>
        </p:spPr>
        <p:txBody>
          <a:bodyPr wrap="square" lIns="0" tIns="0" rIns="0" bIns="0" rtlCol="0" anchor="t"/>
          <a:lstStyle/>
          <a:p>
            <a:pPr indent="0" marL="0">
              <a:buNone/>
            </a:pPr>
            <a:r>
              <a:rPr lang="en-US" sz="1400" b="1" dirty="0">
                <a:solidFill>
                  <a:schemeClr val="tx2"/>
                </a:solidFill>
              </a:rPr>
              <a:t>Ayrıca: </a:t>
            </a:r>
            <a:pPr indent="0" marL="0">
              <a:buNone/>
            </a:pPr>
            <a:r>
              <a:rPr lang="en-US" sz="1400" dirty="0">
                <a:solidFill>
                  <a:schemeClr val="tx1"/>
                </a:solidFill>
              </a:rPr>
              <a:t>Yenikent–TUSAŞ aktarması (Başkentray), Kahramankazan ring hattı, mahalle içi çağrılı servis, kademeli mesai.</a:t>
            </a:r>
            <a:endParaRPr lang="en-US" sz="1400" dirty="0"/>
          </a:p>
        </p:txBody>
      </p:sp>
      <p:sp>
        <p:nvSpPr>
          <p:cNvPr id="24" name="Gösterge"/>
          <p:cNvSpPr/>
          <p:nvPr/>
        </p:nvSpPr>
        <p:spPr>
          <a:xfrm>
            <a:off x="7635240" y="1600200"/>
            <a:ext cx="1911096" cy="2057400"/>
          </a:xfrm>
          <a:prstGeom prst="roundRect">
            <a:avLst>
              <a:gd name="adj" fmla="val 3828"/>
            </a:avLst>
          </a:prstGeom>
          <a:solidFill>
            <a:schemeClr val="bg1"/>
          </a:solidFill>
          <a:ln/>
          <a:effectLst>
            <a:outerShdw sx="100000" sy="100000" kx="0" ky="0" algn="bl" rotWithShape="0" blurRad="76200" dist="19050" dir="5400000">
              <a:srgbClr val="000000">
                <a:alpha val="12000"/>
              </a:srgbClr>
            </a:outerShdw>
          </a:effectLst>
        </p:spPr>
      </p:sp>
      <p:sp>
        <p:nvSpPr>
          <p:cNvPr id="25" name="Text 23"/>
          <p:cNvSpPr txBox="1"/>
          <p:nvPr/>
        </p:nvSpPr>
        <p:spPr>
          <a:xfrm>
            <a:off x="7818120" y="1728216"/>
            <a:ext cx="1545336" cy="1028700"/>
          </a:xfrm>
          <a:prstGeom prst="rect">
            <a:avLst/>
          </a:prstGeom>
          <a:noFill/>
          <a:ln/>
        </p:spPr>
        <p:txBody>
          <a:bodyPr wrap="square" lIns="0" tIns="0" rIns="0" bIns="0" rtlCol="0" anchor="b"/>
          <a:lstStyle/>
          <a:p>
            <a:pPr indent="0" marL="0">
              <a:buNone/>
            </a:pPr>
            <a:r>
              <a:rPr lang="en-US" sz="3200" b="1" dirty="0">
                <a:solidFill>
                  <a:schemeClr val="tx2"/>
                </a:solidFill>
                <a:latin typeface="Cambria" pitchFamily="34" charset="0"/>
                <a:ea typeface="Cambria" pitchFamily="34" charset="-122"/>
                <a:cs typeface="Cambria" pitchFamily="34" charset="-120"/>
              </a:rPr>
              <a:t>13</a:t>
            </a:r>
            <a:endParaRPr lang="en-US" sz="3200" dirty="0"/>
          </a:p>
        </p:txBody>
      </p:sp>
      <p:sp>
        <p:nvSpPr>
          <p:cNvPr id="26" name="Text 24"/>
          <p:cNvSpPr txBox="1"/>
          <p:nvPr/>
        </p:nvSpPr>
        <p:spPr>
          <a:xfrm>
            <a:off x="7818120" y="2775204"/>
            <a:ext cx="1545336" cy="790956"/>
          </a:xfrm>
          <a:prstGeom prst="rect">
            <a:avLst/>
          </a:prstGeom>
          <a:noFill/>
          <a:ln/>
        </p:spPr>
        <p:txBody>
          <a:bodyPr wrap="square" lIns="0" tIns="0" rIns="0" bIns="0" rtlCol="0" anchor="t"/>
          <a:lstStyle/>
          <a:p>
            <a:pPr indent="0" marL="0">
              <a:buNone/>
            </a:pPr>
            <a:r>
              <a:rPr lang="en-US" sz="1400" dirty="0">
                <a:solidFill>
                  <a:schemeClr val="tx1"/>
                </a:solidFill>
              </a:rPr>
              <a:t>elektrikli otobüs, %15 yedekli</a:t>
            </a:r>
            <a:endParaRPr lang="en-US" sz="1400" dirty="0"/>
          </a:p>
        </p:txBody>
      </p:sp>
      <p:sp>
        <p:nvSpPr>
          <p:cNvPr id="27" name="Gösterge"/>
          <p:cNvSpPr/>
          <p:nvPr/>
        </p:nvSpPr>
        <p:spPr>
          <a:xfrm>
            <a:off x="9729216" y="1600200"/>
            <a:ext cx="1911096" cy="2057400"/>
          </a:xfrm>
          <a:prstGeom prst="roundRect">
            <a:avLst>
              <a:gd name="adj" fmla="val 3828"/>
            </a:avLst>
          </a:prstGeom>
          <a:solidFill>
            <a:schemeClr val="bg1"/>
          </a:solidFill>
          <a:ln/>
          <a:effectLst>
            <a:outerShdw sx="100000" sy="100000" kx="0" ky="0" algn="bl" rotWithShape="0" blurRad="76200" dist="19050" dir="5400000">
              <a:srgbClr val="000000">
                <a:alpha val="12000"/>
              </a:srgbClr>
            </a:outerShdw>
          </a:effectLst>
        </p:spPr>
      </p:sp>
      <p:sp>
        <p:nvSpPr>
          <p:cNvPr id="28" name="Text 26"/>
          <p:cNvSpPr txBox="1"/>
          <p:nvPr/>
        </p:nvSpPr>
        <p:spPr>
          <a:xfrm>
            <a:off x="9912096" y="1728216"/>
            <a:ext cx="1545336" cy="1028700"/>
          </a:xfrm>
          <a:prstGeom prst="rect">
            <a:avLst/>
          </a:prstGeom>
          <a:noFill/>
          <a:ln/>
        </p:spPr>
        <p:txBody>
          <a:bodyPr wrap="square" lIns="0" tIns="0" rIns="0" bIns="0" rtlCol="0" anchor="b"/>
          <a:lstStyle/>
          <a:p>
            <a:pPr indent="0" marL="0">
              <a:buNone/>
            </a:pPr>
            <a:r>
              <a:rPr lang="en-US" sz="3200" b="1" dirty="0">
                <a:solidFill>
                  <a:schemeClr val="tx2"/>
                </a:solidFill>
                <a:latin typeface="Cambria" pitchFamily="34" charset="0"/>
                <a:ea typeface="Cambria" pitchFamily="34" charset="-122"/>
                <a:cs typeface="Cambria" pitchFamily="34" charset="-120"/>
              </a:rPr>
              <a:t>~875</a:t>
            </a:r>
            <a:endParaRPr lang="en-US" sz="3200" dirty="0"/>
          </a:p>
        </p:txBody>
      </p:sp>
      <p:sp>
        <p:nvSpPr>
          <p:cNvPr id="29" name="Text 27"/>
          <p:cNvSpPr txBox="1"/>
          <p:nvPr/>
        </p:nvSpPr>
        <p:spPr>
          <a:xfrm>
            <a:off x="9912096" y="2775204"/>
            <a:ext cx="1545336" cy="790956"/>
          </a:xfrm>
          <a:prstGeom prst="rect">
            <a:avLst/>
          </a:prstGeom>
          <a:noFill/>
          <a:ln/>
        </p:spPr>
        <p:txBody>
          <a:bodyPr wrap="square" lIns="0" tIns="0" rIns="0" bIns="0" rtlCol="0" anchor="t"/>
          <a:lstStyle/>
          <a:p>
            <a:pPr indent="0" marL="0">
              <a:buNone/>
            </a:pPr>
            <a:r>
              <a:rPr lang="en-US" sz="1400" dirty="0">
                <a:solidFill>
                  <a:schemeClr val="tx1"/>
                </a:solidFill>
              </a:rPr>
              <a:t>sabah pikinde ekspres yolcusu</a:t>
            </a:r>
            <a:endParaRPr lang="en-US" sz="1400" dirty="0"/>
          </a:p>
        </p:txBody>
      </p:sp>
      <p:sp>
        <p:nvSpPr>
          <p:cNvPr id="30" name="Gösterge"/>
          <p:cNvSpPr/>
          <p:nvPr/>
        </p:nvSpPr>
        <p:spPr>
          <a:xfrm>
            <a:off x="7635240" y="3840480"/>
            <a:ext cx="1911096" cy="2057400"/>
          </a:xfrm>
          <a:prstGeom prst="roundRect">
            <a:avLst>
              <a:gd name="adj" fmla="val 3828"/>
            </a:avLst>
          </a:prstGeom>
          <a:solidFill>
            <a:schemeClr val="bg1"/>
          </a:solidFill>
          <a:ln/>
          <a:effectLst>
            <a:outerShdw sx="100000" sy="100000" kx="0" ky="0" algn="bl" rotWithShape="0" blurRad="76200" dist="19050" dir="5400000">
              <a:srgbClr val="000000">
                <a:alpha val="12000"/>
              </a:srgbClr>
            </a:outerShdw>
          </a:effectLst>
        </p:spPr>
      </p:sp>
      <p:sp>
        <p:nvSpPr>
          <p:cNvPr id="31" name="Text 29"/>
          <p:cNvSpPr txBox="1"/>
          <p:nvPr/>
        </p:nvSpPr>
        <p:spPr>
          <a:xfrm>
            <a:off x="7818120" y="3968496"/>
            <a:ext cx="1545336" cy="1028700"/>
          </a:xfrm>
          <a:prstGeom prst="rect">
            <a:avLst/>
          </a:prstGeom>
          <a:noFill/>
          <a:ln/>
        </p:spPr>
        <p:txBody>
          <a:bodyPr wrap="square" lIns="0" tIns="0" rIns="0" bIns="0" rtlCol="0" anchor="b"/>
          <a:lstStyle/>
          <a:p>
            <a:pPr indent="0" marL="0">
              <a:buNone/>
            </a:pPr>
            <a:r>
              <a:rPr lang="en-US" sz="3200" b="1" dirty="0">
                <a:solidFill>
                  <a:schemeClr val="tx2"/>
                </a:solidFill>
                <a:latin typeface="Cambria" pitchFamily="34" charset="0"/>
                <a:ea typeface="Cambria" pitchFamily="34" charset="-122"/>
                <a:cs typeface="Cambria" pitchFamily="34" charset="-120"/>
              </a:rPr>
              <a:t>~560</a:t>
            </a:r>
            <a:endParaRPr lang="en-US" sz="3200" dirty="0"/>
          </a:p>
        </p:txBody>
      </p:sp>
      <p:sp>
        <p:nvSpPr>
          <p:cNvPr id="32" name="Text 30"/>
          <p:cNvSpPr txBox="1"/>
          <p:nvPr/>
        </p:nvSpPr>
        <p:spPr>
          <a:xfrm>
            <a:off x="7818120" y="5015484"/>
            <a:ext cx="1545336" cy="790956"/>
          </a:xfrm>
          <a:prstGeom prst="rect">
            <a:avLst/>
          </a:prstGeom>
          <a:noFill/>
          <a:ln/>
        </p:spPr>
        <p:txBody>
          <a:bodyPr wrap="square" lIns="0" tIns="0" rIns="0" bIns="0" rtlCol="0" anchor="t"/>
          <a:lstStyle/>
          <a:p>
            <a:pPr indent="0" marL="0">
              <a:buNone/>
            </a:pPr>
            <a:r>
              <a:rPr lang="en-US" sz="1400" dirty="0">
                <a:solidFill>
                  <a:schemeClr val="tx1"/>
                </a:solidFill>
              </a:rPr>
              <a:t>otomobil, pikte koridordan çekilir</a:t>
            </a:r>
            <a:endParaRPr lang="en-US" sz="1400" dirty="0"/>
          </a:p>
        </p:txBody>
      </p:sp>
      <p:sp>
        <p:nvSpPr>
          <p:cNvPr id="33" name="Gösterge"/>
          <p:cNvSpPr/>
          <p:nvPr/>
        </p:nvSpPr>
        <p:spPr>
          <a:xfrm>
            <a:off x="9729216" y="3840480"/>
            <a:ext cx="1911096" cy="2057400"/>
          </a:xfrm>
          <a:prstGeom prst="roundRect">
            <a:avLst>
              <a:gd name="adj" fmla="val 3828"/>
            </a:avLst>
          </a:prstGeom>
          <a:solidFill>
            <a:schemeClr val="bg1"/>
          </a:solidFill>
          <a:ln/>
          <a:effectLst>
            <a:outerShdw sx="100000" sy="100000" kx="0" ky="0" algn="bl" rotWithShape="0" blurRad="76200" dist="19050" dir="5400000">
              <a:srgbClr val="000000">
                <a:alpha val="12000"/>
              </a:srgbClr>
            </a:outerShdw>
          </a:effectLst>
        </p:spPr>
      </p:sp>
      <p:sp>
        <p:nvSpPr>
          <p:cNvPr id="34" name="Text 32"/>
          <p:cNvSpPr txBox="1"/>
          <p:nvPr/>
        </p:nvSpPr>
        <p:spPr>
          <a:xfrm>
            <a:off x="9912096" y="3968496"/>
            <a:ext cx="1545336" cy="1028700"/>
          </a:xfrm>
          <a:prstGeom prst="rect">
            <a:avLst/>
          </a:prstGeom>
          <a:noFill/>
          <a:ln/>
        </p:spPr>
        <p:txBody>
          <a:bodyPr wrap="square" lIns="0" tIns="0" rIns="0" bIns="0" rtlCol="0" anchor="b"/>
          <a:lstStyle/>
          <a:p>
            <a:pPr indent="0" marL="0">
              <a:buNone/>
            </a:pPr>
            <a:r>
              <a:rPr lang="en-US" sz="3200" b="1" dirty="0">
                <a:solidFill>
                  <a:schemeClr val="tx2"/>
                </a:solidFill>
                <a:latin typeface="Cambria" pitchFamily="34" charset="0"/>
                <a:ea typeface="Cambria" pitchFamily="34" charset="-122"/>
                <a:cs typeface="Cambria" pitchFamily="34" charset="-120"/>
              </a:rPr>
              <a:t>374 t</a:t>
            </a:r>
            <a:endParaRPr lang="en-US" sz="3200" dirty="0"/>
          </a:p>
        </p:txBody>
      </p:sp>
      <p:sp>
        <p:nvSpPr>
          <p:cNvPr id="35" name="Text 33"/>
          <p:cNvSpPr txBox="1"/>
          <p:nvPr/>
        </p:nvSpPr>
        <p:spPr>
          <a:xfrm>
            <a:off x="9912096" y="5015484"/>
            <a:ext cx="1545336" cy="790956"/>
          </a:xfrm>
          <a:prstGeom prst="rect">
            <a:avLst/>
          </a:prstGeom>
          <a:noFill/>
          <a:ln/>
        </p:spPr>
        <p:txBody>
          <a:bodyPr wrap="square" lIns="0" tIns="0" rIns="0" bIns="0" rtlCol="0" anchor="t"/>
          <a:lstStyle/>
          <a:p>
            <a:pPr indent="0" marL="0">
              <a:buNone/>
            </a:pPr>
            <a:r>
              <a:rPr lang="en-US" sz="1400" dirty="0">
                <a:solidFill>
                  <a:schemeClr val="tx1"/>
                </a:solidFill>
              </a:rPr>
              <a:t>CO₂ yılda önlenir</a:t>
            </a:r>
            <a:endParaRPr lang="en-US" sz="1400" dirty="0"/>
          </a:p>
        </p:txBody>
      </p:sp>
      <p:sp>
        <p:nvSpPr>
          <p:cNvPr id="36" name="Text 34"/>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Varsayımlar: hane başına 1,4 çalışan; en az yarısı savunma ve havacılık kümesinde (1.750 kişi); ekspres payı %50; otobüs başına ~85 yolcu.</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AKILLI ŞEHİR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Akıllı şehir ve veri güvenliği</a:t>
            </a:r>
            <a:endParaRPr lang="en-US" sz="3600" dirty="0"/>
          </a:p>
        </p:txBody>
      </p:sp>
      <p:sp>
        <p:nvSpPr>
          <p:cNvPr id="4" name="Kart"/>
          <p:cNvSpPr/>
          <p:nvPr/>
        </p:nvSpPr>
        <p:spPr>
          <a:xfrm>
            <a:off x="548640" y="160020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31520" y="1801368"/>
            <a:ext cx="548640" cy="548640"/>
          </a:xfrm>
          <a:prstGeom prst="ellipse">
            <a:avLst/>
          </a:prstGeom>
          <a:solidFill>
            <a:schemeClr val="tx2"/>
          </a:solidFill>
          <a:ln/>
        </p:spPr>
      </p:sp>
      <p:pic>
        <p:nvPicPr>
          <p:cNvPr id="6" name="İkon FaMobileScreen" descr="preencoded.png">    </p:cNvPr>
          <p:cNvPicPr>
            <a:picLocks noChangeAspect="1"/>
          </p:cNvPicPr>
          <p:nvPr/>
        </p:nvPicPr>
        <p:blipFill>
          <a:blip r:embed="rId1"/>
          <a:stretch>
            <a:fillRect/>
          </a:stretch>
        </p:blipFill>
        <p:spPr>
          <a:xfrm>
            <a:off x="863194" y="1933042"/>
            <a:ext cx="285293" cy="285293"/>
          </a:xfrm>
          <a:prstGeom prst="rect">
            <a:avLst/>
          </a:prstGeom>
        </p:spPr>
      </p:pic>
      <p:sp>
        <p:nvSpPr>
          <p:cNvPr id="7" name="Text 4"/>
          <p:cNvSpPr txBox="1"/>
          <p:nvPr/>
        </p:nvSpPr>
        <p:spPr>
          <a:xfrm>
            <a:off x="1417320" y="1764792"/>
            <a:ext cx="2514600" cy="320040"/>
          </a:xfrm>
          <a:prstGeom prst="rect">
            <a:avLst/>
          </a:prstGeom>
          <a:noFill/>
          <a:ln/>
        </p:spPr>
        <p:txBody>
          <a:bodyPr wrap="square" lIns="0" tIns="0" rIns="0" bIns="0" rtlCol="0" anchor="t"/>
          <a:lstStyle/>
          <a:p>
            <a:pPr indent="0" marL="0">
              <a:buNone/>
            </a:pPr>
            <a:r>
              <a:rPr lang="en-US" sz="1500" b="1" dirty="0">
                <a:solidFill>
                  <a:schemeClr val="tx2"/>
                </a:solidFill>
              </a:rPr>
              <a:t>Ulaşım uygulaması</a:t>
            </a:r>
            <a:endParaRPr lang="en-US" sz="1500" dirty="0"/>
          </a:p>
        </p:txBody>
      </p:sp>
      <p:sp>
        <p:nvSpPr>
          <p:cNvPr id="8" name="Text 5"/>
          <p:cNvSpPr txBox="1"/>
          <p:nvPr/>
        </p:nvSpPr>
        <p:spPr>
          <a:xfrm>
            <a:off x="1417320" y="2103120"/>
            <a:ext cx="2514600" cy="777240"/>
          </a:xfrm>
          <a:prstGeom prst="rect">
            <a:avLst/>
          </a:prstGeom>
          <a:noFill/>
          <a:ln/>
        </p:spPr>
        <p:txBody>
          <a:bodyPr wrap="square" lIns="0" tIns="0" rIns="0" bIns="0" rtlCol="0" anchor="t"/>
          <a:lstStyle/>
          <a:p>
            <a:pPr indent="0" marL="0">
              <a:buNone/>
            </a:pPr>
            <a:r>
              <a:rPr lang="en-US" sz="1300" dirty="0">
                <a:solidFill>
                  <a:schemeClr val="tx1"/>
                </a:solidFill>
              </a:rPr>
              <a:t>Mesaiye bağlı; servis, EGO ve Başkentray tek uygulamada</a:t>
            </a:r>
            <a:endParaRPr lang="en-US" sz="1300" dirty="0"/>
          </a:p>
        </p:txBody>
      </p:sp>
      <p:sp>
        <p:nvSpPr>
          <p:cNvPr id="9" name="Kart"/>
          <p:cNvSpPr/>
          <p:nvPr/>
        </p:nvSpPr>
        <p:spPr>
          <a:xfrm>
            <a:off x="4297680" y="160020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0" name="İkon zemini"/>
          <p:cNvSpPr/>
          <p:nvPr/>
        </p:nvSpPr>
        <p:spPr>
          <a:xfrm>
            <a:off x="4480560" y="1801368"/>
            <a:ext cx="548640" cy="548640"/>
          </a:xfrm>
          <a:prstGeom prst="ellipse">
            <a:avLst/>
          </a:prstGeom>
          <a:solidFill>
            <a:schemeClr val="tx2"/>
          </a:solidFill>
          <a:ln/>
        </p:spPr>
      </p:sp>
      <p:pic>
        <p:nvPicPr>
          <p:cNvPr id="11" name="İkon FaTrafficLight" descr="preencoded.png">    </p:cNvPr>
          <p:cNvPicPr>
            <a:picLocks noChangeAspect="1"/>
          </p:cNvPicPr>
          <p:nvPr/>
        </p:nvPicPr>
        <p:blipFill>
          <a:blip r:embed="rId2"/>
          <a:stretch>
            <a:fillRect/>
          </a:stretch>
        </p:blipFill>
        <p:spPr>
          <a:xfrm>
            <a:off x="4612234" y="1933042"/>
            <a:ext cx="285293" cy="285293"/>
          </a:xfrm>
          <a:prstGeom prst="rect">
            <a:avLst/>
          </a:prstGeom>
        </p:spPr>
      </p:pic>
      <p:sp>
        <p:nvSpPr>
          <p:cNvPr id="12" name="Text 8"/>
          <p:cNvSpPr txBox="1"/>
          <p:nvPr/>
        </p:nvSpPr>
        <p:spPr>
          <a:xfrm>
            <a:off x="5166360" y="1764792"/>
            <a:ext cx="2514600" cy="320040"/>
          </a:xfrm>
          <a:prstGeom prst="rect">
            <a:avLst/>
          </a:prstGeom>
          <a:noFill/>
          <a:ln/>
        </p:spPr>
        <p:txBody>
          <a:bodyPr wrap="square" lIns="0" tIns="0" rIns="0" bIns="0" rtlCol="0" anchor="t"/>
          <a:lstStyle/>
          <a:p>
            <a:pPr indent="0" marL="0">
              <a:buNone/>
            </a:pPr>
            <a:r>
              <a:rPr lang="en-US" sz="1500" b="1" dirty="0">
                <a:solidFill>
                  <a:schemeClr val="tx2"/>
                </a:solidFill>
              </a:rPr>
              <a:t>Akıllı koridor</a:t>
            </a:r>
            <a:endParaRPr lang="en-US" sz="1500" dirty="0"/>
          </a:p>
        </p:txBody>
      </p:sp>
      <p:sp>
        <p:nvSpPr>
          <p:cNvPr id="13" name="Text 9"/>
          <p:cNvSpPr txBox="1"/>
          <p:nvPr/>
        </p:nvSpPr>
        <p:spPr>
          <a:xfrm>
            <a:off x="5166360" y="2103120"/>
            <a:ext cx="2514600" cy="777240"/>
          </a:xfrm>
          <a:prstGeom prst="rect">
            <a:avLst/>
          </a:prstGeom>
          <a:noFill/>
          <a:ln/>
        </p:spPr>
        <p:txBody>
          <a:bodyPr wrap="square" lIns="0" tIns="0" rIns="0" bIns="0" rtlCol="0" anchor="t"/>
          <a:lstStyle/>
          <a:p>
            <a:pPr indent="0" marL="0">
              <a:buNone/>
            </a:pPr>
            <a:r>
              <a:rPr lang="en-US" sz="1300" dirty="0">
                <a:solidFill>
                  <a:schemeClr val="tx1"/>
                </a:solidFill>
              </a:rPr>
              <a:t>Otobüse öncelikli sinyalizasyon ve durak ekranları</a:t>
            </a:r>
            <a:endParaRPr lang="en-US" sz="1300" dirty="0"/>
          </a:p>
        </p:txBody>
      </p:sp>
      <p:sp>
        <p:nvSpPr>
          <p:cNvPr id="14" name="Kart"/>
          <p:cNvSpPr/>
          <p:nvPr/>
        </p:nvSpPr>
        <p:spPr>
          <a:xfrm>
            <a:off x="548640" y="310896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5" name="İkon zemini"/>
          <p:cNvSpPr/>
          <p:nvPr/>
        </p:nvSpPr>
        <p:spPr>
          <a:xfrm>
            <a:off x="731520" y="3310128"/>
            <a:ext cx="548640" cy="548640"/>
          </a:xfrm>
          <a:prstGeom prst="ellipse">
            <a:avLst/>
          </a:prstGeom>
          <a:solidFill>
            <a:schemeClr val="tx2"/>
          </a:solidFill>
          <a:ln/>
        </p:spPr>
      </p:sp>
      <p:pic>
        <p:nvPicPr>
          <p:cNvPr id="16" name="İkon FaSolarPanel" descr="preencoded.png">    </p:cNvPr>
          <p:cNvPicPr>
            <a:picLocks noChangeAspect="1"/>
          </p:cNvPicPr>
          <p:nvPr/>
        </p:nvPicPr>
        <p:blipFill>
          <a:blip r:embed="rId3"/>
          <a:stretch>
            <a:fillRect/>
          </a:stretch>
        </p:blipFill>
        <p:spPr>
          <a:xfrm>
            <a:off x="863194" y="3441802"/>
            <a:ext cx="285293" cy="285293"/>
          </a:xfrm>
          <a:prstGeom prst="rect">
            <a:avLst/>
          </a:prstGeom>
        </p:spPr>
      </p:pic>
      <p:sp>
        <p:nvSpPr>
          <p:cNvPr id="17" name="Text 12"/>
          <p:cNvSpPr txBox="1"/>
          <p:nvPr/>
        </p:nvSpPr>
        <p:spPr>
          <a:xfrm>
            <a:off x="1417320" y="3273552"/>
            <a:ext cx="2514600" cy="320040"/>
          </a:xfrm>
          <a:prstGeom prst="rect">
            <a:avLst/>
          </a:prstGeom>
          <a:noFill/>
          <a:ln/>
        </p:spPr>
        <p:txBody>
          <a:bodyPr wrap="square" lIns="0" tIns="0" rIns="0" bIns="0" rtlCol="0" anchor="t"/>
          <a:lstStyle/>
          <a:p>
            <a:pPr indent="0" marL="0">
              <a:buNone/>
            </a:pPr>
            <a:r>
              <a:rPr lang="en-US" sz="1500" b="1" dirty="0">
                <a:solidFill>
                  <a:schemeClr val="tx2"/>
                </a:solidFill>
              </a:rPr>
              <a:t>Enerji ve altyapı</a:t>
            </a:r>
            <a:endParaRPr lang="en-US" sz="1500" dirty="0"/>
          </a:p>
        </p:txBody>
      </p:sp>
      <p:sp>
        <p:nvSpPr>
          <p:cNvPr id="18" name="Text 13"/>
          <p:cNvSpPr txBox="1"/>
          <p:nvPr/>
        </p:nvSpPr>
        <p:spPr>
          <a:xfrm>
            <a:off x="1417320" y="3611880"/>
            <a:ext cx="2514600" cy="777240"/>
          </a:xfrm>
          <a:prstGeom prst="rect">
            <a:avLst/>
          </a:prstGeom>
          <a:noFill/>
          <a:ln/>
        </p:spPr>
        <p:txBody>
          <a:bodyPr wrap="square" lIns="0" tIns="0" rIns="0" bIns="0" rtlCol="0" anchor="t"/>
          <a:lstStyle/>
          <a:p>
            <a:pPr indent="0" marL="0">
              <a:buNone/>
            </a:pPr>
            <a:r>
              <a:rPr lang="en-US" sz="1300" dirty="0">
                <a:solidFill>
                  <a:schemeClr val="tx1"/>
                </a:solidFill>
              </a:rPr>
              <a:t>Her binaya fiber, akıllı sayaç, çatı güneş enerjisi</a:t>
            </a:r>
            <a:endParaRPr lang="en-US" sz="1300" dirty="0"/>
          </a:p>
        </p:txBody>
      </p:sp>
      <p:sp>
        <p:nvSpPr>
          <p:cNvPr id="19" name="Kart"/>
          <p:cNvSpPr/>
          <p:nvPr/>
        </p:nvSpPr>
        <p:spPr>
          <a:xfrm>
            <a:off x="4297680" y="310896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20" name="İkon zemini"/>
          <p:cNvSpPr/>
          <p:nvPr/>
        </p:nvSpPr>
        <p:spPr>
          <a:xfrm>
            <a:off x="4480560" y="3310128"/>
            <a:ext cx="548640" cy="548640"/>
          </a:xfrm>
          <a:prstGeom prst="ellipse">
            <a:avLst/>
          </a:prstGeom>
          <a:solidFill>
            <a:schemeClr val="tx2"/>
          </a:solidFill>
          <a:ln/>
        </p:spPr>
      </p:sp>
      <p:pic>
        <p:nvPicPr>
          <p:cNvPr id="21" name="İkon FaDroplet" descr="preencoded.png">    </p:cNvPr>
          <p:cNvPicPr>
            <a:picLocks noChangeAspect="1"/>
          </p:cNvPicPr>
          <p:nvPr/>
        </p:nvPicPr>
        <p:blipFill>
          <a:blip r:embed="rId4"/>
          <a:stretch>
            <a:fillRect/>
          </a:stretch>
        </p:blipFill>
        <p:spPr>
          <a:xfrm>
            <a:off x="4612234" y="3441802"/>
            <a:ext cx="285293" cy="285293"/>
          </a:xfrm>
          <a:prstGeom prst="rect">
            <a:avLst/>
          </a:prstGeom>
        </p:spPr>
      </p:pic>
      <p:sp>
        <p:nvSpPr>
          <p:cNvPr id="22" name="Text 16"/>
          <p:cNvSpPr txBox="1"/>
          <p:nvPr/>
        </p:nvSpPr>
        <p:spPr>
          <a:xfrm>
            <a:off x="5166360" y="3273552"/>
            <a:ext cx="2514600" cy="320040"/>
          </a:xfrm>
          <a:prstGeom prst="rect">
            <a:avLst/>
          </a:prstGeom>
          <a:noFill/>
          <a:ln/>
        </p:spPr>
        <p:txBody>
          <a:bodyPr wrap="square" lIns="0" tIns="0" rIns="0" bIns="0" rtlCol="0" anchor="t"/>
          <a:lstStyle/>
          <a:p>
            <a:pPr indent="0" marL="0">
              <a:buNone/>
            </a:pPr>
            <a:r>
              <a:rPr lang="en-US" sz="1500" b="1" dirty="0">
                <a:solidFill>
                  <a:schemeClr val="tx2"/>
                </a:solidFill>
              </a:rPr>
              <a:t>Su yönetimi</a:t>
            </a:r>
            <a:endParaRPr lang="en-US" sz="1500" dirty="0"/>
          </a:p>
        </p:txBody>
      </p:sp>
      <p:sp>
        <p:nvSpPr>
          <p:cNvPr id="23" name="Text 17"/>
          <p:cNvSpPr txBox="1"/>
          <p:nvPr/>
        </p:nvSpPr>
        <p:spPr>
          <a:xfrm>
            <a:off x="5166360" y="3611880"/>
            <a:ext cx="2514600" cy="777240"/>
          </a:xfrm>
          <a:prstGeom prst="rect">
            <a:avLst/>
          </a:prstGeom>
          <a:noFill/>
          <a:ln/>
        </p:spPr>
        <p:txBody>
          <a:bodyPr wrap="square" lIns="0" tIns="0" rIns="0" bIns="0" rtlCol="0" anchor="t"/>
          <a:lstStyle/>
          <a:p>
            <a:pPr indent="0" marL="0">
              <a:buNone/>
            </a:pPr>
            <a:r>
              <a:rPr lang="en-US" sz="1300" dirty="0">
                <a:solidFill>
                  <a:schemeClr val="tx1"/>
                </a:solidFill>
              </a:rPr>
              <a:t>Gölde su kalitesi ve seviye sensörleri, akıllı sulama</a:t>
            </a:r>
            <a:endParaRPr lang="en-US" sz="1300" dirty="0"/>
          </a:p>
        </p:txBody>
      </p:sp>
      <p:sp>
        <p:nvSpPr>
          <p:cNvPr id="24" name="Kart"/>
          <p:cNvSpPr/>
          <p:nvPr/>
        </p:nvSpPr>
        <p:spPr>
          <a:xfrm>
            <a:off x="548640" y="461772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25" name="İkon zemini"/>
          <p:cNvSpPr/>
          <p:nvPr/>
        </p:nvSpPr>
        <p:spPr>
          <a:xfrm>
            <a:off x="731520" y="4818888"/>
            <a:ext cx="548640" cy="548640"/>
          </a:xfrm>
          <a:prstGeom prst="ellipse">
            <a:avLst/>
          </a:prstGeom>
          <a:solidFill>
            <a:schemeClr val="tx2"/>
          </a:solidFill>
          <a:ln/>
        </p:spPr>
      </p:sp>
      <p:pic>
        <p:nvPicPr>
          <p:cNvPr id="26" name="İkon FaFlask" descr="preencoded.png">    </p:cNvPr>
          <p:cNvPicPr>
            <a:picLocks noChangeAspect="1"/>
          </p:cNvPicPr>
          <p:nvPr/>
        </p:nvPicPr>
        <p:blipFill>
          <a:blip r:embed="rId5"/>
          <a:stretch>
            <a:fillRect/>
          </a:stretch>
        </p:blipFill>
        <p:spPr>
          <a:xfrm>
            <a:off x="863194" y="4950562"/>
            <a:ext cx="285293" cy="285293"/>
          </a:xfrm>
          <a:prstGeom prst="rect">
            <a:avLst/>
          </a:prstGeom>
        </p:spPr>
      </p:pic>
      <p:sp>
        <p:nvSpPr>
          <p:cNvPr id="27" name="Text 20"/>
          <p:cNvSpPr txBox="1"/>
          <p:nvPr/>
        </p:nvSpPr>
        <p:spPr>
          <a:xfrm>
            <a:off x="1417320" y="4782312"/>
            <a:ext cx="2514600" cy="320040"/>
          </a:xfrm>
          <a:prstGeom prst="rect">
            <a:avLst/>
          </a:prstGeom>
          <a:noFill/>
          <a:ln/>
        </p:spPr>
        <p:txBody>
          <a:bodyPr wrap="square" lIns="0" tIns="0" rIns="0" bIns="0" rtlCol="0" anchor="t"/>
          <a:lstStyle/>
          <a:p>
            <a:pPr indent="0" marL="0">
              <a:buNone/>
            </a:pPr>
            <a:r>
              <a:rPr lang="en-US" sz="1500" b="1" dirty="0">
                <a:solidFill>
                  <a:schemeClr val="tx2"/>
                </a:solidFill>
              </a:rPr>
              <a:t>Eğitim</a:t>
            </a:r>
            <a:endParaRPr lang="en-US" sz="1500" dirty="0"/>
          </a:p>
        </p:txBody>
      </p:sp>
      <p:sp>
        <p:nvSpPr>
          <p:cNvPr id="28" name="Text 21"/>
          <p:cNvSpPr txBox="1"/>
          <p:nvPr/>
        </p:nvSpPr>
        <p:spPr>
          <a:xfrm>
            <a:off x="1417320" y="5120640"/>
            <a:ext cx="2514600" cy="777240"/>
          </a:xfrm>
          <a:prstGeom prst="rect">
            <a:avLst/>
          </a:prstGeom>
          <a:noFill/>
          <a:ln/>
        </p:spPr>
        <p:txBody>
          <a:bodyPr wrap="square" lIns="0" tIns="0" rIns="0" bIns="0" rtlCol="0" anchor="t"/>
          <a:lstStyle/>
          <a:p>
            <a:pPr indent="0" marL="0">
              <a:buNone/>
            </a:pPr>
            <a:r>
              <a:rPr lang="en-US" sz="1300" dirty="0">
                <a:solidFill>
                  <a:schemeClr val="tx1"/>
                </a:solidFill>
              </a:rPr>
              <a:t>Deneyap ve makerspace; mühendis mentorluk platformu</a:t>
            </a:r>
            <a:endParaRPr lang="en-US" sz="1300" dirty="0"/>
          </a:p>
        </p:txBody>
      </p:sp>
      <p:sp>
        <p:nvSpPr>
          <p:cNvPr id="29" name="Kart"/>
          <p:cNvSpPr/>
          <p:nvPr/>
        </p:nvSpPr>
        <p:spPr>
          <a:xfrm>
            <a:off x="4297680" y="4617720"/>
            <a:ext cx="3520440"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30" name="İkon zemini"/>
          <p:cNvSpPr/>
          <p:nvPr/>
        </p:nvSpPr>
        <p:spPr>
          <a:xfrm>
            <a:off x="4480560" y="4818888"/>
            <a:ext cx="548640" cy="548640"/>
          </a:xfrm>
          <a:prstGeom prst="ellipse">
            <a:avLst/>
          </a:prstGeom>
          <a:solidFill>
            <a:schemeClr val="tx2"/>
          </a:solidFill>
          <a:ln/>
        </p:spPr>
      </p:sp>
      <p:pic>
        <p:nvPicPr>
          <p:cNvPr id="31" name="İkon FaPeopleGroup" descr="preencoded.png">    </p:cNvPr>
          <p:cNvPicPr>
            <a:picLocks noChangeAspect="1"/>
          </p:cNvPicPr>
          <p:nvPr/>
        </p:nvPicPr>
        <p:blipFill>
          <a:blip r:embed="rId6"/>
          <a:stretch>
            <a:fillRect/>
          </a:stretch>
        </p:blipFill>
        <p:spPr>
          <a:xfrm>
            <a:off x="4612234" y="4950562"/>
            <a:ext cx="285293" cy="285293"/>
          </a:xfrm>
          <a:prstGeom prst="rect">
            <a:avLst/>
          </a:prstGeom>
        </p:spPr>
      </p:pic>
      <p:sp>
        <p:nvSpPr>
          <p:cNvPr id="32" name="Text 24"/>
          <p:cNvSpPr txBox="1"/>
          <p:nvPr/>
        </p:nvSpPr>
        <p:spPr>
          <a:xfrm>
            <a:off x="5166360" y="4782312"/>
            <a:ext cx="2514600" cy="320040"/>
          </a:xfrm>
          <a:prstGeom prst="rect">
            <a:avLst/>
          </a:prstGeom>
          <a:noFill/>
          <a:ln/>
        </p:spPr>
        <p:txBody>
          <a:bodyPr wrap="square" lIns="0" tIns="0" rIns="0" bIns="0" rtlCol="0" anchor="t"/>
          <a:lstStyle/>
          <a:p>
            <a:pPr indent="0" marL="0">
              <a:buNone/>
            </a:pPr>
            <a:r>
              <a:rPr lang="en-US" sz="1500" b="1" dirty="0">
                <a:solidFill>
                  <a:schemeClr val="tx2"/>
                </a:solidFill>
              </a:rPr>
              <a:t>Topluluk platformu</a:t>
            </a:r>
            <a:endParaRPr lang="en-US" sz="1500" dirty="0"/>
          </a:p>
        </p:txBody>
      </p:sp>
      <p:sp>
        <p:nvSpPr>
          <p:cNvPr id="33" name="Text 25"/>
          <p:cNvSpPr txBox="1"/>
          <p:nvPr/>
        </p:nvSpPr>
        <p:spPr>
          <a:xfrm>
            <a:off x="5166360" y="5120640"/>
            <a:ext cx="2514600" cy="777240"/>
          </a:xfrm>
          <a:prstGeom prst="rect">
            <a:avLst/>
          </a:prstGeom>
          <a:noFill/>
          <a:ln/>
        </p:spPr>
        <p:txBody>
          <a:bodyPr wrap="square" lIns="0" tIns="0" rIns="0" bIns="0" rtlCol="0" anchor="t"/>
          <a:lstStyle/>
          <a:p>
            <a:pPr indent="0" marL="0">
              <a:buNone/>
            </a:pPr>
            <a:r>
              <a:rPr lang="en-US" sz="1300" dirty="0">
                <a:solidFill>
                  <a:schemeClr val="tx1"/>
                </a:solidFill>
              </a:rPr>
              <a:t>Etkinlik takvimi, tesis rezervasyonu, yeni gelen aile programı</a:t>
            </a:r>
            <a:endParaRPr lang="en-US" sz="1300" dirty="0"/>
          </a:p>
        </p:txBody>
      </p:sp>
      <p:sp>
        <p:nvSpPr>
          <p:cNvPr id="34" name="Veri güvenliği paneli"/>
          <p:cNvSpPr/>
          <p:nvPr/>
        </p:nvSpPr>
        <p:spPr>
          <a:xfrm>
            <a:off x="8046720" y="1600200"/>
            <a:ext cx="3596335" cy="4343400"/>
          </a:xfrm>
          <a:prstGeom prst="roundRect">
            <a:avLst>
              <a:gd name="adj" fmla="val 2034"/>
            </a:avLst>
          </a:prstGeom>
          <a:solidFill>
            <a:schemeClr val="tx2"/>
          </a:solidFill>
          <a:ln/>
        </p:spPr>
      </p:sp>
      <p:sp>
        <p:nvSpPr>
          <p:cNvPr id="35" name="İkon zemini"/>
          <p:cNvSpPr/>
          <p:nvPr/>
        </p:nvSpPr>
        <p:spPr>
          <a:xfrm>
            <a:off x="8321040" y="1874520"/>
            <a:ext cx="640080" cy="640080"/>
          </a:xfrm>
          <a:prstGeom prst="ellipse">
            <a:avLst/>
          </a:prstGeom>
          <a:solidFill>
            <a:schemeClr val="accent4"/>
          </a:solidFill>
          <a:ln/>
        </p:spPr>
      </p:sp>
      <p:pic>
        <p:nvPicPr>
          <p:cNvPr id="36" name="İkon FaShieldHalved" descr="preencoded.png">    </p:cNvPr>
          <p:cNvPicPr>
            <a:picLocks noChangeAspect="1"/>
          </p:cNvPicPr>
          <p:nvPr/>
        </p:nvPicPr>
        <p:blipFill>
          <a:blip r:embed="rId7"/>
          <a:stretch>
            <a:fillRect/>
          </a:stretch>
        </p:blipFill>
        <p:spPr>
          <a:xfrm>
            <a:off x="8474659" y="2028139"/>
            <a:ext cx="332842" cy="332842"/>
          </a:xfrm>
          <a:prstGeom prst="rect">
            <a:avLst/>
          </a:prstGeom>
        </p:spPr>
      </p:pic>
      <p:sp>
        <p:nvSpPr>
          <p:cNvPr id="37" name="Text 28"/>
          <p:cNvSpPr txBox="1"/>
          <p:nvPr/>
        </p:nvSpPr>
        <p:spPr>
          <a:xfrm>
            <a:off x="9098280" y="1874520"/>
            <a:ext cx="2316175" cy="685800"/>
          </a:xfrm>
          <a:prstGeom prst="rect">
            <a:avLst/>
          </a:prstGeom>
          <a:noFill/>
          <a:ln/>
        </p:spPr>
        <p:txBody>
          <a:bodyPr wrap="square" lIns="0" tIns="0" rIns="0" bIns="0" rtlCol="0" anchor="t"/>
          <a:lstStyle/>
          <a:p>
            <a:pPr indent="0" marL="0">
              <a:buNone/>
            </a:pPr>
            <a:r>
              <a:rPr lang="en-US" sz="1800" b="1" dirty="0">
                <a:solidFill>
                  <a:schemeClr val="bg1"/>
                </a:solidFill>
              </a:rPr>
              <a:t>Veri güvenliği bir tasarım şartı</a:t>
            </a:r>
            <a:endParaRPr lang="en-US" sz="1800" dirty="0"/>
          </a:p>
        </p:txBody>
      </p:sp>
      <p:sp>
        <p:nvSpPr>
          <p:cNvPr id="38" name="Text 29"/>
          <p:cNvSpPr txBox="1"/>
          <p:nvPr/>
        </p:nvSpPr>
        <p:spPr>
          <a:xfrm>
            <a:off x="8321040" y="2743200"/>
            <a:ext cx="3047695" cy="31089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Sakinlerin çoğu savunma sanayi çalışanı; konum, ulaşım ve kamera verisi hassas.</a:t>
            </a:r>
            <a:endParaRPr lang="en-US" sz="1500" dirty="0"/>
          </a:p>
          <a:p>
            <a:pPr marL="342900" indent="-342900">
              <a:spcAft>
                <a:spcPts val="600"/>
              </a:spcAft>
              <a:buSzPct val="100000"/>
              <a:buChar char="•"/>
            </a:pPr>
            <a:r>
              <a:rPr lang="en-US" sz="1500" dirty="0">
                <a:solidFill>
                  <a:schemeClr val="bg1"/>
                </a:solidFill>
              </a:rPr>
              <a:t>Veri yurt içinde, yerli altyapıda tutulur.</a:t>
            </a:r>
            <a:endParaRPr lang="en-US" sz="1500" dirty="0"/>
          </a:p>
          <a:p>
            <a:pPr marL="342900" indent="-342900">
              <a:spcAft>
                <a:spcPts val="600"/>
              </a:spcAft>
              <a:buSzPct val="100000"/>
              <a:buChar char="•"/>
            </a:pPr>
            <a:r>
              <a:rPr lang="en-US" sz="1500" dirty="0">
                <a:solidFill>
                  <a:schemeClr val="bg1"/>
                </a:solidFill>
              </a:rPr>
              <a:t>Yalnızca gereken veri toplanır; ulaşım planlaması anonim veriyle yapılır.</a:t>
            </a:r>
            <a:endParaRPr lang="en-US" sz="1500" dirty="0"/>
          </a:p>
          <a:p>
            <a:pPr marL="342900" indent="-342900">
              <a:spcAft>
                <a:spcPts val="600"/>
              </a:spcAft>
              <a:buSzPct val="100000"/>
              <a:buChar char="•"/>
            </a:pPr>
            <a:r>
              <a:rPr lang="en-US" sz="1500" dirty="0">
                <a:solidFill>
                  <a:schemeClr val="bg1"/>
                </a:solidFill>
              </a:rPr>
              <a:t>KVKK'ya ek bağımsız güvenlik denetimi.</a:t>
            </a:r>
            <a:endParaRPr lang="en-US" sz="1500" dirty="0"/>
          </a:p>
        </p:txBody>
      </p:sp>
      <p:sp>
        <p:nvSpPr>
          <p:cNvPr id="39" name="Text 30"/>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Akıllı şehir sistemleri için yatırım tahmini 150 milyon TL (100–225); konut başına 40–90 bin TL varsayımı.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YAŞAM ALANI · SEKTÖRE FAYDA</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Savunma sanayi için: çekmek ve tutmak</a:t>
            </a:r>
            <a:endParaRPr lang="en-US" sz="3600" dirty="0"/>
          </a:p>
        </p:txBody>
      </p:sp>
      <p:sp>
        <p:nvSpPr>
          <p:cNvPr id="4" name="İkon zemini"/>
          <p:cNvSpPr/>
          <p:nvPr/>
        </p:nvSpPr>
        <p:spPr>
          <a:xfrm>
            <a:off x="548640" y="1691640"/>
            <a:ext cx="658368" cy="658368"/>
          </a:xfrm>
          <a:prstGeom prst="ellipse">
            <a:avLst/>
          </a:prstGeom>
          <a:solidFill>
            <a:schemeClr val="tx2"/>
          </a:solidFill>
          <a:ln/>
        </p:spPr>
      </p:sp>
      <p:pic>
        <p:nvPicPr>
          <p:cNvPr id="5" name="İkon FaClock" descr="preencoded.png">    </p:cNvPr>
          <p:cNvPicPr>
            <a:picLocks noChangeAspect="1"/>
          </p:cNvPicPr>
          <p:nvPr/>
        </p:nvPicPr>
        <p:blipFill>
          <a:blip r:embed="rId1"/>
          <a:stretch>
            <a:fillRect/>
          </a:stretch>
        </p:blipFill>
        <p:spPr>
          <a:xfrm>
            <a:off x="706648" y="1849648"/>
            <a:ext cx="342351" cy="342351"/>
          </a:xfrm>
          <a:prstGeom prst="rect">
            <a:avLst/>
          </a:prstGeom>
        </p:spPr>
      </p:pic>
      <p:sp>
        <p:nvSpPr>
          <p:cNvPr id="6" name="Text 3"/>
          <p:cNvSpPr txBox="1"/>
          <p:nvPr/>
        </p:nvSpPr>
        <p:spPr>
          <a:xfrm>
            <a:off x="1371600" y="1673352"/>
            <a:ext cx="2788920" cy="347472"/>
          </a:xfrm>
          <a:prstGeom prst="rect">
            <a:avLst/>
          </a:prstGeom>
          <a:noFill/>
          <a:ln/>
        </p:spPr>
        <p:txBody>
          <a:bodyPr wrap="square" lIns="0" tIns="0" rIns="0" bIns="0" rtlCol="0" anchor="t"/>
          <a:lstStyle/>
          <a:p>
            <a:pPr indent="0" marL="0">
              <a:buNone/>
            </a:pPr>
            <a:r>
              <a:rPr lang="en-US" sz="1800" b="1" dirty="0">
                <a:solidFill>
                  <a:schemeClr val="tx2"/>
                </a:solidFill>
              </a:rPr>
              <a:t>Zaman</a:t>
            </a:r>
            <a:endParaRPr lang="en-US" sz="1800" dirty="0"/>
          </a:p>
        </p:txBody>
      </p:sp>
      <p:sp>
        <p:nvSpPr>
          <p:cNvPr id="7" name="Text 4"/>
          <p:cNvSpPr txBox="1"/>
          <p:nvPr/>
        </p:nvSpPr>
        <p:spPr>
          <a:xfrm>
            <a:off x="1371600" y="2057400"/>
            <a:ext cx="2743200" cy="822960"/>
          </a:xfrm>
          <a:prstGeom prst="rect">
            <a:avLst/>
          </a:prstGeom>
          <a:noFill/>
          <a:ln/>
        </p:spPr>
        <p:txBody>
          <a:bodyPr wrap="square" lIns="0" tIns="0" rIns="0" bIns="0" rtlCol="0" anchor="t"/>
          <a:lstStyle/>
          <a:p>
            <a:pPr indent="0" marL="0">
              <a:buNone/>
            </a:pPr>
            <a:r>
              <a:rPr lang="en-US" sz="1500" dirty="0">
                <a:solidFill>
                  <a:schemeClr val="tx1"/>
                </a:solidFill>
              </a:rPr>
              <a:t>Sabit ve kısa yolculuk: ekspres hat, kademeli mesai</a:t>
            </a:r>
            <a:endParaRPr lang="en-US" sz="1500" dirty="0"/>
          </a:p>
        </p:txBody>
      </p:sp>
      <p:sp>
        <p:nvSpPr>
          <p:cNvPr id="8" name="İkon zemini"/>
          <p:cNvSpPr/>
          <p:nvPr/>
        </p:nvSpPr>
        <p:spPr>
          <a:xfrm>
            <a:off x="4434840" y="1691640"/>
            <a:ext cx="658368" cy="658368"/>
          </a:xfrm>
          <a:prstGeom prst="ellipse">
            <a:avLst/>
          </a:prstGeom>
          <a:solidFill>
            <a:schemeClr val="accent1"/>
          </a:solidFill>
          <a:ln/>
        </p:spPr>
      </p:sp>
      <p:pic>
        <p:nvPicPr>
          <p:cNvPr id="9" name="İkon FaChildren" descr="preencoded.png">    </p:cNvPr>
          <p:cNvPicPr>
            <a:picLocks noChangeAspect="1"/>
          </p:cNvPicPr>
          <p:nvPr/>
        </p:nvPicPr>
        <p:blipFill>
          <a:blip r:embed="rId2"/>
          <a:stretch>
            <a:fillRect/>
          </a:stretch>
        </p:blipFill>
        <p:spPr>
          <a:xfrm>
            <a:off x="4592848" y="1849648"/>
            <a:ext cx="342351" cy="342351"/>
          </a:xfrm>
          <a:prstGeom prst="rect">
            <a:avLst/>
          </a:prstGeom>
        </p:spPr>
      </p:pic>
      <p:sp>
        <p:nvSpPr>
          <p:cNvPr id="10" name="Text 6"/>
          <p:cNvSpPr txBox="1"/>
          <p:nvPr/>
        </p:nvSpPr>
        <p:spPr>
          <a:xfrm>
            <a:off x="5257800" y="1673352"/>
            <a:ext cx="2788920" cy="347472"/>
          </a:xfrm>
          <a:prstGeom prst="rect">
            <a:avLst/>
          </a:prstGeom>
          <a:noFill/>
          <a:ln/>
        </p:spPr>
        <p:txBody>
          <a:bodyPr wrap="square" lIns="0" tIns="0" rIns="0" bIns="0" rtlCol="0" anchor="t"/>
          <a:lstStyle/>
          <a:p>
            <a:pPr indent="0" marL="0">
              <a:buNone/>
            </a:pPr>
            <a:r>
              <a:rPr lang="en-US" sz="1800" b="1" dirty="0">
                <a:solidFill>
                  <a:schemeClr val="tx2"/>
                </a:solidFill>
              </a:rPr>
              <a:t>Aile</a:t>
            </a:r>
            <a:endParaRPr lang="en-US" sz="1800" dirty="0"/>
          </a:p>
        </p:txBody>
      </p:sp>
      <p:sp>
        <p:nvSpPr>
          <p:cNvPr id="11" name="Text 7"/>
          <p:cNvSpPr txBox="1"/>
          <p:nvPr/>
        </p:nvSpPr>
        <p:spPr>
          <a:xfrm>
            <a:off x="5257800" y="2057400"/>
            <a:ext cx="2743200" cy="822960"/>
          </a:xfrm>
          <a:prstGeom prst="rect">
            <a:avLst/>
          </a:prstGeom>
          <a:noFill/>
          <a:ln/>
        </p:spPr>
        <p:txBody>
          <a:bodyPr wrap="square" lIns="0" tIns="0" rIns="0" bIns="0" rtlCol="0" anchor="t"/>
          <a:lstStyle/>
          <a:p>
            <a:pPr indent="0" marL="0">
              <a:buNone/>
            </a:pPr>
            <a:r>
              <a:rPr lang="en-US" sz="1500" dirty="0">
                <a:solidFill>
                  <a:schemeClr val="tx1"/>
                </a:solidFill>
              </a:rPr>
              <a:t>Okul, kreş ve sağlık yürüme mesafesinde</a:t>
            </a:r>
            <a:endParaRPr lang="en-US" sz="1500" dirty="0"/>
          </a:p>
        </p:txBody>
      </p:sp>
      <p:sp>
        <p:nvSpPr>
          <p:cNvPr id="12" name="İkon zemini"/>
          <p:cNvSpPr/>
          <p:nvPr/>
        </p:nvSpPr>
        <p:spPr>
          <a:xfrm>
            <a:off x="548640" y="3200400"/>
            <a:ext cx="658368" cy="658368"/>
          </a:xfrm>
          <a:prstGeom prst="ellipse">
            <a:avLst/>
          </a:prstGeom>
          <a:solidFill>
            <a:schemeClr val="tx2"/>
          </a:solidFill>
          <a:ln/>
        </p:spPr>
      </p:sp>
      <p:pic>
        <p:nvPicPr>
          <p:cNvPr id="13" name="İkon FaBriefcase" descr="preencoded.png">    </p:cNvPr>
          <p:cNvPicPr>
            <a:picLocks noChangeAspect="1"/>
          </p:cNvPicPr>
          <p:nvPr/>
        </p:nvPicPr>
        <p:blipFill>
          <a:blip r:embed="rId3"/>
          <a:stretch>
            <a:fillRect/>
          </a:stretch>
        </p:blipFill>
        <p:spPr>
          <a:xfrm>
            <a:off x="706648" y="3358408"/>
            <a:ext cx="342351" cy="342351"/>
          </a:xfrm>
          <a:prstGeom prst="rect">
            <a:avLst/>
          </a:prstGeom>
        </p:spPr>
      </p:pic>
      <p:sp>
        <p:nvSpPr>
          <p:cNvPr id="14" name="Text 9"/>
          <p:cNvSpPr txBox="1"/>
          <p:nvPr/>
        </p:nvSpPr>
        <p:spPr>
          <a:xfrm>
            <a:off x="1371600" y="3182112"/>
            <a:ext cx="2788920" cy="347472"/>
          </a:xfrm>
          <a:prstGeom prst="rect">
            <a:avLst/>
          </a:prstGeom>
          <a:noFill/>
          <a:ln/>
        </p:spPr>
        <p:txBody>
          <a:bodyPr wrap="square" lIns="0" tIns="0" rIns="0" bIns="0" rtlCol="0" anchor="t"/>
          <a:lstStyle/>
          <a:p>
            <a:pPr indent="0" marL="0">
              <a:buNone/>
            </a:pPr>
            <a:r>
              <a:rPr lang="en-US" sz="1800" b="1" dirty="0">
                <a:solidFill>
                  <a:schemeClr val="tx2"/>
                </a:solidFill>
              </a:rPr>
              <a:t>Eşler</a:t>
            </a:r>
            <a:endParaRPr lang="en-US" sz="1800" dirty="0"/>
          </a:p>
        </p:txBody>
      </p:sp>
      <p:sp>
        <p:nvSpPr>
          <p:cNvPr id="15" name="Text 10"/>
          <p:cNvSpPr txBox="1"/>
          <p:nvPr/>
        </p:nvSpPr>
        <p:spPr>
          <a:xfrm>
            <a:off x="1371600" y="3566160"/>
            <a:ext cx="2743200" cy="822960"/>
          </a:xfrm>
          <a:prstGeom prst="rect">
            <a:avLst/>
          </a:prstGeom>
          <a:noFill/>
          <a:ln/>
        </p:spPr>
        <p:txBody>
          <a:bodyPr wrap="square" lIns="0" tIns="0" rIns="0" bIns="0" rtlCol="0" anchor="t"/>
          <a:lstStyle/>
          <a:p>
            <a:pPr indent="0" marL="0">
              <a:buNone/>
            </a:pPr>
            <a:r>
              <a:rPr lang="en-US" sz="1500" dirty="0">
                <a:solidFill>
                  <a:schemeClr val="tx1"/>
                </a:solidFill>
              </a:rPr>
              <a:t>Kariyer masası ve mahalle merkezinde ortak çalışma alanı</a:t>
            </a:r>
            <a:endParaRPr lang="en-US" sz="1500" dirty="0"/>
          </a:p>
        </p:txBody>
      </p:sp>
      <p:sp>
        <p:nvSpPr>
          <p:cNvPr id="16" name="İkon zemini"/>
          <p:cNvSpPr/>
          <p:nvPr/>
        </p:nvSpPr>
        <p:spPr>
          <a:xfrm>
            <a:off x="4434840" y="3200400"/>
            <a:ext cx="658368" cy="658368"/>
          </a:xfrm>
          <a:prstGeom prst="ellipse">
            <a:avLst/>
          </a:prstGeom>
          <a:solidFill>
            <a:schemeClr val="accent1"/>
          </a:solidFill>
          <a:ln/>
        </p:spPr>
      </p:sp>
      <p:pic>
        <p:nvPicPr>
          <p:cNvPr id="17" name="İkon FaPeopleGroup" descr="preencoded.png">    </p:cNvPr>
          <p:cNvPicPr>
            <a:picLocks noChangeAspect="1"/>
          </p:cNvPicPr>
          <p:nvPr/>
        </p:nvPicPr>
        <p:blipFill>
          <a:blip r:embed="rId4"/>
          <a:stretch>
            <a:fillRect/>
          </a:stretch>
        </p:blipFill>
        <p:spPr>
          <a:xfrm>
            <a:off x="4592848" y="3358408"/>
            <a:ext cx="342351" cy="342351"/>
          </a:xfrm>
          <a:prstGeom prst="rect">
            <a:avLst/>
          </a:prstGeom>
        </p:spPr>
      </p:pic>
      <p:sp>
        <p:nvSpPr>
          <p:cNvPr id="18" name="Text 12"/>
          <p:cNvSpPr txBox="1"/>
          <p:nvPr/>
        </p:nvSpPr>
        <p:spPr>
          <a:xfrm>
            <a:off x="5257800" y="3182112"/>
            <a:ext cx="2788920" cy="347472"/>
          </a:xfrm>
          <a:prstGeom prst="rect">
            <a:avLst/>
          </a:prstGeom>
          <a:noFill/>
          <a:ln/>
        </p:spPr>
        <p:txBody>
          <a:bodyPr wrap="square" lIns="0" tIns="0" rIns="0" bIns="0" rtlCol="0" anchor="t"/>
          <a:lstStyle/>
          <a:p>
            <a:pPr indent="0" marL="0">
              <a:buNone/>
            </a:pPr>
            <a:r>
              <a:rPr lang="en-US" sz="1800" b="1" dirty="0">
                <a:solidFill>
                  <a:schemeClr val="tx2"/>
                </a:solidFill>
              </a:rPr>
              <a:t>Topluluk</a:t>
            </a:r>
            <a:endParaRPr lang="en-US" sz="1800" dirty="0"/>
          </a:p>
        </p:txBody>
      </p:sp>
      <p:sp>
        <p:nvSpPr>
          <p:cNvPr id="19" name="Text 13"/>
          <p:cNvSpPr txBox="1"/>
          <p:nvPr/>
        </p:nvSpPr>
        <p:spPr>
          <a:xfrm>
            <a:off x="5257800" y="3566160"/>
            <a:ext cx="2743200" cy="822960"/>
          </a:xfrm>
          <a:prstGeom prst="rect">
            <a:avLst/>
          </a:prstGeom>
          <a:noFill/>
          <a:ln/>
        </p:spPr>
        <p:txBody>
          <a:bodyPr wrap="square" lIns="0" tIns="0" rIns="0" bIns="0" rtlCol="0" anchor="t"/>
          <a:lstStyle/>
          <a:p>
            <a:pPr indent="0" marL="0">
              <a:buNone/>
            </a:pPr>
            <a:r>
              <a:rPr lang="en-US" sz="1500" dirty="0">
                <a:solidFill>
                  <a:schemeClr val="tx1"/>
                </a:solidFill>
              </a:rPr>
              <a:t>Göl, kültür merkezi, kulüpler; yeni gelen aile programı</a:t>
            </a:r>
            <a:endParaRPr lang="en-US" sz="1500" dirty="0"/>
          </a:p>
        </p:txBody>
      </p:sp>
      <p:sp>
        <p:nvSpPr>
          <p:cNvPr id="20" name="İkon zemini"/>
          <p:cNvSpPr/>
          <p:nvPr/>
        </p:nvSpPr>
        <p:spPr>
          <a:xfrm>
            <a:off x="548640" y="4709160"/>
            <a:ext cx="658368" cy="658368"/>
          </a:xfrm>
          <a:prstGeom prst="ellipse">
            <a:avLst/>
          </a:prstGeom>
          <a:solidFill>
            <a:schemeClr val="tx2"/>
          </a:solidFill>
          <a:ln/>
        </p:spPr>
      </p:sp>
      <p:pic>
        <p:nvPicPr>
          <p:cNvPr id="21" name="İkon FaHouse" descr="preencoded.png">    </p:cNvPr>
          <p:cNvPicPr>
            <a:picLocks noChangeAspect="1"/>
          </p:cNvPicPr>
          <p:nvPr/>
        </p:nvPicPr>
        <p:blipFill>
          <a:blip r:embed="rId5"/>
          <a:stretch>
            <a:fillRect/>
          </a:stretch>
        </p:blipFill>
        <p:spPr>
          <a:xfrm>
            <a:off x="706648" y="4867168"/>
            <a:ext cx="342351" cy="342351"/>
          </a:xfrm>
          <a:prstGeom prst="rect">
            <a:avLst/>
          </a:prstGeom>
        </p:spPr>
      </p:pic>
      <p:sp>
        <p:nvSpPr>
          <p:cNvPr id="22" name="Text 15"/>
          <p:cNvSpPr txBox="1"/>
          <p:nvPr/>
        </p:nvSpPr>
        <p:spPr>
          <a:xfrm>
            <a:off x="1371600" y="4690872"/>
            <a:ext cx="2788920" cy="347472"/>
          </a:xfrm>
          <a:prstGeom prst="rect">
            <a:avLst/>
          </a:prstGeom>
          <a:noFill/>
          <a:ln/>
        </p:spPr>
        <p:txBody>
          <a:bodyPr wrap="square" lIns="0" tIns="0" rIns="0" bIns="0" rtlCol="0" anchor="t"/>
          <a:lstStyle/>
          <a:p>
            <a:pPr indent="0" marL="0">
              <a:buNone/>
            </a:pPr>
            <a:r>
              <a:rPr lang="en-US" sz="1800" b="1" dirty="0">
                <a:solidFill>
                  <a:schemeClr val="tx2"/>
                </a:solidFill>
              </a:rPr>
              <a:t>Konut</a:t>
            </a:r>
            <a:endParaRPr lang="en-US" sz="1800" dirty="0"/>
          </a:p>
        </p:txBody>
      </p:sp>
      <p:sp>
        <p:nvSpPr>
          <p:cNvPr id="23" name="Text 16"/>
          <p:cNvSpPr txBox="1"/>
          <p:nvPr/>
        </p:nvSpPr>
        <p:spPr>
          <a:xfrm>
            <a:off x="1371600" y="5074920"/>
            <a:ext cx="2743200" cy="822960"/>
          </a:xfrm>
          <a:prstGeom prst="rect">
            <a:avLst/>
          </a:prstGeom>
          <a:noFill/>
          <a:ln/>
        </p:spPr>
        <p:txBody>
          <a:bodyPr wrap="square" lIns="0" tIns="0" rIns="0" bIns="0" rtlCol="0" anchor="t"/>
          <a:lstStyle/>
          <a:p>
            <a:pPr indent="0" marL="0">
              <a:buNone/>
            </a:pPr>
            <a:r>
              <a:rPr lang="en-US" sz="1500" dirty="0">
                <a:solidFill>
                  <a:schemeClr val="tx1"/>
                </a:solidFill>
              </a:rPr>
              <a:t>Satılık ve herkese açık; savunma çalışanlarına öncelik</a:t>
            </a:r>
            <a:endParaRPr lang="en-US" sz="1500" dirty="0"/>
          </a:p>
        </p:txBody>
      </p:sp>
      <p:sp>
        <p:nvSpPr>
          <p:cNvPr id="24" name="İkon zemini"/>
          <p:cNvSpPr/>
          <p:nvPr/>
        </p:nvSpPr>
        <p:spPr>
          <a:xfrm>
            <a:off x="4434840" y="4709160"/>
            <a:ext cx="658368" cy="658368"/>
          </a:xfrm>
          <a:prstGeom prst="ellipse">
            <a:avLst/>
          </a:prstGeom>
          <a:solidFill>
            <a:schemeClr val="accent1"/>
          </a:solidFill>
          <a:ln/>
        </p:spPr>
      </p:sp>
      <p:pic>
        <p:nvPicPr>
          <p:cNvPr id="25" name="İkon FaLock" descr="preencoded.png">    </p:cNvPr>
          <p:cNvPicPr>
            <a:picLocks noChangeAspect="1"/>
          </p:cNvPicPr>
          <p:nvPr/>
        </p:nvPicPr>
        <p:blipFill>
          <a:blip r:embed="rId6"/>
          <a:stretch>
            <a:fillRect/>
          </a:stretch>
        </p:blipFill>
        <p:spPr>
          <a:xfrm>
            <a:off x="4592848" y="4867168"/>
            <a:ext cx="342351" cy="342351"/>
          </a:xfrm>
          <a:prstGeom prst="rect">
            <a:avLst/>
          </a:prstGeom>
        </p:spPr>
      </p:pic>
      <p:sp>
        <p:nvSpPr>
          <p:cNvPr id="26" name="Text 18"/>
          <p:cNvSpPr txBox="1"/>
          <p:nvPr/>
        </p:nvSpPr>
        <p:spPr>
          <a:xfrm>
            <a:off x="5257800" y="4690872"/>
            <a:ext cx="2788920" cy="347472"/>
          </a:xfrm>
          <a:prstGeom prst="rect">
            <a:avLst/>
          </a:prstGeom>
          <a:noFill/>
          <a:ln/>
        </p:spPr>
        <p:txBody>
          <a:bodyPr wrap="square" lIns="0" tIns="0" rIns="0" bIns="0" rtlCol="0" anchor="t"/>
          <a:lstStyle/>
          <a:p>
            <a:pPr indent="0" marL="0">
              <a:buNone/>
            </a:pPr>
            <a:r>
              <a:rPr lang="en-US" sz="1800" b="1" dirty="0">
                <a:solidFill>
                  <a:schemeClr val="tx2"/>
                </a:solidFill>
              </a:rPr>
              <a:t>Güven</a:t>
            </a:r>
            <a:endParaRPr lang="en-US" sz="1800" dirty="0"/>
          </a:p>
        </p:txBody>
      </p:sp>
      <p:sp>
        <p:nvSpPr>
          <p:cNvPr id="27" name="Text 19"/>
          <p:cNvSpPr txBox="1"/>
          <p:nvPr/>
        </p:nvSpPr>
        <p:spPr>
          <a:xfrm>
            <a:off x="5257800" y="5074920"/>
            <a:ext cx="2743200" cy="822960"/>
          </a:xfrm>
          <a:prstGeom prst="rect">
            <a:avLst/>
          </a:prstGeom>
          <a:noFill/>
          <a:ln/>
        </p:spPr>
        <p:txBody>
          <a:bodyPr wrap="square" lIns="0" tIns="0" rIns="0" bIns="0" rtlCol="0" anchor="t"/>
          <a:lstStyle/>
          <a:p>
            <a:pPr indent="0" marL="0">
              <a:buNone/>
            </a:pPr>
            <a:r>
              <a:rPr lang="en-US" sz="1500" dirty="0">
                <a:solidFill>
                  <a:schemeClr val="tx1"/>
                </a:solidFill>
              </a:rPr>
              <a:t>Çalışan verisi yerli altyapıda korunur</a:t>
            </a:r>
            <a:endParaRPr lang="en-US" sz="1500" dirty="0"/>
          </a:p>
        </p:txBody>
      </p:sp>
      <p:sp>
        <p:nvSpPr>
          <p:cNvPr id="28" name="Alıntı paneli"/>
          <p:cNvSpPr/>
          <p:nvPr/>
        </p:nvSpPr>
        <p:spPr>
          <a:xfrm>
            <a:off x="8321040" y="1600200"/>
            <a:ext cx="3322015" cy="4343400"/>
          </a:xfrm>
          <a:prstGeom prst="roundRect">
            <a:avLst>
              <a:gd name="adj" fmla="val 2202"/>
            </a:avLst>
          </a:prstGeom>
          <a:solidFill>
            <a:schemeClr val="tx2"/>
          </a:solidFill>
          <a:ln/>
        </p:spPr>
      </p:sp>
      <p:sp>
        <p:nvSpPr>
          <p:cNvPr id="29" name="Text 21"/>
          <p:cNvSpPr txBox="1"/>
          <p:nvPr/>
        </p:nvSpPr>
        <p:spPr>
          <a:xfrm>
            <a:off x="8595360" y="1691640"/>
            <a:ext cx="914400" cy="822960"/>
          </a:xfrm>
          <a:prstGeom prst="rect">
            <a:avLst/>
          </a:prstGeom>
          <a:noFill/>
          <a:ln/>
        </p:spPr>
        <p:txBody>
          <a:bodyPr wrap="square" lIns="0" tIns="0" rIns="0" bIns="0" rtlCol="0" anchor="t"/>
          <a:lstStyle/>
          <a:p>
            <a:pPr indent="0" marL="0">
              <a:buNone/>
            </a:pPr>
            <a:r>
              <a:rPr lang="en-US" sz="6000" b="1" dirty="0">
                <a:solidFill>
                  <a:schemeClr val="accent4"/>
                </a:solidFill>
                <a:latin typeface="Cambria" pitchFamily="34" charset="0"/>
                <a:ea typeface="Cambria" pitchFamily="34" charset="-122"/>
                <a:cs typeface="Cambria" pitchFamily="34" charset="-120"/>
              </a:rPr>
              <a:t>“</a:t>
            </a:r>
            <a:endParaRPr lang="en-US" sz="6000" dirty="0"/>
          </a:p>
        </p:txBody>
      </p:sp>
      <p:sp>
        <p:nvSpPr>
          <p:cNvPr id="30" name="Text 22"/>
          <p:cNvSpPr txBox="1"/>
          <p:nvPr/>
        </p:nvSpPr>
        <p:spPr>
          <a:xfrm>
            <a:off x="8595360" y="2514600"/>
            <a:ext cx="2773375" cy="237744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Yetenek kaybı resmi bir tehdit. Ailesiyle yaşanabilir bir yaşam alanı, istihdam hedefinin altyapısıdır.</a:t>
            </a:r>
            <a:endParaRPr lang="en-US" sz="2200" dirty="0"/>
          </a:p>
        </p:txBody>
      </p:sp>
      <p:sp>
        <p:nvSpPr>
          <p:cNvPr id="31" name="Text 23"/>
          <p:cNvSpPr txBox="1"/>
          <p:nvPr/>
        </p:nvSpPr>
        <p:spPr>
          <a:xfrm>
            <a:off x="8595360" y="4983480"/>
            <a:ext cx="2773375" cy="731520"/>
          </a:xfrm>
          <a:prstGeom prst="rect">
            <a:avLst/>
          </a:prstGeom>
          <a:noFill/>
          <a:ln/>
        </p:spPr>
        <p:txBody>
          <a:bodyPr wrap="square" lIns="0" tIns="0" rIns="0" bIns="0" rtlCol="0" anchor="t"/>
          <a:lstStyle/>
          <a:p>
            <a:pPr indent="0" marL="0">
              <a:buNone/>
            </a:pPr>
            <a:r>
              <a:rPr lang="en-US" sz="1200" dirty="0">
                <a:solidFill>
                  <a:schemeClr val="bg2"/>
                </a:solidFill>
              </a:rPr>
              <a:t>Dayanak: SSB Stratejik Planı 2024–2028, s. 46; 12. Kalkınma Planı, Tablo 22.</a:t>
            </a:r>
            <a:endParaRPr lang="en-US" sz="1200" dirty="0"/>
          </a:p>
        </p:txBody>
      </p:sp>
      <p:sp>
        <p:nvSpPr>
          <p:cNvPr id="32" name="Text 24"/>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Uygulama modeli (kimin yapıp satacağı) bu çalışmanın kapsamı dışındadır.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YATIRIM VE FAYDA · YATIRIM TUTARI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Yatırım: toplam ~12,5 milyar TL</a:t>
            </a:r>
            <a:endParaRPr lang="en-US" sz="3600" dirty="0"/>
          </a:p>
        </p:txBody>
      </p:sp>
      <p:graphicFrame>
        <p:nvGraphicFramePr>
          <p:cNvPr id="4" name="Chart 0" descr=""/>
          <p:cNvGraphicFramePr/>
          <p:nvPr/>
        </p:nvGraphicFramePr>
        <p:xfrm>
          <a:off x="548640" y="1600200"/>
          <a:ext cx="6949440" cy="3977640"/>
        </p:xfrm>
        <a:graphic xmlns:a="http://schemas.openxmlformats.org/drawingml/2006/main">
          <a:graphicData uri="http://schemas.openxmlformats.org/drawingml/2006/chart">
            <c:chart xmlns:c="http://schemas.openxmlformats.org/drawingml/2006/chart" r:id="rId1"/>
          </a:graphicData>
        </a:graphic>
      </p:graphicFrame>
      <p:sp>
        <p:nvSpPr>
          <p:cNvPr id="5" name="Gösterim"/>
          <p:cNvSpPr/>
          <p:nvPr/>
        </p:nvSpPr>
        <p:spPr>
          <a:xfrm>
            <a:off x="822960" y="5687568"/>
            <a:ext cx="201168" cy="201168"/>
          </a:xfrm>
          <a:prstGeom prst="rect">
            <a:avLst/>
          </a:prstGeom>
          <a:solidFill>
            <a:schemeClr val="accent1"/>
          </a:solidFill>
          <a:ln/>
        </p:spPr>
      </p:sp>
      <p:sp>
        <p:nvSpPr>
          <p:cNvPr id="6" name="Text 3"/>
          <p:cNvSpPr txBox="1"/>
          <p:nvPr/>
        </p:nvSpPr>
        <p:spPr>
          <a:xfrm>
            <a:off x="1097280" y="5641848"/>
            <a:ext cx="2926080" cy="292608"/>
          </a:xfrm>
          <a:prstGeom prst="rect">
            <a:avLst/>
          </a:prstGeom>
          <a:noFill/>
          <a:ln/>
        </p:spPr>
        <p:txBody>
          <a:bodyPr wrap="square" lIns="0" tIns="0" rIns="0" bIns="0" rtlCol="0" anchor="ctr"/>
          <a:lstStyle/>
          <a:p>
            <a:pPr indent="0" marL="0">
              <a:buNone/>
            </a:pPr>
            <a:r>
              <a:rPr lang="en-US" sz="1200" dirty="0">
                <a:solidFill>
                  <a:schemeClr val="tx1"/>
                </a:solidFill>
              </a:rPr>
              <a:t>Kamu ve ortak kullanım</a:t>
            </a:r>
            <a:endParaRPr lang="en-US" sz="1200" dirty="0"/>
          </a:p>
        </p:txBody>
      </p:sp>
      <p:sp>
        <p:nvSpPr>
          <p:cNvPr id="7" name="Gösterim"/>
          <p:cNvSpPr/>
          <p:nvPr/>
        </p:nvSpPr>
        <p:spPr>
          <a:xfrm>
            <a:off x="3063240" y="5687568"/>
            <a:ext cx="201168" cy="201168"/>
          </a:xfrm>
          <a:prstGeom prst="rect">
            <a:avLst/>
          </a:prstGeom>
          <a:solidFill>
            <a:schemeClr val="tx2"/>
          </a:solidFill>
          <a:ln/>
        </p:spPr>
      </p:sp>
      <p:sp>
        <p:nvSpPr>
          <p:cNvPr id="8" name="Text 5"/>
          <p:cNvSpPr txBox="1"/>
          <p:nvPr/>
        </p:nvSpPr>
        <p:spPr>
          <a:xfrm>
            <a:off x="3337560" y="5641848"/>
            <a:ext cx="2926080" cy="292608"/>
          </a:xfrm>
          <a:prstGeom prst="rect">
            <a:avLst/>
          </a:prstGeom>
          <a:noFill/>
          <a:ln/>
        </p:spPr>
        <p:txBody>
          <a:bodyPr wrap="square" lIns="0" tIns="0" rIns="0" bIns="0" rtlCol="0" anchor="ctr"/>
          <a:lstStyle/>
          <a:p>
            <a:pPr indent="0" marL="0">
              <a:buNone/>
            </a:pPr>
            <a:r>
              <a:rPr lang="en-US" sz="1200" dirty="0">
                <a:solidFill>
                  <a:schemeClr val="tx1"/>
                </a:solidFill>
              </a:rPr>
              <a:t>Satış ve işletme geliriyle karşılanan</a:t>
            </a:r>
            <a:endParaRPr lang="en-US" sz="1200" dirty="0"/>
          </a:p>
        </p:txBody>
      </p:sp>
      <p:sp>
        <p:nvSpPr>
          <p:cNvPr id="9" name="Gösterim"/>
          <p:cNvSpPr/>
          <p:nvPr/>
        </p:nvSpPr>
        <p:spPr>
          <a:xfrm>
            <a:off x="6080760" y="5687568"/>
            <a:ext cx="201168" cy="201168"/>
          </a:xfrm>
          <a:prstGeom prst="rect">
            <a:avLst/>
          </a:prstGeom>
          <a:solidFill>
            <a:schemeClr val="accent5"/>
          </a:solidFill>
          <a:ln/>
        </p:spPr>
      </p:sp>
      <p:sp>
        <p:nvSpPr>
          <p:cNvPr id="10" name="Text 7"/>
          <p:cNvSpPr txBox="1"/>
          <p:nvPr/>
        </p:nvSpPr>
        <p:spPr>
          <a:xfrm>
            <a:off x="6355080" y="5641848"/>
            <a:ext cx="2926080" cy="292608"/>
          </a:xfrm>
          <a:prstGeom prst="rect">
            <a:avLst/>
          </a:prstGeom>
          <a:noFill/>
          <a:ln/>
        </p:spPr>
        <p:txBody>
          <a:bodyPr wrap="square" lIns="0" tIns="0" rIns="0" bIns="0" rtlCol="0" anchor="ctr"/>
          <a:lstStyle/>
          <a:p>
            <a:pPr indent="0" marL="0">
              <a:buNone/>
            </a:pPr>
            <a:r>
              <a:rPr lang="en-US" sz="1200" dirty="0">
                <a:solidFill>
                  <a:schemeClr val="tx1"/>
                </a:solidFill>
              </a:rPr>
              <a:t>Ortak gider</a:t>
            </a:r>
            <a:endParaRPr lang="en-US" sz="1200" dirty="0"/>
          </a:p>
        </p:txBody>
      </p:sp>
      <p:sp>
        <p:nvSpPr>
          <p:cNvPr id="11" name="Gösterge"/>
          <p:cNvSpPr/>
          <p:nvPr/>
        </p:nvSpPr>
        <p:spPr>
          <a:xfrm>
            <a:off x="7818120" y="1600200"/>
            <a:ext cx="3824935"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2" name="Text 9"/>
          <p:cNvSpPr txBox="1"/>
          <p:nvPr/>
        </p:nvSpPr>
        <p:spPr>
          <a:xfrm>
            <a:off x="8001000" y="1728216"/>
            <a:ext cx="3459175" cy="662940"/>
          </a:xfrm>
          <a:prstGeom prst="rect">
            <a:avLst/>
          </a:prstGeom>
          <a:noFill/>
          <a:ln/>
        </p:spPr>
        <p:txBody>
          <a:bodyPr wrap="square" lIns="0" tIns="0" rIns="0" bIns="0" rtlCol="0" anchor="b"/>
          <a:lstStyle/>
          <a:p>
            <a:pPr indent="0" marL="0">
              <a:buNone/>
            </a:pPr>
            <a:r>
              <a:rPr lang="en-US" sz="3000" b="1" dirty="0">
                <a:solidFill>
                  <a:schemeClr val="tx2"/>
                </a:solidFill>
                <a:latin typeface="Cambria" pitchFamily="34" charset="0"/>
                <a:ea typeface="Cambria" pitchFamily="34" charset="-122"/>
                <a:cs typeface="Cambria" pitchFamily="34" charset="-120"/>
              </a:rPr>
              <a:t>12,54 mlr TL</a:t>
            </a:r>
            <a:endParaRPr lang="en-US" sz="3000" dirty="0"/>
          </a:p>
        </p:txBody>
      </p:sp>
      <p:sp>
        <p:nvSpPr>
          <p:cNvPr id="13" name="Text 10"/>
          <p:cNvSpPr txBox="1"/>
          <p:nvPr/>
        </p:nvSpPr>
        <p:spPr>
          <a:xfrm>
            <a:off x="8001000" y="2409444"/>
            <a:ext cx="3459175" cy="425196"/>
          </a:xfrm>
          <a:prstGeom prst="rect">
            <a:avLst/>
          </a:prstGeom>
          <a:noFill/>
          <a:ln/>
        </p:spPr>
        <p:txBody>
          <a:bodyPr wrap="square" lIns="0" tIns="0" rIns="0" bIns="0" rtlCol="0" anchor="t"/>
          <a:lstStyle/>
          <a:p>
            <a:pPr indent="0" marL="0">
              <a:buNone/>
            </a:pPr>
            <a:r>
              <a:rPr lang="en-US" sz="1300" dirty="0">
                <a:solidFill>
                  <a:schemeClr val="tx1"/>
                </a:solidFill>
              </a:rPr>
              <a:t>toplam yatırım · aralık 9,93–15,94</a:t>
            </a:r>
            <a:endParaRPr lang="en-US" sz="1300" dirty="0"/>
          </a:p>
        </p:txBody>
      </p:sp>
      <p:sp>
        <p:nvSpPr>
          <p:cNvPr id="14" name="Gösterge"/>
          <p:cNvSpPr/>
          <p:nvPr/>
        </p:nvSpPr>
        <p:spPr>
          <a:xfrm>
            <a:off x="7818120" y="3108960"/>
            <a:ext cx="3824935"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5" name="Text 12"/>
          <p:cNvSpPr txBox="1"/>
          <p:nvPr/>
        </p:nvSpPr>
        <p:spPr>
          <a:xfrm>
            <a:off x="8001000" y="3236976"/>
            <a:ext cx="3459175" cy="66294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3,29 mlr TL</a:t>
            </a:r>
            <a:endParaRPr lang="en-US" sz="3000" dirty="0"/>
          </a:p>
        </p:txBody>
      </p:sp>
      <p:sp>
        <p:nvSpPr>
          <p:cNvPr id="16" name="Text 13"/>
          <p:cNvSpPr txBox="1"/>
          <p:nvPr/>
        </p:nvSpPr>
        <p:spPr>
          <a:xfrm>
            <a:off x="8001000" y="3918204"/>
            <a:ext cx="3459175" cy="425196"/>
          </a:xfrm>
          <a:prstGeom prst="rect">
            <a:avLst/>
          </a:prstGeom>
          <a:noFill/>
          <a:ln/>
        </p:spPr>
        <p:txBody>
          <a:bodyPr wrap="square" lIns="0" tIns="0" rIns="0" bIns="0" rtlCol="0" anchor="t"/>
          <a:lstStyle/>
          <a:p>
            <a:pPr indent="0" marL="0">
              <a:buNone/>
            </a:pPr>
            <a:r>
              <a:rPr lang="en-US" sz="1300" dirty="0">
                <a:solidFill>
                  <a:schemeClr val="tx1"/>
                </a:solidFill>
              </a:rPr>
              <a:t>kamu ve ortak kullanım payı · %26 · aralık 2,54–4,11</a:t>
            </a:r>
            <a:endParaRPr lang="en-US" sz="1300" dirty="0"/>
          </a:p>
        </p:txBody>
      </p:sp>
      <p:sp>
        <p:nvSpPr>
          <p:cNvPr id="17" name="Gösterge"/>
          <p:cNvSpPr/>
          <p:nvPr/>
        </p:nvSpPr>
        <p:spPr>
          <a:xfrm>
            <a:off x="7818120" y="4617720"/>
            <a:ext cx="3824935" cy="1325880"/>
          </a:xfrm>
          <a:prstGeom prst="roundRect">
            <a:avLst>
              <a:gd name="adj" fmla="val 5517"/>
            </a:avLst>
          </a:prstGeom>
          <a:solidFill>
            <a:schemeClr val="bg1"/>
          </a:solidFill>
          <a:ln/>
          <a:effectLst>
            <a:outerShdw sx="100000" sy="100000" kx="0" ky="0" algn="bl" rotWithShape="0" blurRad="76200" dist="19050" dir="5400000">
              <a:srgbClr val="000000">
                <a:alpha val="12000"/>
              </a:srgbClr>
            </a:outerShdw>
          </a:effectLst>
        </p:spPr>
      </p:sp>
      <p:sp>
        <p:nvSpPr>
          <p:cNvPr id="18" name="Text 15"/>
          <p:cNvSpPr txBox="1"/>
          <p:nvPr/>
        </p:nvSpPr>
        <p:spPr>
          <a:xfrm>
            <a:off x="8001000" y="4745736"/>
            <a:ext cx="3459175" cy="662940"/>
          </a:xfrm>
          <a:prstGeom prst="rect">
            <a:avLst/>
          </a:prstGeom>
          <a:noFill/>
          <a:ln/>
        </p:spPr>
        <p:txBody>
          <a:bodyPr wrap="square" lIns="0" tIns="0" rIns="0" bIns="0" rtlCol="0" anchor="b"/>
          <a:lstStyle/>
          <a:p>
            <a:pPr indent="0" marL="0">
              <a:buNone/>
            </a:pPr>
            <a:r>
              <a:rPr lang="en-US" sz="3000" b="1" dirty="0">
                <a:solidFill>
                  <a:schemeClr val="tx2"/>
                </a:solidFill>
                <a:latin typeface="Cambria" pitchFamily="34" charset="0"/>
                <a:ea typeface="Cambria" pitchFamily="34" charset="-122"/>
                <a:cs typeface="Cambria" pitchFamily="34" charset="-120"/>
              </a:rPr>
              <a:t>~5 mn TL</a:t>
            </a:r>
            <a:endParaRPr lang="en-US" sz="3000" dirty="0"/>
          </a:p>
        </p:txBody>
      </p:sp>
      <p:sp>
        <p:nvSpPr>
          <p:cNvPr id="19" name="Text 16"/>
          <p:cNvSpPr txBox="1"/>
          <p:nvPr/>
        </p:nvSpPr>
        <p:spPr>
          <a:xfrm>
            <a:off x="8001000" y="5426964"/>
            <a:ext cx="3459175" cy="425196"/>
          </a:xfrm>
          <a:prstGeom prst="rect">
            <a:avLst/>
          </a:prstGeom>
          <a:noFill/>
          <a:ln/>
        </p:spPr>
        <p:txBody>
          <a:bodyPr wrap="square" lIns="0" tIns="0" rIns="0" bIns="0" rtlCol="0" anchor="t"/>
          <a:lstStyle/>
          <a:p>
            <a:pPr indent="0" marL="0">
              <a:buNone/>
            </a:pPr>
            <a:r>
              <a:rPr lang="en-US" sz="1300" dirty="0">
                <a:solidFill>
                  <a:schemeClr val="tx1"/>
                </a:solidFill>
              </a:rPr>
              <a:t>konut başına toplam yatırım</a:t>
            </a:r>
            <a:endParaRPr lang="en-US" sz="1300" dirty="0"/>
          </a:p>
        </p:txBody>
      </p:sp>
      <p:sp>
        <p:nvSpPr>
          <p:cNvPr id="20" name="Text 17"/>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2026 TL, KDV ve arazi hariç; arazi Hazine'nin. Başlıca belirsizlikler: yapı sınıfı, altyapı oranı, zemin ve yıllık %25–30 maliyet artışı.</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YATIRIM VE FAYDA · KAMU FAYDASI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Kamu faydası: ölçülen kısım alt sınır</a:t>
            </a:r>
            <a:endParaRPr lang="en-US" sz="3600" dirty="0"/>
          </a:p>
        </p:txBody>
      </p:sp>
      <p:graphicFrame>
        <p:nvGraphicFramePr>
          <p:cNvPr id="4" name="Chart 0" descr=""/>
          <p:cNvGraphicFramePr/>
          <p:nvPr/>
        </p:nvGraphicFramePr>
        <p:xfrm>
          <a:off x="548640" y="1600200"/>
          <a:ext cx="5669280" cy="438912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583680" y="1600200"/>
          <a:ext cx="5059375" cy="914400"/>
        </p:xfrm>
        <a:graphic>
          <a:graphicData uri="http://schemas.openxmlformats.org/drawingml/2006/table">
            <a:tbl>
              <a:tblPr/>
              <a:tblGrid>
                <a:gridCol w="2130552"/>
                <a:gridCol w="914400"/>
                <a:gridCol w="914400"/>
                <a:gridCol w="914400"/>
              </a:tblGrid>
              <a:tr h="384048">
                <a:tc>
                  <a:txBody>
                    <a:bodyPr/>
                    <a:lstStyle/>
                    <a:p>
                      <a:pPr algn="l" indent="0" marL="0">
                        <a:buNone/>
                      </a:pPr>
                      <a:r>
                        <a:rPr lang="en-US" sz="1400" b="1" dirty="0">
                          <a:solidFill>
                            <a:srgbClr val="FFFFFF"/>
                          </a:solidFill>
                        </a:rPr>
                        <a:t>Yıllık fayda (milyon TL)</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400" b="1" dirty="0">
                          <a:solidFill>
                            <a:srgbClr val="FFFFFF"/>
                          </a:solidFill>
                        </a:rPr>
                        <a:t>Düşük</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400" b="1" dirty="0">
                          <a:solidFill>
                            <a:srgbClr val="FFFFFF"/>
                          </a:solidFill>
                        </a:rPr>
                        <a:t>Baz</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400" b="1" dirty="0">
                          <a:solidFill>
                            <a:srgbClr val="FFFFFF"/>
                          </a:solidFill>
                        </a:rPr>
                        <a:t>Yüksek</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384048">
                <a:tc>
                  <a:txBody>
                    <a:bodyPr/>
                    <a:lstStyle/>
                    <a:p>
                      <a:pPr algn="l" indent="0" marL="0">
                        <a:buNone/>
                      </a:pPr>
                      <a:r>
                        <a:rPr lang="en-US" sz="1400" b="1" dirty="0">
                          <a:solidFill>
                            <a:srgbClr val="1B2430"/>
                          </a:solidFill>
                        </a:rPr>
                        <a:t>Kazanılan zaman</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26</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45</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112</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B2430"/>
                          </a:solidFill>
                        </a:rPr>
                        <a:t>Yakıt tasarrufu</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13</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13</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13</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B2430"/>
                          </a:solidFill>
                        </a:rPr>
                        <a:t>Önlenen CO₂</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1,7</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1,7</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430"/>
                          </a:solidFill>
                        </a:rPr>
                        <a:t>1,7</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B2430"/>
                          </a:solidFill>
                        </a:rPr>
                        <a:t>Toplam</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b="1" dirty="0">
                          <a:solidFill>
                            <a:srgbClr val="1B2430"/>
                          </a:solidFill>
                        </a:rPr>
                        <a:t>40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b="1" dirty="0">
                          <a:solidFill>
                            <a:srgbClr val="1B2430"/>
                          </a:solidFill>
                        </a:rPr>
                        <a:t>60</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c>
                  <a:txBody>
                    <a:bodyPr/>
                    <a:lstStyle/>
                    <a:p>
                      <a:pPr algn="r" indent="0" marL="0">
                        <a:buNone/>
                      </a:pPr>
                      <a:r>
                        <a:rPr lang="en-US" sz="1400" b="1" dirty="0">
                          <a:solidFill>
                            <a:srgbClr val="1B2430"/>
                          </a:solidFill>
                        </a:rPr>
                        <a:t>127</a:t>
                      </a:r>
                      <a:endParaRPr lang="en-US" sz="1400" dirty="0"/>
                    </a:p>
                  </a:txBody>
                  <a:tcPr marL="91440" marR="91440"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3E6D3"/>
                    </a:solidFill>
                  </a:tcPr>
                </a:tc>
              </a:tr>
            </a:tbl>
          </a:graphicData>
        </a:graphic>
      </p:graphicFrame>
      <p:sp>
        <p:nvSpPr>
          <p:cNvPr id="6" name="Kart"/>
          <p:cNvSpPr/>
          <p:nvPr/>
        </p:nvSpPr>
        <p:spPr>
          <a:xfrm>
            <a:off x="6583680" y="3749040"/>
            <a:ext cx="5059375" cy="2240280"/>
          </a:xfrm>
          <a:prstGeom prst="roundRect">
            <a:avLst>
              <a:gd name="adj" fmla="val 3265"/>
            </a:avLst>
          </a:prstGeom>
          <a:solidFill>
            <a:schemeClr val="bg1"/>
          </a:solidFill>
          <a:ln/>
          <a:effectLst>
            <a:outerShdw sx="100000" sy="100000" kx="0" ky="0" algn="bl" rotWithShape="0" blurRad="76200" dist="19050" dir="5400000">
              <a:srgbClr val="000000">
                <a:alpha val="12000"/>
              </a:srgbClr>
            </a:outerShdw>
          </a:effectLst>
        </p:spPr>
      </p:sp>
      <p:sp>
        <p:nvSpPr>
          <p:cNvPr id="7" name="Text 3"/>
          <p:cNvSpPr txBox="1"/>
          <p:nvPr/>
        </p:nvSpPr>
        <p:spPr>
          <a:xfrm>
            <a:off x="6812280" y="3886200"/>
            <a:ext cx="4602175" cy="201168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Asıl gerekçe stratejik</a:t>
            </a:r>
            <a:endParaRPr lang="en-US" sz="1400" dirty="0"/>
          </a:p>
          <a:p>
            <a:pPr indent="0" marL="0">
              <a:spcAft>
                <a:spcPts val="600"/>
              </a:spcAft>
              <a:buNone/>
            </a:pPr>
            <a:r>
              <a:rPr lang="en-US" sz="1400" dirty="0">
                <a:solidFill>
                  <a:schemeClr val="tx1"/>
                </a:solidFill>
              </a:rPr>
              <a:t>Ölçülen ulaşım faydası kamu payının %19–59'u kadar. Ölçülmeyenler: koridordaki diğer sürücülerin zamanı, kaza ve bakım, sağlık ve eğitime erişim, belediye gelirleri ve bir mühendisin ayrılmasının işverene maliyeti.</a:t>
            </a:r>
            <a:endParaRPr lang="en-US" sz="1400" dirty="0"/>
          </a:p>
          <a:p>
            <a:pPr indent="0" marL="0">
              <a:spcAft>
                <a:spcPts val="600"/>
              </a:spcAft>
              <a:buNone/>
            </a:pPr>
            <a:r>
              <a:rPr lang="en-US" sz="1400" b="1" dirty="0">
                <a:solidFill>
                  <a:schemeClr val="tx1"/>
                </a:solidFill>
              </a:rPr>
              <a:t>İnşaat döneminde yılda ~617 kişilik şantiye istihdamı (varsayım).</a:t>
            </a:r>
            <a:endParaRPr lang="en-US" sz="1400" dirty="0"/>
          </a:p>
        </p:txBody>
      </p:sp>
      <p:sp>
        <p:nvSpPr>
          <p:cNvPr id="8" name="Text 4"/>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Varsayımlar: 220 iş günü; günde 20–50 dk kazanç; zaman değeri 200 TL/saat (yüksekte 350); otomobil payı %40'tan %25'e; araç başına 1,25 kişi.</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UYGULAMA · ETAPLAMA VE KARAR KAPILARI</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Etaplama: hizmetler konutla aynı gün</a:t>
            </a:r>
            <a:endParaRPr lang="en-US" sz="3600" dirty="0"/>
          </a:p>
        </p:txBody>
      </p:sp>
      <p:sp>
        <p:nvSpPr>
          <p:cNvPr id="4" name="Karar kapısı"/>
          <p:cNvSpPr/>
          <p:nvPr/>
        </p:nvSpPr>
        <p:spPr>
          <a:xfrm>
            <a:off x="548640" y="1645920"/>
            <a:ext cx="457200" cy="457200"/>
          </a:xfrm>
          <a:prstGeom prst="diamond">
            <a:avLst/>
          </a:prstGeom>
          <a:solidFill>
            <a:schemeClr val="accent1"/>
          </a:solidFill>
          <a:ln/>
        </p:spPr>
      </p:sp>
      <p:sp>
        <p:nvSpPr>
          <p:cNvPr id="5" name="Text 3"/>
          <p:cNvSpPr txBox="1"/>
          <p:nvPr/>
        </p:nvSpPr>
        <p:spPr>
          <a:xfrm>
            <a:off x="1115568" y="1600200"/>
            <a:ext cx="2035226" cy="731520"/>
          </a:xfrm>
          <a:prstGeom prst="rect">
            <a:avLst/>
          </a:prstGeom>
          <a:noFill/>
          <a:ln/>
        </p:spPr>
        <p:txBody>
          <a:bodyPr wrap="square" lIns="0" tIns="0" rIns="0" bIns="0" rtlCol="0" anchor="t"/>
          <a:lstStyle/>
          <a:p>
            <a:pPr indent="0" marL="0">
              <a:buNone/>
            </a:pPr>
            <a:r>
              <a:rPr lang="en-US" sz="1300" b="1" dirty="0">
                <a:solidFill>
                  <a:schemeClr val="accent1"/>
                </a:solidFill>
              </a:rPr>
              <a:t>Karar kapısı 1</a:t>
            </a:r>
            <a:endParaRPr lang="en-US" sz="1400" dirty="0"/>
          </a:p>
          <a:p>
            <a:pPr indent="0" marL="0">
              <a:buNone/>
            </a:pPr>
            <a:r>
              <a:rPr lang="en-US" sz="1400" dirty="0">
                <a:solidFill>
                  <a:schemeClr val="tx1"/>
                </a:solidFill>
              </a:rPr>
              <a:t>Arazinin bu amaçla değerlendirilmesi</a:t>
            </a:r>
            <a:endParaRPr lang="en-US" sz="1400" dirty="0"/>
          </a:p>
        </p:txBody>
      </p:sp>
      <p:sp>
        <p:nvSpPr>
          <p:cNvPr id="6" name="Kart"/>
          <p:cNvSpPr/>
          <p:nvPr/>
        </p:nvSpPr>
        <p:spPr>
          <a:xfrm>
            <a:off x="548640" y="2514600"/>
            <a:ext cx="2602154" cy="2788920"/>
          </a:xfrm>
          <a:prstGeom prst="roundRect">
            <a:avLst>
              <a:gd name="adj" fmla="val 2811"/>
            </a:avLst>
          </a:prstGeom>
          <a:solidFill>
            <a:schemeClr val="bg1"/>
          </a:solidFill>
          <a:ln/>
          <a:effectLst>
            <a:outerShdw sx="100000" sy="100000" kx="0" ky="0" algn="bl" rotWithShape="0" blurRad="76200" dist="19050" dir="5400000">
              <a:srgbClr val="000000">
                <a:alpha val="12000"/>
              </a:srgbClr>
            </a:outerShdw>
          </a:effectLst>
        </p:spPr>
      </p:sp>
      <p:sp>
        <p:nvSpPr>
          <p:cNvPr id="7" name="Text 5"/>
          <p:cNvSpPr txBox="1"/>
          <p:nvPr/>
        </p:nvSpPr>
        <p:spPr>
          <a:xfrm>
            <a:off x="749808" y="2679192"/>
            <a:ext cx="2199818" cy="384048"/>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Hazırlık</a:t>
            </a:r>
            <a:endParaRPr lang="en-US" sz="2000" dirty="0"/>
          </a:p>
        </p:txBody>
      </p:sp>
      <p:sp>
        <p:nvSpPr>
          <p:cNvPr id="8" name="Text 6"/>
          <p:cNvSpPr txBox="1"/>
          <p:nvPr/>
        </p:nvSpPr>
        <p:spPr>
          <a:xfrm>
            <a:off x="749808" y="3081528"/>
            <a:ext cx="2199818" cy="320040"/>
          </a:xfrm>
          <a:prstGeom prst="rect">
            <a:avLst/>
          </a:prstGeom>
          <a:noFill/>
          <a:ln/>
        </p:spPr>
        <p:txBody>
          <a:bodyPr wrap="square" lIns="0" tIns="0" rIns="0" bIns="0" rtlCol="0" anchor="t"/>
          <a:lstStyle/>
          <a:p>
            <a:pPr indent="0" marL="0">
              <a:buNone/>
            </a:pPr>
            <a:r>
              <a:rPr lang="en-US" sz="1300" b="1" dirty="0">
                <a:solidFill>
                  <a:schemeClr val="accent1"/>
                </a:solidFill>
              </a:rPr>
              <a:t>süre teyit edilecek</a:t>
            </a:r>
            <a:endParaRPr lang="en-US" sz="1300" dirty="0"/>
          </a:p>
        </p:txBody>
      </p:sp>
      <p:sp>
        <p:nvSpPr>
          <p:cNvPr id="9" name="Text 7"/>
          <p:cNvSpPr txBox="1"/>
          <p:nvPr/>
        </p:nvSpPr>
        <p:spPr>
          <a:xfrm>
            <a:off x="749808" y="3520440"/>
            <a:ext cx="2199818"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Parsel, yamaç statüsü, zemin ve imar teyitleri</a:t>
            </a:r>
            <a:endParaRPr lang="en-US" sz="1400" dirty="0"/>
          </a:p>
          <a:p>
            <a:pPr marL="342900" indent="-342900">
              <a:spcAft>
                <a:spcPts val="600"/>
              </a:spcAft>
              <a:buSzPct val="100000"/>
              <a:buChar char="•"/>
            </a:pPr>
            <a:r>
              <a:rPr lang="en-US" sz="1400" dirty="0">
                <a:solidFill>
                  <a:schemeClr val="tx1"/>
                </a:solidFill>
              </a:rPr>
              <a:t>TUSAŞ çalışanlarına ön talep anketi</a:t>
            </a:r>
            <a:endParaRPr lang="en-US" sz="1400" dirty="0"/>
          </a:p>
          <a:p>
            <a:pPr marL="342900" indent="-342900">
              <a:spcAft>
                <a:spcPts val="600"/>
              </a:spcAft>
              <a:buSzPct val="100000"/>
              <a:buChar char="•"/>
            </a:pPr>
            <a:r>
              <a:rPr lang="en-US" sz="1400" dirty="0">
                <a:solidFill>
                  <a:schemeClr val="tx1"/>
                </a:solidFill>
              </a:rPr>
              <a:t>Master plan ve projeler</a:t>
            </a:r>
            <a:endParaRPr lang="en-US" sz="1400" dirty="0"/>
          </a:p>
        </p:txBody>
      </p:sp>
      <p:sp>
        <p:nvSpPr>
          <p:cNvPr id="10" name="Karar kapısı"/>
          <p:cNvSpPr/>
          <p:nvPr/>
        </p:nvSpPr>
        <p:spPr>
          <a:xfrm>
            <a:off x="3379394" y="1645920"/>
            <a:ext cx="457200" cy="457200"/>
          </a:xfrm>
          <a:prstGeom prst="diamond">
            <a:avLst/>
          </a:prstGeom>
          <a:solidFill>
            <a:schemeClr val="accent1"/>
          </a:solidFill>
          <a:ln/>
        </p:spPr>
      </p:sp>
      <p:sp>
        <p:nvSpPr>
          <p:cNvPr id="11" name="Text 9"/>
          <p:cNvSpPr txBox="1"/>
          <p:nvPr/>
        </p:nvSpPr>
        <p:spPr>
          <a:xfrm>
            <a:off x="3946322" y="1600200"/>
            <a:ext cx="2035226" cy="731520"/>
          </a:xfrm>
          <a:prstGeom prst="rect">
            <a:avLst/>
          </a:prstGeom>
          <a:noFill/>
          <a:ln/>
        </p:spPr>
        <p:txBody>
          <a:bodyPr wrap="square" lIns="0" tIns="0" rIns="0" bIns="0" rtlCol="0" anchor="t"/>
          <a:lstStyle/>
          <a:p>
            <a:pPr indent="0" marL="0">
              <a:buNone/>
            </a:pPr>
            <a:r>
              <a:rPr lang="en-US" sz="1300" b="1" dirty="0">
                <a:solidFill>
                  <a:schemeClr val="accent1"/>
                </a:solidFill>
              </a:rPr>
              <a:t>Karar kapısı 2</a:t>
            </a:r>
            <a:endParaRPr lang="en-US" sz="1400" dirty="0"/>
          </a:p>
          <a:p>
            <a:pPr indent="0" marL="0">
              <a:buNone/>
            </a:pPr>
            <a:r>
              <a:rPr lang="en-US" sz="1400" dirty="0">
                <a:solidFill>
                  <a:schemeClr val="tx1"/>
                </a:solidFill>
              </a:rPr>
              <a:t>Plan onayı ve talep sonucu</a:t>
            </a:r>
            <a:endParaRPr lang="en-US" sz="1400" dirty="0"/>
          </a:p>
        </p:txBody>
      </p:sp>
      <p:sp>
        <p:nvSpPr>
          <p:cNvPr id="12" name="Kart"/>
          <p:cNvSpPr/>
          <p:nvPr/>
        </p:nvSpPr>
        <p:spPr>
          <a:xfrm>
            <a:off x="3379394" y="2514600"/>
            <a:ext cx="2602154" cy="2788920"/>
          </a:xfrm>
          <a:prstGeom prst="roundRect">
            <a:avLst>
              <a:gd name="adj" fmla="val 2811"/>
            </a:avLst>
          </a:prstGeom>
          <a:solidFill>
            <a:schemeClr val="tx2"/>
          </a:solidFill>
          <a:ln/>
          <a:effectLst>
            <a:outerShdw sx="100000" sy="100000" kx="0" ky="0" algn="bl" rotWithShape="0" blurRad="76200" dist="19050" dir="5400000">
              <a:srgbClr val="000000">
                <a:alpha val="12000"/>
              </a:srgbClr>
            </a:outerShdw>
          </a:effectLst>
        </p:spPr>
      </p:sp>
      <p:sp>
        <p:nvSpPr>
          <p:cNvPr id="13" name="Text 11"/>
          <p:cNvSpPr txBox="1"/>
          <p:nvPr/>
        </p:nvSpPr>
        <p:spPr>
          <a:xfrm>
            <a:off x="3580562" y="2679192"/>
            <a:ext cx="2199818"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Aşama 0</a:t>
            </a:r>
            <a:endParaRPr lang="en-US" sz="2000" dirty="0"/>
          </a:p>
        </p:txBody>
      </p:sp>
      <p:sp>
        <p:nvSpPr>
          <p:cNvPr id="14" name="Text 12"/>
          <p:cNvSpPr txBox="1"/>
          <p:nvPr/>
        </p:nvSpPr>
        <p:spPr>
          <a:xfrm>
            <a:off x="3580562" y="3081528"/>
            <a:ext cx="2199818" cy="320040"/>
          </a:xfrm>
          <a:prstGeom prst="rect">
            <a:avLst/>
          </a:prstGeom>
          <a:noFill/>
          <a:ln/>
        </p:spPr>
        <p:txBody>
          <a:bodyPr wrap="square" lIns="0" tIns="0" rIns="0" bIns="0" rtlCol="0" anchor="t"/>
          <a:lstStyle/>
          <a:p>
            <a:pPr indent="0" marL="0">
              <a:buNone/>
            </a:pPr>
            <a:r>
              <a:rPr lang="en-US" sz="1300" b="1" dirty="0">
                <a:solidFill>
                  <a:schemeClr val="accent4"/>
                </a:solidFill>
              </a:rPr>
              <a:t>ilk konut teslimiyle aynı gün</a:t>
            </a:r>
            <a:endParaRPr lang="en-US" sz="1300" dirty="0"/>
          </a:p>
        </p:txBody>
      </p:sp>
      <p:sp>
        <p:nvSpPr>
          <p:cNvPr id="15" name="Text 13"/>
          <p:cNvSpPr txBox="1"/>
          <p:nvPr/>
        </p:nvSpPr>
        <p:spPr>
          <a:xfrm>
            <a:off x="3580562" y="3520440"/>
            <a:ext cx="2199818"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Ekspres, ring hat, ulaşım uygulaması</a:t>
            </a:r>
            <a:endParaRPr lang="en-US" sz="1400" dirty="0"/>
          </a:p>
          <a:p>
            <a:pPr marL="342900" indent="-342900">
              <a:spcAft>
                <a:spcPts val="600"/>
              </a:spcAft>
              <a:buSzPct val="100000"/>
              <a:buChar char="•"/>
            </a:pPr>
            <a:r>
              <a:rPr lang="en-US" sz="1400" dirty="0">
                <a:solidFill>
                  <a:schemeClr val="bg1"/>
                </a:solidFill>
              </a:rPr>
              <a:t>ASM ve 112; modüler kreş ve sınıflar</a:t>
            </a:r>
            <a:endParaRPr lang="en-US" sz="1400" dirty="0"/>
          </a:p>
          <a:p>
            <a:pPr marL="342900" indent="-342900">
              <a:spcAft>
                <a:spcPts val="600"/>
              </a:spcAft>
              <a:buSzPct val="100000"/>
              <a:buChar char="•"/>
            </a:pPr>
            <a:r>
              <a:rPr lang="en-US" sz="1400" dirty="0">
                <a:solidFill>
                  <a:schemeClr val="bg1"/>
                </a:solidFill>
              </a:rPr>
              <a:t>Meydan, pazar, gölün ilk etabı; fiber</a:t>
            </a:r>
            <a:endParaRPr lang="en-US" sz="1400" dirty="0"/>
          </a:p>
        </p:txBody>
      </p:sp>
      <p:sp>
        <p:nvSpPr>
          <p:cNvPr id="16" name="Karar kapısı"/>
          <p:cNvSpPr/>
          <p:nvPr/>
        </p:nvSpPr>
        <p:spPr>
          <a:xfrm>
            <a:off x="6210148" y="1645920"/>
            <a:ext cx="457200" cy="457200"/>
          </a:xfrm>
          <a:prstGeom prst="diamond">
            <a:avLst/>
          </a:prstGeom>
          <a:solidFill>
            <a:schemeClr val="accent1"/>
          </a:solidFill>
          <a:ln/>
        </p:spPr>
      </p:sp>
      <p:sp>
        <p:nvSpPr>
          <p:cNvPr id="17" name="Text 15"/>
          <p:cNvSpPr txBox="1"/>
          <p:nvPr/>
        </p:nvSpPr>
        <p:spPr>
          <a:xfrm>
            <a:off x="6777076" y="1600200"/>
            <a:ext cx="2035226" cy="731520"/>
          </a:xfrm>
          <a:prstGeom prst="rect">
            <a:avLst/>
          </a:prstGeom>
          <a:noFill/>
          <a:ln/>
        </p:spPr>
        <p:txBody>
          <a:bodyPr wrap="square" lIns="0" tIns="0" rIns="0" bIns="0" rtlCol="0" anchor="t"/>
          <a:lstStyle/>
          <a:p>
            <a:pPr indent="0" marL="0">
              <a:buNone/>
            </a:pPr>
            <a:r>
              <a:rPr lang="en-US" sz="1300" b="1" dirty="0">
                <a:solidFill>
                  <a:schemeClr val="accent1"/>
                </a:solidFill>
              </a:rPr>
              <a:t>Karar kapısı 3</a:t>
            </a:r>
            <a:endParaRPr lang="en-US" sz="1400" dirty="0"/>
          </a:p>
          <a:p>
            <a:pPr indent="0" marL="0">
              <a:buNone/>
            </a:pPr>
            <a:r>
              <a:rPr lang="en-US" sz="1400" dirty="0">
                <a:solidFill>
                  <a:schemeClr val="tx1"/>
                </a:solidFill>
              </a:rPr>
              <a:t>Yolcu talebi ve okul kaydı</a:t>
            </a:r>
            <a:endParaRPr lang="en-US" sz="1400" dirty="0"/>
          </a:p>
        </p:txBody>
      </p:sp>
      <p:sp>
        <p:nvSpPr>
          <p:cNvPr id="18" name="Kart"/>
          <p:cNvSpPr/>
          <p:nvPr/>
        </p:nvSpPr>
        <p:spPr>
          <a:xfrm>
            <a:off x="6210148" y="2514600"/>
            <a:ext cx="2602154" cy="2788920"/>
          </a:xfrm>
          <a:prstGeom prst="roundRect">
            <a:avLst>
              <a:gd name="adj" fmla="val 2811"/>
            </a:avLst>
          </a:prstGeom>
          <a:solidFill>
            <a:schemeClr val="bg1"/>
          </a:solidFill>
          <a:ln/>
          <a:effectLst>
            <a:outerShdw sx="100000" sy="100000" kx="0" ky="0" algn="bl" rotWithShape="0" blurRad="76200" dist="19050" dir="5400000">
              <a:srgbClr val="000000">
                <a:alpha val="12000"/>
              </a:srgbClr>
            </a:outerShdw>
          </a:effectLst>
        </p:spPr>
      </p:sp>
      <p:sp>
        <p:nvSpPr>
          <p:cNvPr id="19" name="Text 17"/>
          <p:cNvSpPr txBox="1"/>
          <p:nvPr/>
        </p:nvSpPr>
        <p:spPr>
          <a:xfrm>
            <a:off x="6411316" y="2679192"/>
            <a:ext cx="2199818" cy="384048"/>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Aşama 1</a:t>
            </a:r>
            <a:endParaRPr lang="en-US" sz="2000" dirty="0"/>
          </a:p>
        </p:txBody>
      </p:sp>
      <p:sp>
        <p:nvSpPr>
          <p:cNvPr id="20" name="Text 18"/>
          <p:cNvSpPr txBox="1"/>
          <p:nvPr/>
        </p:nvSpPr>
        <p:spPr>
          <a:xfrm>
            <a:off x="6411316" y="3081528"/>
            <a:ext cx="2199818" cy="320040"/>
          </a:xfrm>
          <a:prstGeom prst="rect">
            <a:avLst/>
          </a:prstGeom>
          <a:noFill/>
          <a:ln/>
        </p:spPr>
        <p:txBody>
          <a:bodyPr wrap="square" lIns="0" tIns="0" rIns="0" bIns="0" rtlCol="0" anchor="t"/>
          <a:lstStyle/>
          <a:p>
            <a:pPr indent="0" marL="0">
              <a:buNone/>
            </a:pPr>
            <a:r>
              <a:rPr lang="en-US" sz="1300" b="1" dirty="0">
                <a:solidFill>
                  <a:schemeClr val="accent1"/>
                </a:solidFill>
              </a:rPr>
              <a:t>3–6 yıl</a:t>
            </a:r>
            <a:endParaRPr lang="en-US" sz="1300" dirty="0"/>
          </a:p>
        </p:txBody>
      </p:sp>
      <p:sp>
        <p:nvSpPr>
          <p:cNvPr id="21" name="Text 19"/>
          <p:cNvSpPr txBox="1"/>
          <p:nvPr/>
        </p:nvSpPr>
        <p:spPr>
          <a:xfrm>
            <a:off x="6411316" y="3520440"/>
            <a:ext cx="2199818"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Otobüs öncelikli koridor (BRT)</a:t>
            </a:r>
            <a:endParaRPr lang="en-US" sz="1400" dirty="0"/>
          </a:p>
          <a:p>
            <a:pPr marL="342900" indent="-342900">
              <a:spcAft>
                <a:spcPts val="600"/>
              </a:spcAft>
              <a:buSzPct val="100000"/>
              <a:buChar char="•"/>
            </a:pPr>
            <a:r>
              <a:rPr lang="en-US" sz="1400" dirty="0">
                <a:solidFill>
                  <a:schemeClr val="tx1"/>
                </a:solidFill>
              </a:rPr>
              <a:t>Okul kampüsleri tamamlanır</a:t>
            </a:r>
            <a:endParaRPr lang="en-US" sz="1400" dirty="0"/>
          </a:p>
          <a:p>
            <a:pPr marL="342900" indent="-342900">
              <a:spcAft>
                <a:spcPts val="600"/>
              </a:spcAft>
              <a:buSzPct val="100000"/>
              <a:buChar char="•"/>
            </a:pPr>
            <a:r>
              <a:rPr lang="en-US" sz="1400" dirty="0">
                <a:solidFill>
                  <a:schemeClr val="tx1"/>
                </a:solidFill>
              </a:rPr>
              <a:t>Kültür merkezi, göl çevresi, spor</a:t>
            </a:r>
            <a:endParaRPr lang="en-US" sz="1400" dirty="0"/>
          </a:p>
        </p:txBody>
      </p:sp>
      <p:sp>
        <p:nvSpPr>
          <p:cNvPr id="22" name="Karar kapısı"/>
          <p:cNvSpPr/>
          <p:nvPr/>
        </p:nvSpPr>
        <p:spPr>
          <a:xfrm>
            <a:off x="9040901" y="1645920"/>
            <a:ext cx="457200" cy="457200"/>
          </a:xfrm>
          <a:prstGeom prst="diamond">
            <a:avLst/>
          </a:prstGeom>
          <a:solidFill>
            <a:schemeClr val="accent1"/>
          </a:solidFill>
          <a:ln/>
        </p:spPr>
      </p:sp>
      <p:sp>
        <p:nvSpPr>
          <p:cNvPr id="23" name="Text 21"/>
          <p:cNvSpPr txBox="1"/>
          <p:nvPr/>
        </p:nvSpPr>
        <p:spPr>
          <a:xfrm>
            <a:off x="9607829" y="1600200"/>
            <a:ext cx="2035226" cy="731520"/>
          </a:xfrm>
          <a:prstGeom prst="rect">
            <a:avLst/>
          </a:prstGeom>
          <a:noFill/>
          <a:ln/>
        </p:spPr>
        <p:txBody>
          <a:bodyPr wrap="square" lIns="0" tIns="0" rIns="0" bIns="0" rtlCol="0" anchor="t"/>
          <a:lstStyle/>
          <a:p>
            <a:pPr indent="0" marL="0">
              <a:buNone/>
            </a:pPr>
            <a:r>
              <a:rPr lang="en-US" sz="1300" b="1" dirty="0">
                <a:solidFill>
                  <a:schemeClr val="accent1"/>
                </a:solidFill>
              </a:rPr>
              <a:t>Karar kapısı 4</a:t>
            </a:r>
            <a:endParaRPr lang="en-US" sz="1400" dirty="0"/>
          </a:p>
          <a:p>
            <a:pPr indent="0" marL="0">
              <a:buNone/>
            </a:pPr>
            <a:r>
              <a:rPr lang="en-US" sz="1400" dirty="0">
                <a:solidFill>
                  <a:schemeClr val="tx1"/>
                </a:solidFill>
              </a:rPr>
              <a:t>Saatte 4–5 bin yolcu</a:t>
            </a:r>
            <a:endParaRPr lang="en-US" sz="1400" dirty="0"/>
          </a:p>
        </p:txBody>
      </p:sp>
      <p:sp>
        <p:nvSpPr>
          <p:cNvPr id="24" name="Kart"/>
          <p:cNvSpPr/>
          <p:nvPr/>
        </p:nvSpPr>
        <p:spPr>
          <a:xfrm>
            <a:off x="9040901" y="2514600"/>
            <a:ext cx="2602154" cy="2788920"/>
          </a:xfrm>
          <a:prstGeom prst="roundRect">
            <a:avLst>
              <a:gd name="adj" fmla="val 2811"/>
            </a:avLst>
          </a:prstGeom>
          <a:solidFill>
            <a:schemeClr val="bg1"/>
          </a:solidFill>
          <a:ln/>
          <a:effectLst>
            <a:outerShdw sx="100000" sy="100000" kx="0" ky="0" algn="bl" rotWithShape="0" blurRad="76200" dist="19050" dir="5400000">
              <a:srgbClr val="000000">
                <a:alpha val="12000"/>
              </a:srgbClr>
            </a:outerShdw>
          </a:effectLst>
        </p:spPr>
      </p:sp>
      <p:sp>
        <p:nvSpPr>
          <p:cNvPr id="25" name="Text 23"/>
          <p:cNvSpPr txBox="1"/>
          <p:nvPr/>
        </p:nvSpPr>
        <p:spPr>
          <a:xfrm>
            <a:off x="9242069" y="2679192"/>
            <a:ext cx="2199818" cy="384048"/>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Aşama 2</a:t>
            </a:r>
            <a:endParaRPr lang="en-US" sz="2000" dirty="0"/>
          </a:p>
        </p:txBody>
      </p:sp>
      <p:sp>
        <p:nvSpPr>
          <p:cNvPr id="26" name="Text 24"/>
          <p:cNvSpPr txBox="1"/>
          <p:nvPr/>
        </p:nvSpPr>
        <p:spPr>
          <a:xfrm>
            <a:off x="9242069" y="3081528"/>
            <a:ext cx="2199818" cy="320040"/>
          </a:xfrm>
          <a:prstGeom prst="rect">
            <a:avLst/>
          </a:prstGeom>
          <a:noFill/>
          <a:ln/>
        </p:spPr>
        <p:txBody>
          <a:bodyPr wrap="square" lIns="0" tIns="0" rIns="0" bIns="0" rtlCol="0" anchor="t"/>
          <a:lstStyle/>
          <a:p>
            <a:pPr indent="0" marL="0">
              <a:buNone/>
            </a:pPr>
            <a:r>
              <a:rPr lang="en-US" sz="1300" b="1" dirty="0">
                <a:solidFill>
                  <a:schemeClr val="accent1"/>
                </a:solidFill>
              </a:rPr>
              <a:t>6–12 yıl</a:t>
            </a:r>
            <a:endParaRPr lang="en-US" sz="1300" dirty="0"/>
          </a:p>
        </p:txBody>
      </p:sp>
      <p:sp>
        <p:nvSpPr>
          <p:cNvPr id="27" name="Text 25"/>
          <p:cNvSpPr txBox="1"/>
          <p:nvPr/>
        </p:nvSpPr>
        <p:spPr>
          <a:xfrm>
            <a:off x="9242069" y="3520440"/>
            <a:ext cx="2199818"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Talep yeterse raylı sistem</a:t>
            </a:r>
            <a:endParaRPr lang="en-US" sz="1400" dirty="0"/>
          </a:p>
          <a:p>
            <a:pPr marL="342900" indent="-342900">
              <a:spcAft>
                <a:spcPts val="600"/>
              </a:spcAft>
              <a:buSzPct val="100000"/>
              <a:buChar char="•"/>
            </a:pPr>
            <a:r>
              <a:rPr lang="en-US" sz="1400" dirty="0">
                <a:solidFill>
                  <a:schemeClr val="tx1"/>
                </a:solidFill>
              </a:rPr>
              <a:t>MYO ile ortak programlar</a:t>
            </a:r>
            <a:endParaRPr lang="en-US" sz="1400" dirty="0"/>
          </a:p>
          <a:p>
            <a:pPr marL="342900" indent="-342900">
              <a:spcAft>
                <a:spcPts val="600"/>
              </a:spcAft>
              <a:buSzPct val="100000"/>
              <a:buChar char="•"/>
            </a:pPr>
            <a:r>
              <a:rPr lang="en-US" sz="1400" dirty="0">
                <a:solidFill>
                  <a:schemeClr val="tx1"/>
                </a:solidFill>
              </a:rPr>
              <a:t>Kalan konut etapları</a:t>
            </a:r>
            <a:endParaRPr lang="en-US" sz="1400" dirty="0"/>
          </a:p>
        </p:txBody>
      </p:sp>
      <p:sp>
        <p:nvSpPr>
          <p:cNvPr id="28" name="Kart"/>
          <p:cNvSpPr/>
          <p:nvPr/>
        </p:nvSpPr>
        <p:spPr>
          <a:xfrm>
            <a:off x="548640" y="5486400"/>
            <a:ext cx="11094415" cy="548640"/>
          </a:xfrm>
          <a:prstGeom prst="roundRect">
            <a:avLst>
              <a:gd name="adj" fmla="val 13333"/>
            </a:avLst>
          </a:prstGeom>
          <a:solidFill>
            <a:schemeClr val="bg1"/>
          </a:solidFill>
          <a:ln w="12700">
            <a:solidFill>
              <a:srgbClr val="DDD8CC"/>
            </a:solidFill>
            <a:prstDash val="solid"/>
          </a:ln>
        </p:spPr>
      </p:sp>
      <p:sp>
        <p:nvSpPr>
          <p:cNvPr id="29" name="Text 27"/>
          <p:cNvSpPr txBox="1"/>
          <p:nvPr/>
        </p:nvSpPr>
        <p:spPr>
          <a:xfrm>
            <a:off x="777240" y="5486400"/>
            <a:ext cx="10637215" cy="548640"/>
          </a:xfrm>
          <a:prstGeom prst="rect">
            <a:avLst/>
          </a:prstGeom>
          <a:noFill/>
          <a:ln/>
        </p:spPr>
        <p:txBody>
          <a:bodyPr wrap="square" lIns="0" tIns="0" rIns="0" bIns="0" rtlCol="0" anchor="ctr"/>
          <a:lstStyle/>
          <a:p>
            <a:pPr indent="0" marL="0">
              <a:buNone/>
            </a:pPr>
            <a:r>
              <a:rPr lang="en-US" sz="1400" b="1" dirty="0">
                <a:solidFill>
                  <a:schemeClr val="accent1"/>
                </a:solidFill>
              </a:rPr>
              <a:t>Etap ilkesi: </a:t>
            </a:r>
            <a:pPr indent="0" marL="0">
              <a:buNone/>
            </a:pPr>
            <a:r>
              <a:rPr lang="en-US" sz="1400" dirty="0">
                <a:solidFill>
                  <a:schemeClr val="tx1"/>
                </a:solidFill>
              </a:rPr>
              <a:t>her konut etabı kendi okul, sağlık ve ulaşım hizmetiyle açılır; etap büyüklüğünü ön talep anketi belirler.</a:t>
            </a:r>
            <a:endParaRPr lang="en-US" sz="1400" dirty="0"/>
          </a:p>
        </p:txBody>
      </p:sp>
      <p:sp>
        <p:nvSpPr>
          <p:cNvPr id="30" name="Text 28"/>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Süreler arazinin tahsisinden ve ilk konut tesliminden sayılır; hedef yıl belirlenince takvim yıllara çevrilecek.</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UYGULAMA · REFERANSLAR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Referanslarımız: TUSAŞ için yaptıklarımız</a:t>
            </a:r>
            <a:endParaRPr lang="en-US" sz="3600" dirty="0"/>
          </a:p>
        </p:txBody>
      </p:sp>
      <p:sp>
        <p:nvSpPr>
          <p:cNvPr id="4" name="Kart"/>
          <p:cNvSpPr/>
          <p:nvPr/>
        </p:nvSpPr>
        <p:spPr>
          <a:xfrm>
            <a:off x="548640" y="1600200"/>
            <a:ext cx="5852160" cy="2057400"/>
          </a:xfrm>
          <a:prstGeom prst="roundRect">
            <a:avLst>
              <a:gd name="adj" fmla="val 3556"/>
            </a:avLst>
          </a:prstGeom>
          <a:solidFill>
            <a:schemeClr val="bg1"/>
          </a:solidFill>
          <a:ln/>
          <a:effectLst>
            <a:outerShdw sx="100000" sy="100000" kx="0" ky="0" algn="bl" rotWithShape="0" blurRad="76200" dist="19050" dir="5400000">
              <a:srgbClr val="000000">
                <a:alpha val="12000"/>
              </a:srgbClr>
            </a:outerShdw>
          </a:effectLst>
        </p:spPr>
      </p:sp>
      <p:sp>
        <p:nvSpPr>
          <p:cNvPr id="5" name="İkon zemini"/>
          <p:cNvSpPr/>
          <p:nvPr/>
        </p:nvSpPr>
        <p:spPr>
          <a:xfrm>
            <a:off x="777240" y="1874520"/>
            <a:ext cx="685800" cy="685800"/>
          </a:xfrm>
          <a:prstGeom prst="ellipse">
            <a:avLst/>
          </a:prstGeom>
          <a:solidFill>
            <a:schemeClr val="accent1"/>
          </a:solidFill>
          <a:ln/>
        </p:spPr>
      </p:sp>
      <p:pic>
        <p:nvPicPr>
          <p:cNvPr id="6" name="İkon FaHouseChimney" descr="preencoded.png">    </p:cNvPr>
          <p:cNvPicPr>
            <a:picLocks noChangeAspect="1"/>
          </p:cNvPicPr>
          <p:nvPr/>
        </p:nvPicPr>
        <p:blipFill>
          <a:blip r:embed="rId1"/>
          <a:stretch>
            <a:fillRect/>
          </a:stretch>
        </p:blipFill>
        <p:spPr>
          <a:xfrm>
            <a:off x="941832" y="2039112"/>
            <a:ext cx="356616" cy="356616"/>
          </a:xfrm>
          <a:prstGeom prst="rect">
            <a:avLst/>
          </a:prstGeom>
        </p:spPr>
      </p:pic>
      <p:sp>
        <p:nvSpPr>
          <p:cNvPr id="7" name="Text 4"/>
          <p:cNvSpPr txBox="1"/>
          <p:nvPr/>
        </p:nvSpPr>
        <p:spPr>
          <a:xfrm>
            <a:off x="1645920" y="1828800"/>
            <a:ext cx="4572000" cy="365760"/>
          </a:xfrm>
          <a:prstGeom prst="rect">
            <a:avLst/>
          </a:prstGeom>
          <a:noFill/>
          <a:ln/>
        </p:spPr>
        <p:txBody>
          <a:bodyPr wrap="square" lIns="0" tIns="0" rIns="0" bIns="0" rtlCol="0" anchor="t"/>
          <a:lstStyle/>
          <a:p>
            <a:pPr indent="0" marL="0">
              <a:buNone/>
            </a:pPr>
            <a:r>
              <a:rPr lang="en-US" sz="1900" b="1" dirty="0">
                <a:solidFill>
                  <a:schemeClr val="tx2"/>
                </a:solidFill>
              </a:rPr>
              <a:t>TAI Ankara Lodgings</a:t>
            </a:r>
            <a:endParaRPr lang="en-US" sz="1900" dirty="0"/>
          </a:p>
        </p:txBody>
      </p:sp>
      <p:sp>
        <p:nvSpPr>
          <p:cNvPr id="8" name="Text 5"/>
          <p:cNvSpPr txBox="1"/>
          <p:nvPr/>
        </p:nvSpPr>
        <p:spPr>
          <a:xfrm>
            <a:off x="1645920" y="2221992"/>
            <a:ext cx="4572000" cy="320040"/>
          </a:xfrm>
          <a:prstGeom prst="rect">
            <a:avLst/>
          </a:prstGeom>
          <a:noFill/>
          <a:ln/>
        </p:spPr>
        <p:txBody>
          <a:bodyPr wrap="square" lIns="0" tIns="0" rIns="0" bIns="0" rtlCol="0" anchor="t"/>
          <a:lstStyle/>
          <a:p>
            <a:pPr indent="0" marL="0">
              <a:buNone/>
            </a:pPr>
            <a:r>
              <a:rPr lang="en-US" sz="1300" b="1" dirty="0">
                <a:solidFill>
                  <a:schemeClr val="accent1"/>
                </a:solidFill>
              </a:rPr>
              <a:t>Kahramankazan · 2022 · 400.000 m² · 1.500 konut</a:t>
            </a:r>
            <a:endParaRPr lang="en-US" sz="1300" dirty="0"/>
          </a:p>
        </p:txBody>
      </p:sp>
      <p:sp>
        <p:nvSpPr>
          <p:cNvPr id="9" name="Text 6"/>
          <p:cNvSpPr txBox="1"/>
          <p:nvPr/>
        </p:nvSpPr>
        <p:spPr>
          <a:xfrm>
            <a:off x="1645920" y="2606040"/>
            <a:ext cx="4572000" cy="960120"/>
          </a:xfrm>
          <a:prstGeom prst="rect">
            <a:avLst/>
          </a:prstGeom>
          <a:noFill/>
          <a:ln/>
        </p:spPr>
        <p:txBody>
          <a:bodyPr wrap="square" lIns="0" tIns="0" rIns="0" bIns="0" rtlCol="0" anchor="t"/>
          <a:lstStyle/>
          <a:p>
            <a:pPr indent="0" marL="0">
              <a:buNone/>
            </a:pPr>
            <a:r>
              <a:rPr lang="en-US" sz="1400" dirty="0">
                <a:solidFill>
                  <a:schemeClr val="tx1"/>
                </a:solidFill>
              </a:rPr>
              <a:t>TUSAŞ için yeni konut mahallesi. Ortada yeşil bir omurga; okul, sağlık ocağı, kütüphane ve spor tesisleri yürüme mesafesinde.</a:t>
            </a:r>
            <a:endParaRPr lang="en-US" sz="1400" dirty="0"/>
          </a:p>
        </p:txBody>
      </p:sp>
      <p:sp>
        <p:nvSpPr>
          <p:cNvPr id="10" name="Kart"/>
          <p:cNvSpPr/>
          <p:nvPr/>
        </p:nvSpPr>
        <p:spPr>
          <a:xfrm>
            <a:off x="548640" y="3840480"/>
            <a:ext cx="5852160" cy="2057400"/>
          </a:xfrm>
          <a:prstGeom prst="roundRect">
            <a:avLst>
              <a:gd name="adj" fmla="val 3556"/>
            </a:avLst>
          </a:prstGeom>
          <a:solidFill>
            <a:schemeClr val="bg1"/>
          </a:solidFill>
          <a:ln/>
          <a:effectLst>
            <a:outerShdw sx="100000" sy="100000" kx="0" ky="0" algn="bl" rotWithShape="0" blurRad="76200" dist="19050" dir="5400000">
              <a:srgbClr val="000000">
                <a:alpha val="12000"/>
              </a:srgbClr>
            </a:outerShdw>
          </a:effectLst>
        </p:spPr>
      </p:sp>
      <p:sp>
        <p:nvSpPr>
          <p:cNvPr id="11" name="İkon zemini"/>
          <p:cNvSpPr/>
          <p:nvPr/>
        </p:nvSpPr>
        <p:spPr>
          <a:xfrm>
            <a:off x="777240" y="4114800"/>
            <a:ext cx="685800" cy="685800"/>
          </a:xfrm>
          <a:prstGeom prst="ellipse">
            <a:avLst/>
          </a:prstGeom>
          <a:solidFill>
            <a:schemeClr val="accent1"/>
          </a:solidFill>
          <a:ln/>
        </p:spPr>
      </p:sp>
      <p:pic>
        <p:nvPicPr>
          <p:cNvPr id="12" name="İkon FaIndustry" descr="preencoded.png">    </p:cNvPr>
          <p:cNvPicPr>
            <a:picLocks noChangeAspect="1"/>
          </p:cNvPicPr>
          <p:nvPr/>
        </p:nvPicPr>
        <p:blipFill>
          <a:blip r:embed="rId2"/>
          <a:stretch>
            <a:fillRect/>
          </a:stretch>
        </p:blipFill>
        <p:spPr>
          <a:xfrm>
            <a:off x="941832" y="4279392"/>
            <a:ext cx="356616" cy="356616"/>
          </a:xfrm>
          <a:prstGeom prst="rect">
            <a:avLst/>
          </a:prstGeom>
        </p:spPr>
      </p:pic>
      <p:sp>
        <p:nvSpPr>
          <p:cNvPr id="13" name="Text 9"/>
          <p:cNvSpPr txBox="1"/>
          <p:nvPr/>
        </p:nvSpPr>
        <p:spPr>
          <a:xfrm>
            <a:off x="1645920" y="4069080"/>
            <a:ext cx="4572000" cy="365760"/>
          </a:xfrm>
          <a:prstGeom prst="rect">
            <a:avLst/>
          </a:prstGeom>
          <a:noFill/>
          <a:ln/>
        </p:spPr>
        <p:txBody>
          <a:bodyPr wrap="square" lIns="0" tIns="0" rIns="0" bIns="0" rtlCol="0" anchor="t"/>
          <a:lstStyle/>
          <a:p>
            <a:pPr indent="0" marL="0">
              <a:buNone/>
            </a:pPr>
            <a:r>
              <a:rPr lang="en-US" sz="1900" b="1" dirty="0">
                <a:solidFill>
                  <a:schemeClr val="tx2"/>
                </a:solidFill>
              </a:rPr>
              <a:t>TAI Kahramanmaraş Lodgings and Factory</a:t>
            </a:r>
            <a:endParaRPr lang="en-US" sz="1900" dirty="0"/>
          </a:p>
        </p:txBody>
      </p:sp>
      <p:sp>
        <p:nvSpPr>
          <p:cNvPr id="14" name="Text 10"/>
          <p:cNvSpPr txBox="1"/>
          <p:nvPr/>
        </p:nvSpPr>
        <p:spPr>
          <a:xfrm>
            <a:off x="1645920" y="4462272"/>
            <a:ext cx="4572000" cy="320040"/>
          </a:xfrm>
          <a:prstGeom prst="rect">
            <a:avLst/>
          </a:prstGeom>
          <a:noFill/>
          <a:ln/>
        </p:spPr>
        <p:txBody>
          <a:bodyPr wrap="square" lIns="0" tIns="0" rIns="0" bIns="0" rtlCol="0" anchor="t"/>
          <a:lstStyle/>
          <a:p>
            <a:pPr indent="0" marL="0">
              <a:buNone/>
            </a:pPr>
            <a:r>
              <a:rPr lang="en-US" sz="1300" b="1" dirty="0">
                <a:solidFill>
                  <a:schemeClr val="accent1"/>
                </a:solidFill>
              </a:rPr>
              <a:t>Kahramanmaraş · TUSAŞ lojmanları ve fabrikası</a:t>
            </a:r>
            <a:endParaRPr lang="en-US" sz="1300" dirty="0"/>
          </a:p>
        </p:txBody>
      </p:sp>
      <p:sp>
        <p:nvSpPr>
          <p:cNvPr id="15" name="Text 11"/>
          <p:cNvSpPr txBox="1"/>
          <p:nvPr/>
        </p:nvSpPr>
        <p:spPr>
          <a:xfrm>
            <a:off x="1645920" y="4846320"/>
            <a:ext cx="4572000" cy="960120"/>
          </a:xfrm>
          <a:prstGeom prst="rect">
            <a:avLst/>
          </a:prstGeom>
          <a:noFill/>
          <a:ln/>
        </p:spPr>
        <p:txBody>
          <a:bodyPr wrap="square" lIns="0" tIns="0" rIns="0" bIns="0" rtlCol="0" anchor="t"/>
          <a:lstStyle/>
          <a:p>
            <a:pPr indent="0" marL="0">
              <a:buNone/>
            </a:pPr>
            <a:r>
              <a:rPr lang="en-US" sz="1400" dirty="0">
                <a:solidFill>
                  <a:schemeClr val="tx1"/>
                </a:solidFill>
              </a:rPr>
              <a:t>Çalışan konutunu ve üretim tesisini birlikte ele aldık: Örencik'teki iş ve yaşam ilişkisine doğrudan emsal.</a:t>
            </a:r>
            <a:endParaRPr lang="en-US" sz="1400" dirty="0"/>
          </a:p>
        </p:txBody>
      </p:sp>
      <p:sp>
        <p:nvSpPr>
          <p:cNvPr id="16" name="Text 12"/>
          <p:cNvSpPr txBox="1"/>
          <p:nvPr/>
        </p:nvSpPr>
        <p:spPr>
          <a:xfrm>
            <a:off x="6675120" y="1600200"/>
            <a:ext cx="4967935" cy="320040"/>
          </a:xfrm>
          <a:prstGeom prst="rect">
            <a:avLst/>
          </a:prstGeom>
          <a:noFill/>
          <a:ln/>
        </p:spPr>
        <p:txBody>
          <a:bodyPr wrap="square" lIns="0" tIns="0" rIns="0" bIns="0" rtlCol="0" anchor="t"/>
          <a:lstStyle/>
          <a:p>
            <a:pPr indent="0" marL="0">
              <a:buNone/>
            </a:pPr>
            <a:r>
              <a:rPr lang="en-US" sz="1700" b="1" dirty="0">
                <a:solidFill>
                  <a:schemeClr val="tx2"/>
                </a:solidFill>
              </a:rPr>
              <a:t>Bölgede ve sektörde diğer işlerimiz</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75120" y="2057400"/>
          <a:ext cx="4967935" cy="914400"/>
        </p:xfrm>
        <a:graphic>
          <a:graphicData uri="http://schemas.openxmlformats.org/drawingml/2006/table">
            <a:tbl>
              <a:tblPr/>
              <a:tblGrid>
                <a:gridCol w="2240280"/>
                <a:gridCol w="548640"/>
                <a:gridCol w="1005840"/>
                <a:gridCol w="1173175"/>
              </a:tblGrid>
              <a:tr h="502920">
                <a:tc>
                  <a:txBody>
                    <a:bodyPr/>
                    <a:lstStyle/>
                    <a:p>
                      <a:pPr algn="l" indent="0" marL="0">
                        <a:buNone/>
                      </a:pPr>
                      <a:r>
                        <a:rPr lang="en-US" sz="1300" b="1" dirty="0">
                          <a:solidFill>
                            <a:srgbClr val="FFFFFF"/>
                          </a:solidFill>
                        </a:rPr>
                        <a:t>Proje</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300" b="1" dirty="0">
                          <a:solidFill>
                            <a:srgbClr val="FFFFFF"/>
                          </a:solidFill>
                        </a:rPr>
                        <a:t>Yıl</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r" indent="0" marL="0">
                        <a:buNone/>
                      </a:pPr>
                      <a:r>
                        <a:rPr lang="en-US" sz="1300" b="1" dirty="0">
                          <a:solidFill>
                            <a:srgbClr val="FFFFFF"/>
                          </a:solidFill>
                        </a:rPr>
                        <a:t>Alan (m²)</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algn="l" indent="0" marL="0">
                        <a:buNone/>
                      </a:pPr>
                      <a:r>
                        <a:rPr lang="en-US" sz="1300" b="1" dirty="0">
                          <a:solidFill>
                            <a:srgbClr val="FFFFFF"/>
                          </a:solidFill>
                        </a:rPr>
                        <a:t>Rol</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502920">
                <a:tc>
                  <a:txBody>
                    <a:bodyPr/>
                    <a:lstStyle/>
                    <a:p>
                      <a:pPr algn="l" indent="0" marL="0">
                        <a:buNone/>
                      </a:pPr>
                      <a:r>
                        <a:rPr lang="en-US" sz="1300" dirty="0">
                          <a:solidFill>
                            <a:srgbClr val="1B2430"/>
                          </a:solidFill>
                        </a:rPr>
                        <a:t>Kahramankazan Kentsel Dönüşüm</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2020</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523.000</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Tasarım</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2430"/>
                          </a:solidFill>
                        </a:rPr>
                        <a:t>Kahramankazan Kent Merkezi</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2020</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412.175</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Tasarım</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2430"/>
                          </a:solidFill>
                        </a:rPr>
                        <a:t>Serapınar Termal Yaşam Merkezi</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2025</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3.000.000</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Tasarım ve yapım</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2430"/>
                          </a:solidFill>
                        </a:rPr>
                        <a:t>GIA Büyük Sanayi Alanı, Niğde</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2024</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29.000.000</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Tasarım ve yapım</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2430"/>
                          </a:solidFill>
                        </a:rPr>
                        <a:t>MKE Teknopark ve Genel Müdürlük</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2020</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45.000</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Tasarım</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2430"/>
                          </a:solidFill>
                        </a:rPr>
                        <a:t>TR Motor ofis ve fabrika binaları</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2023</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0"/>
                          </a:solidFill>
                        </a:rPr>
                        <a:t>553.991</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Tasarım</a:t>
                      </a:r>
                      <a:endParaRPr lang="en-US" sz="1300" dirty="0"/>
                    </a:p>
                  </a:txBody>
                  <a:tcPr marL="73152" marR="73152" marT="36576" marB="36576"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18" name="Text 13"/>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Kaynak: Belen &amp; Partners kurumsal portföyü (Ağustos 2025). Roller portföydeki gibidir.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UYGULAMA · RİSKLER</a:t>
            </a:r>
            <a:endParaRPr lang="en-US" sz="1200" dirty="0"/>
          </a:p>
        </p:txBody>
      </p:sp>
      <p:sp>
        <p:nvSpPr>
          <p:cNvPr id="3" name="Text 0"/>
          <p:cNvSpPr/>
          <p:nvPr>
            <p:ph idx="101" type="title" hasCustomPrompt="1"/>
          </p:nvPr>
        </p:nvSpPr>
        <p:spPr>
          <a:xfrm>
            <a:off x="548640" y="658368"/>
            <a:ext cx="11094415" cy="749808"/>
          </a:xfrm>
          <a:prstGeom prst="rect">
            <a:avLst/>
          </a:prstGeom>
          <a:noFill/>
          <a:ln/>
        </p:spPr>
        <p:txBody>
          <a:bodyPr wrap="square" lIns="0" tIns="0" rIns="0" bIns="0" rtlCol="0" anchor="t"/>
          <a:lstStyle/>
          <a:p>
            <a:pPr algn="l" indent="0" marL="0">
              <a:buNone/>
            </a:pPr>
            <a:r>
              <a:rPr lang="en-US" sz="3600" b="1" dirty="0">
                <a:solidFill>
                  <a:schemeClr val="tx2"/>
                </a:solidFill>
              </a:rPr>
              <a:t>Riskler ve azaltma önlemleri</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429000"/>
                <a:gridCol w="3108960"/>
                <a:gridCol w="4556455"/>
              </a:tblGrid>
              <a:tr h="475488">
                <a:tc>
                  <a:txBody>
                    <a:bodyPr/>
                    <a:lstStyle/>
                    <a:p>
                      <a:pPr indent="0" marL="0">
                        <a:buNone/>
                      </a:pPr>
                      <a:r>
                        <a:rPr lang="en-US" sz="1400" b="1" dirty="0">
                          <a:solidFill>
                            <a:srgbClr val="FFFFFF"/>
                          </a:solidFill>
                        </a:rPr>
                        <a:t>Risk</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Etkisi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c>
                  <a:txBody>
                    <a:bodyPr/>
                    <a:lstStyle/>
                    <a:p>
                      <a:pPr indent="0" marL="0">
                        <a:buNone/>
                      </a:pPr>
                      <a:r>
                        <a:rPr lang="en-US" sz="1400" b="1" dirty="0">
                          <a:solidFill>
                            <a:srgbClr val="FFFFFF"/>
                          </a:solidFill>
                        </a:rPr>
                        <a:t>Önlem</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0B2E4F"/>
                    </a:solidFill>
                  </a:tcPr>
                </a:tc>
              </a:tr>
              <a:tr h="475488">
                <a:tc>
                  <a:txBody>
                    <a:bodyPr/>
                    <a:lstStyle/>
                    <a:p>
                      <a:pPr indent="0" marL="0">
                        <a:buNone/>
                      </a:pPr>
                      <a:r>
                        <a:rPr lang="en-US" sz="1400" b="1" dirty="0">
                          <a:solidFill>
                            <a:srgbClr val="1B2430"/>
                          </a:solidFill>
                        </a:rPr>
                        <a:t>Yamaçların orman ya da ağaçlandırma statüsü</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Yapılaşabilir alan küçülür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6831 statüsü sunumdan önce teyit; program yamaçları zaten koruyor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Zemin: jips, marn, şişen kil</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Temel ve altyapı maliyeti artar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Jeoteknik etüt; yapılar platolarda</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Kuraklık ve su</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Göl dolumu ve peyzaj sulaması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Yağmur suyu ve arıtılmış atıksu; şebeke yalnızca acil</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Uçuş ekseni gürültüsü</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Alıcı algısı, okul ve sağlık konforu</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Hassas yapılar eksenden uzakta; MSB ve SHGM gürültü verisi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Hizmetlerin geç gelmesi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"Yatak odası kent" (Sejong, Songdo)</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Aşama 0: hizmetler konutla aynı gün; modüler yapılar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Talep belirsizliği</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Etap büyüklüğü şaşar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TUSAŞ çalışanlarına ön talep anketi; etaplı gelişme</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Plan ve imar statüsü</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Takvim uzar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İmar durumu yazısı ve üst ölçek plan kararı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2430"/>
                          </a:solidFill>
                        </a:rPr>
                        <a:t>Maliyet artışı</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Yatırım tutarı yükselir</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Yüksek senaryo 15,9 milyar TL; yıllık güncelleme</a:t>
                      </a:r>
                      <a:endParaRPr lang="en-US" sz="1400" dirty="0"/>
                    </a:p>
                  </a:txBody>
                  <a:tcPr marL="91440" marR="91440" marT="54864" marB="54864"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274320"/>
          </a:xfrm>
          <a:prstGeom prst="rect">
            <a:avLst/>
          </a:prstGeom>
          <a:noFill/>
          <a:ln/>
        </p:spPr>
        <p:txBody>
          <a:bodyPr wrap="square" lIns="0" tIns="0" rIns="0" bIns="0" rtlCol="0" anchor="b"/>
          <a:lstStyle/>
          <a:p>
            <a:pPr indent="0" marL="0">
              <a:buNone/>
            </a:pPr>
            <a:r>
              <a:rPr lang="en-US" sz="1100" i="1" dirty="0">
                <a:solidFill>
                  <a:schemeClr val="accent5"/>
                </a:solidFill>
              </a:rPr>
              <a:t>Ayrıntılı risk tablosu ve teyit listesi raporda yer alır.</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KARAR</a:t>
            </a:r>
            <a:endParaRPr lang="en-US" sz="1200" dirty="0"/>
          </a:p>
        </p:txBody>
      </p:sp>
      <p:sp>
        <p:nvSpPr>
          <p:cNvPr id="3" name="Text 0"/>
          <p:cNvSpPr/>
          <p:nvPr>
            <p:ph idx="101" type="title" hasCustomPrompt="1"/>
          </p:nvPr>
        </p:nvSpPr>
        <p:spPr>
          <a:xfrm>
            <a:off x="548640" y="658368"/>
            <a:ext cx="6949440" cy="749808"/>
          </a:xfrm>
          <a:prstGeom prst="rect">
            <a:avLst/>
          </a:prstGeom>
          <a:noFill/>
          <a:ln/>
        </p:spPr>
        <p:txBody>
          <a:bodyPr wrap="square" lIns="0" tIns="0" rIns="0" bIns="0" rtlCol="0" anchor="t"/>
          <a:lstStyle/>
          <a:p>
            <a:pPr algn="l" indent="0" marL="0">
              <a:buNone/>
            </a:pPr>
            <a:r>
              <a:rPr lang="en-US" sz="3600" b="1" dirty="0">
                <a:solidFill>
                  <a:schemeClr val="bg1"/>
                </a:solidFill>
              </a:rPr>
              <a:t>Karar talebi ve sonraki adımlar</a:t>
            </a:r>
            <a:endParaRPr lang="en-US" sz="3600" dirty="0"/>
          </a:p>
        </p:txBody>
      </p:sp>
      <p:pic>
        <p:nvPicPr>
          <p:cNvPr id="4" name="Plato tarlaları" descr="/home/user/sunum/araclar/sunum/assets/karar.jpg">    </p:cNvPr>
          <p:cNvPicPr>
            <a:picLocks noChangeAspect="1"/>
          </p:cNvPicPr>
          <p:nvPr/>
        </p:nvPicPr>
        <p:blipFill>
          <a:blip r:embed="rId1"/>
          <a:stretch>
            <a:fillRect/>
          </a:stretch>
        </p:blipFill>
        <p:spPr>
          <a:xfrm>
            <a:off x="8031175" y="0"/>
            <a:ext cx="4160520" cy="6858000"/>
          </a:xfrm>
          <a:prstGeom prst="rect">
            <a:avLst/>
          </a:prstGeom>
        </p:spPr>
      </p:pic>
      <p:sp>
        <p:nvSpPr>
          <p:cNvPr id="5" name="Karar kutusu"/>
          <p:cNvSpPr/>
          <p:nvPr/>
        </p:nvSpPr>
        <p:spPr>
          <a:xfrm>
            <a:off x="548640" y="1600200"/>
            <a:ext cx="7071055" cy="1600200"/>
          </a:xfrm>
          <a:prstGeom prst="roundRect">
            <a:avLst>
              <a:gd name="adj" fmla="val 4571"/>
            </a:avLst>
          </a:prstGeom>
          <a:solidFill>
            <a:schemeClr val="bg1">
              <a:alpha val="12000"/>
            </a:schemeClr>
          </a:solidFill>
          <a:ln w="19050">
            <a:solidFill>
              <a:schemeClr val="accent4"/>
            </a:solidFill>
            <a:prstDash val="solid"/>
          </a:ln>
        </p:spPr>
      </p:sp>
      <p:sp>
        <p:nvSpPr>
          <p:cNvPr id="6" name="Text 3"/>
          <p:cNvSpPr txBox="1"/>
          <p:nvPr/>
        </p:nvSpPr>
        <p:spPr>
          <a:xfrm>
            <a:off x="822960" y="1764792"/>
            <a:ext cx="6522415" cy="1325880"/>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Talep</a:t>
            </a:r>
            <a:endParaRPr lang="en-US" sz="1400" dirty="0"/>
          </a:p>
          <a:p>
            <a:pPr indent="0" marL="0">
              <a:spcAft>
                <a:spcPts val="400"/>
              </a:spcAft>
              <a:buNone/>
            </a:pPr>
            <a:r>
              <a:rPr lang="en-US" sz="1900" dirty="0">
                <a:solidFill>
                  <a:schemeClr val="bg1"/>
                </a:solidFill>
                <a:latin typeface="Cambria" pitchFamily="34" charset="0"/>
                <a:ea typeface="Cambria" pitchFamily="34" charset="-122"/>
                <a:cs typeface="Cambria" pitchFamily="34" charset="-120"/>
              </a:rPr>
              <a:t>Örencik'teki 511.000 m²'lik Hazine arazisinin savunma ve havacılık sanayi çalışanlarına yönelik bir yaşam alanı olarak değerlendirilmesi.</a:t>
            </a:r>
            <a:endParaRPr lang="en-US" sz="1400" dirty="0"/>
          </a:p>
        </p:txBody>
      </p:sp>
      <p:sp>
        <p:nvSpPr>
          <p:cNvPr id="7" name="Adım numarası"/>
          <p:cNvSpPr/>
          <p:nvPr/>
        </p:nvSpPr>
        <p:spPr>
          <a:xfrm>
            <a:off x="548640" y="3429000"/>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8" name="Text 5"/>
          <p:cNvSpPr txBox="1"/>
          <p:nvPr/>
        </p:nvSpPr>
        <p:spPr>
          <a:xfrm>
            <a:off x="1143000" y="3410712"/>
            <a:ext cx="6476695" cy="457200"/>
          </a:xfrm>
          <a:prstGeom prst="rect">
            <a:avLst/>
          </a:prstGeom>
          <a:noFill/>
          <a:ln/>
        </p:spPr>
        <p:txBody>
          <a:bodyPr wrap="square" lIns="0" tIns="0" rIns="0" bIns="0" rtlCol="0" anchor="ctr"/>
          <a:lstStyle/>
          <a:p>
            <a:pPr indent="0" marL="0">
              <a:buNone/>
            </a:pPr>
            <a:r>
              <a:rPr lang="en-US" sz="1600" dirty="0">
                <a:solidFill>
                  <a:schemeClr val="bg1"/>
                </a:solidFill>
              </a:rPr>
              <a:t>Parsel bilgisi ve sayısal halihazır harita</a:t>
            </a:r>
            <a:endParaRPr lang="en-US" sz="1600" dirty="0"/>
          </a:p>
        </p:txBody>
      </p:sp>
      <p:sp>
        <p:nvSpPr>
          <p:cNvPr id="9" name="Adım numarası"/>
          <p:cNvSpPr/>
          <p:nvPr/>
        </p:nvSpPr>
        <p:spPr>
          <a:xfrm>
            <a:off x="548640" y="4005072"/>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0" name="Text 7"/>
          <p:cNvSpPr txBox="1"/>
          <p:nvPr/>
        </p:nvSpPr>
        <p:spPr>
          <a:xfrm>
            <a:off x="1143000" y="3986784"/>
            <a:ext cx="6476695" cy="457200"/>
          </a:xfrm>
          <a:prstGeom prst="rect">
            <a:avLst/>
          </a:prstGeom>
          <a:noFill/>
          <a:ln/>
        </p:spPr>
        <p:txBody>
          <a:bodyPr wrap="square" lIns="0" tIns="0" rIns="0" bIns="0" rtlCol="0" anchor="ctr"/>
          <a:lstStyle/>
          <a:p>
            <a:pPr indent="0" marL="0">
              <a:buNone/>
            </a:pPr>
            <a:r>
              <a:rPr lang="en-US" sz="1600" dirty="0">
                <a:solidFill>
                  <a:schemeClr val="bg1"/>
                </a:solidFill>
              </a:rPr>
              <a:t>Yamaçların hukuki statüsü (6831) ve zemin etüdü</a:t>
            </a:r>
            <a:endParaRPr lang="en-US" sz="1600" dirty="0"/>
          </a:p>
        </p:txBody>
      </p:sp>
      <p:sp>
        <p:nvSpPr>
          <p:cNvPr id="11" name="Adım numarası"/>
          <p:cNvSpPr/>
          <p:nvPr/>
        </p:nvSpPr>
        <p:spPr>
          <a:xfrm>
            <a:off x="548640" y="4581144"/>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2" name="Text 9"/>
          <p:cNvSpPr txBox="1"/>
          <p:nvPr/>
        </p:nvSpPr>
        <p:spPr>
          <a:xfrm>
            <a:off x="1143000" y="4562856"/>
            <a:ext cx="6476695" cy="457200"/>
          </a:xfrm>
          <a:prstGeom prst="rect">
            <a:avLst/>
          </a:prstGeom>
          <a:noFill/>
          <a:ln/>
        </p:spPr>
        <p:txBody>
          <a:bodyPr wrap="square" lIns="0" tIns="0" rIns="0" bIns="0" rtlCol="0" anchor="ctr"/>
          <a:lstStyle/>
          <a:p>
            <a:pPr indent="0" marL="0">
              <a:buNone/>
            </a:pPr>
            <a:r>
              <a:rPr lang="en-US" sz="1600" dirty="0">
                <a:solidFill>
                  <a:schemeClr val="bg1"/>
                </a:solidFill>
              </a:rPr>
              <a:t>İmar durumu; ASKİ, Başkent EDAŞ, Başkentgaz görüşleri</a:t>
            </a:r>
            <a:endParaRPr lang="en-US" sz="1600" dirty="0"/>
          </a:p>
        </p:txBody>
      </p:sp>
      <p:sp>
        <p:nvSpPr>
          <p:cNvPr id="13" name="Adım numarası"/>
          <p:cNvSpPr/>
          <p:nvPr/>
        </p:nvSpPr>
        <p:spPr>
          <a:xfrm>
            <a:off x="548640" y="5157216"/>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14" name="Text 11"/>
          <p:cNvSpPr txBox="1"/>
          <p:nvPr/>
        </p:nvSpPr>
        <p:spPr>
          <a:xfrm>
            <a:off x="1143000" y="5138928"/>
            <a:ext cx="6476695" cy="457200"/>
          </a:xfrm>
          <a:prstGeom prst="rect">
            <a:avLst/>
          </a:prstGeom>
          <a:noFill/>
          <a:ln/>
        </p:spPr>
        <p:txBody>
          <a:bodyPr wrap="square" lIns="0" tIns="0" rIns="0" bIns="0" rtlCol="0" anchor="ctr"/>
          <a:lstStyle/>
          <a:p>
            <a:pPr indent="0" marL="0">
              <a:buNone/>
            </a:pPr>
            <a:r>
              <a:rPr lang="en-US" sz="1600" dirty="0">
                <a:solidFill>
                  <a:schemeClr val="bg1"/>
                </a:solidFill>
              </a:rPr>
              <a:t>TUSAŞ çalışanlarına ön talep anketi</a:t>
            </a:r>
            <a:endParaRPr lang="en-US" sz="1600" dirty="0"/>
          </a:p>
        </p:txBody>
      </p:sp>
      <p:sp>
        <p:nvSpPr>
          <p:cNvPr id="15" name="Adım numarası"/>
          <p:cNvSpPr/>
          <p:nvPr/>
        </p:nvSpPr>
        <p:spPr>
          <a:xfrm>
            <a:off x="548640" y="5733288"/>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tx2"/>
                </a:solidFill>
              </a:rPr>
              <a:t>5</a:t>
            </a:r>
            <a:endParaRPr lang="en-US" sz="1500" dirty="0"/>
          </a:p>
        </p:txBody>
      </p:sp>
      <p:sp>
        <p:nvSpPr>
          <p:cNvPr id="16" name="Text 13"/>
          <p:cNvSpPr txBox="1"/>
          <p:nvPr/>
        </p:nvSpPr>
        <p:spPr>
          <a:xfrm>
            <a:off x="1143000" y="5715000"/>
            <a:ext cx="6476695" cy="457200"/>
          </a:xfrm>
          <a:prstGeom prst="rect">
            <a:avLst/>
          </a:prstGeom>
          <a:noFill/>
          <a:ln/>
        </p:spPr>
        <p:txBody>
          <a:bodyPr wrap="square" lIns="0" tIns="0" rIns="0" bIns="0" rtlCol="0" anchor="ctr"/>
          <a:lstStyle/>
          <a:p>
            <a:pPr indent="0" marL="0">
              <a:buNone/>
            </a:pPr>
            <a:r>
              <a:rPr lang="en-US" sz="1600" dirty="0">
                <a:solidFill>
                  <a:schemeClr val="bg1"/>
                </a:solidFill>
              </a:rPr>
              <a:t>SSB, TUSAŞ, ABB, Kahramankazan Belediyesi, MEB ve Sağlık Bakanlığı ile çalışma grubu</a:t>
            </a:r>
            <a:endParaRPr lang="en-US" sz="1600" dirty="0"/>
          </a:p>
        </p:txBody>
      </p:sp>
    </p:spTree>
  </p:cSld>
  <p:clrMapOvr>
    <a:masterClrMapping/>
  </p:clrMapOvr>
</p:sld>
</file>

<file path=ppt/theme/theme1.xml><?xml version="1.0" encoding="utf-8"?>
<a:theme xmlns:a="http://schemas.openxmlformats.org/drawingml/2006/main" name="Örencik">
  <a:themeElements>
    <a:clrScheme name="Örencik">
      <a:dk1>
        <a:srgbClr val="1B2430"/>
      </a:dk1>
      <a:lt1>
        <a:srgbClr val="FFFFFF"/>
      </a:lt1>
      <a:dk2>
        <a:srgbClr val="0B2E4F"/>
      </a:dk2>
      <a:lt2>
        <a:srgbClr val="F6F4EE"/>
      </a:lt2>
      <a:accent1>
        <a:srgbClr val="9A5418"/>
      </a:accent1>
      <a:accent2>
        <a:srgbClr val="3E7CB1"/>
      </a:accent2>
      <a:accent3>
        <a:srgbClr val="6B8F5E"/>
      </a:accent3>
      <a:accent4>
        <a:srgbClr val="D9A441"/>
      </a:accent4>
      <a:accent5>
        <a:srgbClr val="5E6875"/>
      </a:accent5>
      <a:accent6>
        <a:srgbClr val="B5453A"/>
      </a:accent6>
      <a:hlink>
        <a:srgbClr val="3E7CB1"/>
      </a:hlink>
      <a:folHlink>
        <a:srgbClr val="6B5B95"/>
      </a:folHlink>
    </a:clrScheme>
    <a:fontScheme name="Örenci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Belen &amp; Partners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Örencik yaşam alanı fizibilitesi</dc:title>
  <dc:subject>Savunma ve havacılık sanayi çalışanları için akıllı bir yaşam alanı</dc:subject>
  <dc:creator>Belen &amp; Partners</dc:creator>
  <cp:lastModifiedBy>Belen &amp; Partners</cp:lastModifiedBy>
  <cp:revision>1</cp:revision>
  <dcterms:created xsi:type="dcterms:W3CDTF">2026-10-23T12:52:59Z</dcterms:created>
  <dcterms:modified xsi:type="dcterms:W3CDTF">2026-10-23T12:52:59Z</dcterms:modified>
</cp:coreProperties>
</file>