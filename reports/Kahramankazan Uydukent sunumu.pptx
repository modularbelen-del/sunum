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d1d22c8b-eced-20c9-9f18-3ddce37fd8f3}">
          <p14:sldIdLst>
            <p14:sldId id="256"/>
            <p14:sldId id="257"/>
            <p14:sldId id="258"/>
            <p14:sldId id="259"/>
          </p14:sldIdLst>
        </p14:section>
        <p14:section name="Yer ve saha" id="{a1c532cb-38fa-bd27-ce52-242673e020ea}">
          <p14:sldIdLst>
            <p14:sldId id="260"/>
            <p14:sldId id="261"/>
            <p14:sldId id="262"/>
            <p14:sldId id="263"/>
            <p14:sldId id="264"/>
          </p14:sldIdLst>
        </p14:section>
        <p14:section name="Yaşam alanı" id="{03e5e357-67d1-7f58-fc0f-5b0d0c5f8b15}">
          <p14:sldIdLst>
            <p14:sldId id="265"/>
            <p14:sldId id="266"/>
            <p14:sldId id="267"/>
            <p14:sldId id="268"/>
            <p14:sldId id="269"/>
            <p14:sldId id="270"/>
            <p14:sldId id="271"/>
            <p14:sldId id="272"/>
            <p14:sldId id="273"/>
            <p14:sldId id="274"/>
          </p14:sldIdLst>
        </p14:section>
        <p14:section name="Yatırım ve fayda" id="{3ce0b129-ce19-0842-a1e8-343d87001cfb}">
          <p14:sldIdLst>
            <p14:sldId id="275"/>
            <p14:sldId id="276"/>
          </p14:sldIdLst>
        </p14:section>
        <p14:section name="Uygulama" id="{6ecd0f57-1289-6c71-b7ee-e894cb3ea834}">
          <p14:sldIdLst>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Savunma sanayii istihdamı (bin kişi)</a:t>
            </a:r>
          </a:p>
        </c:rich>
      </c:tx>
      <c:layout/>
      <c:overlay val="0"/>
    </c:title>
    <c:autoTitleDeleted val="0"/>
    <c:plotArea>
      <c:layout/>
      <c:barChart>
        <c:barDir val="col"/>
        <c:grouping val="clustered"/>
        <c:varyColors val="0"/>
        <c:ser>
          <c:idx val="0"/>
          <c:order val="0"/>
          <c:tx>
            <c:strRef>
              <c:f>Sheet1!$B$1</c:f>
              <c:strCache>
                <c:ptCount val="1"/>
                <c:pt idx="0">
                  <c:v>Savunma sanayii istihdamı</c:v>
                </c:pt>
              </c:strCache>
            </c:strRef>
          </c:tx>
          <c:spPr>
            <a:solidFill>
              <a:srgbClr val="0B2E4F"/>
            </a:solidFill>
            <a:effectLst/>
          </c:spPr>
          <c:invertIfNegative val="0"/>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2022</c:v>
                  </c:pt>
                  <c:pt idx="1">
                    <c:v>2028 hedefi</c:v>
                  </c:pt>
                </c:lvl>
              </c:multiLvlStrCache>
            </c:multiLvlStrRef>
          </c:cat>
          <c:val>
            <c:numRef>
              <c:f>Sheet1!$B$2:$B$3</c:f>
              <c:numCache>
                <c:formatCode>General</c:formatCode>
                <c:ptCount val="2"/>
                <c:pt idx="0">
                  <c:v>81.1</c:v>
                </c:pt>
                <c:pt idx="1">
                  <c:v>158</c:v>
                </c:pt>
              </c:numCache>
            </c:numRef>
          </c:val>
        </c:ser>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80"/>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Arazi kullanımı (ha; toplam 51,1)</a:t>
            </a:r>
          </a:p>
        </c:rich>
      </c:tx>
      <c:layout/>
      <c:overlay val="0"/>
    </c:title>
    <c:autoTitleDeleted val="0"/>
    <c:plotArea>
      <c:layout/>
      <c:barChart>
        <c:barDir val="bar"/>
        <c:grouping val="clustered"/>
        <c:varyColors val="0"/>
        <c:ser>
          <c:idx val="0"/>
          <c:order val="0"/>
          <c:tx>
            <c:strRef>
              <c:f>Sheet1!$B$1</c:f>
              <c:strCache>
                <c:ptCount val="1"/>
                <c:pt idx="0">
                  <c:v>Alan (ha)</c:v>
                </c:pt>
              </c:strCache>
            </c:strRef>
          </c:tx>
          <c:spPr>
            <a:solidFill>
              <a:srgbClr val="6B8F5E"/>
            </a:solidFill>
            <a:effectLst/>
          </c:spPr>
          <c:invertIfNegative val="0"/>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Sheet1!$A$2:$A$9</c:f>
              <c:multiLvlStrCache>
                <c:ptCount val="8"/>
                <c:lvl>
                  <c:pt idx="0">
                    <c:v>Konut adaları (net)</c:v>
                  </c:pt>
                  <c:pt idx="1">
                    <c:v>Yollar, otopark, aktarma</c:v>
                  </c:pt>
                  <c:pt idx="2">
                    <c:v>Korunan yamaç ve yarıntılar</c:v>
                  </c:pt>
                  <c:pt idx="3">
                    <c:v>Yapay göl ve göl parkı</c:v>
                  </c:pt>
                  <c:pt idx="4">
                    <c:v>Eğitim</c:v>
                  </c:pt>
                  <c:pt idx="5">
                    <c:v>Sağlık, sosyal, ibadet, teknik</c:v>
                  </c:pt>
                  <c:pt idx="6">
                    <c:v>Spor ve mahalle parkları</c:v>
                  </c:pt>
                  <c:pt idx="7">
                    <c:v>Mahalle merkezi ve ticaret</c:v>
                  </c:pt>
                </c:lvl>
              </c:multiLvlStrCache>
            </c:multiLvlStrRef>
          </c:cat>
          <c:val>
            <c:numRef>
              <c:f>Sheet1!$B$2:$B$9</c:f>
              <c:numCache>
                <c:formatCode>General</c:formatCode>
                <c:ptCount val="8"/>
                <c:pt idx="0">
                  <c:v>13.1</c:v>
                </c:pt>
                <c:pt idx="1">
                  <c:v>10.2</c:v>
                </c:pt>
                <c:pt idx="2">
                  <c:v>10</c:v>
                </c:pt>
                <c:pt idx="3">
                  <c:v>6</c:v>
                </c:pt>
                <c:pt idx="4">
                  <c:v>4.9</c:v>
                </c:pt>
                <c:pt idx="5">
                  <c:v>3.2</c:v>
                </c:pt>
                <c:pt idx="6">
                  <c:v>2.5</c:v>
                </c:pt>
                <c:pt idx="7">
                  <c:v>1.2</c:v>
                </c:pt>
              </c:numCache>
            </c:numRef>
          </c:val>
        </c:ser>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5"/>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Kademelere göre öğrenci</a:t>
            </a:r>
          </a:p>
        </c:rich>
      </c:tx>
      <c:layout/>
      <c:overlay val="0"/>
    </c:title>
    <c:autoTitleDeleted val="0"/>
    <c:plotArea>
      <c:layout/>
      <c:barChart>
        <c:barDir val="col"/>
        <c:grouping val="clustered"/>
        <c:varyColors val="0"/>
        <c:ser>
          <c:idx val="0"/>
          <c:order val="0"/>
          <c:tx>
            <c:strRef>
              <c:f>Sheet1!$B$1</c:f>
              <c:strCache>
                <c:ptCount val="1"/>
                <c:pt idx="0">
                  <c:v>Öğrenci</c:v>
                </c:pt>
              </c:strCache>
            </c:strRef>
          </c:tx>
          <c:spPr>
            <a:solidFill>
              <a:srgbClr val="3E7CB1"/>
            </a:solidFill>
            <a:effectLst/>
          </c:spPr>
          <c:invertIfNegative val="0"/>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Kreş ve anaokulu</c:v>
                  </c:pt>
                  <c:pt idx="1">
                    <c:v>İlkokul</c:v>
                  </c:pt>
                  <c:pt idx="2">
                    <c:v>Ortaokul</c:v>
                  </c:pt>
                  <c:pt idx="3">
                    <c:v>Lise</c:v>
                  </c:pt>
                </c:lvl>
              </c:multiLvlStrCache>
            </c:multiLvlStrRef>
          </c:cat>
          <c:val>
            <c:numRef>
              <c:f>Sheet1!$B$2:$B$5</c:f>
              <c:numCache>
                <c:formatCode>General</c:formatCode>
                <c:ptCount val="4"/>
                <c:pt idx="0">
                  <c:v>338</c:v>
                </c:pt>
                <c:pt idx="1">
                  <c:v>450</c:v>
                </c:pt>
                <c:pt idx="2">
                  <c:v>412</c:v>
                </c:pt>
                <c:pt idx="3">
                  <c:v>338</c:v>
                </c:pt>
              </c:numCache>
            </c:numRef>
          </c:val>
        </c:ser>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52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Baz senaryo, milyar TL</a:t>
            </a:r>
          </a:p>
        </c:rich>
      </c:tx>
      <c:layout/>
      <c:overlay val="0"/>
    </c:title>
    <c:autoTitleDeleted val="0"/>
    <c:plotArea>
      <c:layout/>
      <c:barChart>
        <c:barDir val="bar"/>
        <c:grouping val="clustered"/>
        <c:varyColors val="0"/>
        <c:ser>
          <c:idx val="0"/>
          <c:order val="0"/>
          <c:tx>
            <c:strRef>
              <c:f>Sheet1!$B$1</c:f>
              <c:strCache>
                <c:ptCount val="1"/>
                <c:pt idx="0">
                  <c:v>Baz senaryo (milyar TL)</c:v>
                </c:pt>
              </c:strCache>
            </c:strRef>
          </c:tx>
          <c:spPr>
            <a:solidFill>
              <a:srgbClr val="0B2E4F"/>
            </a:solidFill>
            <a:effectLst/>
          </c:spPr>
          <c:invertIfNegative val="0"/>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B2E4F"/>
              </a:solidFill>
              <a:effectLst/>
            </c:spPr>
          </c:dPt>
          <c:dPt>
            <c:idx val="1"/>
            <c:invertIfNegative val="0"/>
            <c:bubble3D val="0"/>
            <c:spPr>
              <a:solidFill>
                <a:srgbClr val="9A5418"/>
              </a:solidFill>
              <a:effectLst/>
            </c:spPr>
          </c:dPt>
          <c:dPt>
            <c:idx val="2"/>
            <c:invertIfNegative val="0"/>
            <c:bubble3D val="0"/>
            <c:spPr>
              <a:solidFill>
                <a:srgbClr val="5E6875"/>
              </a:solidFill>
              <a:effectLst/>
            </c:spPr>
          </c:dPt>
          <c:dPt>
            <c:idx val="3"/>
            <c:invertIfNegative val="0"/>
            <c:bubble3D val="0"/>
            <c:spPr>
              <a:solidFill>
                <a:srgbClr val="9A5418"/>
              </a:solidFill>
              <a:effectLst/>
            </c:spPr>
          </c:dPt>
          <c:dPt>
            <c:idx val="4"/>
            <c:invertIfNegative val="0"/>
            <c:bubble3D val="0"/>
            <c:spPr>
              <a:solidFill>
                <a:srgbClr val="0B2E4F"/>
              </a:solidFill>
              <a:effectLst/>
            </c:spPr>
          </c:dPt>
          <c:dPt>
            <c:idx val="5"/>
            <c:invertIfNegative val="0"/>
            <c:bubble3D val="0"/>
            <c:spPr>
              <a:solidFill>
                <a:srgbClr val="9A5418"/>
              </a:solidFill>
              <a:effectLst/>
            </c:spPr>
          </c:dPt>
          <c:dPt>
            <c:idx val="6"/>
            <c:invertIfNegative val="0"/>
            <c:bubble3D val="0"/>
            <c:spPr>
              <a:solidFill>
                <a:srgbClr val="9A5418"/>
              </a:solidFill>
              <a:effectLst/>
            </c:spPr>
          </c:dPt>
          <c:dPt>
            <c:idx val="7"/>
            <c:invertIfNegative val="0"/>
            <c:bubble3D val="0"/>
            <c:spPr>
              <a:solidFill>
                <a:srgbClr val="9A5418"/>
              </a:solidFill>
              <a:effectLst/>
            </c:spPr>
          </c:dPt>
          <c:dPt>
            <c:idx val="8"/>
            <c:invertIfNegative val="0"/>
            <c:bubble3D val="0"/>
            <c:spPr>
              <a:solidFill>
                <a:srgbClr val="0B2E4F"/>
              </a:solidFill>
              <a:effectLst/>
            </c:spPr>
          </c:dPt>
          <c:dPt>
            <c:idx val="9"/>
            <c:invertIfNegative val="0"/>
            <c:bubble3D val="0"/>
            <c:spPr>
              <a:solidFill>
                <a:srgbClr val="9A5418"/>
              </a:solidFill>
              <a:effectLst/>
            </c:spPr>
          </c:dPt>
          <c:cat>
            <c:multiLvlStrRef>
              <c:f>Sheet1!$A$2:$A$11</c:f>
              <c:multiLvlStrCache>
                <c:ptCount val="10"/>
                <c:lvl>
                  <c:pt idx="0">
                    <c:v>Konutlar</c:v>
                  </c:pt>
                  <c:pt idx="1">
                    <c:v>Kentsel altyapı</c:v>
                  </c:pt>
                  <c:pt idx="2">
                    <c:v>Proje, etüt, beklenmeyen (%10)</c:v>
                  </c:pt>
                  <c:pt idx="3">
                    <c:v>Ekspres hat ve aktarma</c:v>
                  </c:pt>
                  <c:pt idx="4">
                    <c:v>Mahalle merkezi ve ticaret</c:v>
                  </c:pt>
                  <c:pt idx="5">
                    <c:v>Göl, parklar, yamaç parkurları</c:v>
                  </c:pt>
                  <c:pt idx="6">
                    <c:v>Kültür, spor, sağlık</c:v>
                  </c:pt>
                  <c:pt idx="7">
                    <c:v>Devlet okul kampüsü</c:v>
                  </c:pt>
                  <c:pt idx="8">
                    <c:v>Özel okul kampüsü</c:v>
                  </c:pt>
                  <c:pt idx="9">
                    <c:v>Akıllı şehir sistemleri</c:v>
                  </c:pt>
                </c:lvl>
              </c:multiLvlStrCache>
            </c:multiLvlStrRef>
          </c:cat>
          <c:val>
            <c:numRef>
              <c:f>Sheet1!$B$2:$B$11</c:f>
              <c:numCache>
                <c:formatCode>General</c:formatCode>
                <c:ptCount val="10"/>
                <c:pt idx="0">
                  <c:v>7.94</c:v>
                </c:pt>
                <c:pt idx="1">
                  <c:v>1.59</c:v>
                </c:pt>
                <c:pt idx="2">
                  <c:v>1.14</c:v>
                </c:pt>
                <c:pt idx="3">
                  <c:v>0.48</c:v>
                </c:pt>
                <c:pt idx="4">
                  <c:v>0.32</c:v>
                </c:pt>
                <c:pt idx="5">
                  <c:v>0.3</c:v>
                </c:pt>
                <c:pt idx="6">
                  <c:v>0.28</c:v>
                </c:pt>
                <c:pt idx="7">
                  <c:v>0.2</c:v>
                </c:pt>
                <c:pt idx="8">
                  <c:v>0.16</c:v>
                </c:pt>
                <c:pt idx="9">
                  <c:v>0.15</c:v>
                </c:pt>
              </c:numCache>
            </c:numRef>
          </c:val>
        </c:ser>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9.2"/>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Milyar TL (reel %5 indirim)</a:t>
            </a:r>
          </a:p>
        </c:rich>
      </c:tx>
      <c:layout/>
      <c:overlay val="0"/>
    </c:title>
    <c:autoTitleDeleted val="0"/>
    <c:plotArea>
      <c:layout/>
      <c:barChart>
        <c:barDir val="col"/>
        <c:grouping val="clustered"/>
        <c:varyColors val="0"/>
        <c:ser>
          <c:idx val="0"/>
          <c:order val="0"/>
          <c:tx>
            <c:strRef>
              <c:f>Sheet1!$B$1</c:f>
              <c:strCache>
                <c:ptCount val="1"/>
                <c:pt idx="0">
                  <c:v>Ulaşım faydası, 30 yıllık bugünkü değer</c:v>
                </c:pt>
              </c:strCache>
            </c:strRef>
          </c:tx>
          <c:spPr>
            <a:solidFill>
              <a:srgbClr val="6B8F5E"/>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Sheet1!$B$2:$B$4</c:f>
              <c:numCache>
                <c:formatCode>General</c:formatCode>
                <c:ptCount val="3"/>
                <c:pt idx="0">
                  <c:v>0.62</c:v>
                </c:pt>
                <c:pt idx="1">
                  <c:v>0.92</c:v>
                </c:pt>
                <c:pt idx="2">
                  <c:v>1.95</c:v>
                </c:pt>
              </c:numCache>
            </c:numRef>
          </c:val>
        </c:ser>
        <c:ser>
          <c:idx val="1"/>
          <c:order val="1"/>
          <c:tx>
            <c:strRef>
              <c:f>Sheet1!$C$1</c:f>
              <c:strCache>
                <c:ptCount val="1"/>
                <c:pt idx="0">
                  <c:v>Kamu ve ortak kullanım payı</c:v>
                </c:pt>
              </c:strCache>
            </c:strRef>
          </c:tx>
          <c:spPr>
            <a:solidFill>
              <a:srgbClr val="9A5418"/>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Sheet1!$C$2:$C$4</c:f>
              <c:numCache>
                <c:formatCode>General</c:formatCode>
                <c:ptCount val="3"/>
                <c:pt idx="0">
                  <c:v>2.54</c:v>
                </c:pt>
                <c:pt idx="1">
                  <c:v>3.29</c:v>
                </c:pt>
                <c:pt idx="2">
                  <c:v>4.11</c:v>
                </c:pt>
              </c:numCache>
            </c:numRef>
          </c:val>
        </c:ser>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8"/>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Belen &amp; Partners olarak Kahramankazan Sarıayak'taki 511 bin metrekarelik Hazine arazisi için hazırladığımız Kahramankazan Uydukent fizibilitesini sunuyoruz. Arka plandaki fotoğraf bölgeden Kahramankazan ovasına bakıyor; drone çekimi 22 Eylül 2026. Bu bir taslaktır; rakamların bir kısmı kurumlardan teyit bekliyor.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 cümlelik mesaj bu. Arazi Hazine'nin; satın alınmıyor, ne yapılacağına Cumhurbaşkanlığı karar verecek. Önerilen senaryo 2.500 konut ve yaklaşık 7.500 kişi. Toplam yatırım baz senaryoda yaklaşık 12,5 milyar TL; aralık 9,9 ile 15,9 milyar TL. HAB ve Kınık sanayi alanlarına 35 dakikanın altı bir hedef; Uydukent Ekspres ile sağlanıyor.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şimdi? Kalkınma Planı sektörün istihdamını altı yılda neredeyse ikiye katlamayı hedefliyor. Bu insanların yaşayacağı, çocuklarını okutacağı yer bir altyapı sorunu. SSB'nin kendi stratejik planı deneyimli personelin ayrılmasını resmi tehdit olarak tanımlıyor. TUSAŞ çalışan sayısı kaynağa göre 13 ile 17 bin arasında; 2026 için resmi rakam yok, teyit edilecek.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tek başına bir proje değil; Kahramankazan için kurgulanan 2030 savunma sanayii ekosisteminin parçası. Ekosistemde ilçe merkezinin kentsel dönüşümü, Kışla'daki HAB uzay gelişim alanı, Kınık'taki özel endüstri sanayi alanı, Soğucak'taki tropik yaşam ve sağlık merkezi ve bunları bağlayan hafif raylı sistem var. Ekosistemin tamamı 35,6 milyon metrekare ve diğer projelerle birlikte 100 ile 200 bin kişilik bir kapasite. Uydukent bunun yaşam alanı ayağı: 51,1 hektar, 2.500 konut, yaklaşık 7.500 kişi. İlk brifteki 100 bin kişi rakamı da bu ekosistem ölçeğine karşılık geliyor.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Sarıayak'ta, Kahramankazan merkezine 8 kilometre. Kınık sanayi alanına 11, Kınık üzerinden HAB ve Kışla bölgesine yaklaşık 19 kilometre. Sanayi bölgelerine en yakın nokta değil: Eryaman ve Yenikent TUSAŞ'a daha yakın, bunu açıkça söylüyoruz. Avantaj, Ankara'nın en sıkışık sabah koridoru olan Batıkent–Susuz kesimine hiç girmeden, ilçe içinden ekspres hatla gidilmesi. Mesafeler proje ekibinin bölge görselinden; yol mesafesi mi kuş uçuşu mu olduğu teyit edilecek.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Uydukent'i üç seçenekle karşılaştırdık: hiçbir şey yapmamak, HAB'ın hemen yanında bir saha ve Yenikent. Uydukent'in orta düzeyde iki noktası var: sanayi bölgelerine uzaklık ve raylı sistemin henüz olmaması; ikisini de ekspres hat ve ekosistemde planlanan hafif raylı sistemle karşılıyoruz. Güçlü yanları: tek malikli kamu arazisi, kamulaştırma yok; askeri yasak bölgenin ve uçuş yüzeylerinin dışında; konut stratejik tesisin etrafını sarmıyor, tesisin büyüme alanı korunuyor; ilçe merkezinin hizmetlerine yaslanıyor. B ve C için arazi mülkiyeti araştırılmadı.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Drone görüntüleri bölgenin arazi tipini gösteriyor; çekim Örencik çevresinde yapıldı, Sarıayak parselinin topoğrafyası ayrıca teyit edilecek. Arazi düz değil. Tepe üstündeki buğday platoları yapılaşmaya uygun bölümler. Yamaçlarda erozyon yarıntıları ve eşyükselti teraslarına dikilmiş genç çamlar var; bu teraslı ağaçlandırmanın hukuki statüsü teyit edilecek. Vadilerde eski köy yerleşimleri var; yeni yaşam alanı mevcut köyle birlikte tasarlanmalı. Platolardan ovaya geniş bir manzara açılıyor; bu bir değer.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Sahanın yedi başlığı. En kritik teyit, yamaçlardaki teraslı ağaçlandırmanın orman ya da ağaçlandırma statüsü; 6831 sayılı Kanun kapsamındaysa o alanlar yapılaşma dışında kalır. Programımız bu alanları zaten korunan yamaç olarak ayırıyor. Zemin için jeoteknik etüt şart. Ankara'nın üst ölçek planı iptal edildiği için imar durumu kurumlardan yazıyla istenmeli. Uydukent HAB ve Kışla bölgesine yaklaşık 19 kilometre; bu, askeri yasak bölgenin dışında kalmasını olası kılıyor. Pist ekseni ve gürültü ilişkisi parsel koordinatıyla yeniden hesaplanacak; okul ve sağlık tesisleri gerekirse eksenden uzak yerleştirilecek.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beş belgeyle doğrudan örtüşüyor. En güçlü bağ, Kalkınma Planı'nın savunma sanayii istihdam hedefi ve SSB'nin insan kaynağı tehdidi. Yerleşim ile toplu taşımanın birlikte planlanması, akıllı ve yeşil yerleşim ve sıfır atık da plan maddeleri. Akıllı şehirler stratejisinin hangi eylemine karşılık geldiğini sunumdan önce teyit edeceğiz.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senaryo hesapladık: 2.000, 2.500 ve 3.000 konut. Önerimiz 2.500 konut, yaklaşık 7.500 kişi. Arazinin yaklaşık beşte biri korunan yamaç; konut adaları net 13,1 hektar. Donatı alanları imar yönetmeliğinin Ek-2 standartlarıyla, ihtiyatlı kademeden hesaplandı. Brüt yoğunluk hektarda 49 konut; kendi projemiz TAI Ankara Lodgings'te bu değer 37,5.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şema ölçekli ama haritaya oturtulmadı, çünkü parsel sınırı elimizde değil. Mantık şu: yapay göl ve göl parkı merkezde. Kuzey kıyısında mahalle merkezi, kültür merkezi ve cami; doğuda aile sağlığı merkezi ve 112; güneyde spor kompleksi. Okullar batıda, konutlara yürüme mesafesinde. Dört mahalle platolarda. Yamaçlar ve yarıntılar alanı saran bir yeşil kuşak.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Eğitim, ailelerin taşınma kararında birinci ölçüt. Genç aile varsayımıyla yaklaşık 1.540 öğrenci ve 57 derslik çıkıyor. Önerimiz iki kampüs: MEB normunda bir devlet okul kampüsü ve iki dilli, nitelikli bir özel okul kampüsü. Kalıcı binalar bitene kadar modüler sınıflar ilk gün hizmet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Dünyada büyük işverenlerin yanında okul kurmak yaygın. Toulouse'daki uluslararası okul Airbus'ın talebiyle açıldı. Songdo'daki Chadwick 260–280 öğrenciyle başladı, bugün yaklaşık 1.500 öğrencisi var: talep büyüyor, kampüs buna göre planlanmalı. Wolfsburg'da Volkswagen okulu kurup şehre bağışladı. Türkiye'de Deneyap atölyeleri okullara eklenebilecek hazır bir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Sağlıkta üç basamak. Yerleşim içinde ilk günden aile sağlığı merkezi, 112 istasyonu ve poliklinik. İlçede, 2022'de açılan Kahramankazan Devlet Hastanesi; kaynaklarda yatak sayısı 150 ile 190 arasında değişiyor. Proje ekibi bu hastaneyi yeni şehir hastanesi olarak anmıştı; kaynaklarda devlet hastanesi olarak geçiyor. Bu yüzden arazide hastaneye yer ayırmıyoruz. Sejong'un dersi: acil hizmet baştan planlanmazsa aileler gitmiyor.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ekibinin planladığı yapay göl arazinin içinde, 2,5 hektar; çevresinde 3,5 hektar park. Doğal su kaynağı yok ve Ankara kuraklık yaşıyor: Ocak 2026'da barajlarda aktif doluluk yüzde 1'e indi. Bu yüzden önerimiz: göl yağmur suyu hasadı ve ileri arıtılmış atıksuyla beslenir, şebeke yalnızca acil durumda. Yarıntılardan gelen sediment için çökeltim havuzu, suyun durgunlaşmaması için sirkülasyon ve biyolojik arıtma ilk günden tasarlanır. Göl aynı zamanda taşkın dengeleme havzası ve sosyal yaşamın merkezi.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 göl mahallenin merkezi olarak kullanılıyor. Reston'da Lake Anne köy merkezi bugün tescilli miras. Columbia'da göllerin bakımı sakin aidatıyla yapılıyor; yani işletme modeli baştan kuruluyor. Singapur Bishan'da beton bir kanal doğal bir nehir parkına dönüştürüldü. Ankara'daki yerel ders Göksu Parkı: 2021–22'de su kalitesi sorunları yaşandı. Bu yüzden Uydukent'te sirkülasyon, arıtma ve bir işletmeci ilk günden planlanıyor.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Ulaşımda hedef, HAB ve Kınık sanayi alanlarına kapıdan kapıya 35 dakikanın altında ve her gün aynı sürede varmak. Güzergâh Uydukent'ten Kınık'a 11, oradan HAB ve Kışla bölgesine 8 kilometre. İlk günden mesaiye bağlı elektrikli ekspres otobüsler çalışır: 13 otobüs, sabah pikinde yaklaşık 875 yolcu. Bu, Batıkent–Susuz–Eryaman koridorundan pikte yaklaşık 560 otomobil çeker. Tek başına koridoru çözmez, ama aynı model başka firmalara yayılınca etki büyür. Koridor baştan raylı sistem standardında ayrılır; ekosistemde planlanan hafif raylı sisteme bağlantı talebe bağlı bir karar kapısı.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Akıllı şehir burada bir vitrin değil, ulaşım, eğitim ve sosyal yaşam sorunlarına hizmet eden araçlar. Songdo'nun dersi, teknolojinin tek başına topluluk kurmadığı; bu yüzden fiziksel buluşma yerleri ile birlikte planlanıyor. En önemli konu veri güvenliği: sakinlerin büyük kısmı savunma çalışanı olacak. Veri yurt içinde ve yerli altyapıda tutulur, yalnızca gereken veri toplanır, bağımsız güvenlik denetimi yapılır.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Sektör açısından iki hedef var: yeni mühendisleri bölgeye çekmek ve deneyimlileri tutmak. Bunu altı başlıkta karşılıyoruz: zaman, aile, eşler, topluluk, konut ve güven. Konutlar satılık ve herkese açık; savunma çalışanlarına öncelik tanınıyor. Kimin yapıp satacağı, yani uygulama modeli bu çalışmanın konusu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Toplam yatırım baz senaryoda 12,54 milyar TL, aralık 9,9 ile 15,9 milyar. Bunun büyük kısmı konut; konutlar, özel okul ve ticaret satış ve işletme gelirleriyle karşılanan kalemler. Kamu ve ortak kullanım payı, yani altyapı, devlet okulları, sağlık, kültür ve spor, göl ve parklar, akıllı şehir ve ekspres hat, yaklaşık 3,3 milyar TL, toplamın yüzde 26'sı. Tutarlar KDV ve arazi hariç; arazi Hazine'nin ve satın alınmıyor.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Ölçülebilen kamu faydasını dürüstçe hesapladık: kazanılan zaman, yakıt ve önlenen emisyon yılda 40 ile 127 milyon TL. Otuz yıllık bugünkü değeri kamu payının yüzde 19 ile 59'u arasında; yani tek başına kamu payını geri ödemiyor. Bu bir alt sınır, çünkü pek çok fayda ölçülmedi. Asıl gerekçe stratejik: Kalkınma Planı'nın istihdam hedefine ve SSB'nin tanımladığı yetenek kaybı tehdidine karşı bir yaşam alanı altyapısı.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kentlerden çıkan ana ders: hizmetler geç gelirse aileler taşınmıyor. Bu yüzden Aşama 0'da ulaşım, sağlık, kreş ve sosyal yaşamın ilk parçaları ilk konut teslimiyle aynı gün açılıyor; modüler yapılar bunu mümkün kılıyor. Her aşamanın önünde bir karar kapısı var: ilki bugün talep ettiğimiz karar, son kapı ise ekosistemin hafif raylı sistemine ancak talep yeterse bağlanılması.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Savunma sanayi için iki şehirde yerleşke ölçeğinde iş yaptık. Kahramankazan'da TAI Ankara Lodgings: 2022, 400 bin metrekare, 1.500 konut; okul, sağlık ocağı ve spor yürüme mesafesinde. Kahramanmaraş'ta lojmanlar ve fabrika; alan ve yıl bilgisi eklenecek. Ayrıca Kahramankazan'ın kentsel dönüşümü, kent merkezi ve Serapınar aynı ilçede. Uydukent bu planlama zincirinin yeni halkası.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kritik iki risk sahayla ilgili: yamaçların hukuki statüsü ve zemin. İkisi de sunumdan sonraki ilk teyit adımları. Su riski göl için özel bir kaynak planıyla, gürültü riski yerleşim düzeniyle, hizmetlerin geç gelmesi riski Aşama 0 ile karşılanıyor.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Talebimiz tek cümle: Sarıayak'taki Hazine arazisinin savunma ve havacılık sanayi çalışanlarına yönelik bir yaşam alanı olarak değerlendirilmesi. Bu karar verilirse ilk işler şunlar: parsel bilgisi ve halihazır harita, yamaçların statüsü ve zemin etüdü, imar ve altyapı kapasite görüşleri, savunma sanayi çalışanlarına ön talep anketi ve kurumlar arası bir çalışma grubu. Teşekkür ederiz.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accent5"/>
                </a:solidFill>
              </a:rPr>
              <a:t>Belen &amp; Partners · Kahramankazan Uydukent fizibilitesi · Ekim 2026 · Taslak</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YU">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 · Taslak</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86868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383280"/>
            <a:ext cx="7863840" cy="91440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RA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694944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 · Taslak</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2.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2.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Kapak fotoğrafı: bölgeden ova manzarası" descr="/home/user/sunum/araclar/sunum/assets/kapak.jpg">    </p:cNvPr>
          <p:cNvPicPr>
            <a:picLocks noChangeAspect="1"/>
          </p:cNvPicPr>
          <p:nvPr/>
        </p:nvPicPr>
        <p:blipFill>
          <a:blip r:embed="rId1"/>
          <a:stretch>
            <a:fillRect/>
          </a:stretch>
        </p:blipFill>
        <p:spPr>
          <a:xfrm>
            <a:off x="0" y="0"/>
            <a:ext cx="12191695" cy="6858000"/>
          </a:xfrm>
          <a:prstGeom prst="rect">
            <a:avLst/>
          </a:prstGeom>
        </p:spPr>
      </p:pic>
      <p:sp>
        <p:nvSpPr>
          <p:cNvPr id="3" name="Karartma"/>
          <p:cNvSpPr/>
          <p:nvPr/>
        </p:nvSpPr>
        <p:spPr>
          <a:xfrm>
            <a:off x="0" y="0"/>
            <a:ext cx="12191695" cy="6858000"/>
          </a:xfrm>
          <a:prstGeom prst="rect">
            <a:avLst/>
          </a:prstGeom>
          <a:solidFill>
            <a:schemeClr val="tx2">
              <a:alpha val="72000"/>
            </a:schemeClr>
          </a:solidFill>
          <a:ln/>
        </p:spPr>
      </p:sp>
      <p:sp>
        <p:nvSpPr>
          <p:cNvPr id="4" name="Text 1"/>
          <p:cNvSpPr txBox="1"/>
          <p:nvPr/>
        </p:nvSpPr>
        <p:spPr>
          <a:xfrm>
            <a:off x="548640" y="1600200"/>
            <a:ext cx="7315200" cy="320040"/>
          </a:xfrm>
          <a:prstGeom prst="rect">
            <a:avLst/>
          </a:prstGeom>
          <a:noFill/>
          <a:ln/>
        </p:spPr>
        <p:txBody>
          <a:bodyPr wrap="square" lIns="0" tIns="0" rIns="0" bIns="0" rtlCol="0" anchor="t"/>
          <a:lstStyle/>
          <a:p>
            <a:pPr indent="0" marL="0">
              <a:buNone/>
            </a:pPr>
            <a:r>
              <a:rPr lang="en-US" sz="1400" b="1" spc="200" kern="0" dirty="0">
                <a:solidFill>
                  <a:schemeClr val="accent4"/>
                </a:solidFill>
              </a:rPr>
              <a:t>FİZİBİLİTE SUNUMU · TASLAK</a:t>
            </a:r>
            <a:endParaRPr lang="en-US" sz="1400" dirty="0"/>
          </a:p>
        </p:txBody>
      </p:sp>
      <p:sp>
        <p:nvSpPr>
          <p:cNvPr id="5" name="Text 0"/>
          <p:cNvSpPr/>
          <p:nvPr>
            <p:ph idx="100" type="title" hasCustomPrompt="1"/>
          </p:nvPr>
        </p:nvSpPr>
        <p:spPr>
          <a:xfrm>
            <a:off x="548640" y="2148840"/>
            <a:ext cx="8686800" cy="1097280"/>
          </a:xfrm>
          <a:prstGeom prst="rect">
            <a:avLst/>
          </a:prstGeom>
          <a:noFill/>
          <a:ln/>
        </p:spPr>
        <p:txBody>
          <a:bodyPr wrap="square" lIns="0" tIns="0" rIns="0" bIns="0" rtlCol="0" anchor="b"/>
          <a:lstStyle/>
          <a:p>
            <a:pPr algn="l" indent="0" marL="0">
              <a:buNone/>
            </a:pPr>
            <a:r>
              <a:rPr lang="en-US" sz="5400" b="1" dirty="0">
                <a:solidFill>
                  <a:schemeClr val="bg1"/>
                </a:solidFill>
              </a:rPr>
              <a:t>Kahramankazan Uydukent</a:t>
            </a:r>
            <a:endParaRPr lang="en-US" sz="5400" dirty="0"/>
          </a:p>
        </p:txBody>
      </p:sp>
      <p:sp>
        <p:nvSpPr>
          <p:cNvPr id="6" name="Text 0"/>
          <p:cNvSpPr/>
          <p:nvPr>
            <p:ph idx="101" type="body" hasCustomPrompt="1"/>
          </p:nvPr>
        </p:nvSpPr>
        <p:spPr>
          <a:xfrm>
            <a:off x="548640" y="3383280"/>
            <a:ext cx="7863840" cy="914400"/>
          </a:xfrm>
          <a:prstGeom prst="rect">
            <a:avLst/>
          </a:prstGeom>
          <a:noFill/>
          <a:ln/>
        </p:spPr>
        <p:txBody>
          <a:bodyPr wrap="square" lIns="0" tIns="0" rIns="0" bIns="0" rtlCol="0" anchor="t"/>
          <a:lstStyle/>
          <a:p>
            <a:pPr algn="l" indent="0" marL="0">
              <a:buNone/>
            </a:pPr>
            <a:r>
              <a:rPr lang="en-US" sz="2200" dirty="0">
                <a:solidFill>
                  <a:schemeClr val="bg1"/>
                </a:solidFill>
              </a:rPr>
              <a:t>Savunma ve havacılık sanayi çalışanları için akıllı bir yaşam alanı</a:t>
            </a:r>
            <a:endParaRPr lang="en-US" sz="2200" dirty="0"/>
          </a:p>
        </p:txBody>
      </p:sp>
      <p:sp>
        <p:nvSpPr>
          <p:cNvPr id="7" name="Text 4"/>
          <p:cNvSpPr txBox="1"/>
          <p:nvPr/>
        </p:nvSpPr>
        <p:spPr>
          <a:xfrm>
            <a:off x="548640" y="4480560"/>
            <a:ext cx="7315200" cy="320040"/>
          </a:xfrm>
          <a:prstGeom prst="rect">
            <a:avLst/>
          </a:prstGeom>
          <a:noFill/>
          <a:ln/>
        </p:spPr>
        <p:txBody>
          <a:bodyPr wrap="square" lIns="0" tIns="0" rIns="0" bIns="0" rtlCol="0" anchor="t"/>
          <a:lstStyle/>
          <a:p>
            <a:pPr indent="0" marL="0">
              <a:buNone/>
            </a:pPr>
            <a:r>
              <a:rPr lang="en-US" sz="1600" dirty="0">
                <a:solidFill>
                  <a:schemeClr val="bg2"/>
                </a:solidFill>
              </a:rPr>
              <a:t>Sarıayak, Kahramankazan · 511.000 m² Hazine arazisi</a:t>
            </a:r>
            <a:endParaRPr lang="en-US" sz="1600" dirty="0"/>
          </a:p>
        </p:txBody>
      </p:sp>
      <p:sp>
        <p:nvSpPr>
          <p:cNvPr id="8" name="Text 5"/>
          <p:cNvSpPr txBox="1"/>
          <p:nvPr/>
        </p:nvSpPr>
        <p:spPr>
          <a:xfrm>
            <a:off x="548640" y="5989320"/>
            <a:ext cx="7315200" cy="320040"/>
          </a:xfrm>
          <a:prstGeom prst="rect">
            <a:avLst/>
          </a:prstGeom>
          <a:noFill/>
          <a:ln/>
        </p:spPr>
        <p:txBody>
          <a:bodyPr wrap="square" lIns="0" tIns="0" rIns="0" bIns="0" rtlCol="0" anchor="t"/>
          <a:lstStyle/>
          <a:p>
            <a:pPr indent="0" marL="0">
              <a:buNone/>
            </a:pPr>
            <a:r>
              <a:rPr lang="en-US" sz="1400" b="1" dirty="0">
                <a:solidFill>
                  <a:schemeClr val="bg1"/>
                </a:solidFill>
              </a:rPr>
              <a:t>Belen &amp; Partners · Ekim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ÖZET</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bg1"/>
                </a:solidFill>
              </a:rPr>
              <a:t>Önerimiz bir cümlede</a:t>
            </a:r>
            <a:endParaRPr lang="en-US" sz="3600" dirty="0"/>
          </a:p>
        </p:txBody>
      </p:sp>
      <p:sp>
        <p:nvSpPr>
          <p:cNvPr id="4" name="Text 2"/>
          <p:cNvSpPr txBox="1"/>
          <p:nvPr/>
        </p:nvSpPr>
        <p:spPr>
          <a:xfrm>
            <a:off x="548640" y="1691640"/>
            <a:ext cx="10241280" cy="137160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Sarıayak'taki 511 bin m²'lik Hazine arazisine, savunma ve havacılık sanayi çalışanları için okulu, sağlığı ve gölüyle, herkese açık bir yaşam alanı kurulabilir: Kahramankazan Uydukent.</a:t>
            </a:r>
            <a:endParaRPr lang="en-US" sz="2600" dirty="0"/>
          </a:p>
        </p:txBody>
      </p:sp>
      <p:sp>
        <p:nvSpPr>
          <p:cNvPr id="5" name="Gösterge"/>
          <p:cNvSpPr/>
          <p:nvPr/>
        </p:nvSpPr>
        <p:spPr>
          <a:xfrm>
            <a:off x="548640" y="3520440"/>
            <a:ext cx="2036003" cy="1783080"/>
          </a:xfrm>
          <a:prstGeom prst="roundRect">
            <a:avLst>
              <a:gd name="adj" fmla="val 4103"/>
            </a:avLst>
          </a:prstGeom>
          <a:solidFill>
            <a:schemeClr val="bg1">
              <a:alpha val="12000"/>
            </a:schemeClr>
          </a:solidFill>
          <a:ln/>
        </p:spPr>
      </p:sp>
      <p:sp>
        <p:nvSpPr>
          <p:cNvPr id="6" name="Text 4"/>
          <p:cNvSpPr txBox="1"/>
          <p:nvPr/>
        </p:nvSpPr>
        <p:spPr>
          <a:xfrm>
            <a:off x="731520"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51,1 ha</a:t>
            </a:r>
            <a:endParaRPr lang="en-US" sz="2800" dirty="0"/>
          </a:p>
        </p:txBody>
      </p:sp>
      <p:sp>
        <p:nvSpPr>
          <p:cNvPr id="7" name="Text 5"/>
          <p:cNvSpPr txBox="1"/>
          <p:nvPr/>
        </p:nvSpPr>
        <p:spPr>
          <a:xfrm>
            <a:off x="731520"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Hazine arazisi; satın alma yok</a:t>
            </a:r>
            <a:endParaRPr lang="en-US" sz="1400" dirty="0"/>
          </a:p>
        </p:txBody>
      </p:sp>
      <p:sp>
        <p:nvSpPr>
          <p:cNvPr id="8" name="Gösterge"/>
          <p:cNvSpPr/>
          <p:nvPr/>
        </p:nvSpPr>
        <p:spPr>
          <a:xfrm>
            <a:off x="2813243" y="3520440"/>
            <a:ext cx="2036003" cy="1783080"/>
          </a:xfrm>
          <a:prstGeom prst="roundRect">
            <a:avLst>
              <a:gd name="adj" fmla="val 4103"/>
            </a:avLst>
          </a:prstGeom>
          <a:solidFill>
            <a:schemeClr val="bg1">
              <a:alpha val="12000"/>
            </a:schemeClr>
          </a:solidFill>
          <a:ln/>
        </p:spPr>
      </p:sp>
      <p:sp>
        <p:nvSpPr>
          <p:cNvPr id="9" name="Text 7"/>
          <p:cNvSpPr txBox="1"/>
          <p:nvPr/>
        </p:nvSpPr>
        <p:spPr>
          <a:xfrm>
            <a:off x="2996123"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2.500</a:t>
            </a:r>
            <a:endParaRPr lang="en-US" sz="2800" dirty="0"/>
          </a:p>
        </p:txBody>
      </p:sp>
      <p:sp>
        <p:nvSpPr>
          <p:cNvPr id="10" name="Text 8"/>
          <p:cNvSpPr txBox="1"/>
          <p:nvPr/>
        </p:nvSpPr>
        <p:spPr>
          <a:xfrm>
            <a:off x="2996123"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konut (önerilen senaryo)</a:t>
            </a:r>
            <a:endParaRPr lang="en-US" sz="1400" dirty="0"/>
          </a:p>
        </p:txBody>
      </p:sp>
      <p:sp>
        <p:nvSpPr>
          <p:cNvPr id="11" name="Gösterge"/>
          <p:cNvSpPr/>
          <p:nvPr/>
        </p:nvSpPr>
        <p:spPr>
          <a:xfrm>
            <a:off x="5077846" y="3520440"/>
            <a:ext cx="2036003" cy="1783080"/>
          </a:xfrm>
          <a:prstGeom prst="roundRect">
            <a:avLst>
              <a:gd name="adj" fmla="val 4103"/>
            </a:avLst>
          </a:prstGeom>
          <a:solidFill>
            <a:schemeClr val="bg1">
              <a:alpha val="12000"/>
            </a:schemeClr>
          </a:solidFill>
          <a:ln/>
        </p:spPr>
      </p:sp>
      <p:sp>
        <p:nvSpPr>
          <p:cNvPr id="12" name="Text 10"/>
          <p:cNvSpPr txBox="1"/>
          <p:nvPr/>
        </p:nvSpPr>
        <p:spPr>
          <a:xfrm>
            <a:off x="5260726"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~7.500</a:t>
            </a:r>
            <a:endParaRPr lang="en-US" sz="2800" dirty="0"/>
          </a:p>
        </p:txBody>
      </p:sp>
      <p:sp>
        <p:nvSpPr>
          <p:cNvPr id="13" name="Text 11"/>
          <p:cNvSpPr txBox="1"/>
          <p:nvPr/>
        </p:nvSpPr>
        <p:spPr>
          <a:xfrm>
            <a:off x="5260726"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kişi</a:t>
            </a:r>
            <a:endParaRPr lang="en-US" sz="1400" dirty="0"/>
          </a:p>
        </p:txBody>
      </p:sp>
      <p:sp>
        <p:nvSpPr>
          <p:cNvPr id="14" name="Gösterge"/>
          <p:cNvSpPr/>
          <p:nvPr/>
        </p:nvSpPr>
        <p:spPr>
          <a:xfrm>
            <a:off x="7342449" y="3520440"/>
            <a:ext cx="2036003" cy="1783080"/>
          </a:xfrm>
          <a:prstGeom prst="roundRect">
            <a:avLst>
              <a:gd name="adj" fmla="val 4103"/>
            </a:avLst>
          </a:prstGeom>
          <a:solidFill>
            <a:schemeClr val="bg1">
              <a:alpha val="12000"/>
            </a:schemeClr>
          </a:solidFill>
          <a:ln/>
        </p:spPr>
      </p:sp>
      <p:sp>
        <p:nvSpPr>
          <p:cNvPr id="15" name="Text 13"/>
          <p:cNvSpPr txBox="1"/>
          <p:nvPr/>
        </p:nvSpPr>
        <p:spPr>
          <a:xfrm>
            <a:off x="7525329"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~12,5 mlr</a:t>
            </a:r>
            <a:endParaRPr lang="en-US" sz="2800" dirty="0"/>
          </a:p>
        </p:txBody>
      </p:sp>
      <p:sp>
        <p:nvSpPr>
          <p:cNvPr id="16" name="Text 14"/>
          <p:cNvSpPr txBox="1"/>
          <p:nvPr/>
        </p:nvSpPr>
        <p:spPr>
          <a:xfrm>
            <a:off x="7525329"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TL toplam yatırım (9,9–15,9)</a:t>
            </a:r>
            <a:endParaRPr lang="en-US" sz="1400" dirty="0"/>
          </a:p>
        </p:txBody>
      </p:sp>
      <p:sp>
        <p:nvSpPr>
          <p:cNvPr id="17" name="Gösterge"/>
          <p:cNvSpPr/>
          <p:nvPr/>
        </p:nvSpPr>
        <p:spPr>
          <a:xfrm>
            <a:off x="9607052" y="3520440"/>
            <a:ext cx="2036003" cy="1783080"/>
          </a:xfrm>
          <a:prstGeom prst="roundRect">
            <a:avLst>
              <a:gd name="adj" fmla="val 4103"/>
            </a:avLst>
          </a:prstGeom>
          <a:solidFill>
            <a:schemeClr val="bg1">
              <a:alpha val="12000"/>
            </a:schemeClr>
          </a:solidFill>
          <a:ln/>
        </p:spPr>
      </p:sp>
      <p:sp>
        <p:nvSpPr>
          <p:cNvPr id="18" name="Text 16"/>
          <p:cNvSpPr txBox="1"/>
          <p:nvPr/>
        </p:nvSpPr>
        <p:spPr>
          <a:xfrm>
            <a:off x="9789932"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&lt; 35 dk</a:t>
            </a:r>
            <a:endParaRPr lang="en-US" sz="2800" dirty="0"/>
          </a:p>
        </p:txBody>
      </p:sp>
      <p:sp>
        <p:nvSpPr>
          <p:cNvPr id="19" name="Text 17"/>
          <p:cNvSpPr txBox="1"/>
          <p:nvPr/>
        </p:nvSpPr>
        <p:spPr>
          <a:xfrm>
            <a:off x="9789932"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sanayi bölgelerine ekspresle (hedef)</a:t>
            </a:r>
            <a:endParaRPr lang="en-US" sz="1400" dirty="0"/>
          </a:p>
        </p:txBody>
      </p:sp>
      <p:sp>
        <p:nvSpPr>
          <p:cNvPr id="20" name="Text 18"/>
          <p:cNvSpPr txBox="1"/>
          <p:nvPr/>
        </p:nvSpPr>
        <p:spPr>
          <a:xfrm>
            <a:off x="548640" y="5623560"/>
            <a:ext cx="11094415" cy="320040"/>
          </a:xfrm>
          <a:prstGeom prst="rect">
            <a:avLst/>
          </a:prstGeom>
          <a:noFill/>
          <a:ln/>
        </p:spPr>
        <p:txBody>
          <a:bodyPr wrap="square" lIns="0" tIns="0" rIns="0" bIns="0" rtlCol="0" anchor="t"/>
          <a:lstStyle/>
          <a:p>
            <a:pPr indent="0" marL="0">
              <a:buNone/>
            </a:pPr>
            <a:r>
              <a:rPr lang="en-US" sz="1300" dirty="0">
                <a:solidFill>
                  <a:schemeClr val="bg2"/>
                </a:solidFill>
              </a:rPr>
              <a:t>Konutlar satılık ve herkese açık; savunma sanayi çalışanlarına öncelikli. Tutarlar 2026 TL, KDV ve arazi hariç.</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NEDEN ŞİMDİ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Sektör büyüyor, insan kaynağı kritik</a:t>
            </a:r>
            <a:endParaRPr lang="en-US" sz="3600" dirty="0"/>
          </a:p>
        </p:txBody>
      </p:sp>
      <p:graphicFrame>
        <p:nvGraphicFramePr>
          <p:cNvPr id="4" name="Chart 0" descr=""/>
          <p:cNvGraphicFramePr/>
          <p:nvPr/>
        </p:nvGraphicFramePr>
        <p:xfrm>
          <a:off x="548640" y="1600200"/>
          <a:ext cx="4846320" cy="4343400"/>
        </p:xfrm>
        <a:graphic xmlns:a="http://schemas.openxmlformats.org/drawingml/2006/main">
          <a:graphicData uri="http://schemas.openxmlformats.org/drawingml/2006/chart">
            <c:chart xmlns:c="http://schemas.openxmlformats.org/drawingml/2006/chart" r:id="rId1"/>
          </a:graphicData>
        </a:graphic>
      </p:graphicFrame>
      <p:sp>
        <p:nvSpPr>
          <p:cNvPr id="5" name="İkon zemini"/>
          <p:cNvSpPr/>
          <p:nvPr/>
        </p:nvSpPr>
        <p:spPr>
          <a:xfrm>
            <a:off x="5852160" y="1645920"/>
            <a:ext cx="640080" cy="640080"/>
          </a:xfrm>
          <a:prstGeom prst="ellipse">
            <a:avLst/>
          </a:prstGeom>
          <a:solidFill>
            <a:schemeClr val="tx2"/>
          </a:solidFill>
          <a:ln/>
        </p:spPr>
      </p:sp>
      <p:pic>
        <p:nvPicPr>
          <p:cNvPr id="6" name="İkon FaChartLine" descr="preencoded.png">    </p:cNvPr>
          <p:cNvPicPr>
            <a:picLocks noChangeAspect="1"/>
          </p:cNvPicPr>
          <p:nvPr/>
        </p:nvPicPr>
        <p:blipFill>
          <a:blip r:embed="rId2"/>
          <a:stretch>
            <a:fillRect/>
          </a:stretch>
        </p:blipFill>
        <p:spPr>
          <a:xfrm>
            <a:off x="6005779" y="1799539"/>
            <a:ext cx="332842" cy="332842"/>
          </a:xfrm>
          <a:prstGeom prst="rect">
            <a:avLst/>
          </a:prstGeom>
        </p:spPr>
      </p:pic>
      <p:sp>
        <p:nvSpPr>
          <p:cNvPr id="7" name="Text 3"/>
          <p:cNvSpPr txBox="1"/>
          <p:nvPr/>
        </p:nvSpPr>
        <p:spPr>
          <a:xfrm>
            <a:off x="6675120" y="1645920"/>
            <a:ext cx="4937760" cy="365760"/>
          </a:xfrm>
          <a:prstGeom prst="rect">
            <a:avLst/>
          </a:prstGeom>
          <a:noFill/>
          <a:ln/>
        </p:spPr>
        <p:txBody>
          <a:bodyPr wrap="square" lIns="0" tIns="0" rIns="0" bIns="0" rtlCol="0" anchor="t"/>
          <a:lstStyle/>
          <a:p>
            <a:pPr indent="0" marL="0">
              <a:buNone/>
            </a:pPr>
            <a:r>
              <a:rPr lang="en-US" sz="1800" b="1" dirty="0">
                <a:solidFill>
                  <a:schemeClr val="tx2"/>
                </a:solidFill>
              </a:rPr>
              <a:t>Hedef: iki kat istihdam</a:t>
            </a:r>
            <a:endParaRPr lang="en-US" sz="1800" dirty="0"/>
          </a:p>
        </p:txBody>
      </p:sp>
      <p:sp>
        <p:nvSpPr>
          <p:cNvPr id="8" name="Text 4"/>
          <p:cNvSpPr txBox="1"/>
          <p:nvPr/>
        </p:nvSpPr>
        <p:spPr>
          <a:xfrm>
            <a:off x="6675120" y="2057400"/>
            <a:ext cx="4937760" cy="868680"/>
          </a:xfrm>
          <a:prstGeom prst="rect">
            <a:avLst/>
          </a:prstGeom>
          <a:noFill/>
          <a:ln/>
        </p:spPr>
        <p:txBody>
          <a:bodyPr wrap="square" lIns="0" tIns="0" rIns="0" bIns="0" rtlCol="0" anchor="t"/>
          <a:lstStyle/>
          <a:p>
            <a:pPr indent="0" marL="0">
              <a:buNone/>
            </a:pPr>
            <a:r>
              <a:rPr lang="en-US" sz="1500" dirty="0">
                <a:solidFill>
                  <a:schemeClr val="tx1"/>
                </a:solidFill>
              </a:rPr>
              <a:t>12. Kalkınma Planı, sektör istihdamını 2022'deki 81,1 binden 2028'de 158 bine çıkarmayı hedefliyor.</a:t>
            </a:r>
            <a:endParaRPr lang="en-US" sz="1500" dirty="0"/>
          </a:p>
        </p:txBody>
      </p:sp>
      <p:sp>
        <p:nvSpPr>
          <p:cNvPr id="9" name="İkon zemini"/>
          <p:cNvSpPr/>
          <p:nvPr/>
        </p:nvSpPr>
        <p:spPr>
          <a:xfrm>
            <a:off x="5852160" y="3108960"/>
            <a:ext cx="640080" cy="640080"/>
          </a:xfrm>
          <a:prstGeom prst="ellipse">
            <a:avLst/>
          </a:prstGeom>
          <a:solidFill>
            <a:schemeClr val="tx2"/>
          </a:solidFill>
          <a:ln/>
        </p:spPr>
      </p:sp>
      <p:pic>
        <p:nvPicPr>
          <p:cNvPr id="10" name="İkon FaTriangleExclamation" descr="preencoded.png">    </p:cNvPr>
          <p:cNvPicPr>
            <a:picLocks noChangeAspect="1"/>
          </p:cNvPicPr>
          <p:nvPr/>
        </p:nvPicPr>
        <p:blipFill>
          <a:blip r:embed="rId3"/>
          <a:stretch>
            <a:fillRect/>
          </a:stretch>
        </p:blipFill>
        <p:spPr>
          <a:xfrm>
            <a:off x="6005779" y="3262579"/>
            <a:ext cx="332842" cy="332842"/>
          </a:xfrm>
          <a:prstGeom prst="rect">
            <a:avLst/>
          </a:prstGeom>
        </p:spPr>
      </p:pic>
      <p:sp>
        <p:nvSpPr>
          <p:cNvPr id="11" name="Text 6"/>
          <p:cNvSpPr txBox="1"/>
          <p:nvPr/>
        </p:nvSpPr>
        <p:spPr>
          <a:xfrm>
            <a:off x="6675120" y="3108960"/>
            <a:ext cx="4937760" cy="365760"/>
          </a:xfrm>
          <a:prstGeom prst="rect">
            <a:avLst/>
          </a:prstGeom>
          <a:noFill/>
          <a:ln/>
        </p:spPr>
        <p:txBody>
          <a:bodyPr wrap="square" lIns="0" tIns="0" rIns="0" bIns="0" rtlCol="0" anchor="t"/>
          <a:lstStyle/>
          <a:p>
            <a:pPr indent="0" marL="0">
              <a:buNone/>
            </a:pPr>
            <a:r>
              <a:rPr lang="en-US" sz="1800" b="1" dirty="0">
                <a:solidFill>
                  <a:schemeClr val="tx2"/>
                </a:solidFill>
              </a:rPr>
              <a:t>Resmi tehdit: yetenek kaybı</a:t>
            </a:r>
            <a:endParaRPr lang="en-US" sz="1800" dirty="0"/>
          </a:p>
        </p:txBody>
      </p:sp>
      <p:sp>
        <p:nvSpPr>
          <p:cNvPr id="12" name="Text 7"/>
          <p:cNvSpPr txBox="1"/>
          <p:nvPr/>
        </p:nvSpPr>
        <p:spPr>
          <a:xfrm>
            <a:off x="6675120" y="3520440"/>
            <a:ext cx="4937760" cy="868680"/>
          </a:xfrm>
          <a:prstGeom prst="rect">
            <a:avLst/>
          </a:prstGeom>
          <a:noFill/>
          <a:ln/>
        </p:spPr>
        <p:txBody>
          <a:bodyPr wrap="square" lIns="0" tIns="0" rIns="0" bIns="0" rtlCol="0" anchor="t"/>
          <a:lstStyle/>
          <a:p>
            <a:pPr indent="0" marL="0">
              <a:buNone/>
            </a:pPr>
            <a:r>
              <a:rPr lang="en-US" sz="1500" dirty="0">
                <a:solidFill>
                  <a:schemeClr val="tx1"/>
                </a:solidFill>
              </a:rPr>
              <a:t>SSB Stratejik Planı 2024–2028, deneyimli personelin yurt dışına ya da başka sektörlere geçmesini tehdit olarak yazıyor.</a:t>
            </a:r>
            <a:endParaRPr lang="en-US" sz="1500" dirty="0"/>
          </a:p>
        </p:txBody>
      </p:sp>
      <p:sp>
        <p:nvSpPr>
          <p:cNvPr id="13" name="İkon zemini"/>
          <p:cNvSpPr/>
          <p:nvPr/>
        </p:nvSpPr>
        <p:spPr>
          <a:xfrm>
            <a:off x="5852160" y="4572000"/>
            <a:ext cx="640080" cy="640080"/>
          </a:xfrm>
          <a:prstGeom prst="ellipse">
            <a:avLst/>
          </a:prstGeom>
          <a:solidFill>
            <a:schemeClr val="tx2"/>
          </a:solidFill>
          <a:ln/>
        </p:spPr>
      </p:sp>
      <p:pic>
        <p:nvPicPr>
          <p:cNvPr id="14" name="İkon FaIndustry" descr="preencoded.png">    </p:cNvPr>
          <p:cNvPicPr>
            <a:picLocks noChangeAspect="1"/>
          </p:cNvPicPr>
          <p:nvPr/>
        </p:nvPicPr>
        <p:blipFill>
          <a:blip r:embed="rId4"/>
          <a:stretch>
            <a:fillRect/>
          </a:stretch>
        </p:blipFill>
        <p:spPr>
          <a:xfrm>
            <a:off x="6005779" y="4725619"/>
            <a:ext cx="332842" cy="332842"/>
          </a:xfrm>
          <a:prstGeom prst="rect">
            <a:avLst/>
          </a:prstGeom>
        </p:spPr>
      </p:pic>
      <p:sp>
        <p:nvSpPr>
          <p:cNvPr id="15" name="Text 9"/>
          <p:cNvSpPr txBox="1"/>
          <p:nvPr/>
        </p:nvSpPr>
        <p:spPr>
          <a:xfrm>
            <a:off x="6675120" y="4572000"/>
            <a:ext cx="4937760" cy="365760"/>
          </a:xfrm>
          <a:prstGeom prst="rect">
            <a:avLst/>
          </a:prstGeom>
          <a:noFill/>
          <a:ln/>
        </p:spPr>
        <p:txBody>
          <a:bodyPr wrap="square" lIns="0" tIns="0" rIns="0" bIns="0" rtlCol="0" anchor="t"/>
          <a:lstStyle/>
          <a:p>
            <a:pPr indent="0" marL="0">
              <a:buNone/>
            </a:pPr>
            <a:r>
              <a:rPr lang="en-US" sz="1800" b="1" dirty="0">
                <a:solidFill>
                  <a:schemeClr val="tx2"/>
                </a:solidFill>
              </a:rPr>
              <a:t>Kahramankazan kümesi</a:t>
            </a:r>
            <a:endParaRPr lang="en-US" sz="1800" dirty="0"/>
          </a:p>
        </p:txBody>
      </p:sp>
      <p:sp>
        <p:nvSpPr>
          <p:cNvPr id="16" name="Text 10"/>
          <p:cNvSpPr txBox="1"/>
          <p:nvPr/>
        </p:nvSpPr>
        <p:spPr>
          <a:xfrm>
            <a:off x="6675120" y="4983480"/>
            <a:ext cx="4937760" cy="868680"/>
          </a:xfrm>
          <a:prstGeom prst="rect">
            <a:avLst/>
          </a:prstGeom>
          <a:noFill/>
          <a:ln/>
        </p:spPr>
        <p:txBody>
          <a:bodyPr wrap="square" lIns="0" tIns="0" rIns="0" bIns="0" rtlCol="0" anchor="t"/>
          <a:lstStyle/>
          <a:p>
            <a:pPr indent="0" marL="0">
              <a:buNone/>
            </a:pPr>
            <a:r>
              <a:rPr lang="en-US" sz="1500" dirty="0">
                <a:solidFill>
                  <a:schemeClr val="tx1"/>
                </a:solidFill>
              </a:rPr>
              <a:t>Kümenin ana firmasında 13–17 bin çalışan (TUSAŞ, 2023–24 beyanları); HAB OSB'de 15 bin istihdam hedefi.</a:t>
            </a:r>
            <a:endParaRPr lang="en-US" sz="1500" dirty="0"/>
          </a:p>
        </p:txBody>
      </p:sp>
      <p:sp>
        <p:nvSpPr>
          <p:cNvPr id="17"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Tablo 22; SSB Stratejik Planı 2024–2028, s. 46; TUSAŞ çalışan sayıları basın beyanlarından,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EKOSİSTEM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Kahramankazan 2030 ekosistemi</a:t>
            </a:r>
            <a:endParaRPr lang="en-US" sz="3600" dirty="0"/>
          </a:p>
        </p:txBody>
      </p:sp>
      <p:pic>
        <p:nvPicPr>
          <p:cNvPr id="4" name="Kahramankazan 2030 savunma sanayii ekosistemi" descr="/home/user/sunum/araclar/sunum/assets/ekosistem.jpg">    </p:cNvPr>
          <p:cNvPicPr>
            <a:picLocks noChangeAspect="1"/>
          </p:cNvPicPr>
          <p:nvPr/>
        </p:nvPicPr>
        <p:blipFill>
          <a:blip r:embed="rId1"/>
          <a:stretch>
            <a:fillRect/>
          </a:stretch>
        </p:blipFill>
        <p:spPr>
          <a:xfrm>
            <a:off x="548640" y="1600200"/>
            <a:ext cx="6903720" cy="3883343"/>
          </a:xfrm>
          <a:prstGeom prst="rect">
            <a:avLst/>
          </a:prstGeom>
        </p:spPr>
      </p:pic>
      <p:sp>
        <p:nvSpPr>
          <p:cNvPr id="5" name="Bölge 1"/>
          <p:cNvSpPr/>
          <p:nvPr/>
        </p:nvSpPr>
        <p:spPr>
          <a:xfrm>
            <a:off x="7772400" y="1627632"/>
            <a:ext cx="384048" cy="384048"/>
          </a:xfrm>
          <a:prstGeom prst="ellipse">
            <a:avLst/>
          </a:prstGeom>
          <a:solidFill>
            <a:srgbClr val="C93BB8"/>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3"/>
          <p:cNvSpPr txBox="1"/>
          <p:nvPr/>
        </p:nvSpPr>
        <p:spPr>
          <a:xfrm>
            <a:off x="8275320" y="15727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Kentsel Dönüşüm Bölgesi</a:t>
            </a:r>
            <a:endParaRPr lang="en-US" sz="1400" dirty="0"/>
          </a:p>
          <a:p>
            <a:pPr indent="0" marL="0">
              <a:buNone/>
            </a:pPr>
            <a:r>
              <a:rPr lang="en-US" sz="1200" dirty="0">
                <a:solidFill>
                  <a:schemeClr val="accent5"/>
                </a:solidFill>
              </a:rPr>
              <a:t>Kahramankazan merkezi</a:t>
            </a:r>
            <a:endParaRPr lang="en-US" sz="1400" dirty="0"/>
          </a:p>
        </p:txBody>
      </p:sp>
      <p:sp>
        <p:nvSpPr>
          <p:cNvPr id="7" name="Bölge 2"/>
          <p:cNvSpPr/>
          <p:nvPr/>
        </p:nvSpPr>
        <p:spPr>
          <a:xfrm>
            <a:off x="7772400" y="2176272"/>
            <a:ext cx="384048" cy="384048"/>
          </a:xfrm>
          <a:prstGeom prst="ellipse">
            <a:avLst/>
          </a:prstGeom>
          <a:solidFill>
            <a:srgbClr val="D9363E"/>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5"/>
          <p:cNvSpPr txBox="1"/>
          <p:nvPr/>
        </p:nvSpPr>
        <p:spPr>
          <a:xfrm>
            <a:off x="8275320" y="212140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HAB Uzay Gelişim Alanı</a:t>
            </a:r>
            <a:endParaRPr lang="en-US" sz="1400" dirty="0"/>
          </a:p>
          <a:p>
            <a:pPr indent="0" marL="0">
              <a:buNone/>
            </a:pPr>
            <a:r>
              <a:rPr lang="en-US" sz="1200" dirty="0">
                <a:solidFill>
                  <a:schemeClr val="accent5"/>
                </a:solidFill>
              </a:rPr>
              <a:t>Kışla Bölgesi</a:t>
            </a:r>
            <a:endParaRPr lang="en-US" sz="1400" dirty="0"/>
          </a:p>
        </p:txBody>
      </p:sp>
      <p:sp>
        <p:nvSpPr>
          <p:cNvPr id="9" name="Bu çalışma"/>
          <p:cNvSpPr/>
          <p:nvPr/>
        </p:nvSpPr>
        <p:spPr>
          <a:xfrm>
            <a:off x="7680960" y="2642616"/>
            <a:ext cx="3962095" cy="548640"/>
          </a:xfrm>
          <a:prstGeom prst="roundRect">
            <a:avLst>
              <a:gd name="adj" fmla="val 10000"/>
            </a:avLst>
          </a:prstGeom>
          <a:solidFill>
            <a:schemeClr val="bg1"/>
          </a:solidFill>
          <a:ln w="15875">
            <a:solidFill>
              <a:srgbClr val="2F7DE1"/>
            </a:solidFill>
            <a:prstDash val="solid"/>
          </a:ln>
        </p:spPr>
      </p:sp>
      <p:sp>
        <p:nvSpPr>
          <p:cNvPr id="10" name="Bölge 3"/>
          <p:cNvSpPr/>
          <p:nvPr/>
        </p:nvSpPr>
        <p:spPr>
          <a:xfrm>
            <a:off x="7772400" y="2724912"/>
            <a:ext cx="384048" cy="384048"/>
          </a:xfrm>
          <a:prstGeom prst="ellipse">
            <a:avLst/>
          </a:prstGeom>
          <a:solidFill>
            <a:srgbClr val="2F7DE1"/>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8"/>
          <p:cNvSpPr txBox="1"/>
          <p:nvPr/>
        </p:nvSpPr>
        <p:spPr>
          <a:xfrm>
            <a:off x="8275320" y="267004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Uydukent: bu çalışma</a:t>
            </a:r>
            <a:endParaRPr lang="en-US" sz="1400" dirty="0"/>
          </a:p>
          <a:p>
            <a:pPr indent="0" marL="0">
              <a:buNone/>
            </a:pPr>
            <a:r>
              <a:rPr lang="en-US" sz="1200" dirty="0">
                <a:solidFill>
                  <a:schemeClr val="accent5"/>
                </a:solidFill>
              </a:rPr>
              <a:t>Sarıayak Bölgesi · 51,1 ha</a:t>
            </a:r>
            <a:endParaRPr lang="en-US" sz="1400" dirty="0"/>
          </a:p>
        </p:txBody>
      </p:sp>
      <p:sp>
        <p:nvSpPr>
          <p:cNvPr id="12" name="Bölge 4"/>
          <p:cNvSpPr/>
          <p:nvPr/>
        </p:nvSpPr>
        <p:spPr>
          <a:xfrm>
            <a:off x="7772400" y="3273552"/>
            <a:ext cx="384048" cy="384048"/>
          </a:xfrm>
          <a:prstGeom prst="ellipse">
            <a:avLst/>
          </a:prstGeom>
          <a:solidFill>
            <a:srgbClr val="E8831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0"/>
          <p:cNvSpPr txBox="1"/>
          <p:nvPr/>
        </p:nvSpPr>
        <p:spPr>
          <a:xfrm>
            <a:off x="8275320" y="321868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Kınık Özel Endüstri Sanayi Alanı</a:t>
            </a:r>
            <a:endParaRPr lang="en-US" sz="1400" dirty="0"/>
          </a:p>
          <a:p>
            <a:pPr indent="0" marL="0">
              <a:buNone/>
            </a:pPr>
            <a:r>
              <a:rPr lang="en-US" sz="1200" dirty="0">
                <a:solidFill>
                  <a:schemeClr val="accent5"/>
                </a:solidFill>
              </a:rPr>
              <a:t>Kınık Bölgesi</a:t>
            </a:r>
            <a:endParaRPr lang="en-US" sz="1400" dirty="0"/>
          </a:p>
        </p:txBody>
      </p:sp>
      <p:sp>
        <p:nvSpPr>
          <p:cNvPr id="14" name="Bölge 5"/>
          <p:cNvSpPr/>
          <p:nvPr/>
        </p:nvSpPr>
        <p:spPr>
          <a:xfrm>
            <a:off x="7772400" y="3822192"/>
            <a:ext cx="384048" cy="384048"/>
          </a:xfrm>
          <a:prstGeom prst="ellipse">
            <a:avLst/>
          </a:prstGeom>
          <a:solidFill>
            <a:srgbClr val="F0A040"/>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2"/>
          <p:cNvSpPr txBox="1"/>
          <p:nvPr/>
        </p:nvSpPr>
        <p:spPr>
          <a:xfrm>
            <a:off x="8275320" y="376732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Hafif raylı ulaşım sistemi</a:t>
            </a:r>
            <a:endParaRPr lang="en-US" sz="1400" dirty="0"/>
          </a:p>
          <a:p>
            <a:pPr indent="0" marL="0">
              <a:buNone/>
            </a:pPr>
            <a:r>
              <a:rPr lang="en-US" sz="1200" dirty="0">
                <a:solidFill>
                  <a:schemeClr val="accent5"/>
                </a:solidFill>
              </a:rPr>
              <a:t>Kahramankazan–Kışla hattı</a:t>
            </a:r>
            <a:endParaRPr lang="en-US" sz="1400" dirty="0"/>
          </a:p>
        </p:txBody>
      </p:sp>
      <p:sp>
        <p:nvSpPr>
          <p:cNvPr id="16" name="Bölge +"/>
          <p:cNvSpPr/>
          <p:nvPr/>
        </p:nvSpPr>
        <p:spPr>
          <a:xfrm>
            <a:off x="7772400" y="4370832"/>
            <a:ext cx="384048" cy="384048"/>
          </a:xfrm>
          <a:prstGeom prst="ellipse">
            <a:avLst/>
          </a:prstGeom>
          <a:solidFill>
            <a:srgbClr val="2AAFB8"/>
          </a:solid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7" name="Text 14"/>
          <p:cNvSpPr txBox="1"/>
          <p:nvPr/>
        </p:nvSpPr>
        <p:spPr>
          <a:xfrm>
            <a:off x="8275320" y="43159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Tropik yaşam ve sağlık merkezi</a:t>
            </a:r>
            <a:endParaRPr lang="en-US" sz="1400" dirty="0"/>
          </a:p>
          <a:p>
            <a:pPr indent="0" marL="0">
              <a:buNone/>
            </a:pPr>
            <a:r>
              <a:rPr lang="en-US" sz="1200" dirty="0">
                <a:solidFill>
                  <a:schemeClr val="accent5"/>
                </a:solidFill>
              </a:rPr>
              <a:t>Soğucak Bölgesi</a:t>
            </a:r>
            <a:endParaRPr lang="en-US" sz="1400" dirty="0"/>
          </a:p>
        </p:txBody>
      </p:sp>
      <p:sp>
        <p:nvSpPr>
          <p:cNvPr id="18" name="Gösterge"/>
          <p:cNvSpPr/>
          <p:nvPr/>
        </p:nvSpPr>
        <p:spPr>
          <a:xfrm>
            <a:off x="7680960" y="4983480"/>
            <a:ext cx="3962095" cy="1005840"/>
          </a:xfrm>
          <a:prstGeom prst="roundRect">
            <a:avLst>
              <a:gd name="adj" fmla="val 7273"/>
            </a:avLst>
          </a:prstGeom>
          <a:solidFill>
            <a:schemeClr val="bg1"/>
          </a:solidFill>
          <a:ln/>
          <a:effectLst>
            <a:outerShdw sx="100000" sy="100000" kx="0" ky="0" algn="bl" rotWithShape="0" blurRad="76200" dist="19050" dir="5400000">
              <a:srgbClr val="000000">
                <a:alpha val="12000"/>
              </a:srgbClr>
            </a:outerShdw>
          </a:effectLst>
        </p:spPr>
      </p:sp>
      <p:sp>
        <p:nvSpPr>
          <p:cNvPr id="19" name="Text 16"/>
          <p:cNvSpPr txBox="1"/>
          <p:nvPr/>
        </p:nvSpPr>
        <p:spPr>
          <a:xfrm>
            <a:off x="7863840" y="5111496"/>
            <a:ext cx="3596335" cy="502920"/>
          </a:xfrm>
          <a:prstGeom prst="rect">
            <a:avLst/>
          </a:prstGeom>
          <a:noFill/>
          <a:ln/>
        </p:spPr>
        <p:txBody>
          <a:bodyPr wrap="square" lIns="0" tIns="0" rIns="0" bIns="0" rtlCol="0" anchor="b"/>
          <a:lstStyle/>
          <a:p>
            <a:pPr indent="0" marL="0">
              <a:buNone/>
            </a:pPr>
            <a:r>
              <a:rPr lang="en-US" sz="1800" b="1" dirty="0">
                <a:solidFill>
                  <a:schemeClr val="tx2"/>
                </a:solidFill>
                <a:latin typeface="Cambria" pitchFamily="34" charset="0"/>
                <a:ea typeface="Cambria" pitchFamily="34" charset="-122"/>
                <a:cs typeface="Cambria" pitchFamily="34" charset="-120"/>
              </a:rPr>
              <a:t>35,6 mn m² · 100–200 bin kişi</a:t>
            </a:r>
            <a:endParaRPr lang="en-US" sz="1800" dirty="0"/>
          </a:p>
        </p:txBody>
      </p:sp>
      <p:sp>
        <p:nvSpPr>
          <p:cNvPr id="20" name="Text 17"/>
          <p:cNvSpPr txBox="1"/>
          <p:nvPr/>
        </p:nvSpPr>
        <p:spPr>
          <a:xfrm>
            <a:off x="7863840" y="5632704"/>
            <a:ext cx="3596335" cy="265176"/>
          </a:xfrm>
          <a:prstGeom prst="rect">
            <a:avLst/>
          </a:prstGeom>
          <a:noFill/>
          <a:ln/>
        </p:spPr>
        <p:txBody>
          <a:bodyPr wrap="square" lIns="0" tIns="0" rIns="0" bIns="0" rtlCol="0" anchor="t"/>
          <a:lstStyle/>
          <a:p>
            <a:pPr indent="0" marL="0">
              <a:buNone/>
            </a:pPr>
            <a:r>
              <a:rPr lang="en-US" sz="1200" dirty="0">
                <a:solidFill>
                  <a:schemeClr val="tx1"/>
                </a:solidFill>
              </a:rPr>
              <a:t>ekosistemin tamamı, diğer projelerle birlikte</a:t>
            </a:r>
            <a:endParaRPr lang="en-US" sz="12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proje ekibinin ekosistem görseli (vizyon; teyit edilecek). Uydukent'in kendi programı: 51,1 ha, 2.500 konut, ~7.500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KONUM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Aynı ilçede, sıkışık koridorun dışında</a:t>
            </a:r>
            <a:endParaRPr lang="en-US" sz="3600" dirty="0"/>
          </a:p>
        </p:txBody>
      </p:sp>
      <p:pic>
        <p:nvPicPr>
          <p:cNvPr id="4" name="Bölge mesafeleri" descr="/home/user/sunum/araclar/sunum/assets/mesafeler.jpg">    </p:cNvPr>
          <p:cNvPicPr>
            <a:picLocks noChangeAspect="1"/>
          </p:cNvPicPr>
          <p:nvPr/>
        </p:nvPicPr>
        <p:blipFill>
          <a:blip r:embed="rId1"/>
          <a:stretch>
            <a:fillRect/>
          </a:stretch>
        </p:blipFill>
        <p:spPr>
          <a:xfrm>
            <a:off x="548640" y="1600200"/>
            <a:ext cx="6675120" cy="3754755"/>
          </a:xfrm>
          <a:prstGeom prst="rect">
            <a:avLst/>
          </a:prstGeom>
        </p:spPr>
      </p:pic>
      <p:sp>
        <p:nvSpPr>
          <p:cNvPr id="5" name="Text 2"/>
          <p:cNvSpPr txBox="1"/>
          <p:nvPr/>
        </p:nvSpPr>
        <p:spPr>
          <a:xfrm>
            <a:off x="548640" y="5428107"/>
            <a:ext cx="6675120" cy="274320"/>
          </a:xfrm>
          <a:prstGeom prst="rect">
            <a:avLst/>
          </a:prstGeom>
          <a:noFill/>
          <a:ln/>
        </p:spPr>
        <p:txBody>
          <a:bodyPr wrap="square" lIns="0" tIns="0" rIns="0" bIns="0" rtlCol="0" anchor="t"/>
          <a:lstStyle/>
          <a:p>
            <a:pPr indent="0" marL="0">
              <a:buNone/>
            </a:pPr>
            <a:r>
              <a:rPr lang="en-US" sz="1100" dirty="0">
                <a:solidFill>
                  <a:schemeClr val="accent5"/>
                </a:solidFill>
              </a:rPr>
              <a:t>Proje ekibinin bölge görseli; ölçeksiz perspektif, mesafeler görseldeki değerlerdir.</a:t>
            </a:r>
            <a:endParaRPr lang="en-US" sz="1100" dirty="0"/>
          </a:p>
        </p:txBody>
      </p:sp>
      <p:sp>
        <p:nvSpPr>
          <p:cNvPr id="6" name="Text 3"/>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600" b="1" dirty="0">
                <a:solidFill>
                  <a:schemeClr val="tx2"/>
                </a:solidFill>
              </a:rPr>
              <a:t>Uydukent'ten uzaklık (km)</a:t>
            </a:r>
            <a:endParaRPr lang="en-US" sz="1600" dirty="0"/>
          </a:p>
        </p:txBody>
      </p:sp>
      <p:sp>
        <p:nvSpPr>
          <p:cNvPr id="7" name="Text 4"/>
          <p:cNvSpPr txBox="1"/>
          <p:nvPr/>
        </p:nvSpPr>
        <p:spPr>
          <a:xfrm>
            <a:off x="7543800" y="2011680"/>
            <a:ext cx="4099255" cy="237744"/>
          </a:xfrm>
          <a:prstGeom prst="rect">
            <a:avLst/>
          </a:prstGeom>
          <a:noFill/>
          <a:ln/>
        </p:spPr>
        <p:txBody>
          <a:bodyPr wrap="square" lIns="0" tIns="0" rIns="0" bIns="0" rtlCol="0" anchor="t"/>
          <a:lstStyle/>
          <a:p>
            <a:pPr indent="0" marL="0">
              <a:buNone/>
            </a:pPr>
            <a:r>
              <a:rPr lang="en-US" sz="1300" dirty="0">
                <a:solidFill>
                  <a:schemeClr val="tx1"/>
                </a:solidFill>
              </a:rPr>
              <a:t>Kahramankazan merkezi</a:t>
            </a:r>
            <a:endParaRPr lang="en-US" sz="1300" dirty="0"/>
          </a:p>
        </p:txBody>
      </p:sp>
      <p:sp>
        <p:nvSpPr>
          <p:cNvPr id="8" name="Uzaklık çubuğu Kahramankazan merkezi"/>
          <p:cNvSpPr/>
          <p:nvPr/>
        </p:nvSpPr>
        <p:spPr>
          <a:xfrm>
            <a:off x="7543800" y="2276856"/>
            <a:ext cx="1097280" cy="182880"/>
          </a:xfrm>
          <a:prstGeom prst="rect">
            <a:avLst/>
          </a:prstGeom>
          <a:solidFill>
            <a:schemeClr val="accent5"/>
          </a:solidFill>
          <a:ln/>
        </p:spPr>
      </p:sp>
      <p:sp>
        <p:nvSpPr>
          <p:cNvPr id="9" name="Text 6"/>
          <p:cNvSpPr txBox="1"/>
          <p:nvPr/>
        </p:nvSpPr>
        <p:spPr>
          <a:xfrm>
            <a:off x="8714232" y="221284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8</a:t>
            </a:r>
            <a:endParaRPr lang="en-US" sz="1400" dirty="0"/>
          </a:p>
        </p:txBody>
      </p:sp>
      <p:sp>
        <p:nvSpPr>
          <p:cNvPr id="10" name="Text 7"/>
          <p:cNvSpPr txBox="1"/>
          <p:nvPr/>
        </p:nvSpPr>
        <p:spPr>
          <a:xfrm>
            <a:off x="7543800" y="2560320"/>
            <a:ext cx="4099255" cy="237744"/>
          </a:xfrm>
          <a:prstGeom prst="rect">
            <a:avLst/>
          </a:prstGeom>
          <a:noFill/>
          <a:ln/>
        </p:spPr>
        <p:txBody>
          <a:bodyPr wrap="square" lIns="0" tIns="0" rIns="0" bIns="0" rtlCol="0" anchor="t"/>
          <a:lstStyle/>
          <a:p>
            <a:pPr indent="0" marL="0">
              <a:buNone/>
            </a:pPr>
            <a:r>
              <a:rPr lang="en-US" sz="1300" dirty="0">
                <a:solidFill>
                  <a:schemeClr val="tx1"/>
                </a:solidFill>
              </a:rPr>
              <a:t>Kınık sanayi alanı</a:t>
            </a:r>
            <a:endParaRPr lang="en-US" sz="1300" dirty="0"/>
          </a:p>
        </p:txBody>
      </p:sp>
      <p:sp>
        <p:nvSpPr>
          <p:cNvPr id="11" name="Uzaklık çubuğu Kınık sanayi alanı"/>
          <p:cNvSpPr/>
          <p:nvPr/>
        </p:nvSpPr>
        <p:spPr>
          <a:xfrm>
            <a:off x="7543800" y="2825496"/>
            <a:ext cx="1508760" cy="182880"/>
          </a:xfrm>
          <a:prstGeom prst="rect">
            <a:avLst/>
          </a:prstGeom>
          <a:solidFill>
            <a:schemeClr val="accent5"/>
          </a:solidFill>
          <a:ln/>
        </p:spPr>
      </p:sp>
      <p:sp>
        <p:nvSpPr>
          <p:cNvPr id="12" name="Text 9"/>
          <p:cNvSpPr txBox="1"/>
          <p:nvPr/>
        </p:nvSpPr>
        <p:spPr>
          <a:xfrm>
            <a:off x="9125712" y="276148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11</a:t>
            </a:r>
            <a:endParaRPr lang="en-US" sz="1400" dirty="0"/>
          </a:p>
        </p:txBody>
      </p:sp>
      <p:sp>
        <p:nvSpPr>
          <p:cNvPr id="13" name="Text 10"/>
          <p:cNvSpPr txBox="1"/>
          <p:nvPr/>
        </p:nvSpPr>
        <p:spPr>
          <a:xfrm>
            <a:off x="7543800" y="3108960"/>
            <a:ext cx="4099255" cy="237744"/>
          </a:xfrm>
          <a:prstGeom prst="rect">
            <a:avLst/>
          </a:prstGeom>
          <a:noFill/>
          <a:ln/>
        </p:spPr>
        <p:txBody>
          <a:bodyPr wrap="square" lIns="0" tIns="0" rIns="0" bIns="0" rtlCol="0" anchor="t"/>
          <a:lstStyle/>
          <a:p>
            <a:pPr indent="0" marL="0">
              <a:buNone/>
            </a:pPr>
            <a:r>
              <a:rPr lang="en-US" sz="1300" b="1" dirty="0">
                <a:solidFill>
                  <a:schemeClr val="accent1"/>
                </a:solidFill>
              </a:rPr>
              <a:t>HAB / Kışla, Kınık üzerinden</a:t>
            </a:r>
            <a:endParaRPr lang="en-US" sz="1300" dirty="0"/>
          </a:p>
        </p:txBody>
      </p:sp>
      <p:sp>
        <p:nvSpPr>
          <p:cNvPr id="14" name="Uzaklık çubuğu HAB / Kışla, Kınık üzerinden"/>
          <p:cNvSpPr/>
          <p:nvPr/>
        </p:nvSpPr>
        <p:spPr>
          <a:xfrm>
            <a:off x="7543800" y="3374136"/>
            <a:ext cx="2606040" cy="182880"/>
          </a:xfrm>
          <a:prstGeom prst="rect">
            <a:avLst/>
          </a:prstGeom>
          <a:solidFill>
            <a:schemeClr val="accent1"/>
          </a:solidFill>
          <a:ln/>
        </p:spPr>
      </p:sp>
      <p:sp>
        <p:nvSpPr>
          <p:cNvPr id="15" name="Text 12"/>
          <p:cNvSpPr txBox="1"/>
          <p:nvPr/>
        </p:nvSpPr>
        <p:spPr>
          <a:xfrm>
            <a:off x="10222992" y="3310128"/>
            <a:ext cx="548640" cy="292608"/>
          </a:xfrm>
          <a:prstGeom prst="rect">
            <a:avLst/>
          </a:prstGeom>
          <a:noFill/>
          <a:ln/>
        </p:spPr>
        <p:txBody>
          <a:bodyPr wrap="square" lIns="0" tIns="0" rIns="0" bIns="0" rtlCol="0" anchor="ctr"/>
          <a:lstStyle/>
          <a:p>
            <a:pPr indent="0" marL="0">
              <a:buNone/>
            </a:pPr>
            <a:r>
              <a:rPr lang="en-US" sz="1400" b="1" dirty="0">
                <a:solidFill>
                  <a:schemeClr val="accent1"/>
                </a:solidFill>
              </a:rPr>
              <a:t>19</a:t>
            </a:r>
            <a:endParaRPr lang="en-US" sz="1400" dirty="0"/>
          </a:p>
        </p:txBody>
      </p:sp>
      <p:sp>
        <p:nvSpPr>
          <p:cNvPr id="16" name="Text 13"/>
          <p:cNvSpPr txBox="1"/>
          <p:nvPr/>
        </p:nvSpPr>
        <p:spPr>
          <a:xfrm>
            <a:off x="7543800" y="3657600"/>
            <a:ext cx="4099255" cy="237744"/>
          </a:xfrm>
          <a:prstGeom prst="rect">
            <a:avLst/>
          </a:prstGeom>
          <a:noFill/>
          <a:ln/>
        </p:spPr>
        <p:txBody>
          <a:bodyPr wrap="square" lIns="0" tIns="0" rIns="0" bIns="0" rtlCol="0" anchor="t"/>
          <a:lstStyle/>
          <a:p>
            <a:pPr indent="0" marL="0">
              <a:buNone/>
            </a:pPr>
            <a:r>
              <a:rPr lang="en-US" sz="1300" dirty="0">
                <a:solidFill>
                  <a:schemeClr val="tx1"/>
                </a:solidFill>
              </a:rPr>
              <a:t>HAB / Kışla, merkez üzerinden</a:t>
            </a:r>
            <a:endParaRPr lang="en-US" sz="1300" dirty="0"/>
          </a:p>
        </p:txBody>
      </p:sp>
      <p:sp>
        <p:nvSpPr>
          <p:cNvPr id="17" name="Uzaklık çubuğu HAB / Kışla, merkez üzerinden"/>
          <p:cNvSpPr/>
          <p:nvPr/>
        </p:nvSpPr>
        <p:spPr>
          <a:xfrm>
            <a:off x="7543800" y="3922776"/>
            <a:ext cx="3291840" cy="182880"/>
          </a:xfrm>
          <a:prstGeom prst="rect">
            <a:avLst/>
          </a:prstGeom>
          <a:solidFill>
            <a:schemeClr val="accent5"/>
          </a:solidFill>
          <a:ln/>
        </p:spPr>
      </p:sp>
      <p:sp>
        <p:nvSpPr>
          <p:cNvPr id="18" name="Text 15"/>
          <p:cNvSpPr txBox="1"/>
          <p:nvPr/>
        </p:nvSpPr>
        <p:spPr>
          <a:xfrm>
            <a:off x="10908792" y="385876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24</a:t>
            </a:r>
            <a:endParaRPr lang="en-US" sz="1400" dirty="0"/>
          </a:p>
        </p:txBody>
      </p:sp>
      <p:sp>
        <p:nvSpPr>
          <p:cNvPr id="19" name="Kart"/>
          <p:cNvSpPr/>
          <p:nvPr/>
        </p:nvSpPr>
        <p:spPr>
          <a:xfrm>
            <a:off x="7543800" y="4297680"/>
            <a:ext cx="4099255" cy="1371600"/>
          </a:xfrm>
          <a:prstGeom prst="roundRect">
            <a:avLst>
              <a:gd name="adj" fmla="val 5333"/>
            </a:avLst>
          </a:prstGeom>
          <a:solidFill>
            <a:schemeClr val="bg1"/>
          </a:solidFill>
          <a:ln/>
          <a:effectLst>
            <a:outerShdw sx="100000" sy="100000" kx="0" ky="0" algn="bl" rotWithShape="0" blurRad="76200" dist="19050" dir="5400000">
              <a:srgbClr val="000000">
                <a:alpha val="12000"/>
              </a:srgbClr>
            </a:outerShdw>
          </a:effectLst>
        </p:spPr>
      </p:sp>
      <p:sp>
        <p:nvSpPr>
          <p:cNvPr id="20" name="Text 17"/>
          <p:cNvSpPr txBox="1"/>
          <p:nvPr/>
        </p:nvSpPr>
        <p:spPr>
          <a:xfrm>
            <a:off x="7726680" y="4407408"/>
            <a:ext cx="3733495" cy="118872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Yakınlık değil, koridor değişimi</a:t>
            </a:r>
            <a:endParaRPr lang="en-US" sz="1400" dirty="0"/>
          </a:p>
          <a:p>
            <a:pPr indent="0" marL="0">
              <a:spcAft>
                <a:spcPts val="400"/>
              </a:spcAft>
              <a:buNone/>
            </a:pPr>
            <a:r>
              <a:rPr lang="en-US" sz="1300" dirty="0">
                <a:solidFill>
                  <a:schemeClr val="tx1"/>
                </a:solidFill>
              </a:rPr>
              <a:t>Eryaman'dan TUSAŞ'a kuş uçuşu 11,7 km, Yenikent'ten 9,1 km. Kazanç, yolculuğun Batıkent–Susuz kesiminden çıkıp ilçe içinde ekspresle gitmesi.</a:t>
            </a:r>
            <a:endParaRPr lang="en-US" sz="14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19 ve 24 km, görseldeki iki bacağın toplamıdır (hesap). Kahramankazan–Kışla 16 km değeri, OSM'den hesaplanan 16,9 km ile uyumlu.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YER SEÇİMİ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Alternatiflere göre Uydukent</a:t>
            </a:r>
            <a:endParaRPr lang="en-US" sz="3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2057400"/>
                <a:gridCol w="2514600"/>
                <a:gridCol w="2057400"/>
                <a:gridCol w="2544775"/>
              </a:tblGrid>
              <a:tr h="512064">
                <a:tc>
                  <a:txBody>
                    <a:bodyPr/>
                    <a:lstStyle/>
                    <a:p>
                      <a:pPr indent="0" marL="0">
                        <a:buNone/>
                      </a:pPr>
                      <a:r>
                        <a:rPr lang="en-US" sz="1400" b="1" dirty="0">
                          <a:solidFill>
                            <a:srgbClr val="FFFFFF"/>
                          </a:solidFill>
                        </a:rPr>
                        <a:t>Ölçüt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 Bir şey yapmamak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 HAB'a bitişik saha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(C) Yenikent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 (Sarıayak)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r>
              <a:tr h="512064">
                <a:tc>
                  <a:txBody>
                    <a:bodyPr/>
                    <a:lstStyle/>
                    <a:p>
                      <a:pPr indent="0" marL="0">
                        <a:buNone/>
                      </a:pPr>
                      <a:r>
                        <a:rPr lang="en-US" sz="1400" b="1" dirty="0">
                          <a:solidFill>
                            <a:srgbClr val="1B2430"/>
                          </a:solidFill>
                        </a:rPr>
                        <a:t>Arazi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Yeni arazi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askeri alan ve OSB ile iç içe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kentsel parseller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511 bin m², tek malik Hazine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Askeri kısıtlar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Etkilenmez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Yasak bölge içinde, yükseklik sınırı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Sınıra yakın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HAB'a ~19 km; yasak bölge dışında (teyit)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Sabah piki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Sürer ve büyür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Azalır: yolculuk koridor değiştirir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Sanayi bölgesine uzaklık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12–17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dirty="0">
                          <a:solidFill>
                            <a:srgbClr val="1B2430"/>
                          </a:solidFill>
                        </a:rPr>
                        <a:t>5 km'den az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Kınık 11 km, HAB ~19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Raylı erişim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Var (Başkentray)</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Planlanan hafif raylı sisteme bağlanır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Kent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Sıfırdan kurulur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Sincan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İlçe merkezi 8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Tesisin büyüme alanı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Daralır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Kısmen etkilenir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bl>
          </a:graphicData>
        </a:graphic>
      </p:graphicFrame>
      <p:sp>
        <p:nvSpPr>
          <p:cNvPr id="5" name="Gösterim"/>
          <p:cNvSpPr/>
          <p:nvPr/>
        </p:nvSpPr>
        <p:spPr>
          <a:xfrm>
            <a:off x="548640" y="5879592"/>
            <a:ext cx="201168" cy="201168"/>
          </a:xfrm>
          <a:prstGeom prst="rect">
            <a:avLst/>
          </a:prstGeom>
          <a:solidFill>
            <a:srgbClr val="E2ECDD"/>
          </a:solidFill>
          <a:ln w="9525">
            <a:solidFill>
              <a:srgbClr val="DDD8CC"/>
            </a:solidFill>
            <a:prstDash val="solid"/>
          </a:ln>
        </p:spPr>
      </p:sp>
      <p:sp>
        <p:nvSpPr>
          <p:cNvPr id="6" name="Text 3"/>
          <p:cNvSpPr txBox="1"/>
          <p:nvPr/>
        </p:nvSpPr>
        <p:spPr>
          <a:xfrm>
            <a:off x="82296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Avantaj</a:t>
            </a:r>
            <a:endParaRPr lang="en-US" sz="1200" dirty="0"/>
          </a:p>
        </p:txBody>
      </p:sp>
      <p:sp>
        <p:nvSpPr>
          <p:cNvPr id="7" name="Gösterim"/>
          <p:cNvSpPr/>
          <p:nvPr/>
        </p:nvSpPr>
        <p:spPr>
          <a:xfrm>
            <a:off x="2103120" y="5879592"/>
            <a:ext cx="201168" cy="201168"/>
          </a:xfrm>
          <a:prstGeom prst="rect">
            <a:avLst/>
          </a:prstGeom>
          <a:solidFill>
            <a:srgbClr val="F7EBD3"/>
          </a:solidFill>
          <a:ln w="9525">
            <a:solidFill>
              <a:srgbClr val="DDD8CC"/>
            </a:solidFill>
            <a:prstDash val="solid"/>
          </a:ln>
        </p:spPr>
      </p:sp>
      <p:sp>
        <p:nvSpPr>
          <p:cNvPr id="8" name="Text 5"/>
          <p:cNvSpPr txBox="1"/>
          <p:nvPr/>
        </p:nvSpPr>
        <p:spPr>
          <a:xfrm>
            <a:off x="237744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Orta</a:t>
            </a:r>
            <a:endParaRPr lang="en-US" sz="1200" dirty="0"/>
          </a:p>
        </p:txBody>
      </p:sp>
      <p:sp>
        <p:nvSpPr>
          <p:cNvPr id="9" name="Gösterim"/>
          <p:cNvSpPr/>
          <p:nvPr/>
        </p:nvSpPr>
        <p:spPr>
          <a:xfrm>
            <a:off x="3657600" y="5879592"/>
            <a:ext cx="201168" cy="201168"/>
          </a:xfrm>
          <a:prstGeom prst="rect">
            <a:avLst/>
          </a:prstGeom>
          <a:solidFill>
            <a:srgbClr val="F6DFDB"/>
          </a:solidFill>
          <a:ln w="9525">
            <a:solidFill>
              <a:srgbClr val="DDD8CC"/>
            </a:solidFill>
            <a:prstDash val="solid"/>
          </a:ln>
        </p:spPr>
      </p:sp>
      <p:sp>
        <p:nvSpPr>
          <p:cNvPr id="10" name="Text 7"/>
          <p:cNvSpPr txBox="1"/>
          <p:nvPr/>
        </p:nvSpPr>
        <p:spPr>
          <a:xfrm>
            <a:off x="393192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Zayıf nokta</a:t>
            </a:r>
            <a:endParaRPr lang="en-US" sz="1200" dirty="0"/>
          </a:p>
        </p:txBody>
      </p:sp>
      <p:sp>
        <p:nvSpPr>
          <p:cNvPr id="11" name="Text 8"/>
          <p:cNvSpPr txBox="1"/>
          <p:nvPr/>
        </p:nvSpPr>
        <p:spPr>
          <a:xfrm>
            <a:off x="5303520" y="5833872"/>
            <a:ext cx="6336792" cy="292608"/>
          </a:xfrm>
          <a:prstGeom prst="rect">
            <a:avLst/>
          </a:prstGeom>
          <a:noFill/>
          <a:ln/>
        </p:spPr>
        <p:txBody>
          <a:bodyPr wrap="square" lIns="0" tIns="0" rIns="0" bIns="0" rtlCol="0" anchor="ctr"/>
          <a:lstStyle/>
          <a:p>
            <a:pPr algn="r" indent="0" marL="0">
              <a:buNone/>
            </a:pPr>
            <a:r>
              <a:rPr lang="en-US" sz="1300" b="1" dirty="0">
                <a:solidFill>
                  <a:schemeClr val="tx2"/>
                </a:solidFill>
              </a:rPr>
              <a:t>Uzaklığın yanıtı: Uydukent Ekspres ve planlanan hafif raylı sistem.</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BÖLGEDEN GÖRÜNÜM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Bölge: platolar ve yeşil yamaçlar</a:t>
            </a:r>
            <a:endParaRPr lang="en-US" sz="3600" dirty="0"/>
          </a:p>
        </p:txBody>
      </p:sp>
      <p:pic>
        <p:nvPicPr>
          <p:cNvPr id="4" name="Örencik köyü ve plato" descr="/home/user/sunum/araclar/sunum/assets/saha_buyuk.jpg">    </p:cNvPr>
          <p:cNvPicPr>
            <a:picLocks noChangeAspect="1"/>
          </p:cNvPicPr>
          <p:nvPr/>
        </p:nvPicPr>
        <p:blipFill>
          <a:blip r:embed="rId1"/>
          <a:stretch>
            <a:fillRect/>
          </a:stretch>
        </p:blipFill>
        <p:spPr>
          <a:xfrm>
            <a:off x="548640" y="1600200"/>
            <a:ext cx="6720840" cy="4389120"/>
          </a:xfrm>
          <a:prstGeom prst="rect">
            <a:avLst/>
          </a:prstGeom>
        </p:spPr>
      </p:pic>
      <p:pic>
        <p:nvPicPr>
          <p:cNvPr id="5" name="Yarıntı ve teraslı ağaçlandırma" descr="/home/user/sunum/araclar/sunum/assets/saha_sag1.jpg">    </p:cNvPr>
          <p:cNvPicPr>
            <a:picLocks noChangeAspect="1"/>
          </p:cNvPicPr>
          <p:nvPr/>
        </p:nvPicPr>
        <p:blipFill>
          <a:blip r:embed="rId2"/>
          <a:stretch>
            <a:fillRect/>
          </a:stretch>
        </p:blipFill>
        <p:spPr>
          <a:xfrm>
            <a:off x="7452360" y="1600200"/>
            <a:ext cx="4187952" cy="2103120"/>
          </a:xfrm>
          <a:prstGeom prst="rect">
            <a:avLst/>
          </a:prstGeom>
        </p:spPr>
      </p:pic>
      <p:pic>
        <p:nvPicPr>
          <p:cNvPr id="6" name="Yamaç terasları ve yollar" descr="/home/user/sunum/araclar/sunum/assets/saha_sag2.jpg">    </p:cNvPr>
          <p:cNvPicPr>
            <a:picLocks noChangeAspect="1"/>
          </p:cNvPicPr>
          <p:nvPr/>
        </p:nvPicPr>
        <p:blipFill>
          <a:blip r:embed="rId3"/>
          <a:stretch>
            <a:fillRect/>
          </a:stretch>
        </p:blipFill>
        <p:spPr>
          <a:xfrm>
            <a:off x="7452360" y="3886200"/>
            <a:ext cx="4187952" cy="2103120"/>
          </a:xfrm>
          <a:prstGeom prst="rect">
            <a:avLst/>
          </a:prstGeom>
        </p:spPr>
      </p:pic>
      <p:sp>
        <p:nvSpPr>
          <p:cNvPr id="7" name="Fotoğraf etiketi"/>
          <p:cNvSpPr/>
          <p:nvPr/>
        </p:nvSpPr>
        <p:spPr>
          <a:xfrm>
            <a:off x="731520" y="5440680"/>
            <a:ext cx="38404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Vadide eski Örencik köyü, platoda tarlalar</a:t>
            </a:r>
            <a:endParaRPr lang="en-US" sz="1300" dirty="0"/>
          </a:p>
        </p:txBody>
      </p:sp>
      <p:sp>
        <p:nvSpPr>
          <p:cNvPr id="8" name="Fotoğraf etiketi"/>
          <p:cNvSpPr/>
          <p:nvPr/>
        </p:nvSpPr>
        <p:spPr>
          <a:xfrm>
            <a:off x="7635240" y="3154680"/>
            <a:ext cx="310896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Yarıntı ve teraslı çam ağaçlandırması</a:t>
            </a:r>
            <a:endParaRPr lang="en-US" sz="1300" dirty="0"/>
          </a:p>
        </p:txBody>
      </p:sp>
      <p:sp>
        <p:nvSpPr>
          <p:cNvPr id="9" name="Fotoğraf etiketi"/>
          <p:cNvSpPr/>
          <p:nvPr/>
        </p:nvSpPr>
        <p:spPr>
          <a:xfrm>
            <a:off x="7635240" y="5440680"/>
            <a:ext cx="31546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Yamaç terasları, enerji hattı ve yollar</a:t>
            </a:r>
            <a:endParaRPr lang="en-US" sz="1300" dirty="0"/>
          </a:p>
        </p:txBody>
      </p:sp>
      <p:sp>
        <p:nvSpPr>
          <p:cNvPr id="10" name="Text 5"/>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Drone çekimi: 22 Eylül 2026, Örencik çevresi, proje ekibi. Görüntüler bölgenin arazi tipini gösterir; Sarıayak parseli ayrıca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SAHA ANALİZİ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Saha bulguları ve sonraki adımlar</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00200"/>
                <a:gridCol w="3566160"/>
                <a:gridCol w="2926080"/>
                <a:gridCol w="3001975"/>
              </a:tblGrid>
              <a:tr h="530352">
                <a:tc>
                  <a:txBody>
                    <a:bodyPr/>
                    <a:lstStyle/>
                    <a:p>
                      <a:pPr indent="0" marL="0">
                        <a:buNone/>
                      </a:pPr>
                      <a:r>
                        <a:rPr lang="en-US" sz="1400" b="1" dirty="0">
                          <a:solidFill>
                            <a:srgbClr val="FFFFFF"/>
                          </a:solidFill>
                        </a:rPr>
                        <a:t>Konu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Bulgu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Anlamı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Sonraki adım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530352">
                <a:tc>
                  <a:txBody>
                    <a:bodyPr/>
                    <a:lstStyle/>
                    <a:p>
                      <a:pPr indent="0" marL="0">
                        <a:buNone/>
                      </a:pPr>
                      <a:r>
                        <a:rPr lang="en-US" sz="1400" b="1" dirty="0">
                          <a:solidFill>
                            <a:srgbClr val="1B2430"/>
                          </a:solidFill>
                        </a:rPr>
                        <a:t>Topoğrafya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Bölgede platolar, dik yamaçlar, yarıntılar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Konut platolara; alanın ~%20'si 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Halihazır harita, eğim analizi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Ağaçlandırma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 yamaçlarında teraslı çam dikimi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Statü varsa yapılaşma dışında kalır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Orman İşletme, Milli Emlak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Zemin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Olası jipsli, marnlı birimler (tahmin)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maliyetini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Zemin etüdü ve jeoteknik rapor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Plan durumu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ÇDP 2020'de iptal; 2050 planı onaylanmadı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statüsü belirsiz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(ABB, ÇŞİDB)</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Deprem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Akademik çalışma: Kazan için 0,30–0,35 g bandı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ortalamasının üzerinde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AFAD sorgusu, TBDY 2018</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Altyapı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Enerji hattı, stabilize yollar; kapasite verisi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Hat güzergâhı yerleşimi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ASKİ, Başkent EDAŞ, Başkentgaz görüşü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Uçuş ekseni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HAB'a ~19 km; pist ekseni ilişkisi hesaplanmadı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Gürültü ve algı riski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bölgedeki drone tespitleri (22 Eylül 2026), ABB jeoloji raporu, akademik olasılıksal tehlike çalışması. Tümü Sarıayak parseli için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POLİTİKA UYUMU</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Üst politika belgeleriyle uyum</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017520"/>
                <a:gridCol w="3657600"/>
                <a:gridCol w="4419295"/>
              </a:tblGrid>
              <a:tr h="457200">
                <a:tc>
                  <a:txBody>
                    <a:bodyPr/>
                    <a:lstStyle/>
                    <a:p>
                      <a:pPr indent="0" marL="0">
                        <a:buNone/>
                      </a:pPr>
                      <a:r>
                        <a:rPr lang="en-US" sz="1400" b="1" dirty="0">
                          <a:solidFill>
                            <a:srgbClr val="FFFFFF"/>
                          </a:solidFill>
                        </a:rPr>
                        <a:t>Belge</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Madde ve hedef</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Uydukent'teki karşılığı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rowSpan="5">
                  <a:txBody>
                    <a:bodyPr/>
                    <a:lstStyle/>
                    <a:p>
                      <a:pPr indent="0" marL="0">
                        <a:buNone/>
                      </a:pPr>
                      <a:r>
                        <a:rPr lang="en-US" sz="1400" b="1" dirty="0">
                          <a:solidFill>
                            <a:srgbClr val="1B2430"/>
                          </a:solidFill>
                        </a:rPr>
                        <a:t>12. Kalkınma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m. 520.3, Tablo 22: istihdam 81,1 → 158 bin</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Nitelikli personelin bölgede yerleşmesi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430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yatırım yeri ile yaşam alanı erişimi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850, 853.2, 857</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yeşil, dirençli, mahalle kültürlü yerleşim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884.2, 885</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Yerleşim ile toplu taşımanın birlikte planlanması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880.5, 881–882</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Sıfır atık, yağmur suyu hasadı (göl ve peyzaj)</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2026 Yıllık Program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853.2, 885.4</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şehir öğeleri; Akıllı Ulaşım Eylem Planı 2025–2030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SSB Stratejik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H3.5; s. 46 tehdit tespiti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Deneyimli personeli sektörde tutmak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2030 Ulusal Akıllı Şehirler Stratejisi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Veri yönetimi, dijital güvenlik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yaşam alanı ve veri güvenliği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2026 Cumhurbaşkanlığı Yıllık Programı; SSB Stratejik Planı 2024–2028. Akıllı şehirler stratejisindeki eylem numarası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ALAN PROGRAMI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Önerilen program: 2.500 konut</a:t>
            </a:r>
            <a:endParaRPr lang="en-US" sz="3600" dirty="0"/>
          </a:p>
        </p:txBody>
      </p:sp>
      <p:graphicFrame>
        <p:nvGraphicFramePr>
          <p:cNvPr id="4" name="Chart 0" descr=""/>
          <p:cNvGraphicFramePr/>
          <p:nvPr/>
        </p:nvGraphicFramePr>
        <p:xfrm>
          <a:off x="548640" y="160020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5" name="Gösterge"/>
          <p:cNvSpPr/>
          <p:nvPr/>
        </p:nvSpPr>
        <p:spPr>
          <a:xfrm>
            <a:off x="690372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6" name="Text 3"/>
          <p:cNvSpPr txBox="1"/>
          <p:nvPr/>
        </p:nvSpPr>
        <p:spPr>
          <a:xfrm>
            <a:off x="708660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13,1 ha</a:t>
            </a:r>
            <a:endParaRPr lang="en-US" sz="2600" dirty="0"/>
          </a:p>
        </p:txBody>
      </p:sp>
      <p:sp>
        <p:nvSpPr>
          <p:cNvPr id="7" name="Text 4"/>
          <p:cNvSpPr txBox="1"/>
          <p:nvPr/>
        </p:nvSpPr>
        <p:spPr>
          <a:xfrm>
            <a:off x="708660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konut alanı</a:t>
            </a:r>
            <a:endParaRPr lang="en-US" sz="1300" dirty="0"/>
          </a:p>
        </p:txBody>
      </p:sp>
      <p:sp>
        <p:nvSpPr>
          <p:cNvPr id="8" name="Gösterge"/>
          <p:cNvSpPr/>
          <p:nvPr/>
        </p:nvSpPr>
        <p:spPr>
          <a:xfrm>
            <a:off x="937260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9" name="Text 6"/>
          <p:cNvSpPr txBox="1"/>
          <p:nvPr/>
        </p:nvSpPr>
        <p:spPr>
          <a:xfrm>
            <a:off x="955548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2,29</a:t>
            </a:r>
            <a:endParaRPr lang="en-US" sz="2600" dirty="0"/>
          </a:p>
        </p:txBody>
      </p:sp>
      <p:sp>
        <p:nvSpPr>
          <p:cNvPr id="10" name="Text 7"/>
          <p:cNvSpPr txBox="1"/>
          <p:nvPr/>
        </p:nvSpPr>
        <p:spPr>
          <a:xfrm>
            <a:off x="955548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emsal</a:t>
            </a:r>
            <a:endParaRPr lang="en-US" sz="1300" dirty="0"/>
          </a:p>
        </p:txBody>
      </p:sp>
      <p:sp>
        <p:nvSpPr>
          <p:cNvPr id="11" name="Gösterge"/>
          <p:cNvSpPr/>
          <p:nvPr/>
        </p:nvSpPr>
        <p:spPr>
          <a:xfrm>
            <a:off x="690372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708660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49</a:t>
            </a:r>
            <a:endParaRPr lang="en-US" sz="2600" dirty="0"/>
          </a:p>
        </p:txBody>
      </p:sp>
      <p:sp>
        <p:nvSpPr>
          <p:cNvPr id="13" name="Text 10"/>
          <p:cNvSpPr txBox="1"/>
          <p:nvPr/>
        </p:nvSpPr>
        <p:spPr>
          <a:xfrm>
            <a:off x="708660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konut/ha (brüt)</a:t>
            </a:r>
            <a:endParaRPr lang="en-US" sz="1300" dirty="0"/>
          </a:p>
        </p:txBody>
      </p:sp>
      <p:sp>
        <p:nvSpPr>
          <p:cNvPr id="14" name="Gösterge"/>
          <p:cNvSpPr/>
          <p:nvPr/>
        </p:nvSpPr>
        <p:spPr>
          <a:xfrm>
            <a:off x="937260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955548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24,7 m²</a:t>
            </a:r>
            <a:endParaRPr lang="en-US" sz="2600" dirty="0"/>
          </a:p>
        </p:txBody>
      </p:sp>
      <p:sp>
        <p:nvSpPr>
          <p:cNvPr id="16" name="Text 13"/>
          <p:cNvSpPr txBox="1"/>
          <p:nvPr/>
        </p:nvSpPr>
        <p:spPr>
          <a:xfrm>
            <a:off x="955548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kişi başı yeşil alan</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903720" y="4206240"/>
          <a:ext cx="4736592" cy="914400"/>
        </p:xfrm>
        <a:graphic>
          <a:graphicData uri="http://schemas.openxmlformats.org/drawingml/2006/table">
            <a:tbl>
              <a:tblPr/>
              <a:tblGrid>
                <a:gridCol w="1993392"/>
                <a:gridCol w="914400"/>
                <a:gridCol w="914400"/>
                <a:gridCol w="914400"/>
              </a:tblGrid>
              <a:tr h="384048">
                <a:tc>
                  <a:txBody>
                    <a:bodyPr/>
                    <a:lstStyle/>
                    <a:p>
                      <a:pPr algn="l" indent="0" marL="0">
                        <a:buNone/>
                      </a:pPr>
                      <a:r>
                        <a:rPr lang="en-US" sz="1400" b="1" dirty="0">
                          <a:solidFill>
                            <a:srgbClr val="FFFFFF"/>
                          </a:solidFill>
                        </a:rPr>
                        <a:t>Senaryo</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c>
                  <a:txBody>
                    <a:bodyPr/>
                    <a:lstStyle/>
                    <a:p>
                      <a:pPr algn="r" indent="0" marL="0">
                        <a:buNone/>
                      </a:pPr>
                      <a:r>
                        <a:rPr lang="en-US" sz="1400" b="1" dirty="0">
                          <a:solidFill>
                            <a:srgbClr val="FFFFFF"/>
                          </a:solidFill>
                        </a:rPr>
                        <a:t>3.000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Nüfus</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6.000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7.500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9.000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Net emsal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2,29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3,21</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Kişi başı yeşil (m²)</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30,3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24,7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20,9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3,0 kişi; konut başına 120 m² brüt inşaat; donatılar MPYY Ek-2. Karşılaştırma: TAI Ankara Lodgings brüt ~37,5 konut/ha.</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BÖLGELEME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Göl merkezde, mahalleler platolarda</a:t>
            </a:r>
            <a:endParaRPr lang="en-US" sz="3600" dirty="0"/>
          </a:p>
        </p:txBody>
      </p:sp>
      <p:sp>
        <p:nvSpPr>
          <p:cNvPr id="4" name="Kart"/>
          <p:cNvSpPr/>
          <p:nvPr/>
        </p:nvSpPr>
        <p:spPr>
          <a:xfrm>
            <a:off x="548640" y="1600200"/>
            <a:ext cx="7215033" cy="4434840"/>
          </a:xfrm>
          <a:prstGeom prst="roundRect">
            <a:avLst>
              <a:gd name="adj" fmla="val 1649"/>
            </a:avLst>
          </a:prstGeom>
          <a:solidFill>
            <a:schemeClr val="bg1"/>
          </a:solidFill>
          <a:ln/>
          <a:effectLst>
            <a:outerShdw sx="100000" sy="100000" kx="0" ky="0" algn="bl" rotWithShape="0" blurRad="76200" dist="19050" dir="5400000">
              <a:srgbClr val="000000">
                <a:alpha val="12000"/>
              </a:srgbClr>
            </a:outerShdw>
          </a:effectLst>
        </p:spPr>
      </p:sp>
      <p:pic>
        <p:nvPicPr>
          <p:cNvPr id="5" name="Bölgeleme şeması" descr="/home/user/sunum/araclar/sunum/assets/bolgeleme.png">    </p:cNvPr>
          <p:cNvPicPr>
            <a:picLocks noChangeAspect="1"/>
          </p:cNvPicPr>
          <p:nvPr/>
        </p:nvPicPr>
        <p:blipFill>
          <a:blip r:embed="rId1"/>
          <a:stretch>
            <a:fillRect/>
          </a:stretch>
        </p:blipFill>
        <p:spPr>
          <a:xfrm>
            <a:off x="548640" y="1600200"/>
            <a:ext cx="7215033" cy="4434840"/>
          </a:xfrm>
          <a:prstGeom prst="rect">
            <a:avLst/>
          </a:prstGeom>
        </p:spPr>
      </p:pic>
      <p:sp>
        <p:nvSpPr>
          <p:cNvPr id="6" name="İkon zemini"/>
          <p:cNvSpPr/>
          <p:nvPr/>
        </p:nvSpPr>
        <p:spPr>
          <a:xfrm>
            <a:off x="8083713" y="1691640"/>
            <a:ext cx="548640" cy="548640"/>
          </a:xfrm>
          <a:prstGeom prst="ellipse">
            <a:avLst/>
          </a:prstGeom>
          <a:solidFill>
            <a:schemeClr val="tx2"/>
          </a:solidFill>
          <a:ln/>
        </p:spPr>
      </p:sp>
      <p:pic>
        <p:nvPicPr>
          <p:cNvPr id="7" name="İkon FaHouse" descr="preencoded.png">    </p:cNvPr>
          <p:cNvPicPr>
            <a:picLocks noChangeAspect="1"/>
          </p:cNvPicPr>
          <p:nvPr/>
        </p:nvPicPr>
        <p:blipFill>
          <a:blip r:embed="rId2"/>
          <a:stretch>
            <a:fillRect/>
          </a:stretch>
        </p:blipFill>
        <p:spPr>
          <a:xfrm>
            <a:off x="8215386" y="1823314"/>
            <a:ext cx="285293" cy="285293"/>
          </a:xfrm>
          <a:prstGeom prst="rect">
            <a:avLst/>
          </a:prstGeom>
        </p:spPr>
      </p:pic>
      <p:sp>
        <p:nvSpPr>
          <p:cNvPr id="8" name="Text 4"/>
          <p:cNvSpPr txBox="1"/>
          <p:nvPr/>
        </p:nvSpPr>
        <p:spPr>
          <a:xfrm>
            <a:off x="8769513" y="1673352"/>
            <a:ext cx="2873543" cy="960120"/>
          </a:xfrm>
          <a:prstGeom prst="rect">
            <a:avLst/>
          </a:prstGeom>
          <a:noFill/>
          <a:ln/>
        </p:spPr>
        <p:txBody>
          <a:bodyPr wrap="square" lIns="0" tIns="0" rIns="0" bIns="0" rtlCol="0" anchor="t"/>
          <a:lstStyle/>
          <a:p>
            <a:pPr indent="0" marL="0">
              <a:buNone/>
            </a:pPr>
            <a:r>
              <a:rPr lang="en-US" sz="1500" dirty="0">
                <a:solidFill>
                  <a:schemeClr val="tx1"/>
                </a:solidFill>
              </a:rPr>
              <a:t>Dört mahalle platolarda, manzaraya yönelik</a:t>
            </a:r>
            <a:endParaRPr lang="en-US" sz="1500" dirty="0"/>
          </a:p>
        </p:txBody>
      </p:sp>
      <p:sp>
        <p:nvSpPr>
          <p:cNvPr id="9" name="İkon zemini"/>
          <p:cNvSpPr/>
          <p:nvPr/>
        </p:nvSpPr>
        <p:spPr>
          <a:xfrm>
            <a:off x="8083713" y="2788920"/>
            <a:ext cx="548640" cy="548640"/>
          </a:xfrm>
          <a:prstGeom prst="ellipse">
            <a:avLst/>
          </a:prstGeom>
          <a:solidFill>
            <a:schemeClr val="tx2"/>
          </a:solidFill>
          <a:ln/>
        </p:spPr>
      </p:sp>
      <p:pic>
        <p:nvPicPr>
          <p:cNvPr id="10" name="İkon FaSchool" descr="preencoded.png">    </p:cNvPr>
          <p:cNvPicPr>
            <a:picLocks noChangeAspect="1"/>
          </p:cNvPicPr>
          <p:nvPr/>
        </p:nvPicPr>
        <p:blipFill>
          <a:blip r:embed="rId3"/>
          <a:stretch>
            <a:fillRect/>
          </a:stretch>
        </p:blipFill>
        <p:spPr>
          <a:xfrm>
            <a:off x="8215386" y="2920594"/>
            <a:ext cx="285293" cy="285293"/>
          </a:xfrm>
          <a:prstGeom prst="rect">
            <a:avLst/>
          </a:prstGeom>
        </p:spPr>
      </p:pic>
      <p:sp>
        <p:nvSpPr>
          <p:cNvPr id="11" name="Text 6"/>
          <p:cNvSpPr txBox="1"/>
          <p:nvPr/>
        </p:nvSpPr>
        <p:spPr>
          <a:xfrm>
            <a:off x="8769513" y="2770632"/>
            <a:ext cx="2873543" cy="960120"/>
          </a:xfrm>
          <a:prstGeom prst="rect">
            <a:avLst/>
          </a:prstGeom>
          <a:noFill/>
          <a:ln/>
        </p:spPr>
        <p:txBody>
          <a:bodyPr wrap="square" lIns="0" tIns="0" rIns="0" bIns="0" rtlCol="0" anchor="t"/>
          <a:lstStyle/>
          <a:p>
            <a:pPr indent="0" marL="0">
              <a:buNone/>
            </a:pPr>
            <a:r>
              <a:rPr lang="en-US" sz="1500" dirty="0">
                <a:solidFill>
                  <a:schemeClr val="tx1"/>
                </a:solidFill>
              </a:rPr>
              <a:t>İki okul kampüsü göl parkının batısında; en uzak konut ~500 m</a:t>
            </a:r>
            <a:endParaRPr lang="en-US" sz="1500" dirty="0"/>
          </a:p>
        </p:txBody>
      </p:sp>
      <p:sp>
        <p:nvSpPr>
          <p:cNvPr id="12" name="İkon zemini"/>
          <p:cNvSpPr/>
          <p:nvPr/>
        </p:nvSpPr>
        <p:spPr>
          <a:xfrm>
            <a:off x="8083713" y="3886200"/>
            <a:ext cx="548640" cy="548640"/>
          </a:xfrm>
          <a:prstGeom prst="ellipse">
            <a:avLst/>
          </a:prstGeom>
          <a:solidFill>
            <a:schemeClr val="tx2"/>
          </a:solidFill>
          <a:ln/>
        </p:spPr>
      </p:sp>
      <p:pic>
        <p:nvPicPr>
          <p:cNvPr id="13" name="İkon FaBus" descr="preencoded.png">    </p:cNvPr>
          <p:cNvPicPr>
            <a:picLocks noChangeAspect="1"/>
          </p:cNvPicPr>
          <p:nvPr/>
        </p:nvPicPr>
        <p:blipFill>
          <a:blip r:embed="rId4"/>
          <a:stretch>
            <a:fillRect/>
          </a:stretch>
        </p:blipFill>
        <p:spPr>
          <a:xfrm>
            <a:off x="8215386" y="4017874"/>
            <a:ext cx="285293" cy="285293"/>
          </a:xfrm>
          <a:prstGeom prst="rect">
            <a:avLst/>
          </a:prstGeom>
        </p:spPr>
      </p:pic>
      <p:sp>
        <p:nvSpPr>
          <p:cNvPr id="14" name="Text 8"/>
          <p:cNvSpPr txBox="1"/>
          <p:nvPr/>
        </p:nvSpPr>
        <p:spPr>
          <a:xfrm>
            <a:off x="8769513" y="3867912"/>
            <a:ext cx="2873543" cy="960120"/>
          </a:xfrm>
          <a:prstGeom prst="rect">
            <a:avLst/>
          </a:prstGeom>
          <a:noFill/>
          <a:ln/>
        </p:spPr>
        <p:txBody>
          <a:bodyPr wrap="square" lIns="0" tIns="0" rIns="0" bIns="0" rtlCol="0" anchor="t"/>
          <a:lstStyle/>
          <a:p>
            <a:pPr indent="0" marL="0">
              <a:buNone/>
            </a:pPr>
            <a:r>
              <a:rPr lang="en-US" sz="1500" dirty="0">
                <a:solidFill>
                  <a:schemeClr val="tx1"/>
                </a:solidFill>
              </a:rPr>
              <a:t>Ana girişte servis ve aktarma istasyonu</a:t>
            </a:r>
            <a:endParaRPr lang="en-US" sz="1500" dirty="0"/>
          </a:p>
        </p:txBody>
      </p:sp>
      <p:sp>
        <p:nvSpPr>
          <p:cNvPr id="15" name="İkon zemini"/>
          <p:cNvSpPr/>
          <p:nvPr/>
        </p:nvSpPr>
        <p:spPr>
          <a:xfrm>
            <a:off x="8083713" y="4983480"/>
            <a:ext cx="548640" cy="548640"/>
          </a:xfrm>
          <a:prstGeom prst="ellipse">
            <a:avLst/>
          </a:prstGeom>
          <a:solidFill>
            <a:schemeClr val="tx2"/>
          </a:solidFill>
          <a:ln/>
        </p:spPr>
      </p:sp>
      <p:pic>
        <p:nvPicPr>
          <p:cNvPr id="16" name="İkon FaTree" descr="preencoded.png">    </p:cNvPr>
          <p:cNvPicPr>
            <a:picLocks noChangeAspect="1"/>
          </p:cNvPicPr>
          <p:nvPr/>
        </p:nvPicPr>
        <p:blipFill>
          <a:blip r:embed="rId5"/>
          <a:stretch>
            <a:fillRect/>
          </a:stretch>
        </p:blipFill>
        <p:spPr>
          <a:xfrm>
            <a:off x="8215386" y="5115154"/>
            <a:ext cx="285293" cy="285293"/>
          </a:xfrm>
          <a:prstGeom prst="rect">
            <a:avLst/>
          </a:prstGeom>
        </p:spPr>
      </p:pic>
      <p:sp>
        <p:nvSpPr>
          <p:cNvPr id="17" name="Text 10"/>
          <p:cNvSpPr txBox="1"/>
          <p:nvPr/>
        </p:nvSpPr>
        <p:spPr>
          <a:xfrm>
            <a:off x="8769513" y="4965192"/>
            <a:ext cx="2873543" cy="960120"/>
          </a:xfrm>
          <a:prstGeom prst="rect">
            <a:avLst/>
          </a:prstGeom>
          <a:noFill/>
          <a:ln/>
        </p:spPr>
        <p:txBody>
          <a:bodyPr wrap="square" lIns="0" tIns="0" rIns="0" bIns="0" rtlCol="0" anchor="t"/>
          <a:lstStyle/>
          <a:p>
            <a:pPr indent="0" marL="0">
              <a:buNone/>
            </a:pPr>
            <a:r>
              <a:rPr lang="en-US" sz="1500" dirty="0">
                <a:solidFill>
                  <a:schemeClr val="tx1"/>
                </a:solidFill>
              </a:rPr>
              <a:t>Korunan yamaçlar yeşil kuşak: yürüyüş ve seyir noktaları</a:t>
            </a:r>
            <a:endParaRPr lang="en-US" sz="15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Şematiktir. Ölçeklidir; parsel sınırı ve yön temsilidir. Sınır ve topoğrafik harita gelince yeniden çizilecek.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EĞİTİM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Eğitim: yürüme mesafesinde okul</a:t>
            </a:r>
            <a:endParaRPr lang="en-US" sz="3600" dirty="0"/>
          </a:p>
        </p:txBody>
      </p:sp>
      <p:sp>
        <p:nvSpPr>
          <p:cNvPr id="4" name="Gösterge"/>
          <p:cNvSpPr/>
          <p:nvPr/>
        </p:nvSpPr>
        <p:spPr>
          <a:xfrm>
            <a:off x="54864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~1.540</a:t>
            </a:r>
            <a:endParaRPr lang="en-US" sz="3000" dirty="0"/>
          </a:p>
        </p:txBody>
      </p:sp>
      <p:sp>
        <p:nvSpPr>
          <p:cNvPr id="6" name="Text 4"/>
          <p:cNvSpPr txBox="1"/>
          <p:nvPr/>
        </p:nvSpPr>
        <p:spPr>
          <a:xfrm>
            <a:off x="73152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öğrenci (tahmin)</a:t>
            </a:r>
            <a:endParaRPr lang="en-US" sz="1300" dirty="0"/>
          </a:p>
        </p:txBody>
      </p:sp>
      <p:sp>
        <p:nvSpPr>
          <p:cNvPr id="7" name="Gösterge"/>
          <p:cNvSpPr/>
          <p:nvPr/>
        </p:nvSpPr>
        <p:spPr>
          <a:xfrm>
            <a:off x="278892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297180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~57</a:t>
            </a:r>
            <a:endParaRPr lang="en-US" sz="3000" dirty="0"/>
          </a:p>
        </p:txBody>
      </p:sp>
      <p:sp>
        <p:nvSpPr>
          <p:cNvPr id="9" name="Text 7"/>
          <p:cNvSpPr txBox="1"/>
          <p:nvPr/>
        </p:nvSpPr>
        <p:spPr>
          <a:xfrm>
            <a:off x="297180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derslik</a:t>
            </a:r>
            <a:endParaRPr lang="en-US" sz="1300" dirty="0"/>
          </a:p>
        </p:txBody>
      </p:sp>
      <p:graphicFrame>
        <p:nvGraphicFramePr>
          <p:cNvPr id="10" name="Chart 0" descr=""/>
          <p:cNvGraphicFramePr/>
          <p:nvPr/>
        </p:nvGraphicFramePr>
        <p:xfrm>
          <a:off x="548640" y="2880360"/>
          <a:ext cx="4297680" cy="3108960"/>
        </p:xfrm>
        <a:graphic xmlns:a="http://schemas.openxmlformats.org/drawingml/2006/main">
          <a:graphicData uri="http://schemas.openxmlformats.org/drawingml/2006/chart">
            <c:chart xmlns:c="http://schemas.openxmlformats.org/drawingml/2006/chart" r:id="rId1"/>
          </a:graphicData>
        </a:graphic>
      </p:graphicFrame>
      <p:sp>
        <p:nvSpPr>
          <p:cNvPr id="11" name="Kart"/>
          <p:cNvSpPr/>
          <p:nvPr/>
        </p:nvSpPr>
        <p:spPr>
          <a:xfrm>
            <a:off x="5166360"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5394960" y="1828800"/>
            <a:ext cx="548640" cy="548640"/>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5526634" y="1960474"/>
            <a:ext cx="285293" cy="285293"/>
          </a:xfrm>
          <a:prstGeom prst="rect">
            <a:avLst/>
          </a:prstGeom>
        </p:spPr>
      </p:pic>
      <p:sp>
        <p:nvSpPr>
          <p:cNvPr id="14" name="Text 10"/>
          <p:cNvSpPr txBox="1"/>
          <p:nvPr/>
        </p:nvSpPr>
        <p:spPr>
          <a:xfrm>
            <a:off x="6080760"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Devlet okul kampüsü</a:t>
            </a:r>
            <a:endParaRPr lang="en-US" sz="1700" dirty="0"/>
          </a:p>
        </p:txBody>
      </p:sp>
      <p:sp>
        <p:nvSpPr>
          <p:cNvPr id="15" name="Text 11"/>
          <p:cNvSpPr txBox="1"/>
          <p:nvPr/>
        </p:nvSpPr>
        <p:spPr>
          <a:xfrm>
            <a:off x="6080760"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2,2 ha · ~32 derslik</a:t>
            </a:r>
            <a:endParaRPr lang="en-US" sz="1300" dirty="0"/>
          </a:p>
        </p:txBody>
      </p:sp>
      <p:sp>
        <p:nvSpPr>
          <p:cNvPr id="16" name="Text 12"/>
          <p:cNvSpPr txBox="1"/>
          <p:nvPr/>
        </p:nvSpPr>
        <p:spPr>
          <a:xfrm>
            <a:off x="5394960"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Anaokulu, ilkokul ve ortaokul bir arada; MEB normunda. Spor salonu ve kütüphane akşamları mahalleye açık.</a:t>
            </a:r>
            <a:endParaRPr lang="en-US" sz="1500" dirty="0"/>
          </a:p>
        </p:txBody>
      </p:sp>
      <p:sp>
        <p:nvSpPr>
          <p:cNvPr id="17" name="Kart"/>
          <p:cNvSpPr/>
          <p:nvPr/>
        </p:nvSpPr>
        <p:spPr>
          <a:xfrm>
            <a:off x="8541868"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8" name="İkon zemini"/>
          <p:cNvSpPr/>
          <p:nvPr/>
        </p:nvSpPr>
        <p:spPr>
          <a:xfrm>
            <a:off x="8770468" y="1828800"/>
            <a:ext cx="548640" cy="548640"/>
          </a:xfrm>
          <a:prstGeom prst="ellipse">
            <a:avLst/>
          </a:prstGeom>
          <a:solidFill>
            <a:schemeClr val="tx2"/>
          </a:solidFill>
          <a:ln/>
        </p:spPr>
      </p:sp>
      <p:pic>
        <p:nvPicPr>
          <p:cNvPr id="19" name="İkon FaUserGraduate" descr="preencoded.png">    </p:cNvPr>
          <p:cNvPicPr>
            <a:picLocks noChangeAspect="1"/>
          </p:cNvPicPr>
          <p:nvPr/>
        </p:nvPicPr>
        <p:blipFill>
          <a:blip r:embed="rId3"/>
          <a:stretch>
            <a:fillRect/>
          </a:stretch>
        </p:blipFill>
        <p:spPr>
          <a:xfrm>
            <a:off x="8902141" y="1960474"/>
            <a:ext cx="285293" cy="285293"/>
          </a:xfrm>
          <a:prstGeom prst="rect">
            <a:avLst/>
          </a:prstGeom>
        </p:spPr>
      </p:pic>
      <p:sp>
        <p:nvSpPr>
          <p:cNvPr id="20" name="Text 15"/>
          <p:cNvSpPr txBox="1"/>
          <p:nvPr/>
        </p:nvSpPr>
        <p:spPr>
          <a:xfrm>
            <a:off x="9456268"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Özel okul kampüsü</a:t>
            </a:r>
            <a:endParaRPr lang="en-US" sz="1700" dirty="0"/>
          </a:p>
        </p:txBody>
      </p:sp>
      <p:sp>
        <p:nvSpPr>
          <p:cNvPr id="21" name="Text 16"/>
          <p:cNvSpPr txBox="1"/>
          <p:nvPr/>
        </p:nvSpPr>
        <p:spPr>
          <a:xfrm>
            <a:off x="9456268"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2,4 ha · ~25 derslik</a:t>
            </a:r>
            <a:endParaRPr lang="en-US" sz="1300" dirty="0"/>
          </a:p>
        </p:txBody>
      </p:sp>
      <p:sp>
        <p:nvSpPr>
          <p:cNvPr id="22" name="Text 17"/>
          <p:cNvSpPr txBox="1"/>
          <p:nvPr/>
        </p:nvSpPr>
        <p:spPr>
          <a:xfrm>
            <a:off x="8770468"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İki dilli; anaokulundan liseye. Güçlü akademik program ve nitelikli öğretmen kadrosu.</a:t>
            </a:r>
            <a:endParaRPr lang="en-US" sz="1500" dirty="0"/>
          </a:p>
        </p:txBody>
      </p:sp>
      <p:sp>
        <p:nvSpPr>
          <p:cNvPr id="23" name="Kart"/>
          <p:cNvSpPr/>
          <p:nvPr/>
        </p:nvSpPr>
        <p:spPr>
          <a:xfrm>
            <a:off x="5166360" y="4297680"/>
            <a:ext cx="6476695" cy="1691640"/>
          </a:xfrm>
          <a:prstGeom prst="roundRect">
            <a:avLst>
              <a:gd name="adj" fmla="val 4324"/>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5394960" y="4453128"/>
            <a:ext cx="6019495" cy="1417320"/>
          </a:xfrm>
          <a:prstGeom prst="rect">
            <a:avLst/>
          </a:prstGeom>
          <a:noFill/>
          <a:ln/>
        </p:spPr>
        <p:txBody>
          <a:bodyPr wrap="square" lIns="0" tIns="0" rIns="0" bIns="0" rtlCol="0" anchor="t"/>
          <a:lstStyle/>
          <a:p>
            <a:pPr indent="0" marL="0">
              <a:spcAft>
                <a:spcPts val="800"/>
              </a:spcAft>
              <a:buNone/>
            </a:pPr>
            <a:r>
              <a:rPr lang="en-US" sz="1500" b="1" dirty="0">
                <a:solidFill>
                  <a:schemeClr val="tx2"/>
                </a:solidFill>
              </a:rPr>
              <a:t>Ayrıca: </a:t>
            </a:r>
            <a:pPr indent="0" marL="0">
              <a:spcAft>
                <a:spcPts val="800"/>
              </a:spcAft>
              <a:buNone/>
            </a:pPr>
            <a:r>
              <a:rPr lang="en-US" sz="1500" dirty="0">
                <a:solidFill>
                  <a:schemeClr val="tx1"/>
                </a:solidFill>
              </a:rPr>
              <a:t>kreşler zemin katlarda ve mahalle merkezinde; her okulda Deneyap ve makerspace atölyesi; ilçedeki meslek yüksekokuluyla staj ve sürekli eğitim.</a:t>
            </a:r>
            <a:endParaRPr lang="en-US" sz="1500" dirty="0"/>
          </a:p>
          <a:p>
            <a:pPr indent="0" marL="0">
              <a:spcAft>
                <a:spcPts val="800"/>
              </a:spcAft>
              <a:buNone/>
            </a:pPr>
            <a:r>
              <a:rPr lang="en-US" sz="1500" b="1" dirty="0">
                <a:solidFill>
                  <a:schemeClr val="tx2"/>
                </a:solidFill>
              </a:rPr>
              <a:t>Kim ve ne zaman: </a:t>
            </a:r>
            <a:pPr indent="0" marL="0">
              <a:spcAft>
                <a:spcPts val="800"/>
              </a:spcAft>
              <a:buNone/>
            </a:pPr>
            <a:r>
              <a:rPr lang="en-US" sz="1500" dirty="0">
                <a:solidFill>
                  <a:schemeClr val="tx1"/>
                </a:solidFill>
              </a:rPr>
              <a:t>MEB, özel okul yatırımcıları, sanayi kuruluşları. İlk gün kreş ve modüler sınıflar.</a:t>
            </a:r>
            <a:endParaRPr lang="en-US" sz="1500" dirty="0"/>
          </a:p>
        </p:txBody>
      </p:sp>
      <p:sp>
        <p:nvSpPr>
          <p:cNvPr id="25"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1.000 kişi başına öğrenci (genç aile varsayımı): kreş-anaokulu 45, ilkokul 60, ortaokul 55, lise 45. Derslik başına 30 öğrenci (anaokulunda 20).</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Bunlar yapılıyor: işveren yakınında okul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tx2"/>
          </a:solidFill>
          <a:ln/>
        </p:spPr>
      </p:sp>
      <p:pic>
        <p:nvPicPr>
          <p:cNvPr id="6" name="İkon FaPlaneDeparture"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Toulouse, Fransa · 1999</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International School of Toulouse</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Airbus'ın talebiyle kuruldu; uluslararası mühendis aileleri için.</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Okul, mühendis ailesini çeken ilk unsur.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Songdo, Kore · 2010</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Chadwick International</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260–280 öğrenciyle açıldı; bugün ~1.500 öğrenci.</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Okul talebi büyür; kampüs büyümeye göre planlanır.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tx2"/>
          </a:solidFill>
          <a:ln/>
        </p:spPr>
      </p:sp>
      <p:pic>
        <p:nvPicPr>
          <p:cNvPr id="20" name="İkon FaBuildingColumns"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Wolfsburg, Almanya · 2009</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Neue Schule Wolfsburg</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Volkswagen okulu kurdu ve şehre bağışladı.</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İşveren katkısıyla nitelikli okul mümkün.</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tx2"/>
          </a:solidFill>
          <a:ln/>
        </p:spPr>
      </p:sp>
      <p:pic>
        <p:nvPicPr>
          <p:cNvPr id="27" name="İkon FaFlask"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Türkiye · 2022</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Deneyap atölyeleri</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 atölye, 6.803 öğrenci.</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Teknoloji atölyesi her okula eklenebilir.</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(kurum ve basın kaynakları). Dünya örneklerinin fotoğrafları telif nedeniyle kullanılmadı.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SAĞLIK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Sağlık: birinci basamak yerleşimde</a:t>
            </a:r>
            <a:endParaRPr lang="en-US" sz="3600" dirty="0"/>
          </a:p>
        </p:txBody>
      </p:sp>
      <p:sp>
        <p:nvSpPr>
          <p:cNvPr id="4" name="Kart"/>
          <p:cNvSpPr/>
          <p:nvPr/>
        </p:nvSpPr>
        <p:spPr>
          <a:xfrm>
            <a:off x="548640" y="1600200"/>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929384"/>
            <a:ext cx="640080" cy="640080"/>
          </a:xfrm>
          <a:prstGeom prst="ellipse">
            <a:avLst/>
          </a:prstGeom>
          <a:solidFill>
            <a:schemeClr val="accent1"/>
          </a:solidFill>
          <a:ln/>
        </p:spPr>
      </p:sp>
      <p:pic>
        <p:nvPicPr>
          <p:cNvPr id="6" name="İkon FaKitMedical" descr="preencoded.png">    </p:cNvPr>
          <p:cNvPicPr>
            <a:picLocks noChangeAspect="1"/>
          </p:cNvPicPr>
          <p:nvPr/>
        </p:nvPicPr>
        <p:blipFill>
          <a:blip r:embed="rId1"/>
          <a:stretch>
            <a:fillRect/>
          </a:stretch>
        </p:blipFill>
        <p:spPr>
          <a:xfrm>
            <a:off x="930859" y="2083003"/>
            <a:ext cx="332842" cy="332842"/>
          </a:xfrm>
          <a:prstGeom prst="rect">
            <a:avLst/>
          </a:prstGeom>
        </p:spPr>
      </p:pic>
      <p:sp>
        <p:nvSpPr>
          <p:cNvPr id="7" name="Text 4"/>
          <p:cNvSpPr txBox="1"/>
          <p:nvPr/>
        </p:nvSpPr>
        <p:spPr>
          <a:xfrm>
            <a:off x="1600200" y="1737360"/>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Yerleşim içinde · ilk gün</a:t>
            </a:r>
            <a:endParaRPr lang="en-US" sz="1300" dirty="0"/>
          </a:p>
        </p:txBody>
      </p:sp>
      <p:sp>
        <p:nvSpPr>
          <p:cNvPr id="8" name="Text 5"/>
          <p:cNvSpPr txBox="1"/>
          <p:nvPr/>
        </p:nvSpPr>
        <p:spPr>
          <a:xfrm>
            <a:off x="1600200" y="2011680"/>
            <a:ext cx="5349240" cy="320040"/>
          </a:xfrm>
          <a:prstGeom prst="rect">
            <a:avLst/>
          </a:prstGeom>
          <a:noFill/>
          <a:ln/>
        </p:spPr>
        <p:txBody>
          <a:bodyPr wrap="square" lIns="0" tIns="0" rIns="0" bIns="0" rtlCol="0" anchor="t"/>
          <a:lstStyle/>
          <a:p>
            <a:pPr indent="0" marL="0">
              <a:buNone/>
            </a:pPr>
            <a:r>
              <a:rPr lang="en-US" sz="1700" b="1" dirty="0">
                <a:solidFill>
                  <a:schemeClr val="tx2"/>
                </a:solidFill>
              </a:rPr>
              <a:t>Aile sağlığı merkezi, 112 istasyonu ve poliklinik</a:t>
            </a:r>
            <a:endParaRPr lang="en-US" sz="1700" dirty="0"/>
          </a:p>
        </p:txBody>
      </p:sp>
      <p:sp>
        <p:nvSpPr>
          <p:cNvPr id="9" name="Text 6"/>
          <p:cNvSpPr txBox="1"/>
          <p:nvPr/>
        </p:nvSpPr>
        <p:spPr>
          <a:xfrm>
            <a:off x="1600200" y="2350008"/>
            <a:ext cx="5349240" cy="502920"/>
          </a:xfrm>
          <a:prstGeom prst="rect">
            <a:avLst/>
          </a:prstGeom>
          <a:noFill/>
          <a:ln/>
        </p:spPr>
        <p:txBody>
          <a:bodyPr wrap="square" lIns="0" tIns="0" rIns="0" bIns="0" rtlCol="0" anchor="t"/>
          <a:lstStyle/>
          <a:p>
            <a:pPr indent="0" marL="0">
              <a:buNone/>
            </a:pPr>
            <a:r>
              <a:rPr lang="en-US" sz="1400" dirty="0">
                <a:solidFill>
                  <a:schemeClr val="tx1"/>
                </a:solidFill>
              </a:rPr>
              <a:t>~2.500 m² bina, 1,12 ha alan; yürüme mesafesinde.</a:t>
            </a:r>
            <a:endParaRPr lang="en-US" sz="1400" dirty="0"/>
          </a:p>
        </p:txBody>
      </p:sp>
      <p:sp>
        <p:nvSpPr>
          <p:cNvPr id="10" name="Kart"/>
          <p:cNvSpPr/>
          <p:nvPr/>
        </p:nvSpPr>
        <p:spPr>
          <a:xfrm>
            <a:off x="548640" y="3081528"/>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77240" y="3410712"/>
            <a:ext cx="640080" cy="640080"/>
          </a:xfrm>
          <a:prstGeom prst="ellipse">
            <a:avLst/>
          </a:prstGeom>
          <a:solidFill>
            <a:schemeClr val="tx2"/>
          </a:solidFill>
          <a:ln/>
        </p:spPr>
      </p:sp>
      <p:pic>
        <p:nvPicPr>
          <p:cNvPr id="12" name="İkon FaHospital" descr="preencoded.png">    </p:cNvPr>
          <p:cNvPicPr>
            <a:picLocks noChangeAspect="1"/>
          </p:cNvPicPr>
          <p:nvPr/>
        </p:nvPicPr>
        <p:blipFill>
          <a:blip r:embed="rId2"/>
          <a:stretch>
            <a:fillRect/>
          </a:stretch>
        </p:blipFill>
        <p:spPr>
          <a:xfrm>
            <a:off x="930859" y="3564331"/>
            <a:ext cx="332842" cy="332842"/>
          </a:xfrm>
          <a:prstGeom prst="rect">
            <a:avLst/>
          </a:prstGeom>
        </p:spPr>
      </p:pic>
      <p:sp>
        <p:nvSpPr>
          <p:cNvPr id="13" name="Text 9"/>
          <p:cNvSpPr txBox="1"/>
          <p:nvPr/>
        </p:nvSpPr>
        <p:spPr>
          <a:xfrm>
            <a:off x="1600200" y="3218688"/>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İlçede · ~8 km</a:t>
            </a:r>
            <a:endParaRPr lang="en-US" sz="1300" dirty="0"/>
          </a:p>
        </p:txBody>
      </p:sp>
      <p:sp>
        <p:nvSpPr>
          <p:cNvPr id="14" name="Text 10"/>
          <p:cNvSpPr txBox="1"/>
          <p:nvPr/>
        </p:nvSpPr>
        <p:spPr>
          <a:xfrm>
            <a:off x="1600200" y="3493008"/>
            <a:ext cx="5349240" cy="320040"/>
          </a:xfrm>
          <a:prstGeom prst="rect">
            <a:avLst/>
          </a:prstGeom>
          <a:noFill/>
          <a:ln/>
        </p:spPr>
        <p:txBody>
          <a:bodyPr wrap="square" lIns="0" tIns="0" rIns="0" bIns="0" rtlCol="0" anchor="t"/>
          <a:lstStyle/>
          <a:p>
            <a:pPr indent="0" marL="0">
              <a:buNone/>
            </a:pPr>
            <a:r>
              <a:rPr lang="en-US" sz="1700" b="1" dirty="0">
                <a:solidFill>
                  <a:schemeClr val="tx2"/>
                </a:solidFill>
              </a:rPr>
              <a:t>Kahramankazan Devlet Hastanesi</a:t>
            </a:r>
            <a:endParaRPr lang="en-US" sz="1700" dirty="0"/>
          </a:p>
        </p:txBody>
      </p:sp>
      <p:sp>
        <p:nvSpPr>
          <p:cNvPr id="15" name="Text 11"/>
          <p:cNvSpPr txBox="1"/>
          <p:nvPr/>
        </p:nvSpPr>
        <p:spPr>
          <a:xfrm>
            <a:off x="1600200" y="3831336"/>
            <a:ext cx="5349240" cy="502920"/>
          </a:xfrm>
          <a:prstGeom prst="rect">
            <a:avLst/>
          </a:prstGeom>
          <a:noFill/>
          <a:ln/>
        </p:spPr>
        <p:txBody>
          <a:bodyPr wrap="square" lIns="0" tIns="0" rIns="0" bIns="0" rtlCol="0" anchor="t"/>
          <a:lstStyle/>
          <a:p>
            <a:pPr indent="0" marL="0">
              <a:buNone/>
            </a:pPr>
            <a:r>
              <a:rPr lang="en-US" sz="1400" dirty="0">
                <a:solidFill>
                  <a:schemeClr val="tx1"/>
                </a:solidFill>
              </a:rPr>
              <a:t>2022'de açıldı; ~150 yatak (kaynaklarda 150–190). Ring hat ve randevuya bağlı servis.</a:t>
            </a:r>
            <a:endParaRPr lang="en-US" sz="1400" dirty="0"/>
          </a:p>
        </p:txBody>
      </p:sp>
      <p:sp>
        <p:nvSpPr>
          <p:cNvPr id="16" name="Kart"/>
          <p:cNvSpPr/>
          <p:nvPr/>
        </p:nvSpPr>
        <p:spPr>
          <a:xfrm>
            <a:off x="548640" y="4562856"/>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7" name="İkon zemini"/>
          <p:cNvSpPr/>
          <p:nvPr/>
        </p:nvSpPr>
        <p:spPr>
          <a:xfrm>
            <a:off x="777240" y="4892040"/>
            <a:ext cx="640080" cy="640080"/>
          </a:xfrm>
          <a:prstGeom prst="ellipse">
            <a:avLst/>
          </a:prstGeom>
          <a:solidFill>
            <a:schemeClr val="tx2"/>
          </a:solidFill>
          <a:ln/>
        </p:spPr>
      </p:sp>
      <p:pic>
        <p:nvPicPr>
          <p:cNvPr id="18" name="İkon FaHeartPulse" descr="preencoded.png">    </p:cNvPr>
          <p:cNvPicPr>
            <a:picLocks noChangeAspect="1"/>
          </p:cNvPicPr>
          <p:nvPr/>
        </p:nvPicPr>
        <p:blipFill>
          <a:blip r:embed="rId3"/>
          <a:stretch>
            <a:fillRect/>
          </a:stretch>
        </p:blipFill>
        <p:spPr>
          <a:xfrm>
            <a:off x="930859" y="5045659"/>
            <a:ext cx="332842" cy="332842"/>
          </a:xfrm>
          <a:prstGeom prst="rect">
            <a:avLst/>
          </a:prstGeom>
        </p:spPr>
      </p:pic>
      <p:sp>
        <p:nvSpPr>
          <p:cNvPr id="19" name="Text 14"/>
          <p:cNvSpPr txBox="1"/>
          <p:nvPr/>
        </p:nvSpPr>
        <p:spPr>
          <a:xfrm>
            <a:off x="1600200" y="4700016"/>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Ankara</a:t>
            </a:r>
            <a:endParaRPr lang="en-US" sz="1300" dirty="0"/>
          </a:p>
        </p:txBody>
      </p:sp>
      <p:sp>
        <p:nvSpPr>
          <p:cNvPr id="20" name="Text 15"/>
          <p:cNvSpPr txBox="1"/>
          <p:nvPr/>
        </p:nvSpPr>
        <p:spPr>
          <a:xfrm>
            <a:off x="1600200" y="4974336"/>
            <a:ext cx="5349240" cy="320040"/>
          </a:xfrm>
          <a:prstGeom prst="rect">
            <a:avLst/>
          </a:prstGeom>
          <a:noFill/>
          <a:ln/>
        </p:spPr>
        <p:txBody>
          <a:bodyPr wrap="square" lIns="0" tIns="0" rIns="0" bIns="0" rtlCol="0" anchor="t"/>
          <a:lstStyle/>
          <a:p>
            <a:pPr indent="0" marL="0">
              <a:buNone/>
            </a:pPr>
            <a:r>
              <a:rPr lang="en-US" sz="1700" b="1" dirty="0">
                <a:solidFill>
                  <a:schemeClr val="tx2"/>
                </a:solidFill>
              </a:rPr>
              <a:t>Üst basamak hastaneler</a:t>
            </a:r>
            <a:endParaRPr lang="en-US" sz="1700" dirty="0"/>
          </a:p>
        </p:txBody>
      </p:sp>
      <p:sp>
        <p:nvSpPr>
          <p:cNvPr id="21" name="Text 16"/>
          <p:cNvSpPr txBox="1"/>
          <p:nvPr/>
        </p:nvSpPr>
        <p:spPr>
          <a:xfrm>
            <a:off x="1600200" y="5312664"/>
            <a:ext cx="5349240" cy="502920"/>
          </a:xfrm>
          <a:prstGeom prst="rect">
            <a:avLst/>
          </a:prstGeom>
          <a:noFill/>
          <a:ln/>
        </p:spPr>
        <p:txBody>
          <a:bodyPr wrap="square" lIns="0" tIns="0" rIns="0" bIns="0" rtlCol="0" anchor="t"/>
          <a:lstStyle/>
          <a:p>
            <a:pPr indent="0" marL="0">
              <a:buNone/>
            </a:pPr>
            <a:r>
              <a:rPr lang="en-US" sz="1400" dirty="0">
                <a:solidFill>
                  <a:schemeClr val="tx1"/>
                </a:solidFill>
              </a:rPr>
              <a:t>Sevk zinciri ve tele-sağlık bağlantısı.</a:t>
            </a:r>
            <a:endParaRPr lang="en-US" sz="1400" dirty="0"/>
          </a:p>
        </p:txBody>
      </p:sp>
      <p:sp>
        <p:nvSpPr>
          <p:cNvPr id="22" name="Text 17"/>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700" b="1" dirty="0">
                <a:solidFill>
                  <a:schemeClr val="tx2"/>
                </a:solidFill>
              </a:rPr>
              <a:t>Dünyadan dersler</a:t>
            </a:r>
            <a:endParaRPr lang="en-US" sz="1700" dirty="0"/>
          </a:p>
        </p:txBody>
      </p:sp>
      <p:sp>
        <p:nvSpPr>
          <p:cNvPr id="23" name="Kart"/>
          <p:cNvSpPr/>
          <p:nvPr/>
        </p:nvSpPr>
        <p:spPr>
          <a:xfrm>
            <a:off x="7543800" y="20574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7726680" y="21945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Sejong, Kore · 2024</a:t>
            </a:r>
            <a:endParaRPr lang="en-US" sz="1400" dirty="0"/>
          </a:p>
          <a:p>
            <a:pPr indent="0" marL="0">
              <a:spcAft>
                <a:spcPts val="400"/>
              </a:spcAft>
              <a:buNone/>
            </a:pPr>
            <a:r>
              <a:rPr lang="en-US" sz="1400" dirty="0">
                <a:solidFill>
                  <a:schemeClr val="tx1"/>
                </a:solidFill>
              </a:rPr>
              <a:t>Tek acil merkezi gece yetişkin hizmetini kesti.</a:t>
            </a:r>
            <a:endParaRPr lang="en-US" sz="1400" dirty="0"/>
          </a:p>
          <a:p>
            <a:pPr indent="0" marL="0">
              <a:spcAft>
                <a:spcPts val="400"/>
              </a:spcAft>
              <a:buNone/>
            </a:pPr>
            <a:r>
              <a:rPr lang="en-US" sz="1400" b="1" dirty="0">
                <a:solidFill>
                  <a:schemeClr val="tx2"/>
                </a:solidFill>
              </a:rPr>
              <a:t>Acil ve 112 baştan planlanmalı.</a:t>
            </a:r>
            <a:endParaRPr lang="en-US" sz="1400" dirty="0"/>
          </a:p>
        </p:txBody>
      </p:sp>
      <p:sp>
        <p:nvSpPr>
          <p:cNvPr id="25" name="Kart"/>
          <p:cNvSpPr/>
          <p:nvPr/>
        </p:nvSpPr>
        <p:spPr>
          <a:xfrm>
            <a:off x="7543800" y="36576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6" name="Text 21"/>
          <p:cNvSpPr txBox="1"/>
          <p:nvPr/>
        </p:nvSpPr>
        <p:spPr>
          <a:xfrm>
            <a:off x="7726680" y="37947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Lake Nona, ABD · 2012</a:t>
            </a:r>
            <a:endParaRPr lang="en-US" sz="1400" dirty="0"/>
          </a:p>
          <a:p>
            <a:pPr indent="0" marL="0">
              <a:spcAft>
                <a:spcPts val="400"/>
              </a:spcAft>
              <a:buNone/>
            </a:pPr>
            <a:r>
              <a:rPr lang="en-US" sz="1400" dirty="0">
                <a:solidFill>
                  <a:schemeClr val="tx1"/>
                </a:solidFill>
              </a:rPr>
              <a:t>Nemours çocuk hastanesi yerleşimin kurum çıpası oldu.</a:t>
            </a:r>
            <a:endParaRPr lang="en-US" sz="1400" dirty="0"/>
          </a:p>
          <a:p>
            <a:pPr indent="0" marL="0">
              <a:spcAft>
                <a:spcPts val="400"/>
              </a:spcAft>
              <a:buNone/>
            </a:pPr>
            <a:r>
              <a:rPr lang="en-US" sz="1400" b="1" dirty="0">
                <a:solidFill>
                  <a:schemeClr val="tx2"/>
                </a:solidFill>
              </a:rPr>
              <a:t>Sağlık kurumu, yerleşime güven verir.</a:t>
            </a:r>
            <a:endParaRPr lang="en-US" sz="1400" dirty="0"/>
          </a:p>
        </p:txBody>
      </p:sp>
      <p:sp>
        <p:nvSpPr>
          <p:cNvPr id="27" name="Text 22"/>
          <p:cNvSpPr txBox="1"/>
          <p:nvPr/>
        </p:nvSpPr>
        <p:spPr>
          <a:xfrm>
            <a:off x="7543800" y="5349240"/>
            <a:ext cx="4099255" cy="548640"/>
          </a:xfrm>
          <a:prstGeom prst="rect">
            <a:avLst/>
          </a:prstGeom>
          <a:noFill/>
          <a:ln/>
        </p:spPr>
        <p:txBody>
          <a:bodyPr wrap="square" lIns="0" tIns="0" rIns="0" bIns="0" rtlCol="0" anchor="t"/>
          <a:lstStyle/>
          <a:p>
            <a:pPr indent="0" marL="0">
              <a:buNone/>
            </a:pPr>
            <a:r>
              <a:rPr lang="en-US" sz="1400" b="1" dirty="0">
                <a:solidFill>
                  <a:schemeClr val="tx2"/>
                </a:solidFill>
              </a:rPr>
              <a:t>Kim: </a:t>
            </a:r>
            <a:pPr indent="0" marL="0">
              <a:buNone/>
            </a:pPr>
            <a:r>
              <a:rPr lang="en-US" sz="1400" dirty="0">
                <a:solidFill>
                  <a:schemeClr val="tx1"/>
                </a:solidFill>
              </a:rPr>
              <a:t>Sağlık Bakanlığı, Ankara İl Sağlık Müdürlüğü.</a:t>
            </a:r>
            <a:endParaRPr lang="en-US" sz="1400" dirty="0"/>
          </a:p>
        </p:txBody>
      </p:sp>
      <p:sp>
        <p:nvSpPr>
          <p:cNvPr id="28" name="Text 23"/>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Proje ekibinin "yeni şehir hastanesi" dediği tesis, kaynaklarda Kahramankazan Devlet Hastanesi olarak geçiyor; adı ve kapasitesi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SOSYAL YAŞAM VE YAPAY GÖL</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Göl: sosyal yaşamın merkezi</a:t>
            </a:r>
            <a:endParaRPr lang="en-US" sz="3600" dirty="0"/>
          </a:p>
        </p:txBody>
      </p:sp>
      <p:sp>
        <p:nvSpPr>
          <p:cNvPr id="4" name="Kart"/>
          <p:cNvSpPr/>
          <p:nvPr/>
        </p:nvSpPr>
        <p:spPr>
          <a:xfrm>
            <a:off x="548640" y="1600200"/>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13232" y="1819656"/>
            <a:ext cx="566928" cy="566928"/>
          </a:xfrm>
          <a:prstGeom prst="ellipse">
            <a:avLst/>
          </a:prstGeom>
          <a:solidFill>
            <a:schemeClr val="accent2"/>
          </a:solidFill>
          <a:ln/>
        </p:spPr>
      </p:sp>
      <p:pic>
        <p:nvPicPr>
          <p:cNvPr id="6" name="İkon FaCloudRain" descr="preencoded.png">    </p:cNvPr>
          <p:cNvPicPr>
            <a:picLocks noChangeAspect="1"/>
          </p:cNvPicPr>
          <p:nvPr/>
        </p:nvPicPr>
        <p:blipFill>
          <a:blip r:embed="rId1"/>
          <a:stretch>
            <a:fillRect/>
          </a:stretch>
        </p:blipFill>
        <p:spPr>
          <a:xfrm>
            <a:off x="849295" y="1955719"/>
            <a:ext cx="294803" cy="294803"/>
          </a:xfrm>
          <a:prstGeom prst="rect">
            <a:avLst/>
          </a:prstGeom>
        </p:spPr>
      </p:pic>
      <p:sp>
        <p:nvSpPr>
          <p:cNvPr id="7" name="Text 4"/>
          <p:cNvSpPr txBox="1"/>
          <p:nvPr/>
        </p:nvSpPr>
        <p:spPr>
          <a:xfrm>
            <a:off x="1417320" y="1728216"/>
            <a:ext cx="2103120" cy="292608"/>
          </a:xfrm>
          <a:prstGeom prst="rect">
            <a:avLst/>
          </a:prstGeom>
          <a:noFill/>
          <a:ln/>
        </p:spPr>
        <p:txBody>
          <a:bodyPr wrap="square" lIns="0" tIns="0" rIns="0" bIns="0" rtlCol="0" anchor="t"/>
          <a:lstStyle/>
          <a:p>
            <a:pPr indent="0" marL="0">
              <a:buNone/>
            </a:pPr>
            <a:r>
              <a:rPr lang="en-US" sz="1500" b="1" dirty="0">
                <a:solidFill>
                  <a:schemeClr val="tx2"/>
                </a:solidFill>
              </a:rPr>
              <a:t>Yağmur suyu hasadı</a:t>
            </a:r>
            <a:endParaRPr lang="en-US" sz="1500" dirty="0"/>
          </a:p>
        </p:txBody>
      </p:sp>
      <p:sp>
        <p:nvSpPr>
          <p:cNvPr id="8" name="Text 5"/>
          <p:cNvSpPr txBox="1"/>
          <p:nvPr/>
        </p:nvSpPr>
        <p:spPr>
          <a:xfrm>
            <a:off x="1417320" y="2039112"/>
            <a:ext cx="2103120" cy="530352"/>
          </a:xfrm>
          <a:prstGeom prst="rect">
            <a:avLst/>
          </a:prstGeom>
          <a:noFill/>
          <a:ln/>
        </p:spPr>
        <p:txBody>
          <a:bodyPr wrap="square" lIns="0" tIns="0" rIns="0" bIns="0" rtlCol="0" anchor="t"/>
          <a:lstStyle/>
          <a:p>
            <a:pPr indent="0" marL="0">
              <a:buNone/>
            </a:pPr>
            <a:r>
              <a:rPr lang="en-US" sz="1300" dirty="0">
                <a:solidFill>
                  <a:schemeClr val="tx1"/>
                </a:solidFill>
              </a:rPr>
              <a:t>~80–120 bin m³/yıl; kurak yıllarda düşer</a:t>
            </a:r>
            <a:endParaRPr lang="en-US" sz="1300" dirty="0"/>
          </a:p>
        </p:txBody>
      </p:sp>
      <p:sp>
        <p:nvSpPr>
          <p:cNvPr id="9" name="Ok"/>
          <p:cNvSpPr/>
          <p:nvPr/>
        </p:nvSpPr>
        <p:spPr>
          <a:xfrm>
            <a:off x="3657600" y="2112264"/>
            <a:ext cx="685800" cy="648767"/>
          </a:xfrm>
          <a:prstGeom prst="line">
            <a:avLst/>
          </a:prstGeom>
          <a:noFill/>
          <a:ln w="25400">
            <a:solidFill>
              <a:schemeClr val="accent2"/>
            </a:solidFill>
            <a:prstDash val="solid"/>
            <a:tailEnd type="triangle"/>
          </a:ln>
        </p:spPr>
      </p:sp>
      <p:sp>
        <p:nvSpPr>
          <p:cNvPr id="10" name="Kart"/>
          <p:cNvSpPr/>
          <p:nvPr/>
        </p:nvSpPr>
        <p:spPr>
          <a:xfrm>
            <a:off x="548640" y="2807208"/>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13232" y="3026664"/>
            <a:ext cx="566928" cy="566928"/>
          </a:xfrm>
          <a:prstGeom prst="ellipse">
            <a:avLst/>
          </a:prstGeom>
          <a:solidFill>
            <a:schemeClr val="accent2"/>
          </a:solidFill>
          <a:ln/>
        </p:spPr>
      </p:sp>
      <p:pic>
        <p:nvPicPr>
          <p:cNvPr id="12" name="İkon FaRecycle" descr="preencoded.png">    </p:cNvPr>
          <p:cNvPicPr>
            <a:picLocks noChangeAspect="1"/>
          </p:cNvPicPr>
          <p:nvPr/>
        </p:nvPicPr>
        <p:blipFill>
          <a:blip r:embed="rId2"/>
          <a:stretch>
            <a:fillRect/>
          </a:stretch>
        </p:blipFill>
        <p:spPr>
          <a:xfrm>
            <a:off x="849295" y="3162727"/>
            <a:ext cx="294803" cy="294803"/>
          </a:xfrm>
          <a:prstGeom prst="rect">
            <a:avLst/>
          </a:prstGeom>
        </p:spPr>
      </p:pic>
      <p:sp>
        <p:nvSpPr>
          <p:cNvPr id="13" name="Text 9"/>
          <p:cNvSpPr txBox="1"/>
          <p:nvPr/>
        </p:nvSpPr>
        <p:spPr>
          <a:xfrm>
            <a:off x="1417320" y="2935224"/>
            <a:ext cx="2103120" cy="292608"/>
          </a:xfrm>
          <a:prstGeom prst="rect">
            <a:avLst/>
          </a:prstGeom>
          <a:noFill/>
          <a:ln/>
        </p:spPr>
        <p:txBody>
          <a:bodyPr wrap="square" lIns="0" tIns="0" rIns="0" bIns="0" rtlCol="0" anchor="t"/>
          <a:lstStyle/>
          <a:p>
            <a:pPr indent="0" marL="0">
              <a:buNone/>
            </a:pPr>
            <a:r>
              <a:rPr lang="en-US" sz="1500" b="1" dirty="0">
                <a:solidFill>
                  <a:schemeClr val="tx2"/>
                </a:solidFill>
              </a:rPr>
              <a:t>İleri arıtılmış atıksu</a:t>
            </a:r>
            <a:endParaRPr lang="en-US" sz="1500" dirty="0"/>
          </a:p>
        </p:txBody>
      </p:sp>
      <p:sp>
        <p:nvSpPr>
          <p:cNvPr id="14" name="Text 10"/>
          <p:cNvSpPr txBox="1"/>
          <p:nvPr/>
        </p:nvSpPr>
        <p:spPr>
          <a:xfrm>
            <a:off x="1417320" y="3246120"/>
            <a:ext cx="2103120" cy="530352"/>
          </a:xfrm>
          <a:prstGeom prst="rect">
            <a:avLst/>
          </a:prstGeom>
          <a:noFill/>
          <a:ln/>
        </p:spPr>
        <p:txBody>
          <a:bodyPr wrap="square" lIns="0" tIns="0" rIns="0" bIns="0" rtlCol="0" anchor="t"/>
          <a:lstStyle/>
          <a:p>
            <a:pPr indent="0" marL="0">
              <a:buNone/>
            </a:pPr>
            <a:r>
              <a:rPr lang="en-US" sz="1300" dirty="0">
                <a:solidFill>
                  <a:schemeClr val="tx1"/>
                </a:solidFill>
              </a:rPr>
              <a:t>Tatlar / Kahramankazan AAT; sürekli takviye</a:t>
            </a:r>
            <a:endParaRPr lang="en-US" sz="1300" dirty="0"/>
          </a:p>
        </p:txBody>
      </p:sp>
      <p:sp>
        <p:nvSpPr>
          <p:cNvPr id="15" name="Ok"/>
          <p:cNvSpPr/>
          <p:nvPr/>
        </p:nvSpPr>
        <p:spPr>
          <a:xfrm>
            <a:off x="3657600" y="3319272"/>
            <a:ext cx="685800" cy="-15088"/>
          </a:xfrm>
          <a:prstGeom prst="line">
            <a:avLst/>
          </a:prstGeom>
          <a:noFill/>
          <a:ln w="25400">
            <a:solidFill>
              <a:schemeClr val="accent2"/>
            </a:solidFill>
            <a:prstDash val="solid"/>
            <a:tailEnd type="triangle"/>
          </a:ln>
        </p:spPr>
      </p:sp>
      <p:sp>
        <p:nvSpPr>
          <p:cNvPr id="16" name="Kart"/>
          <p:cNvSpPr/>
          <p:nvPr/>
        </p:nvSpPr>
        <p:spPr>
          <a:xfrm>
            <a:off x="548640" y="4014216"/>
            <a:ext cx="3063240" cy="1024128"/>
          </a:xfrm>
          <a:prstGeom prst="roundRect">
            <a:avLst>
              <a:gd name="adj" fmla="val 7143"/>
            </a:avLst>
          </a:prstGeom>
          <a:solidFill>
            <a:schemeClr val="bg2"/>
          </a:solidFill>
          <a:ln w="12700">
            <a:solidFill>
              <a:srgbClr val="5E6875"/>
            </a:solidFill>
            <a:prstDash val="dash"/>
          </a:ln>
        </p:spPr>
      </p:sp>
      <p:sp>
        <p:nvSpPr>
          <p:cNvPr id="17" name="İkon zemini"/>
          <p:cNvSpPr/>
          <p:nvPr/>
        </p:nvSpPr>
        <p:spPr>
          <a:xfrm>
            <a:off x="713232" y="4233672"/>
            <a:ext cx="566928" cy="566928"/>
          </a:xfrm>
          <a:prstGeom prst="ellipse">
            <a:avLst/>
          </a:prstGeom>
          <a:solidFill>
            <a:schemeClr val="accent5"/>
          </a:solidFill>
          <a:ln/>
        </p:spPr>
      </p:sp>
      <p:pic>
        <p:nvPicPr>
          <p:cNvPr id="18" name="İkon FaFaucetDrip" descr="preencoded.png">    </p:cNvPr>
          <p:cNvPicPr>
            <a:picLocks noChangeAspect="1"/>
          </p:cNvPicPr>
          <p:nvPr/>
        </p:nvPicPr>
        <p:blipFill>
          <a:blip r:embed="rId3"/>
          <a:stretch>
            <a:fillRect/>
          </a:stretch>
        </p:blipFill>
        <p:spPr>
          <a:xfrm>
            <a:off x="849295" y="4369735"/>
            <a:ext cx="294803" cy="294803"/>
          </a:xfrm>
          <a:prstGeom prst="rect">
            <a:avLst/>
          </a:prstGeom>
        </p:spPr>
      </p:pic>
      <p:sp>
        <p:nvSpPr>
          <p:cNvPr id="19" name="Text 14"/>
          <p:cNvSpPr txBox="1"/>
          <p:nvPr/>
        </p:nvSpPr>
        <p:spPr>
          <a:xfrm>
            <a:off x="1417320" y="4142232"/>
            <a:ext cx="2103120" cy="292608"/>
          </a:xfrm>
          <a:prstGeom prst="rect">
            <a:avLst/>
          </a:prstGeom>
          <a:noFill/>
          <a:ln/>
        </p:spPr>
        <p:txBody>
          <a:bodyPr wrap="square" lIns="0" tIns="0" rIns="0" bIns="0" rtlCol="0" anchor="t"/>
          <a:lstStyle/>
          <a:p>
            <a:pPr indent="0" marL="0">
              <a:buNone/>
            </a:pPr>
            <a:r>
              <a:rPr lang="en-US" sz="1500" b="1" dirty="0">
                <a:solidFill>
                  <a:schemeClr val="tx2"/>
                </a:solidFill>
              </a:rPr>
              <a:t>Şebeke suyu</a:t>
            </a:r>
            <a:endParaRPr lang="en-US" sz="1500" dirty="0"/>
          </a:p>
        </p:txBody>
      </p:sp>
      <p:sp>
        <p:nvSpPr>
          <p:cNvPr id="20" name="Text 15"/>
          <p:cNvSpPr txBox="1"/>
          <p:nvPr/>
        </p:nvSpPr>
        <p:spPr>
          <a:xfrm>
            <a:off x="1417320" y="4453128"/>
            <a:ext cx="2103120" cy="530352"/>
          </a:xfrm>
          <a:prstGeom prst="rect">
            <a:avLst/>
          </a:prstGeom>
          <a:noFill/>
          <a:ln/>
        </p:spPr>
        <p:txBody>
          <a:bodyPr wrap="square" lIns="0" tIns="0" rIns="0" bIns="0" rtlCol="0" anchor="t"/>
          <a:lstStyle/>
          <a:p>
            <a:pPr indent="0" marL="0">
              <a:buNone/>
            </a:pPr>
            <a:r>
              <a:rPr lang="en-US" sz="1300" dirty="0">
                <a:solidFill>
                  <a:schemeClr val="tx1"/>
                </a:solidFill>
              </a:rPr>
              <a:t>Yalnızca acil durumda</a:t>
            </a:r>
            <a:endParaRPr lang="en-US" sz="1300" dirty="0"/>
          </a:p>
        </p:txBody>
      </p:sp>
      <p:sp>
        <p:nvSpPr>
          <p:cNvPr id="21" name="Ok"/>
          <p:cNvSpPr/>
          <p:nvPr/>
        </p:nvSpPr>
        <p:spPr>
          <a:xfrm>
            <a:off x="3657600" y="4526280"/>
            <a:ext cx="685800" cy="-678942"/>
          </a:xfrm>
          <a:prstGeom prst="line">
            <a:avLst/>
          </a:prstGeom>
          <a:noFill/>
          <a:ln w="25400">
            <a:solidFill>
              <a:schemeClr val="accent5"/>
            </a:solidFill>
            <a:prstDash val="dash"/>
            <a:tailEnd type="triangle"/>
          </a:ln>
        </p:spPr>
      </p:sp>
      <p:sp>
        <p:nvSpPr>
          <p:cNvPr id="22" name="Yapay göl"/>
          <p:cNvSpPr/>
          <p:nvPr/>
        </p:nvSpPr>
        <p:spPr>
          <a:xfrm>
            <a:off x="4343400" y="2103120"/>
            <a:ext cx="2834640" cy="2194560"/>
          </a:xfrm>
          <a:prstGeom prst="ellipse">
            <a:avLst/>
          </a:prstGeom>
          <a:solidFill>
            <a:schemeClr val="accent2"/>
          </a:solidFill>
          <a:ln w="127000">
            <a:solidFill>
              <a:schemeClr val="accent3"/>
            </a:solidFill>
            <a:prstDash val="solid"/>
          </a:ln>
        </p:spPr>
      </p:sp>
      <p:sp>
        <p:nvSpPr>
          <p:cNvPr id="23" name="Text 18"/>
          <p:cNvSpPr txBox="1"/>
          <p:nvPr/>
        </p:nvSpPr>
        <p:spPr>
          <a:xfrm>
            <a:off x="4434840" y="2697480"/>
            <a:ext cx="2651760" cy="1097280"/>
          </a:xfrm>
          <a:prstGeom prst="rect">
            <a:avLst/>
          </a:prstGeom>
          <a:noFill/>
          <a:ln/>
        </p:spPr>
        <p:txBody>
          <a:bodyPr wrap="square" lIns="0" tIns="0" rIns="0" bIns="0" rtlCol="0" anchor="t"/>
          <a:lstStyle/>
          <a:p>
            <a:pPr algn="ctr" indent="0" marL="0">
              <a:buNone/>
            </a:pPr>
            <a:r>
              <a:rPr lang="en-US" sz="2000" b="1" dirty="0">
                <a:solidFill>
                  <a:schemeClr val="bg1"/>
                </a:solidFill>
              </a:rPr>
              <a:t>Yapay göl</a:t>
            </a:r>
            <a:endParaRPr lang="en-US" sz="1400" dirty="0"/>
          </a:p>
          <a:p>
            <a:pPr algn="ctr" indent="0" marL="0">
              <a:buNone/>
            </a:pPr>
            <a:r>
              <a:rPr lang="en-US" sz="1500" dirty="0">
                <a:solidFill>
                  <a:schemeClr val="bg1"/>
                </a:solidFill>
              </a:rPr>
              <a:t>2,5 ha su yüzeyi</a:t>
            </a:r>
            <a:endParaRPr lang="en-US" sz="1400" dirty="0"/>
          </a:p>
          <a:p>
            <a:pPr algn="ctr" indent="0" marL="0">
              <a:buNone/>
            </a:pPr>
            <a:r>
              <a:rPr lang="en-US" sz="1500" dirty="0">
                <a:solidFill>
                  <a:schemeClr val="bg1"/>
                </a:solidFill>
              </a:rPr>
              <a:t>+ 3,5 ha göl parkı</a:t>
            </a:r>
            <a:endParaRPr lang="en-US" sz="1400" dirty="0"/>
          </a:p>
        </p:txBody>
      </p:sp>
      <p:sp>
        <p:nvSpPr>
          <p:cNvPr id="24" name="Arıtma etiketi"/>
          <p:cNvSpPr/>
          <p:nvPr/>
        </p:nvSpPr>
        <p:spPr>
          <a:xfrm>
            <a:off x="4023360" y="4526280"/>
            <a:ext cx="3474720" cy="384048"/>
          </a:xfrm>
          <a:prstGeom prst="roundRect">
            <a:avLst>
              <a:gd name="adj" fmla="val 14286"/>
            </a:avLst>
          </a:prstGeom>
          <a:solidFill>
            <a:schemeClr val="bg1"/>
          </a:solidFill>
          <a:ln w="12700">
            <a:solidFill>
              <a:schemeClr val="accent2"/>
            </a:solidFill>
          </a:ln>
        </p:spPr>
        <p:txBody>
          <a:bodyPr wrap="square" lIns="0" tIns="0" rIns="0" bIns="0" rtlCol="0" anchor="ctr"/>
          <a:lstStyle/>
          <a:p>
            <a:pPr algn="ctr" indent="0" marL="0">
              <a:buNone/>
            </a:pPr>
            <a:r>
              <a:rPr lang="en-US" sz="1300" b="1" dirty="0">
                <a:solidFill>
                  <a:schemeClr val="tx2"/>
                </a:solidFill>
              </a:rPr>
              <a:t>Çökeltim havuzu · sirkülasyon · biyolojik arıtma</a:t>
            </a:r>
            <a:endParaRPr lang="en-US" sz="1300" dirty="0"/>
          </a:p>
        </p:txBody>
      </p:sp>
      <p:sp>
        <p:nvSpPr>
          <p:cNvPr id="25" name="Ok"/>
          <p:cNvSpPr/>
          <p:nvPr/>
        </p:nvSpPr>
        <p:spPr>
          <a:xfrm>
            <a:off x="7223760" y="3200400"/>
            <a:ext cx="502920" cy="0"/>
          </a:xfrm>
          <a:prstGeom prst="line">
            <a:avLst/>
          </a:prstGeom>
          <a:noFill/>
          <a:ln w="25400">
            <a:solidFill>
              <a:schemeClr val="accent2"/>
            </a:solidFill>
            <a:prstDash val="solid"/>
            <a:tailEnd type="triangle"/>
          </a:ln>
        </p:spPr>
      </p:sp>
      <p:sp>
        <p:nvSpPr>
          <p:cNvPr id="26" name="Kart"/>
          <p:cNvSpPr/>
          <p:nvPr/>
        </p:nvSpPr>
        <p:spPr>
          <a:xfrm>
            <a:off x="7818120" y="1600200"/>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27" name="İkon zemini"/>
          <p:cNvSpPr/>
          <p:nvPr/>
        </p:nvSpPr>
        <p:spPr>
          <a:xfrm>
            <a:off x="7982712" y="1819656"/>
            <a:ext cx="566928" cy="566928"/>
          </a:xfrm>
          <a:prstGeom prst="ellipse">
            <a:avLst/>
          </a:prstGeom>
          <a:solidFill>
            <a:schemeClr val="accent3"/>
          </a:solidFill>
          <a:ln/>
        </p:spPr>
      </p:sp>
      <p:pic>
        <p:nvPicPr>
          <p:cNvPr id="28" name="İkon FaPersonWalking" descr="preencoded.png">    </p:cNvPr>
          <p:cNvPicPr>
            <a:picLocks noChangeAspect="1"/>
          </p:cNvPicPr>
          <p:nvPr/>
        </p:nvPicPr>
        <p:blipFill>
          <a:blip r:embed="rId4"/>
          <a:stretch>
            <a:fillRect/>
          </a:stretch>
        </p:blipFill>
        <p:spPr>
          <a:xfrm>
            <a:off x="8118775" y="1955719"/>
            <a:ext cx="294803" cy="294803"/>
          </a:xfrm>
          <a:prstGeom prst="rect">
            <a:avLst/>
          </a:prstGeom>
        </p:spPr>
      </p:pic>
      <p:sp>
        <p:nvSpPr>
          <p:cNvPr id="29" name="Text 23"/>
          <p:cNvSpPr txBox="1"/>
          <p:nvPr/>
        </p:nvSpPr>
        <p:spPr>
          <a:xfrm>
            <a:off x="8686800" y="1728216"/>
            <a:ext cx="2743200" cy="292608"/>
          </a:xfrm>
          <a:prstGeom prst="rect">
            <a:avLst/>
          </a:prstGeom>
          <a:noFill/>
          <a:ln/>
        </p:spPr>
        <p:txBody>
          <a:bodyPr wrap="square" lIns="0" tIns="0" rIns="0" bIns="0" rtlCol="0" anchor="t"/>
          <a:lstStyle/>
          <a:p>
            <a:pPr indent="0" marL="0">
              <a:buNone/>
            </a:pPr>
            <a:r>
              <a:rPr lang="en-US" sz="1500" b="1" dirty="0">
                <a:solidFill>
                  <a:schemeClr val="tx2"/>
                </a:solidFill>
              </a:rPr>
              <a:t>Göl çevresi</a:t>
            </a:r>
            <a:endParaRPr lang="en-US" sz="1500" dirty="0"/>
          </a:p>
        </p:txBody>
      </p:sp>
      <p:sp>
        <p:nvSpPr>
          <p:cNvPr id="30" name="Text 24"/>
          <p:cNvSpPr txBox="1"/>
          <p:nvPr/>
        </p:nvSpPr>
        <p:spPr>
          <a:xfrm>
            <a:off x="8686800" y="2039112"/>
            <a:ext cx="2880360" cy="548640"/>
          </a:xfrm>
          <a:prstGeom prst="rect">
            <a:avLst/>
          </a:prstGeom>
          <a:noFill/>
          <a:ln/>
        </p:spPr>
        <p:txBody>
          <a:bodyPr wrap="square" lIns="0" tIns="0" rIns="0" bIns="0" rtlCol="0" anchor="t"/>
          <a:lstStyle/>
          <a:p>
            <a:pPr indent="0" marL="0">
              <a:buNone/>
            </a:pPr>
            <a:r>
              <a:rPr lang="en-US" sz="1300" dirty="0">
                <a:solidFill>
                  <a:schemeClr val="tx1"/>
                </a:solidFill>
              </a:rPr>
              <a:t>Yürüyüş ve koşu parkuru, kafe, amfi, çocuk oyun alanları</a:t>
            </a:r>
            <a:endParaRPr lang="en-US" sz="1300" dirty="0"/>
          </a:p>
        </p:txBody>
      </p:sp>
      <p:sp>
        <p:nvSpPr>
          <p:cNvPr id="31" name="Kart"/>
          <p:cNvSpPr/>
          <p:nvPr/>
        </p:nvSpPr>
        <p:spPr>
          <a:xfrm>
            <a:off x="7818120" y="2807208"/>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2" name="İkon zemini"/>
          <p:cNvSpPr/>
          <p:nvPr/>
        </p:nvSpPr>
        <p:spPr>
          <a:xfrm>
            <a:off x="7982712" y="3026664"/>
            <a:ext cx="566928" cy="566928"/>
          </a:xfrm>
          <a:prstGeom prst="ellipse">
            <a:avLst/>
          </a:prstGeom>
          <a:solidFill>
            <a:schemeClr val="accent3"/>
          </a:solidFill>
          <a:ln/>
        </p:spPr>
      </p:sp>
      <p:pic>
        <p:nvPicPr>
          <p:cNvPr id="33" name="İkon FaSailboat" descr="preencoded.png">    </p:cNvPr>
          <p:cNvPicPr>
            <a:picLocks noChangeAspect="1"/>
          </p:cNvPicPr>
          <p:nvPr/>
        </p:nvPicPr>
        <p:blipFill>
          <a:blip r:embed="rId5"/>
          <a:stretch>
            <a:fillRect/>
          </a:stretch>
        </p:blipFill>
        <p:spPr>
          <a:xfrm>
            <a:off x="8118775" y="3162727"/>
            <a:ext cx="294803" cy="294803"/>
          </a:xfrm>
          <a:prstGeom prst="rect">
            <a:avLst/>
          </a:prstGeom>
        </p:spPr>
      </p:pic>
      <p:sp>
        <p:nvSpPr>
          <p:cNvPr id="34" name="Text 27"/>
          <p:cNvSpPr txBox="1"/>
          <p:nvPr/>
        </p:nvSpPr>
        <p:spPr>
          <a:xfrm>
            <a:off x="8686800" y="2935224"/>
            <a:ext cx="2743200" cy="292608"/>
          </a:xfrm>
          <a:prstGeom prst="rect">
            <a:avLst/>
          </a:prstGeom>
          <a:noFill/>
          <a:ln/>
        </p:spPr>
        <p:txBody>
          <a:bodyPr wrap="square" lIns="0" tIns="0" rIns="0" bIns="0" rtlCol="0" anchor="t"/>
          <a:lstStyle/>
          <a:p>
            <a:pPr indent="0" marL="0">
              <a:buNone/>
            </a:pPr>
            <a:r>
              <a:rPr lang="en-US" sz="1500" b="1" dirty="0">
                <a:solidFill>
                  <a:schemeClr val="tx2"/>
                </a:solidFill>
              </a:rPr>
              <a:t>Su üstü</a:t>
            </a:r>
            <a:endParaRPr lang="en-US" sz="1500" dirty="0"/>
          </a:p>
        </p:txBody>
      </p:sp>
      <p:sp>
        <p:nvSpPr>
          <p:cNvPr id="35" name="Text 28"/>
          <p:cNvSpPr txBox="1"/>
          <p:nvPr/>
        </p:nvSpPr>
        <p:spPr>
          <a:xfrm>
            <a:off x="8686800" y="3246120"/>
            <a:ext cx="2880360" cy="548640"/>
          </a:xfrm>
          <a:prstGeom prst="rect">
            <a:avLst/>
          </a:prstGeom>
          <a:noFill/>
          <a:ln/>
        </p:spPr>
        <p:txBody>
          <a:bodyPr wrap="square" lIns="0" tIns="0" rIns="0" bIns="0" rtlCol="0" anchor="t"/>
          <a:lstStyle/>
          <a:p>
            <a:pPr indent="0" marL="0">
              <a:buNone/>
            </a:pPr>
            <a:r>
              <a:rPr lang="en-US" sz="1300" dirty="0">
                <a:solidFill>
                  <a:schemeClr val="tx1"/>
                </a:solidFill>
              </a:rPr>
              <a:t>Kano ve pedal tekne; kışın uygunsa buz pateni</a:t>
            </a:r>
            <a:endParaRPr lang="en-US" sz="1300" dirty="0"/>
          </a:p>
        </p:txBody>
      </p:sp>
      <p:sp>
        <p:nvSpPr>
          <p:cNvPr id="36" name="Kart"/>
          <p:cNvSpPr/>
          <p:nvPr/>
        </p:nvSpPr>
        <p:spPr>
          <a:xfrm>
            <a:off x="7818120" y="4014216"/>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7" name="İkon zemini"/>
          <p:cNvSpPr/>
          <p:nvPr/>
        </p:nvSpPr>
        <p:spPr>
          <a:xfrm>
            <a:off x="7982712" y="4233672"/>
            <a:ext cx="566928" cy="566928"/>
          </a:xfrm>
          <a:prstGeom prst="ellipse">
            <a:avLst/>
          </a:prstGeom>
          <a:solidFill>
            <a:schemeClr val="accent3"/>
          </a:solidFill>
          <a:ln/>
        </p:spPr>
      </p:sp>
      <p:pic>
        <p:nvPicPr>
          <p:cNvPr id="38" name="İkon FaBookOpen" descr="preencoded.png">    </p:cNvPr>
          <p:cNvPicPr>
            <a:picLocks noChangeAspect="1"/>
          </p:cNvPicPr>
          <p:nvPr/>
        </p:nvPicPr>
        <p:blipFill>
          <a:blip r:embed="rId6"/>
          <a:stretch>
            <a:fillRect/>
          </a:stretch>
        </p:blipFill>
        <p:spPr>
          <a:xfrm>
            <a:off x="8118775" y="4369735"/>
            <a:ext cx="294803" cy="294803"/>
          </a:xfrm>
          <a:prstGeom prst="rect">
            <a:avLst/>
          </a:prstGeom>
        </p:spPr>
      </p:pic>
      <p:sp>
        <p:nvSpPr>
          <p:cNvPr id="39" name="Text 31"/>
          <p:cNvSpPr txBox="1"/>
          <p:nvPr/>
        </p:nvSpPr>
        <p:spPr>
          <a:xfrm>
            <a:off x="8686800" y="4142232"/>
            <a:ext cx="2743200" cy="292608"/>
          </a:xfrm>
          <a:prstGeom prst="rect">
            <a:avLst/>
          </a:prstGeom>
          <a:noFill/>
          <a:ln/>
        </p:spPr>
        <p:txBody>
          <a:bodyPr wrap="square" lIns="0" tIns="0" rIns="0" bIns="0" rtlCol="0" anchor="t"/>
          <a:lstStyle/>
          <a:p>
            <a:pPr indent="0" marL="0">
              <a:buNone/>
            </a:pPr>
            <a:r>
              <a:rPr lang="en-US" sz="1500" b="1" dirty="0">
                <a:solidFill>
                  <a:schemeClr val="tx2"/>
                </a:solidFill>
              </a:rPr>
              <a:t>Kıyıda</a:t>
            </a:r>
            <a:endParaRPr lang="en-US" sz="1500" dirty="0"/>
          </a:p>
        </p:txBody>
      </p:sp>
      <p:sp>
        <p:nvSpPr>
          <p:cNvPr id="40" name="Text 32"/>
          <p:cNvSpPr txBox="1"/>
          <p:nvPr/>
        </p:nvSpPr>
        <p:spPr>
          <a:xfrm>
            <a:off x="8686800" y="4453128"/>
            <a:ext cx="2880360" cy="548640"/>
          </a:xfrm>
          <a:prstGeom prst="rect">
            <a:avLst/>
          </a:prstGeom>
          <a:noFill/>
          <a:ln/>
        </p:spPr>
        <p:txBody>
          <a:bodyPr wrap="square" lIns="0" tIns="0" rIns="0" bIns="0" rtlCol="0" anchor="t"/>
          <a:lstStyle/>
          <a:p>
            <a:pPr indent="0" marL="0">
              <a:buNone/>
            </a:pPr>
            <a:r>
              <a:rPr lang="en-US" sz="1300" dirty="0">
                <a:solidFill>
                  <a:schemeClr val="tx1"/>
                </a:solidFill>
              </a:rPr>
              <a:t>Kültür merkezi, kütüphane, meydan ve haftalık pazar</a:t>
            </a:r>
            <a:endParaRPr lang="en-US" sz="1300" dirty="0"/>
          </a:p>
        </p:txBody>
      </p:sp>
      <p:sp>
        <p:nvSpPr>
          <p:cNvPr id="41" name="Kart"/>
          <p:cNvSpPr/>
          <p:nvPr/>
        </p:nvSpPr>
        <p:spPr>
          <a:xfrm>
            <a:off x="548640" y="5303520"/>
            <a:ext cx="11094415" cy="658368"/>
          </a:xfrm>
          <a:prstGeom prst="roundRect">
            <a:avLst>
              <a:gd name="adj" fmla="val 11111"/>
            </a:avLst>
          </a:prstGeom>
          <a:solidFill>
            <a:srgbClr val="F6DFDB"/>
          </a:solidFill>
          <a:ln/>
        </p:spPr>
      </p:sp>
      <p:sp>
        <p:nvSpPr>
          <p:cNvPr id="42" name="İkon zemini"/>
          <p:cNvSpPr/>
          <p:nvPr/>
        </p:nvSpPr>
        <p:spPr>
          <a:xfrm>
            <a:off x="713232" y="5385816"/>
            <a:ext cx="475488" cy="475488"/>
          </a:xfrm>
          <a:prstGeom prst="ellipse">
            <a:avLst/>
          </a:prstGeom>
          <a:solidFill>
            <a:schemeClr val="accent6"/>
          </a:solidFill>
          <a:ln/>
        </p:spPr>
      </p:sp>
      <p:pic>
        <p:nvPicPr>
          <p:cNvPr id="43" name="İkon FaTriangleExclamation" descr="preencoded.png">    </p:cNvPr>
          <p:cNvPicPr>
            <a:picLocks noChangeAspect="1"/>
          </p:cNvPicPr>
          <p:nvPr/>
        </p:nvPicPr>
        <p:blipFill>
          <a:blip r:embed="rId7"/>
          <a:stretch>
            <a:fillRect/>
          </a:stretch>
        </p:blipFill>
        <p:spPr>
          <a:xfrm>
            <a:off x="827349" y="5499933"/>
            <a:ext cx="247254" cy="247254"/>
          </a:xfrm>
          <a:prstGeom prst="rect">
            <a:avLst/>
          </a:prstGeom>
        </p:spPr>
      </p:pic>
      <p:sp>
        <p:nvSpPr>
          <p:cNvPr id="44" name="Text 35"/>
          <p:cNvSpPr txBox="1"/>
          <p:nvPr/>
        </p:nvSpPr>
        <p:spPr>
          <a:xfrm>
            <a:off x="1325880" y="5367528"/>
            <a:ext cx="10134295" cy="548640"/>
          </a:xfrm>
          <a:prstGeom prst="rect">
            <a:avLst/>
          </a:prstGeom>
          <a:noFill/>
          <a:ln/>
        </p:spPr>
        <p:txBody>
          <a:bodyPr wrap="square" lIns="0" tIns="0" rIns="0" bIns="0" rtlCol="0" anchor="ctr"/>
          <a:lstStyle/>
          <a:p>
            <a:pPr indent="0" marL="0">
              <a:buNone/>
            </a:pPr>
            <a:r>
              <a:rPr lang="en-US" sz="1400" dirty="0">
                <a:solidFill>
                  <a:schemeClr val="tx1"/>
                </a:solidFill>
              </a:rPr>
              <a:t>Ankara barajlarında aktif doluluk 8 Ocak 2026'da %1'e indi. Göl şebeke suyuyla doldurulmaz; ilk dolum ~50 bin m³ (30–75 bin) yağmur suyu ve arıtılmış atıksuyla yapılır.</a:t>
            </a:r>
            <a:endParaRPr lang="en-US" sz="1400" dirty="0"/>
          </a:p>
        </p:txBody>
      </p:sp>
      <p:sp>
        <p:nvSpPr>
          <p:cNvPr id="45" name="Text 3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ASKİ verisi (BirGün, 10 Ocak 2026); yağış 350–450 mm/yıl, akış katsayısı 0,4–0,6 ile hasat tahmini. Buharlaşma kaybı hesaplanacak.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Bunlar yapılıyor: mahalle merkezinde göl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accent2"/>
          </a:solidFill>
          <a:ln/>
        </p:spPr>
      </p:sp>
      <p:pic>
        <p:nvPicPr>
          <p:cNvPr id="6" name="İkon FaWater"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Reston, ABD · 1963–67</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Lake Anne köy merkezi</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17 ha'lık köy merkezi gölün kıyısında; 2017'de tescilli miras.</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Göl ile meydan birlikte tasarlanınca merkez olur.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accent2"/>
          </a:solidFill>
          <a:ln/>
        </p:spPr>
      </p:sp>
      <p:pic>
        <p:nvPicPr>
          <p:cNvPr id="13" name="İkon FaPeopleGroup"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Columbia, ABD · 1966–74</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Wilde Lake ve Kittamaqundi</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9–15 ha'lık mahalle gölleri; bakım sakin aidatıyla.</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İşletme modeli baştan kurulur.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accent2"/>
          </a:solidFill>
          <a:ln/>
        </p:spPr>
      </p:sp>
      <p:pic>
        <p:nvPicPr>
          <p:cNvPr id="20" name="İkon FaLeaf"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Bishan-AMK, Singapur · 2012</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Beton kanaldan nehir parkına</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2,7 km kanal 3 km doğal nehre dönüştü; 76 milyon SGD.</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Su altyapısı aynı zamanda park olabilir.</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w="12700">
            <a:solidFill>
              <a:srgbClr val="9A5418"/>
            </a:solidFill>
            <a:prstDash val="solid"/>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accent1"/>
          </a:solidFill>
          <a:ln/>
        </p:spPr>
      </p:sp>
      <p:pic>
        <p:nvPicPr>
          <p:cNvPr id="27" name="İkon FaLocationDot"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Göksu Parkı, Ankara · 2003</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Eryaman'ın göl parkı</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50,8 ha park, 12–14 ha gölet; 2021–22'de su kalitesi sorunu.</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Sirkülasyon, arıtma ve işletmeci ilk günden.</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Columbia gölleri 22–37 acre. Bishan ziyaretçi sayısı (yılda 6 milyonu aşkın) kurum beyanıdır.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VE TRAFİK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sanayi bölgelerine 35 dakikanın altında</a:t>
            </a:r>
            <a:endParaRPr lang="en-US" sz="3600" dirty="0"/>
          </a:p>
        </p:txBody>
      </p:sp>
      <p:sp>
        <p:nvSpPr>
          <p:cNvPr id="4" name="Ekspres hat"/>
          <p:cNvSpPr/>
          <p:nvPr/>
        </p:nvSpPr>
        <p:spPr>
          <a:xfrm>
            <a:off x="868680" y="2331720"/>
            <a:ext cx="5943600" cy="0"/>
          </a:xfrm>
          <a:prstGeom prst="line">
            <a:avLst/>
          </a:prstGeom>
          <a:noFill/>
          <a:ln w="76200">
            <a:solidFill>
              <a:schemeClr val="tx2"/>
            </a:solidFill>
            <a:prstDash val="solid"/>
          </a:ln>
        </p:spPr>
      </p:sp>
      <p:sp>
        <p:nvSpPr>
          <p:cNvPr id="5" name="Durak Uydukent"/>
          <p:cNvSpPr/>
          <p:nvPr/>
        </p:nvSpPr>
        <p:spPr>
          <a:xfrm>
            <a:off x="685800" y="2148840"/>
            <a:ext cx="365760" cy="365760"/>
          </a:xfrm>
          <a:prstGeom prst="ellipse">
            <a:avLst/>
          </a:prstGeom>
          <a:solidFill>
            <a:schemeClr val="accent1"/>
          </a:solidFill>
          <a:ln w="38100">
            <a:solidFill>
              <a:schemeClr val="tx2"/>
            </a:solidFill>
            <a:prstDash val="solid"/>
          </a:ln>
        </p:spPr>
      </p:sp>
      <p:sp>
        <p:nvSpPr>
          <p:cNvPr id="6" name="Text 4"/>
          <p:cNvSpPr txBox="1"/>
          <p:nvPr/>
        </p:nvSpPr>
        <p:spPr>
          <a:xfrm>
            <a:off x="-4572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Uydukent</a:t>
            </a:r>
            <a:endParaRPr lang="en-US" sz="1400" dirty="0"/>
          </a:p>
        </p:txBody>
      </p:sp>
      <p:sp>
        <p:nvSpPr>
          <p:cNvPr id="7" name="Durak Kınık sanayi alanı"/>
          <p:cNvSpPr/>
          <p:nvPr/>
        </p:nvSpPr>
        <p:spPr>
          <a:xfrm>
            <a:off x="3703320" y="2148840"/>
            <a:ext cx="365760" cy="365760"/>
          </a:xfrm>
          <a:prstGeom prst="ellipse">
            <a:avLst/>
          </a:prstGeom>
          <a:solidFill>
            <a:schemeClr val="bg1"/>
          </a:solidFill>
          <a:ln w="38100">
            <a:solidFill>
              <a:schemeClr val="tx2"/>
            </a:solidFill>
            <a:prstDash val="solid"/>
          </a:ln>
        </p:spPr>
      </p:sp>
      <p:sp>
        <p:nvSpPr>
          <p:cNvPr id="8" name="Text 6"/>
          <p:cNvSpPr txBox="1"/>
          <p:nvPr/>
        </p:nvSpPr>
        <p:spPr>
          <a:xfrm>
            <a:off x="2971800" y="2606040"/>
            <a:ext cx="1828800" cy="320040"/>
          </a:xfrm>
          <a:prstGeom prst="rect">
            <a:avLst/>
          </a:prstGeom>
          <a:noFill/>
          <a:ln/>
        </p:spPr>
        <p:txBody>
          <a:bodyPr wrap="square" lIns="0" tIns="0" rIns="0" bIns="0" rtlCol="0" anchor="t"/>
          <a:lstStyle/>
          <a:p>
            <a:pPr algn="ctr" indent="0" marL="0">
              <a:buNone/>
            </a:pPr>
            <a:r>
              <a:rPr lang="en-US" sz="1400" dirty="0">
                <a:solidFill>
                  <a:schemeClr val="tx1"/>
                </a:solidFill>
              </a:rPr>
              <a:t>Kınık sanayi alanı</a:t>
            </a:r>
            <a:endParaRPr lang="en-US" sz="1400" dirty="0"/>
          </a:p>
        </p:txBody>
      </p:sp>
      <p:sp>
        <p:nvSpPr>
          <p:cNvPr id="9" name="Durak HAB / Kışla"/>
          <p:cNvSpPr/>
          <p:nvPr/>
        </p:nvSpPr>
        <p:spPr>
          <a:xfrm>
            <a:off x="6629400" y="2148840"/>
            <a:ext cx="365760" cy="365760"/>
          </a:xfrm>
          <a:prstGeom prst="ellipse">
            <a:avLst/>
          </a:prstGeom>
          <a:solidFill>
            <a:schemeClr val="accent1"/>
          </a:solidFill>
          <a:ln w="38100">
            <a:solidFill>
              <a:schemeClr val="tx2"/>
            </a:solidFill>
            <a:prstDash val="solid"/>
          </a:ln>
        </p:spPr>
      </p:sp>
      <p:sp>
        <p:nvSpPr>
          <p:cNvPr id="10" name="Text 8"/>
          <p:cNvSpPr txBox="1"/>
          <p:nvPr/>
        </p:nvSpPr>
        <p:spPr>
          <a:xfrm>
            <a:off x="589788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HAB / Kışla</a:t>
            </a:r>
            <a:endParaRPr lang="en-US" sz="1400" dirty="0"/>
          </a:p>
        </p:txBody>
      </p:sp>
      <p:sp>
        <p:nvSpPr>
          <p:cNvPr id="11" name="Text 9"/>
          <p:cNvSpPr txBox="1"/>
          <p:nvPr/>
        </p:nvSpPr>
        <p:spPr>
          <a:xfrm>
            <a:off x="19202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11 km</a:t>
            </a:r>
            <a:endParaRPr lang="en-US" sz="1300" dirty="0"/>
          </a:p>
        </p:txBody>
      </p:sp>
      <p:sp>
        <p:nvSpPr>
          <p:cNvPr id="12" name="Text 10"/>
          <p:cNvSpPr txBox="1"/>
          <p:nvPr/>
        </p:nvSpPr>
        <p:spPr>
          <a:xfrm>
            <a:off x="48920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8 km</a:t>
            </a:r>
            <a:endParaRPr lang="en-US" sz="1300" dirty="0"/>
          </a:p>
        </p:txBody>
      </p:sp>
      <p:sp>
        <p:nvSpPr>
          <p:cNvPr id="13" name="Text 11"/>
          <p:cNvSpPr txBox="1"/>
          <p:nvPr/>
        </p:nvSpPr>
        <p:spPr>
          <a:xfrm>
            <a:off x="548640" y="1600200"/>
            <a:ext cx="6766560" cy="320040"/>
          </a:xfrm>
          <a:prstGeom prst="rect">
            <a:avLst/>
          </a:prstGeom>
          <a:noFill/>
          <a:ln/>
        </p:spPr>
        <p:txBody>
          <a:bodyPr wrap="square" lIns="0" tIns="0" rIns="0" bIns="0" rtlCol="0" anchor="t"/>
          <a:lstStyle/>
          <a:p>
            <a:pPr indent="0" marL="0">
              <a:buNone/>
            </a:pPr>
            <a:r>
              <a:rPr lang="en-US" sz="1500" b="1" dirty="0">
                <a:solidFill>
                  <a:schemeClr val="tx2"/>
                </a:solidFill>
              </a:rPr>
              <a:t>Uydukent Ekspres · ~19 km · hedef kapıdan kapıya 35 dk'nın altı</a:t>
            </a:r>
            <a:endParaRPr lang="en-US" sz="1500" dirty="0"/>
          </a:p>
        </p:txBody>
      </p:sp>
      <p:sp>
        <p:nvSpPr>
          <p:cNvPr id="14" name="Kart"/>
          <p:cNvSpPr/>
          <p:nvPr/>
        </p:nvSpPr>
        <p:spPr>
          <a:xfrm>
            <a:off x="54864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5" name="Text 13"/>
          <p:cNvSpPr txBox="1"/>
          <p:nvPr/>
        </p:nvSpPr>
        <p:spPr>
          <a:xfrm>
            <a:off x="73152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İlk gün</a:t>
            </a:r>
            <a:endParaRPr lang="en-US" sz="1700" dirty="0"/>
          </a:p>
        </p:txBody>
      </p:sp>
      <p:sp>
        <p:nvSpPr>
          <p:cNvPr id="16" name="Text 14"/>
          <p:cNvSpPr txBox="1"/>
          <p:nvPr/>
        </p:nvSpPr>
        <p:spPr>
          <a:xfrm>
            <a:off x="73152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Mesaiye bağlı elektrikli ekspres otobüs; garantili koltuk, sabit sefer süresi</a:t>
            </a:r>
            <a:endParaRPr lang="en-US" sz="1400" dirty="0"/>
          </a:p>
        </p:txBody>
      </p:sp>
      <p:sp>
        <p:nvSpPr>
          <p:cNvPr id="17" name="Kart"/>
          <p:cNvSpPr/>
          <p:nvPr/>
        </p:nvSpPr>
        <p:spPr>
          <a:xfrm>
            <a:off x="288036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8" name="Text 16"/>
          <p:cNvSpPr txBox="1"/>
          <p:nvPr/>
        </p:nvSpPr>
        <p:spPr>
          <a:xfrm>
            <a:off x="306324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3–6 yıl</a:t>
            </a:r>
            <a:endParaRPr lang="en-US" sz="1700" dirty="0"/>
          </a:p>
        </p:txBody>
      </p:sp>
      <p:sp>
        <p:nvSpPr>
          <p:cNvPr id="19" name="Text 17"/>
          <p:cNvSpPr txBox="1"/>
          <p:nvPr/>
        </p:nvSpPr>
        <p:spPr>
          <a:xfrm>
            <a:off x="306324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Otobüs öncelikli koridor (BRT); koridor raylı sistem standardında ayrılır</a:t>
            </a:r>
            <a:endParaRPr lang="en-US" sz="1400" dirty="0"/>
          </a:p>
        </p:txBody>
      </p:sp>
      <p:sp>
        <p:nvSpPr>
          <p:cNvPr id="20" name="Kart"/>
          <p:cNvSpPr/>
          <p:nvPr/>
        </p:nvSpPr>
        <p:spPr>
          <a:xfrm>
            <a:off x="521208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21" name="Text 19"/>
          <p:cNvSpPr txBox="1"/>
          <p:nvPr/>
        </p:nvSpPr>
        <p:spPr>
          <a:xfrm>
            <a:off x="539496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6–12 yıl</a:t>
            </a:r>
            <a:endParaRPr lang="en-US" sz="1700" dirty="0"/>
          </a:p>
        </p:txBody>
      </p:sp>
      <p:sp>
        <p:nvSpPr>
          <p:cNvPr id="22" name="Text 20"/>
          <p:cNvSpPr txBox="1"/>
          <p:nvPr/>
        </p:nvSpPr>
        <p:spPr>
          <a:xfrm>
            <a:off x="539496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Talep yeterse ekosistemde planlanan hafif raylı sisteme bağlantı</a:t>
            </a:r>
            <a:endParaRPr lang="en-US" sz="1400" dirty="0"/>
          </a:p>
        </p:txBody>
      </p:sp>
      <p:sp>
        <p:nvSpPr>
          <p:cNvPr id="23" name="Text 21"/>
          <p:cNvSpPr txBox="1"/>
          <p:nvPr/>
        </p:nvSpPr>
        <p:spPr>
          <a:xfrm>
            <a:off x="548640" y="5440680"/>
            <a:ext cx="6766560" cy="548640"/>
          </a:xfrm>
          <a:prstGeom prst="rect">
            <a:avLst/>
          </a:prstGeom>
          <a:noFill/>
          <a:ln/>
        </p:spPr>
        <p:txBody>
          <a:bodyPr wrap="square" lIns="0" tIns="0" rIns="0" bIns="0" rtlCol="0" anchor="t"/>
          <a:lstStyle/>
          <a:p>
            <a:pPr indent="0" marL="0">
              <a:buNone/>
            </a:pPr>
            <a:r>
              <a:rPr lang="en-US" sz="1400" b="1" dirty="0">
                <a:solidFill>
                  <a:schemeClr val="tx2"/>
                </a:solidFill>
              </a:rPr>
              <a:t>Ayrıca: </a:t>
            </a:r>
            <a:pPr indent="0" marL="0">
              <a:buNone/>
            </a:pPr>
            <a:r>
              <a:rPr lang="en-US" sz="1400" dirty="0">
                <a:solidFill>
                  <a:schemeClr val="tx1"/>
                </a:solidFill>
              </a:rPr>
              <a:t>Kahramankazan merkezine ring hat (8 km), Yenikent aktarması (Başkentray), mahalle içi çağrılı servis, kademeli mesai.</a:t>
            </a:r>
            <a:endParaRPr lang="en-US" sz="1400" dirty="0"/>
          </a:p>
        </p:txBody>
      </p:sp>
      <p:sp>
        <p:nvSpPr>
          <p:cNvPr id="24" name="Gösterge"/>
          <p:cNvSpPr/>
          <p:nvPr/>
        </p:nvSpPr>
        <p:spPr>
          <a:xfrm>
            <a:off x="7635240"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7818120"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13</a:t>
            </a:r>
            <a:endParaRPr lang="en-US" sz="3200" dirty="0"/>
          </a:p>
        </p:txBody>
      </p:sp>
      <p:sp>
        <p:nvSpPr>
          <p:cNvPr id="26" name="Text 24"/>
          <p:cNvSpPr txBox="1"/>
          <p:nvPr/>
        </p:nvSpPr>
        <p:spPr>
          <a:xfrm>
            <a:off x="7818120"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elektrikli otobüs, %15 yedekli</a:t>
            </a:r>
            <a:endParaRPr lang="en-US" sz="1400" dirty="0"/>
          </a:p>
        </p:txBody>
      </p:sp>
      <p:sp>
        <p:nvSpPr>
          <p:cNvPr id="27" name="Gösterge"/>
          <p:cNvSpPr/>
          <p:nvPr/>
        </p:nvSpPr>
        <p:spPr>
          <a:xfrm>
            <a:off x="9729216"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8" name="Text 26"/>
          <p:cNvSpPr txBox="1"/>
          <p:nvPr/>
        </p:nvSpPr>
        <p:spPr>
          <a:xfrm>
            <a:off x="9912096"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~875</a:t>
            </a:r>
            <a:endParaRPr lang="en-US" sz="3200" dirty="0"/>
          </a:p>
        </p:txBody>
      </p:sp>
      <p:sp>
        <p:nvSpPr>
          <p:cNvPr id="29" name="Text 27"/>
          <p:cNvSpPr txBox="1"/>
          <p:nvPr/>
        </p:nvSpPr>
        <p:spPr>
          <a:xfrm>
            <a:off x="9912096"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sabah pikinde ekspres yolcusu</a:t>
            </a:r>
            <a:endParaRPr lang="en-US" sz="1400" dirty="0"/>
          </a:p>
        </p:txBody>
      </p:sp>
      <p:sp>
        <p:nvSpPr>
          <p:cNvPr id="30" name="Gösterge"/>
          <p:cNvSpPr/>
          <p:nvPr/>
        </p:nvSpPr>
        <p:spPr>
          <a:xfrm>
            <a:off x="7635240"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1" name="Text 29"/>
          <p:cNvSpPr txBox="1"/>
          <p:nvPr/>
        </p:nvSpPr>
        <p:spPr>
          <a:xfrm>
            <a:off x="7818120"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~560</a:t>
            </a:r>
            <a:endParaRPr lang="en-US" sz="3200" dirty="0"/>
          </a:p>
        </p:txBody>
      </p:sp>
      <p:sp>
        <p:nvSpPr>
          <p:cNvPr id="32" name="Text 30"/>
          <p:cNvSpPr txBox="1"/>
          <p:nvPr/>
        </p:nvSpPr>
        <p:spPr>
          <a:xfrm>
            <a:off x="7818120"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otomobil, pikte koridordan çekilir</a:t>
            </a:r>
            <a:endParaRPr lang="en-US" sz="1400" dirty="0"/>
          </a:p>
        </p:txBody>
      </p:sp>
      <p:sp>
        <p:nvSpPr>
          <p:cNvPr id="33" name="Gösterge"/>
          <p:cNvSpPr/>
          <p:nvPr/>
        </p:nvSpPr>
        <p:spPr>
          <a:xfrm>
            <a:off x="9729216"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4" name="Text 32"/>
          <p:cNvSpPr txBox="1"/>
          <p:nvPr/>
        </p:nvSpPr>
        <p:spPr>
          <a:xfrm>
            <a:off x="9912096"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374 t</a:t>
            </a:r>
            <a:endParaRPr lang="en-US" sz="3200" dirty="0"/>
          </a:p>
        </p:txBody>
      </p:sp>
      <p:sp>
        <p:nvSpPr>
          <p:cNvPr id="35" name="Text 33"/>
          <p:cNvSpPr txBox="1"/>
          <p:nvPr/>
        </p:nvSpPr>
        <p:spPr>
          <a:xfrm>
            <a:off x="9912096"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CO₂ yılda önlenir</a:t>
            </a:r>
            <a:endParaRPr lang="en-US" sz="1400" dirty="0"/>
          </a:p>
        </p:txBody>
      </p:sp>
      <p:sp>
        <p:nvSpPr>
          <p:cNvPr id="36" name="Text 3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başına 1,4 çalışan; en az yarısı savunma ve havacılık kümesinde (1.750 kişi); ekspres payı %50; otobüs başına ~85 yolcu.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AKILLI ŞEHİR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Akıllı şehir ve veri güvenliği</a:t>
            </a:r>
            <a:endParaRPr lang="en-US" sz="3600" dirty="0"/>
          </a:p>
        </p:txBody>
      </p:sp>
      <p:sp>
        <p:nvSpPr>
          <p:cNvPr id="4" name="Kart"/>
          <p:cNvSpPr/>
          <p:nvPr/>
        </p:nvSpPr>
        <p:spPr>
          <a:xfrm>
            <a:off x="54864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801368"/>
            <a:ext cx="548640" cy="548640"/>
          </a:xfrm>
          <a:prstGeom prst="ellipse">
            <a:avLst/>
          </a:prstGeom>
          <a:solidFill>
            <a:schemeClr val="tx2"/>
          </a:solidFill>
          <a:ln/>
        </p:spPr>
      </p:sp>
      <p:pic>
        <p:nvPicPr>
          <p:cNvPr id="6" name="İkon FaMobileScreen" descr="preencoded.png">    </p:cNvPr>
          <p:cNvPicPr>
            <a:picLocks noChangeAspect="1"/>
          </p:cNvPicPr>
          <p:nvPr/>
        </p:nvPicPr>
        <p:blipFill>
          <a:blip r:embed="rId1"/>
          <a:stretch>
            <a:fillRect/>
          </a:stretch>
        </p:blipFill>
        <p:spPr>
          <a:xfrm>
            <a:off x="863194" y="1933042"/>
            <a:ext cx="285293" cy="285293"/>
          </a:xfrm>
          <a:prstGeom prst="rect">
            <a:avLst/>
          </a:prstGeom>
        </p:spPr>
      </p:pic>
      <p:sp>
        <p:nvSpPr>
          <p:cNvPr id="7" name="Text 4"/>
          <p:cNvSpPr txBox="1"/>
          <p:nvPr/>
        </p:nvSpPr>
        <p:spPr>
          <a:xfrm>
            <a:off x="141732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Ulaşım uygulaması</a:t>
            </a:r>
            <a:endParaRPr lang="en-US" sz="1500" dirty="0"/>
          </a:p>
        </p:txBody>
      </p:sp>
      <p:sp>
        <p:nvSpPr>
          <p:cNvPr id="8" name="Text 5"/>
          <p:cNvSpPr txBox="1"/>
          <p:nvPr/>
        </p:nvSpPr>
        <p:spPr>
          <a:xfrm>
            <a:off x="141732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Mesaiye bağlı; servis, EGO ve Başkentray tek uygulamada</a:t>
            </a:r>
            <a:endParaRPr lang="en-US" sz="1300" dirty="0"/>
          </a:p>
        </p:txBody>
      </p:sp>
      <p:sp>
        <p:nvSpPr>
          <p:cNvPr id="9" name="Kart"/>
          <p:cNvSpPr/>
          <p:nvPr/>
        </p:nvSpPr>
        <p:spPr>
          <a:xfrm>
            <a:off x="429768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0" name="İkon zemini"/>
          <p:cNvSpPr/>
          <p:nvPr/>
        </p:nvSpPr>
        <p:spPr>
          <a:xfrm>
            <a:off x="4480560" y="1801368"/>
            <a:ext cx="548640" cy="548640"/>
          </a:xfrm>
          <a:prstGeom prst="ellipse">
            <a:avLst/>
          </a:prstGeom>
          <a:solidFill>
            <a:schemeClr val="tx2"/>
          </a:solidFill>
          <a:ln/>
        </p:spPr>
      </p:sp>
      <p:pic>
        <p:nvPicPr>
          <p:cNvPr id="11" name="İkon FaTrafficLight" descr="preencoded.png">    </p:cNvPr>
          <p:cNvPicPr>
            <a:picLocks noChangeAspect="1"/>
          </p:cNvPicPr>
          <p:nvPr/>
        </p:nvPicPr>
        <p:blipFill>
          <a:blip r:embed="rId2"/>
          <a:stretch>
            <a:fillRect/>
          </a:stretch>
        </p:blipFill>
        <p:spPr>
          <a:xfrm>
            <a:off x="4612234" y="1933042"/>
            <a:ext cx="285293" cy="285293"/>
          </a:xfrm>
          <a:prstGeom prst="rect">
            <a:avLst/>
          </a:prstGeom>
        </p:spPr>
      </p:pic>
      <p:sp>
        <p:nvSpPr>
          <p:cNvPr id="12" name="Text 8"/>
          <p:cNvSpPr txBox="1"/>
          <p:nvPr/>
        </p:nvSpPr>
        <p:spPr>
          <a:xfrm>
            <a:off x="516636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Akıllı koridor</a:t>
            </a:r>
            <a:endParaRPr lang="en-US" sz="1500" dirty="0"/>
          </a:p>
        </p:txBody>
      </p:sp>
      <p:sp>
        <p:nvSpPr>
          <p:cNvPr id="13" name="Text 9"/>
          <p:cNvSpPr txBox="1"/>
          <p:nvPr/>
        </p:nvSpPr>
        <p:spPr>
          <a:xfrm>
            <a:off x="516636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Otobüse öncelikli sinyalizasyon ve durak ekranları</a:t>
            </a:r>
            <a:endParaRPr lang="en-US" sz="1300" dirty="0"/>
          </a:p>
        </p:txBody>
      </p:sp>
      <p:sp>
        <p:nvSpPr>
          <p:cNvPr id="14" name="Kart"/>
          <p:cNvSpPr/>
          <p:nvPr/>
        </p:nvSpPr>
        <p:spPr>
          <a:xfrm>
            <a:off x="54864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İkon zemini"/>
          <p:cNvSpPr/>
          <p:nvPr/>
        </p:nvSpPr>
        <p:spPr>
          <a:xfrm>
            <a:off x="731520" y="3310128"/>
            <a:ext cx="548640" cy="548640"/>
          </a:xfrm>
          <a:prstGeom prst="ellipse">
            <a:avLst/>
          </a:prstGeom>
          <a:solidFill>
            <a:schemeClr val="tx2"/>
          </a:solidFill>
          <a:ln/>
        </p:spPr>
      </p:sp>
      <p:pic>
        <p:nvPicPr>
          <p:cNvPr id="16" name="İkon FaSolarPanel" descr="preencoded.png">    </p:cNvPr>
          <p:cNvPicPr>
            <a:picLocks noChangeAspect="1"/>
          </p:cNvPicPr>
          <p:nvPr/>
        </p:nvPicPr>
        <p:blipFill>
          <a:blip r:embed="rId3"/>
          <a:stretch>
            <a:fillRect/>
          </a:stretch>
        </p:blipFill>
        <p:spPr>
          <a:xfrm>
            <a:off x="863194" y="3441802"/>
            <a:ext cx="285293" cy="285293"/>
          </a:xfrm>
          <a:prstGeom prst="rect">
            <a:avLst/>
          </a:prstGeom>
        </p:spPr>
      </p:pic>
      <p:sp>
        <p:nvSpPr>
          <p:cNvPr id="17" name="Text 12"/>
          <p:cNvSpPr txBox="1"/>
          <p:nvPr/>
        </p:nvSpPr>
        <p:spPr>
          <a:xfrm>
            <a:off x="141732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Enerji ve altyapı</a:t>
            </a:r>
            <a:endParaRPr lang="en-US" sz="1500" dirty="0"/>
          </a:p>
        </p:txBody>
      </p:sp>
      <p:sp>
        <p:nvSpPr>
          <p:cNvPr id="18" name="Text 13"/>
          <p:cNvSpPr txBox="1"/>
          <p:nvPr/>
        </p:nvSpPr>
        <p:spPr>
          <a:xfrm>
            <a:off x="141732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Her binaya fiber, akıllı sayaç, çatı güneş enerjisi</a:t>
            </a:r>
            <a:endParaRPr lang="en-US" sz="1300" dirty="0"/>
          </a:p>
        </p:txBody>
      </p:sp>
      <p:sp>
        <p:nvSpPr>
          <p:cNvPr id="19" name="Kart"/>
          <p:cNvSpPr/>
          <p:nvPr/>
        </p:nvSpPr>
        <p:spPr>
          <a:xfrm>
            <a:off x="429768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İkon zemini"/>
          <p:cNvSpPr/>
          <p:nvPr/>
        </p:nvSpPr>
        <p:spPr>
          <a:xfrm>
            <a:off x="4480560" y="3310128"/>
            <a:ext cx="548640" cy="548640"/>
          </a:xfrm>
          <a:prstGeom prst="ellipse">
            <a:avLst/>
          </a:prstGeom>
          <a:solidFill>
            <a:schemeClr val="tx2"/>
          </a:solidFill>
          <a:ln/>
        </p:spPr>
      </p:sp>
      <p:pic>
        <p:nvPicPr>
          <p:cNvPr id="21" name="İkon FaDroplet" descr="preencoded.png">    </p:cNvPr>
          <p:cNvPicPr>
            <a:picLocks noChangeAspect="1"/>
          </p:cNvPicPr>
          <p:nvPr/>
        </p:nvPicPr>
        <p:blipFill>
          <a:blip r:embed="rId4"/>
          <a:stretch>
            <a:fillRect/>
          </a:stretch>
        </p:blipFill>
        <p:spPr>
          <a:xfrm>
            <a:off x="4612234" y="3441802"/>
            <a:ext cx="285293" cy="285293"/>
          </a:xfrm>
          <a:prstGeom prst="rect">
            <a:avLst/>
          </a:prstGeom>
        </p:spPr>
      </p:pic>
      <p:sp>
        <p:nvSpPr>
          <p:cNvPr id="22" name="Text 16"/>
          <p:cNvSpPr txBox="1"/>
          <p:nvPr/>
        </p:nvSpPr>
        <p:spPr>
          <a:xfrm>
            <a:off x="516636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Su yönetimi</a:t>
            </a:r>
            <a:endParaRPr lang="en-US" sz="1500" dirty="0"/>
          </a:p>
        </p:txBody>
      </p:sp>
      <p:sp>
        <p:nvSpPr>
          <p:cNvPr id="23" name="Text 17"/>
          <p:cNvSpPr txBox="1"/>
          <p:nvPr/>
        </p:nvSpPr>
        <p:spPr>
          <a:xfrm>
            <a:off x="516636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Gölde su kalitesi ve seviye sensörleri, akıllı sulama</a:t>
            </a:r>
            <a:endParaRPr lang="en-US" sz="1300" dirty="0"/>
          </a:p>
        </p:txBody>
      </p:sp>
      <p:sp>
        <p:nvSpPr>
          <p:cNvPr id="24" name="Kart"/>
          <p:cNvSpPr/>
          <p:nvPr/>
        </p:nvSpPr>
        <p:spPr>
          <a:xfrm>
            <a:off x="54864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5" name="İkon zemini"/>
          <p:cNvSpPr/>
          <p:nvPr/>
        </p:nvSpPr>
        <p:spPr>
          <a:xfrm>
            <a:off x="731520" y="4818888"/>
            <a:ext cx="548640" cy="548640"/>
          </a:xfrm>
          <a:prstGeom prst="ellipse">
            <a:avLst/>
          </a:prstGeom>
          <a:solidFill>
            <a:schemeClr val="tx2"/>
          </a:solidFill>
          <a:ln/>
        </p:spPr>
      </p:sp>
      <p:pic>
        <p:nvPicPr>
          <p:cNvPr id="26" name="İkon FaFlask" descr="preencoded.png">    </p:cNvPr>
          <p:cNvPicPr>
            <a:picLocks noChangeAspect="1"/>
          </p:cNvPicPr>
          <p:nvPr/>
        </p:nvPicPr>
        <p:blipFill>
          <a:blip r:embed="rId5"/>
          <a:stretch>
            <a:fillRect/>
          </a:stretch>
        </p:blipFill>
        <p:spPr>
          <a:xfrm>
            <a:off x="863194" y="4950562"/>
            <a:ext cx="285293" cy="285293"/>
          </a:xfrm>
          <a:prstGeom prst="rect">
            <a:avLst/>
          </a:prstGeom>
        </p:spPr>
      </p:pic>
      <p:sp>
        <p:nvSpPr>
          <p:cNvPr id="27" name="Text 20"/>
          <p:cNvSpPr txBox="1"/>
          <p:nvPr/>
        </p:nvSpPr>
        <p:spPr>
          <a:xfrm>
            <a:off x="141732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Eğitim</a:t>
            </a:r>
            <a:endParaRPr lang="en-US" sz="1500" dirty="0"/>
          </a:p>
        </p:txBody>
      </p:sp>
      <p:sp>
        <p:nvSpPr>
          <p:cNvPr id="28" name="Text 21"/>
          <p:cNvSpPr txBox="1"/>
          <p:nvPr/>
        </p:nvSpPr>
        <p:spPr>
          <a:xfrm>
            <a:off x="141732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Deneyap ve makerspace; mühendis mentorluk platformu</a:t>
            </a:r>
            <a:endParaRPr lang="en-US" sz="1300" dirty="0"/>
          </a:p>
        </p:txBody>
      </p:sp>
      <p:sp>
        <p:nvSpPr>
          <p:cNvPr id="29" name="Kart"/>
          <p:cNvSpPr/>
          <p:nvPr/>
        </p:nvSpPr>
        <p:spPr>
          <a:xfrm>
            <a:off x="429768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30" name="İkon zemini"/>
          <p:cNvSpPr/>
          <p:nvPr/>
        </p:nvSpPr>
        <p:spPr>
          <a:xfrm>
            <a:off x="4480560" y="4818888"/>
            <a:ext cx="548640" cy="548640"/>
          </a:xfrm>
          <a:prstGeom prst="ellipse">
            <a:avLst/>
          </a:prstGeom>
          <a:solidFill>
            <a:schemeClr val="tx2"/>
          </a:solidFill>
          <a:ln/>
        </p:spPr>
      </p:sp>
      <p:pic>
        <p:nvPicPr>
          <p:cNvPr id="31" name="İkon FaPeopleGroup" descr="preencoded.png">    </p:cNvPr>
          <p:cNvPicPr>
            <a:picLocks noChangeAspect="1"/>
          </p:cNvPicPr>
          <p:nvPr/>
        </p:nvPicPr>
        <p:blipFill>
          <a:blip r:embed="rId6"/>
          <a:stretch>
            <a:fillRect/>
          </a:stretch>
        </p:blipFill>
        <p:spPr>
          <a:xfrm>
            <a:off x="4612234" y="4950562"/>
            <a:ext cx="285293" cy="285293"/>
          </a:xfrm>
          <a:prstGeom prst="rect">
            <a:avLst/>
          </a:prstGeom>
        </p:spPr>
      </p:pic>
      <p:sp>
        <p:nvSpPr>
          <p:cNvPr id="32" name="Text 24"/>
          <p:cNvSpPr txBox="1"/>
          <p:nvPr/>
        </p:nvSpPr>
        <p:spPr>
          <a:xfrm>
            <a:off x="516636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Topluluk platformu</a:t>
            </a:r>
            <a:endParaRPr lang="en-US" sz="1500" dirty="0"/>
          </a:p>
        </p:txBody>
      </p:sp>
      <p:sp>
        <p:nvSpPr>
          <p:cNvPr id="33" name="Text 25"/>
          <p:cNvSpPr txBox="1"/>
          <p:nvPr/>
        </p:nvSpPr>
        <p:spPr>
          <a:xfrm>
            <a:off x="516636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Etkinlik takvimi, tesis rezervasyonu, yeni gelen aile programı</a:t>
            </a:r>
            <a:endParaRPr lang="en-US" sz="1300" dirty="0"/>
          </a:p>
        </p:txBody>
      </p:sp>
      <p:sp>
        <p:nvSpPr>
          <p:cNvPr id="34" name="Veri güvenliği paneli"/>
          <p:cNvSpPr/>
          <p:nvPr/>
        </p:nvSpPr>
        <p:spPr>
          <a:xfrm>
            <a:off x="8046720" y="1600200"/>
            <a:ext cx="3596335" cy="4343400"/>
          </a:xfrm>
          <a:prstGeom prst="roundRect">
            <a:avLst>
              <a:gd name="adj" fmla="val 2034"/>
            </a:avLst>
          </a:prstGeom>
          <a:solidFill>
            <a:schemeClr val="tx2"/>
          </a:solidFill>
          <a:ln/>
        </p:spPr>
      </p:sp>
      <p:sp>
        <p:nvSpPr>
          <p:cNvPr id="35" name="İkon zemini"/>
          <p:cNvSpPr/>
          <p:nvPr/>
        </p:nvSpPr>
        <p:spPr>
          <a:xfrm>
            <a:off x="8321040" y="1874520"/>
            <a:ext cx="640080" cy="640080"/>
          </a:xfrm>
          <a:prstGeom prst="ellipse">
            <a:avLst/>
          </a:prstGeom>
          <a:solidFill>
            <a:schemeClr val="accent4"/>
          </a:solidFill>
          <a:ln/>
        </p:spPr>
      </p:sp>
      <p:pic>
        <p:nvPicPr>
          <p:cNvPr id="36" name="İkon FaShieldHalved" descr="preencoded.png">    </p:cNvPr>
          <p:cNvPicPr>
            <a:picLocks noChangeAspect="1"/>
          </p:cNvPicPr>
          <p:nvPr/>
        </p:nvPicPr>
        <p:blipFill>
          <a:blip r:embed="rId7"/>
          <a:stretch>
            <a:fillRect/>
          </a:stretch>
        </p:blipFill>
        <p:spPr>
          <a:xfrm>
            <a:off x="8474659" y="2028139"/>
            <a:ext cx="332842" cy="332842"/>
          </a:xfrm>
          <a:prstGeom prst="rect">
            <a:avLst/>
          </a:prstGeom>
        </p:spPr>
      </p:pic>
      <p:sp>
        <p:nvSpPr>
          <p:cNvPr id="37" name="Text 28"/>
          <p:cNvSpPr txBox="1"/>
          <p:nvPr/>
        </p:nvSpPr>
        <p:spPr>
          <a:xfrm>
            <a:off x="9098280" y="1874520"/>
            <a:ext cx="2316175" cy="685800"/>
          </a:xfrm>
          <a:prstGeom prst="rect">
            <a:avLst/>
          </a:prstGeom>
          <a:noFill/>
          <a:ln/>
        </p:spPr>
        <p:txBody>
          <a:bodyPr wrap="square" lIns="0" tIns="0" rIns="0" bIns="0" rtlCol="0" anchor="t"/>
          <a:lstStyle/>
          <a:p>
            <a:pPr indent="0" marL="0">
              <a:buNone/>
            </a:pPr>
            <a:r>
              <a:rPr lang="en-US" sz="1800" b="1" dirty="0">
                <a:solidFill>
                  <a:schemeClr val="bg1"/>
                </a:solidFill>
              </a:rPr>
              <a:t>Veri güvenliği bir tasarım şartı</a:t>
            </a:r>
            <a:endParaRPr lang="en-US" sz="1800" dirty="0"/>
          </a:p>
        </p:txBody>
      </p:sp>
      <p:sp>
        <p:nvSpPr>
          <p:cNvPr id="38" name="Text 29"/>
          <p:cNvSpPr txBox="1"/>
          <p:nvPr/>
        </p:nvSpPr>
        <p:spPr>
          <a:xfrm>
            <a:off x="8321040" y="2743200"/>
            <a:ext cx="3047695" cy="31089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Sakinlerin çoğu savunma sanayi çalışanı; konum, ulaşım ve kamera verisi hassas.</a:t>
            </a:r>
            <a:endParaRPr lang="en-US" sz="1500" dirty="0"/>
          </a:p>
          <a:p>
            <a:pPr marL="342900" indent="-342900">
              <a:spcAft>
                <a:spcPts val="600"/>
              </a:spcAft>
              <a:buSzPct val="100000"/>
              <a:buChar char="•"/>
            </a:pPr>
            <a:r>
              <a:rPr lang="en-US" sz="1500" dirty="0">
                <a:solidFill>
                  <a:schemeClr val="bg1"/>
                </a:solidFill>
              </a:rPr>
              <a:t>Veri yurt içinde, yerli altyapıda tutulur.</a:t>
            </a:r>
            <a:endParaRPr lang="en-US" sz="1500" dirty="0"/>
          </a:p>
          <a:p>
            <a:pPr marL="342900" indent="-342900">
              <a:spcAft>
                <a:spcPts val="600"/>
              </a:spcAft>
              <a:buSzPct val="100000"/>
              <a:buChar char="•"/>
            </a:pPr>
            <a:r>
              <a:rPr lang="en-US" sz="1500" dirty="0">
                <a:solidFill>
                  <a:schemeClr val="bg1"/>
                </a:solidFill>
              </a:rPr>
              <a:t>Yalnızca gereken veri toplanır; ulaşım planlaması anonim veriyle yapılır.</a:t>
            </a:r>
            <a:endParaRPr lang="en-US" sz="1500" dirty="0"/>
          </a:p>
          <a:p>
            <a:pPr marL="342900" indent="-342900">
              <a:spcAft>
                <a:spcPts val="600"/>
              </a:spcAft>
              <a:buSzPct val="100000"/>
              <a:buChar char="•"/>
            </a:pPr>
            <a:r>
              <a:rPr lang="en-US" sz="1500" dirty="0">
                <a:solidFill>
                  <a:schemeClr val="bg1"/>
                </a:solidFill>
              </a:rPr>
              <a:t>KVKK'ya ek bağımsız güvenlik denetimi.</a:t>
            </a:r>
            <a:endParaRPr lang="en-US" sz="1500" dirty="0"/>
          </a:p>
        </p:txBody>
      </p:sp>
      <p:sp>
        <p:nvSpPr>
          <p:cNvPr id="39" name="Text 3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Akıllı şehir sistemleri için yatırım tahmini 150 milyon TL (100–225); konut başına 40–90 bin TL varsayımı.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SEKTÖRE FAYDA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Savunma sanayi için: çekmek ve tutmak</a:t>
            </a:r>
            <a:endParaRPr lang="en-US" sz="3600" dirty="0"/>
          </a:p>
        </p:txBody>
      </p:sp>
      <p:sp>
        <p:nvSpPr>
          <p:cNvPr id="4" name="İkon zemini"/>
          <p:cNvSpPr/>
          <p:nvPr/>
        </p:nvSpPr>
        <p:spPr>
          <a:xfrm>
            <a:off x="548640" y="1691640"/>
            <a:ext cx="658368" cy="658368"/>
          </a:xfrm>
          <a:prstGeom prst="ellipse">
            <a:avLst/>
          </a:prstGeom>
          <a:solidFill>
            <a:schemeClr val="tx2"/>
          </a:solidFill>
          <a:ln/>
        </p:spPr>
      </p:sp>
      <p:pic>
        <p:nvPicPr>
          <p:cNvPr id="5" name="İkon FaClock" descr="preencoded.png">    </p:cNvPr>
          <p:cNvPicPr>
            <a:picLocks noChangeAspect="1"/>
          </p:cNvPicPr>
          <p:nvPr/>
        </p:nvPicPr>
        <p:blipFill>
          <a:blip r:embed="rId1"/>
          <a:stretch>
            <a:fillRect/>
          </a:stretch>
        </p:blipFill>
        <p:spPr>
          <a:xfrm>
            <a:off x="706648" y="1849648"/>
            <a:ext cx="342351" cy="342351"/>
          </a:xfrm>
          <a:prstGeom prst="rect">
            <a:avLst/>
          </a:prstGeom>
        </p:spPr>
      </p:pic>
      <p:sp>
        <p:nvSpPr>
          <p:cNvPr id="6" name="Text 3"/>
          <p:cNvSpPr txBox="1"/>
          <p:nvPr/>
        </p:nvSpPr>
        <p:spPr>
          <a:xfrm>
            <a:off x="13716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Zaman</a:t>
            </a:r>
            <a:endParaRPr lang="en-US" sz="1800" dirty="0"/>
          </a:p>
        </p:txBody>
      </p:sp>
      <p:sp>
        <p:nvSpPr>
          <p:cNvPr id="7" name="Text 4"/>
          <p:cNvSpPr txBox="1"/>
          <p:nvPr/>
        </p:nvSpPr>
        <p:spPr>
          <a:xfrm>
            <a:off x="13716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Sabit ve kısa yolculuk: ekspres hat, kademeli mesai</a:t>
            </a:r>
            <a:endParaRPr lang="en-US" sz="1500" dirty="0"/>
          </a:p>
        </p:txBody>
      </p:sp>
      <p:sp>
        <p:nvSpPr>
          <p:cNvPr id="8" name="İkon zemini"/>
          <p:cNvSpPr/>
          <p:nvPr/>
        </p:nvSpPr>
        <p:spPr>
          <a:xfrm>
            <a:off x="4434840" y="1691640"/>
            <a:ext cx="658368" cy="658368"/>
          </a:xfrm>
          <a:prstGeom prst="ellipse">
            <a:avLst/>
          </a:prstGeom>
          <a:solidFill>
            <a:schemeClr val="accent1"/>
          </a:solidFill>
          <a:ln/>
        </p:spPr>
      </p:sp>
      <p:pic>
        <p:nvPicPr>
          <p:cNvPr id="9" name="İkon FaChildren" descr="preencoded.png">    </p:cNvPr>
          <p:cNvPicPr>
            <a:picLocks noChangeAspect="1"/>
          </p:cNvPicPr>
          <p:nvPr/>
        </p:nvPicPr>
        <p:blipFill>
          <a:blip r:embed="rId2"/>
          <a:stretch>
            <a:fillRect/>
          </a:stretch>
        </p:blipFill>
        <p:spPr>
          <a:xfrm>
            <a:off x="4592848" y="1849648"/>
            <a:ext cx="342351" cy="342351"/>
          </a:xfrm>
          <a:prstGeom prst="rect">
            <a:avLst/>
          </a:prstGeom>
        </p:spPr>
      </p:pic>
      <p:sp>
        <p:nvSpPr>
          <p:cNvPr id="10" name="Text 6"/>
          <p:cNvSpPr txBox="1"/>
          <p:nvPr/>
        </p:nvSpPr>
        <p:spPr>
          <a:xfrm>
            <a:off x="52578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Aile</a:t>
            </a:r>
            <a:endParaRPr lang="en-US" sz="1800" dirty="0"/>
          </a:p>
        </p:txBody>
      </p:sp>
      <p:sp>
        <p:nvSpPr>
          <p:cNvPr id="11" name="Text 7"/>
          <p:cNvSpPr txBox="1"/>
          <p:nvPr/>
        </p:nvSpPr>
        <p:spPr>
          <a:xfrm>
            <a:off x="52578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Okul, kreş ve sağlık yürüme mesafesinde</a:t>
            </a:r>
            <a:endParaRPr lang="en-US" sz="1500" dirty="0"/>
          </a:p>
        </p:txBody>
      </p:sp>
      <p:sp>
        <p:nvSpPr>
          <p:cNvPr id="12" name="İkon zemini"/>
          <p:cNvSpPr/>
          <p:nvPr/>
        </p:nvSpPr>
        <p:spPr>
          <a:xfrm>
            <a:off x="548640" y="3200400"/>
            <a:ext cx="658368" cy="658368"/>
          </a:xfrm>
          <a:prstGeom prst="ellipse">
            <a:avLst/>
          </a:prstGeom>
          <a:solidFill>
            <a:schemeClr val="tx2"/>
          </a:solidFill>
          <a:ln/>
        </p:spPr>
      </p:sp>
      <p:pic>
        <p:nvPicPr>
          <p:cNvPr id="13" name="İkon FaBriefcase" descr="preencoded.png">    </p:cNvPr>
          <p:cNvPicPr>
            <a:picLocks noChangeAspect="1"/>
          </p:cNvPicPr>
          <p:nvPr/>
        </p:nvPicPr>
        <p:blipFill>
          <a:blip r:embed="rId3"/>
          <a:stretch>
            <a:fillRect/>
          </a:stretch>
        </p:blipFill>
        <p:spPr>
          <a:xfrm>
            <a:off x="706648" y="3358408"/>
            <a:ext cx="342351" cy="342351"/>
          </a:xfrm>
          <a:prstGeom prst="rect">
            <a:avLst/>
          </a:prstGeom>
        </p:spPr>
      </p:pic>
      <p:sp>
        <p:nvSpPr>
          <p:cNvPr id="14" name="Text 9"/>
          <p:cNvSpPr txBox="1"/>
          <p:nvPr/>
        </p:nvSpPr>
        <p:spPr>
          <a:xfrm>
            <a:off x="13716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Eşler</a:t>
            </a:r>
            <a:endParaRPr lang="en-US" sz="1800" dirty="0"/>
          </a:p>
        </p:txBody>
      </p:sp>
      <p:sp>
        <p:nvSpPr>
          <p:cNvPr id="15" name="Text 10"/>
          <p:cNvSpPr txBox="1"/>
          <p:nvPr/>
        </p:nvSpPr>
        <p:spPr>
          <a:xfrm>
            <a:off x="13716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Kariyer masası ve mahalle merkezinde ortak çalışma alanı</a:t>
            </a:r>
            <a:endParaRPr lang="en-US" sz="1500" dirty="0"/>
          </a:p>
        </p:txBody>
      </p:sp>
      <p:sp>
        <p:nvSpPr>
          <p:cNvPr id="16" name="İkon zemini"/>
          <p:cNvSpPr/>
          <p:nvPr/>
        </p:nvSpPr>
        <p:spPr>
          <a:xfrm>
            <a:off x="4434840" y="3200400"/>
            <a:ext cx="658368" cy="658368"/>
          </a:xfrm>
          <a:prstGeom prst="ellipse">
            <a:avLst/>
          </a:prstGeom>
          <a:solidFill>
            <a:schemeClr val="accent1"/>
          </a:solidFill>
          <a:ln/>
        </p:spPr>
      </p:sp>
      <p:pic>
        <p:nvPicPr>
          <p:cNvPr id="17" name="İkon FaPeopleGroup" descr="preencoded.png">    </p:cNvPr>
          <p:cNvPicPr>
            <a:picLocks noChangeAspect="1"/>
          </p:cNvPicPr>
          <p:nvPr/>
        </p:nvPicPr>
        <p:blipFill>
          <a:blip r:embed="rId4"/>
          <a:stretch>
            <a:fillRect/>
          </a:stretch>
        </p:blipFill>
        <p:spPr>
          <a:xfrm>
            <a:off x="4592848" y="3358408"/>
            <a:ext cx="342351" cy="342351"/>
          </a:xfrm>
          <a:prstGeom prst="rect">
            <a:avLst/>
          </a:prstGeom>
        </p:spPr>
      </p:pic>
      <p:sp>
        <p:nvSpPr>
          <p:cNvPr id="18" name="Text 12"/>
          <p:cNvSpPr txBox="1"/>
          <p:nvPr/>
        </p:nvSpPr>
        <p:spPr>
          <a:xfrm>
            <a:off x="52578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Topluluk</a:t>
            </a:r>
            <a:endParaRPr lang="en-US" sz="1800" dirty="0"/>
          </a:p>
        </p:txBody>
      </p:sp>
      <p:sp>
        <p:nvSpPr>
          <p:cNvPr id="19" name="Text 13"/>
          <p:cNvSpPr txBox="1"/>
          <p:nvPr/>
        </p:nvSpPr>
        <p:spPr>
          <a:xfrm>
            <a:off x="52578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Göl, kültür merkezi, kulüpler; yeni gelen aile programı</a:t>
            </a:r>
            <a:endParaRPr lang="en-US" sz="1500" dirty="0"/>
          </a:p>
        </p:txBody>
      </p:sp>
      <p:sp>
        <p:nvSpPr>
          <p:cNvPr id="20" name="İkon zemini"/>
          <p:cNvSpPr/>
          <p:nvPr/>
        </p:nvSpPr>
        <p:spPr>
          <a:xfrm>
            <a:off x="548640" y="4709160"/>
            <a:ext cx="658368" cy="658368"/>
          </a:xfrm>
          <a:prstGeom prst="ellipse">
            <a:avLst/>
          </a:prstGeom>
          <a:solidFill>
            <a:schemeClr val="tx2"/>
          </a:solidFill>
          <a:ln/>
        </p:spPr>
      </p:sp>
      <p:pic>
        <p:nvPicPr>
          <p:cNvPr id="21" name="İkon FaHouse" descr="preencoded.png">    </p:cNvPr>
          <p:cNvPicPr>
            <a:picLocks noChangeAspect="1"/>
          </p:cNvPicPr>
          <p:nvPr/>
        </p:nvPicPr>
        <p:blipFill>
          <a:blip r:embed="rId5"/>
          <a:stretch>
            <a:fillRect/>
          </a:stretch>
        </p:blipFill>
        <p:spPr>
          <a:xfrm>
            <a:off x="706648" y="4867168"/>
            <a:ext cx="342351" cy="342351"/>
          </a:xfrm>
          <a:prstGeom prst="rect">
            <a:avLst/>
          </a:prstGeom>
        </p:spPr>
      </p:pic>
      <p:sp>
        <p:nvSpPr>
          <p:cNvPr id="22" name="Text 15"/>
          <p:cNvSpPr txBox="1"/>
          <p:nvPr/>
        </p:nvSpPr>
        <p:spPr>
          <a:xfrm>
            <a:off x="13716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Konut</a:t>
            </a:r>
            <a:endParaRPr lang="en-US" sz="1800" dirty="0"/>
          </a:p>
        </p:txBody>
      </p:sp>
      <p:sp>
        <p:nvSpPr>
          <p:cNvPr id="23" name="Text 16"/>
          <p:cNvSpPr txBox="1"/>
          <p:nvPr/>
        </p:nvSpPr>
        <p:spPr>
          <a:xfrm>
            <a:off x="13716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Satılık ve herkese açık; savunma çalışanlarına öncelik</a:t>
            </a:r>
            <a:endParaRPr lang="en-US" sz="1500" dirty="0"/>
          </a:p>
        </p:txBody>
      </p:sp>
      <p:sp>
        <p:nvSpPr>
          <p:cNvPr id="24" name="İkon zemini"/>
          <p:cNvSpPr/>
          <p:nvPr/>
        </p:nvSpPr>
        <p:spPr>
          <a:xfrm>
            <a:off x="4434840" y="4709160"/>
            <a:ext cx="658368" cy="658368"/>
          </a:xfrm>
          <a:prstGeom prst="ellipse">
            <a:avLst/>
          </a:prstGeom>
          <a:solidFill>
            <a:schemeClr val="accent1"/>
          </a:solidFill>
          <a:ln/>
        </p:spPr>
      </p:sp>
      <p:pic>
        <p:nvPicPr>
          <p:cNvPr id="25" name="İkon FaLock" descr="preencoded.png">    </p:cNvPr>
          <p:cNvPicPr>
            <a:picLocks noChangeAspect="1"/>
          </p:cNvPicPr>
          <p:nvPr/>
        </p:nvPicPr>
        <p:blipFill>
          <a:blip r:embed="rId6"/>
          <a:stretch>
            <a:fillRect/>
          </a:stretch>
        </p:blipFill>
        <p:spPr>
          <a:xfrm>
            <a:off x="4592848" y="4867168"/>
            <a:ext cx="342351" cy="342351"/>
          </a:xfrm>
          <a:prstGeom prst="rect">
            <a:avLst/>
          </a:prstGeom>
        </p:spPr>
      </p:pic>
      <p:sp>
        <p:nvSpPr>
          <p:cNvPr id="26" name="Text 18"/>
          <p:cNvSpPr txBox="1"/>
          <p:nvPr/>
        </p:nvSpPr>
        <p:spPr>
          <a:xfrm>
            <a:off x="52578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Güven</a:t>
            </a:r>
            <a:endParaRPr lang="en-US" sz="1800" dirty="0"/>
          </a:p>
        </p:txBody>
      </p:sp>
      <p:sp>
        <p:nvSpPr>
          <p:cNvPr id="27" name="Text 19"/>
          <p:cNvSpPr txBox="1"/>
          <p:nvPr/>
        </p:nvSpPr>
        <p:spPr>
          <a:xfrm>
            <a:off x="52578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Çalışan verisi yerli altyapıda korunur</a:t>
            </a:r>
            <a:endParaRPr lang="en-US" sz="1500" dirty="0"/>
          </a:p>
        </p:txBody>
      </p:sp>
      <p:sp>
        <p:nvSpPr>
          <p:cNvPr id="28" name="Alıntı paneli"/>
          <p:cNvSpPr/>
          <p:nvPr/>
        </p:nvSpPr>
        <p:spPr>
          <a:xfrm>
            <a:off x="8321040" y="1600200"/>
            <a:ext cx="3322015" cy="4343400"/>
          </a:xfrm>
          <a:prstGeom prst="roundRect">
            <a:avLst>
              <a:gd name="adj" fmla="val 2202"/>
            </a:avLst>
          </a:prstGeom>
          <a:solidFill>
            <a:schemeClr val="tx2"/>
          </a:solidFill>
          <a:ln/>
        </p:spPr>
      </p:sp>
      <p:sp>
        <p:nvSpPr>
          <p:cNvPr id="29" name="Text 21"/>
          <p:cNvSpPr txBox="1"/>
          <p:nvPr/>
        </p:nvSpPr>
        <p:spPr>
          <a:xfrm>
            <a:off x="8595360" y="1691640"/>
            <a:ext cx="914400" cy="822960"/>
          </a:xfrm>
          <a:prstGeom prst="rect">
            <a:avLst/>
          </a:prstGeom>
          <a:noFill/>
          <a:ln/>
        </p:spPr>
        <p:txBody>
          <a:bodyPr wrap="square" lIns="0" tIns="0" rIns="0" bIns="0" rtlCol="0" anchor="t"/>
          <a:lstStyle/>
          <a:p>
            <a:pPr indent="0" marL="0">
              <a:buNone/>
            </a:pPr>
            <a:r>
              <a:rPr lang="en-US" sz="6000" b="1" dirty="0">
                <a:solidFill>
                  <a:schemeClr val="accent4"/>
                </a:solidFill>
                <a:latin typeface="Cambria" pitchFamily="34" charset="0"/>
                <a:ea typeface="Cambria" pitchFamily="34" charset="-122"/>
                <a:cs typeface="Cambria" pitchFamily="34" charset="-120"/>
              </a:rPr>
              <a:t>“</a:t>
            </a:r>
            <a:endParaRPr lang="en-US" sz="6000" dirty="0"/>
          </a:p>
        </p:txBody>
      </p:sp>
      <p:sp>
        <p:nvSpPr>
          <p:cNvPr id="30" name="Text 22"/>
          <p:cNvSpPr txBox="1"/>
          <p:nvPr/>
        </p:nvSpPr>
        <p:spPr>
          <a:xfrm>
            <a:off x="8595360" y="2514600"/>
            <a:ext cx="2773375" cy="2377440"/>
          </a:xfrm>
          <a:prstGeom prst="rect">
            <a:avLst/>
          </a:prstGeom>
          <a:noFill/>
          <a:ln/>
        </p:spPr>
        <p:txBody>
          <a:bodyPr wrap="square" lIns="0" tIns="0" rIns="0" bIns="0" rtlCol="0" anchor="t"/>
          <a:lstStyle/>
          <a:p>
            <a:pPr indent="0" marL="0">
              <a:buNone/>
            </a:pPr>
            <a:r>
              <a:rPr lang="en-US" sz="2200" i="1" dirty="0">
                <a:solidFill>
                  <a:schemeClr val="bg1"/>
                </a:solidFill>
                <a:latin typeface="Cambria" pitchFamily="34" charset="0"/>
                <a:ea typeface="Cambria" pitchFamily="34" charset="-122"/>
                <a:cs typeface="Cambria" pitchFamily="34" charset="-120"/>
              </a:rPr>
              <a:t>Yetenek kaybı resmi bir tehdit. Ailesiyle yaşanabilir bir yaşam alanı, istihdam hedefinin altyapısıdır.</a:t>
            </a:r>
            <a:endParaRPr lang="en-US" sz="2200" dirty="0"/>
          </a:p>
        </p:txBody>
      </p:sp>
      <p:sp>
        <p:nvSpPr>
          <p:cNvPr id="31" name="Text 23"/>
          <p:cNvSpPr txBox="1"/>
          <p:nvPr/>
        </p:nvSpPr>
        <p:spPr>
          <a:xfrm>
            <a:off x="8595360" y="4983480"/>
            <a:ext cx="2773375" cy="731520"/>
          </a:xfrm>
          <a:prstGeom prst="rect">
            <a:avLst/>
          </a:prstGeom>
          <a:noFill/>
          <a:ln/>
        </p:spPr>
        <p:txBody>
          <a:bodyPr wrap="square" lIns="0" tIns="0" rIns="0" bIns="0" rtlCol="0" anchor="t"/>
          <a:lstStyle/>
          <a:p>
            <a:pPr indent="0" marL="0">
              <a:buNone/>
            </a:pPr>
            <a:r>
              <a:rPr lang="en-US" sz="1200" dirty="0">
                <a:solidFill>
                  <a:schemeClr val="bg2"/>
                </a:solidFill>
              </a:rPr>
              <a:t>Dayanak: SSB Stratejik Planı 2024–2028, s. 46; 12. Kalkınma Planı, Tablo 22.</a:t>
            </a:r>
            <a:endParaRPr lang="en-US" sz="1200" dirty="0"/>
          </a:p>
        </p:txBody>
      </p:sp>
      <p:sp>
        <p:nvSpPr>
          <p:cNvPr id="32" name="Text 2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Uygulama modeli (kimin yapıp satacağı) bu çalışmanın kapsamı dışındadır.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YATIRIM TUTARI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Yatırım: toplam ~12,5 milyar TL</a:t>
            </a:r>
            <a:endParaRPr lang="en-US" sz="3600" dirty="0"/>
          </a:p>
        </p:txBody>
      </p:sp>
      <p:graphicFrame>
        <p:nvGraphicFramePr>
          <p:cNvPr id="4" name="Chart 0" descr=""/>
          <p:cNvGraphicFramePr/>
          <p:nvPr/>
        </p:nvGraphicFramePr>
        <p:xfrm>
          <a:off x="548640" y="1600200"/>
          <a:ext cx="6949440" cy="3977640"/>
        </p:xfrm>
        <a:graphic xmlns:a="http://schemas.openxmlformats.org/drawingml/2006/main">
          <a:graphicData uri="http://schemas.openxmlformats.org/drawingml/2006/chart">
            <c:chart xmlns:c="http://schemas.openxmlformats.org/drawingml/2006/chart" r:id="rId1"/>
          </a:graphicData>
        </a:graphic>
      </p:graphicFrame>
      <p:sp>
        <p:nvSpPr>
          <p:cNvPr id="5" name="Gösterim"/>
          <p:cNvSpPr/>
          <p:nvPr/>
        </p:nvSpPr>
        <p:spPr>
          <a:xfrm>
            <a:off x="822960" y="5687568"/>
            <a:ext cx="201168" cy="201168"/>
          </a:xfrm>
          <a:prstGeom prst="rect">
            <a:avLst/>
          </a:prstGeom>
          <a:solidFill>
            <a:schemeClr val="accent1"/>
          </a:solidFill>
          <a:ln/>
        </p:spPr>
      </p:sp>
      <p:sp>
        <p:nvSpPr>
          <p:cNvPr id="6" name="Text 3"/>
          <p:cNvSpPr txBox="1"/>
          <p:nvPr/>
        </p:nvSpPr>
        <p:spPr>
          <a:xfrm>
            <a:off x="10972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Kamu ve ortak kullanım</a:t>
            </a:r>
            <a:endParaRPr lang="en-US" sz="1200" dirty="0"/>
          </a:p>
        </p:txBody>
      </p:sp>
      <p:sp>
        <p:nvSpPr>
          <p:cNvPr id="7" name="Gösterim"/>
          <p:cNvSpPr/>
          <p:nvPr/>
        </p:nvSpPr>
        <p:spPr>
          <a:xfrm>
            <a:off x="3063240" y="5687568"/>
            <a:ext cx="201168" cy="201168"/>
          </a:xfrm>
          <a:prstGeom prst="rect">
            <a:avLst/>
          </a:prstGeom>
          <a:solidFill>
            <a:schemeClr val="tx2"/>
          </a:solidFill>
          <a:ln/>
        </p:spPr>
      </p:sp>
      <p:sp>
        <p:nvSpPr>
          <p:cNvPr id="8" name="Text 5"/>
          <p:cNvSpPr txBox="1"/>
          <p:nvPr/>
        </p:nvSpPr>
        <p:spPr>
          <a:xfrm>
            <a:off x="333756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Satış ve işletme geliriyle karşılanan</a:t>
            </a:r>
            <a:endParaRPr lang="en-US" sz="1200" dirty="0"/>
          </a:p>
        </p:txBody>
      </p:sp>
      <p:sp>
        <p:nvSpPr>
          <p:cNvPr id="9" name="Gösterim"/>
          <p:cNvSpPr/>
          <p:nvPr/>
        </p:nvSpPr>
        <p:spPr>
          <a:xfrm>
            <a:off x="6080760" y="5687568"/>
            <a:ext cx="201168" cy="201168"/>
          </a:xfrm>
          <a:prstGeom prst="rect">
            <a:avLst/>
          </a:prstGeom>
          <a:solidFill>
            <a:schemeClr val="accent5"/>
          </a:solidFill>
          <a:ln/>
        </p:spPr>
      </p:sp>
      <p:sp>
        <p:nvSpPr>
          <p:cNvPr id="10" name="Text 7"/>
          <p:cNvSpPr txBox="1"/>
          <p:nvPr/>
        </p:nvSpPr>
        <p:spPr>
          <a:xfrm>
            <a:off x="63550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Ortak gider</a:t>
            </a:r>
            <a:endParaRPr lang="en-US" sz="1200" dirty="0"/>
          </a:p>
        </p:txBody>
      </p:sp>
      <p:sp>
        <p:nvSpPr>
          <p:cNvPr id="11" name="Gösterge"/>
          <p:cNvSpPr/>
          <p:nvPr/>
        </p:nvSpPr>
        <p:spPr>
          <a:xfrm>
            <a:off x="7818120" y="160020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8001000" y="172821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12,54 mlr TL</a:t>
            </a:r>
            <a:endParaRPr lang="en-US" sz="3000" dirty="0"/>
          </a:p>
        </p:txBody>
      </p:sp>
      <p:sp>
        <p:nvSpPr>
          <p:cNvPr id="13" name="Text 10"/>
          <p:cNvSpPr txBox="1"/>
          <p:nvPr/>
        </p:nvSpPr>
        <p:spPr>
          <a:xfrm>
            <a:off x="8001000" y="2409444"/>
            <a:ext cx="3459175" cy="425196"/>
          </a:xfrm>
          <a:prstGeom prst="rect">
            <a:avLst/>
          </a:prstGeom>
          <a:noFill/>
          <a:ln/>
        </p:spPr>
        <p:txBody>
          <a:bodyPr wrap="square" lIns="0" tIns="0" rIns="0" bIns="0" rtlCol="0" anchor="t"/>
          <a:lstStyle/>
          <a:p>
            <a:pPr indent="0" marL="0">
              <a:buNone/>
            </a:pPr>
            <a:r>
              <a:rPr lang="en-US" sz="1300" dirty="0">
                <a:solidFill>
                  <a:schemeClr val="tx1"/>
                </a:solidFill>
              </a:rPr>
              <a:t>toplam yatırım · aralık 9,93–15,94</a:t>
            </a:r>
            <a:endParaRPr lang="en-US" sz="1300" dirty="0"/>
          </a:p>
        </p:txBody>
      </p:sp>
      <p:sp>
        <p:nvSpPr>
          <p:cNvPr id="14" name="Gösterge"/>
          <p:cNvSpPr/>
          <p:nvPr/>
        </p:nvSpPr>
        <p:spPr>
          <a:xfrm>
            <a:off x="7818120" y="310896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8001000" y="3236976"/>
            <a:ext cx="3459175" cy="66294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3,29 mlr TL</a:t>
            </a:r>
            <a:endParaRPr lang="en-US" sz="3000" dirty="0"/>
          </a:p>
        </p:txBody>
      </p:sp>
      <p:sp>
        <p:nvSpPr>
          <p:cNvPr id="16" name="Text 13"/>
          <p:cNvSpPr txBox="1"/>
          <p:nvPr/>
        </p:nvSpPr>
        <p:spPr>
          <a:xfrm>
            <a:off x="8001000" y="3918204"/>
            <a:ext cx="3459175" cy="425196"/>
          </a:xfrm>
          <a:prstGeom prst="rect">
            <a:avLst/>
          </a:prstGeom>
          <a:noFill/>
          <a:ln/>
        </p:spPr>
        <p:txBody>
          <a:bodyPr wrap="square" lIns="0" tIns="0" rIns="0" bIns="0" rtlCol="0" anchor="t"/>
          <a:lstStyle/>
          <a:p>
            <a:pPr indent="0" marL="0">
              <a:buNone/>
            </a:pPr>
            <a:r>
              <a:rPr lang="en-US" sz="1300" dirty="0">
                <a:solidFill>
                  <a:schemeClr val="tx1"/>
                </a:solidFill>
              </a:rPr>
              <a:t>kamu ve ortak kullanım payı · %26 · aralık 2,54–4,11</a:t>
            </a:r>
            <a:endParaRPr lang="en-US" sz="1300" dirty="0"/>
          </a:p>
        </p:txBody>
      </p:sp>
      <p:sp>
        <p:nvSpPr>
          <p:cNvPr id="17" name="Gösterge"/>
          <p:cNvSpPr/>
          <p:nvPr/>
        </p:nvSpPr>
        <p:spPr>
          <a:xfrm>
            <a:off x="7818120" y="461772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8" name="Text 15"/>
          <p:cNvSpPr txBox="1"/>
          <p:nvPr/>
        </p:nvSpPr>
        <p:spPr>
          <a:xfrm>
            <a:off x="8001000" y="474573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 mn TL</a:t>
            </a:r>
            <a:endParaRPr lang="en-US" sz="3000" dirty="0"/>
          </a:p>
        </p:txBody>
      </p:sp>
      <p:sp>
        <p:nvSpPr>
          <p:cNvPr id="19" name="Text 16"/>
          <p:cNvSpPr txBox="1"/>
          <p:nvPr/>
        </p:nvSpPr>
        <p:spPr>
          <a:xfrm>
            <a:off x="8001000" y="5426964"/>
            <a:ext cx="3459175" cy="425196"/>
          </a:xfrm>
          <a:prstGeom prst="rect">
            <a:avLst/>
          </a:prstGeom>
          <a:noFill/>
          <a:ln/>
        </p:spPr>
        <p:txBody>
          <a:bodyPr wrap="square" lIns="0" tIns="0" rIns="0" bIns="0" rtlCol="0" anchor="t"/>
          <a:lstStyle/>
          <a:p>
            <a:pPr indent="0" marL="0">
              <a:buNone/>
            </a:pPr>
            <a:r>
              <a:rPr lang="en-US" sz="1300" dirty="0">
                <a:solidFill>
                  <a:schemeClr val="tx1"/>
                </a:solidFill>
              </a:rPr>
              <a:t>konut başına toplam yatırım</a:t>
            </a:r>
            <a:endParaRPr lang="en-US" sz="1300" dirty="0"/>
          </a:p>
        </p:txBody>
      </p:sp>
      <p:sp>
        <p:nvSpPr>
          <p:cNvPr id="20" name="Text 17"/>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2026 TL, KDV ve arazi hariç; arazi Hazine'nin. Başlıca belirsizlikler: yapı sınıfı, altyapı oranı, zemin ve yıllık %25–30 maliyet artışı.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KAMU FAYDASI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Kamu faydası: ölçülen kısım alt sınır</a:t>
            </a:r>
            <a:endParaRPr lang="en-US" sz="3600" dirty="0"/>
          </a:p>
        </p:txBody>
      </p:sp>
      <p:graphicFrame>
        <p:nvGraphicFramePr>
          <p:cNvPr id="4" name="Chart 0" descr=""/>
          <p:cNvGraphicFramePr/>
          <p:nvPr/>
        </p:nvGraphicFramePr>
        <p:xfrm>
          <a:off x="548640" y="1600200"/>
          <a:ext cx="5669280" cy="438912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59375" cy="914400"/>
        </p:xfrm>
        <a:graphic>
          <a:graphicData uri="http://schemas.openxmlformats.org/drawingml/2006/table">
            <a:tbl>
              <a:tblPr/>
              <a:tblGrid>
                <a:gridCol w="2130552"/>
                <a:gridCol w="914400"/>
                <a:gridCol w="914400"/>
                <a:gridCol w="914400"/>
              </a:tblGrid>
              <a:tr h="384048">
                <a:tc>
                  <a:txBody>
                    <a:bodyPr/>
                    <a:lstStyle/>
                    <a:p>
                      <a:pPr algn="l" indent="0" marL="0">
                        <a:buNone/>
                      </a:pPr>
                      <a:r>
                        <a:rPr lang="en-US" sz="1400" b="1" dirty="0">
                          <a:solidFill>
                            <a:srgbClr val="FFFFFF"/>
                          </a:solidFill>
                        </a:rPr>
                        <a:t>Yıllık fayda (milyon TL)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Düşük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Baz</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Yüksek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Kazanılan zaman</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26</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45</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112</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Yakıt tasarrufu</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Önlenen CO₂</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Toplam</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40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127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r>
            </a:tbl>
          </a:graphicData>
        </a:graphic>
      </p:graphicFrame>
      <p:sp>
        <p:nvSpPr>
          <p:cNvPr id="6" name="Kart"/>
          <p:cNvSpPr/>
          <p:nvPr/>
        </p:nvSpPr>
        <p:spPr>
          <a:xfrm>
            <a:off x="6583680" y="3749040"/>
            <a:ext cx="5059375" cy="2240280"/>
          </a:xfrm>
          <a:prstGeom prst="roundRect">
            <a:avLst>
              <a:gd name="adj" fmla="val 3265"/>
            </a:avLst>
          </a:prstGeom>
          <a:solidFill>
            <a:schemeClr val="bg1"/>
          </a:solidFill>
          <a:ln/>
          <a:effectLst>
            <a:outerShdw sx="100000" sy="100000" kx="0" ky="0" algn="bl" rotWithShape="0" blurRad="76200" dist="19050" dir="5400000">
              <a:srgbClr val="000000">
                <a:alpha val="12000"/>
              </a:srgbClr>
            </a:outerShdw>
          </a:effectLst>
        </p:spPr>
      </p:sp>
      <p:sp>
        <p:nvSpPr>
          <p:cNvPr id="7" name="Text 3"/>
          <p:cNvSpPr txBox="1"/>
          <p:nvPr/>
        </p:nvSpPr>
        <p:spPr>
          <a:xfrm>
            <a:off x="6812280" y="3886200"/>
            <a:ext cx="4602175" cy="201168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Asıl gerekçe stratejik</a:t>
            </a:r>
            <a:endParaRPr lang="en-US" sz="1400" dirty="0"/>
          </a:p>
          <a:p>
            <a:pPr indent="0" marL="0">
              <a:spcAft>
                <a:spcPts val="600"/>
              </a:spcAft>
              <a:buNone/>
            </a:pPr>
            <a:r>
              <a:rPr lang="en-US" sz="1400" dirty="0">
                <a:solidFill>
                  <a:schemeClr val="tx1"/>
                </a:solidFill>
              </a:rPr>
              <a:t>Ölçülen ulaşım faydası kamu payının %19–59'u kadar. Ölçülmeyenler: koridordaki diğer sürücülerin zamanı, kaza ve bakım, sağlık ve eğitime erişim, belediye gelirleri ve bir mühendisin ayrılmasının işverene maliyeti.</a:t>
            </a:r>
            <a:endParaRPr lang="en-US" sz="1400" dirty="0"/>
          </a:p>
          <a:p>
            <a:pPr indent="0" marL="0">
              <a:spcAft>
                <a:spcPts val="600"/>
              </a:spcAft>
              <a:buNone/>
            </a:pPr>
            <a:r>
              <a:rPr lang="en-US" sz="1400" b="1" dirty="0">
                <a:solidFill>
                  <a:schemeClr val="tx1"/>
                </a:solidFill>
              </a:rPr>
              <a:t>İnşaat döneminde yılda ~617 kişilik şantiye istihdamı (varsayım).</a:t>
            </a:r>
            <a:endParaRPr lang="en-US" sz="1400" dirty="0"/>
          </a:p>
        </p:txBody>
      </p:sp>
      <p:sp>
        <p:nvSpPr>
          <p:cNvPr id="8" name="Text 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220 iş günü; günde 20–50 dk kazanç; zaman değeri 200 TL/saat (yüksekte 350); otomobil payı %40'tan %25'e; araç başına 1,25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ETAPLAMA VE KARAR KAPILARI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Etaplama: hizmetler konutla aynı gün</a:t>
            </a:r>
            <a:endParaRPr lang="en-US" sz="3600" dirty="0"/>
          </a:p>
        </p:txBody>
      </p:sp>
      <p:sp>
        <p:nvSpPr>
          <p:cNvPr id="4" name="Karar kapısı"/>
          <p:cNvSpPr/>
          <p:nvPr/>
        </p:nvSpPr>
        <p:spPr>
          <a:xfrm>
            <a:off x="548640" y="1645920"/>
            <a:ext cx="457200" cy="457200"/>
          </a:xfrm>
          <a:prstGeom prst="diamond">
            <a:avLst/>
          </a:prstGeom>
          <a:solidFill>
            <a:schemeClr val="accent1"/>
          </a:solidFill>
          <a:ln/>
        </p:spPr>
      </p:sp>
      <p:sp>
        <p:nvSpPr>
          <p:cNvPr id="5" name="Text 3"/>
          <p:cNvSpPr txBox="1"/>
          <p:nvPr/>
        </p:nvSpPr>
        <p:spPr>
          <a:xfrm>
            <a:off x="1115568"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1</a:t>
            </a:r>
            <a:endParaRPr lang="en-US" sz="1400" dirty="0"/>
          </a:p>
          <a:p>
            <a:pPr indent="0" marL="0">
              <a:buNone/>
            </a:pPr>
            <a:r>
              <a:rPr lang="en-US" sz="1400" dirty="0">
                <a:solidFill>
                  <a:schemeClr val="tx1"/>
                </a:solidFill>
              </a:rPr>
              <a:t>Arazinin bu amaçla değerlendirilmesi</a:t>
            </a:r>
            <a:endParaRPr lang="en-US" sz="1400" dirty="0"/>
          </a:p>
        </p:txBody>
      </p:sp>
      <p:sp>
        <p:nvSpPr>
          <p:cNvPr id="6" name="Kart"/>
          <p:cNvSpPr/>
          <p:nvPr/>
        </p:nvSpPr>
        <p:spPr>
          <a:xfrm>
            <a:off x="548640"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7" name="Text 5"/>
          <p:cNvSpPr txBox="1"/>
          <p:nvPr/>
        </p:nvSpPr>
        <p:spPr>
          <a:xfrm>
            <a:off x="749808"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Hazırlık</a:t>
            </a:r>
            <a:endParaRPr lang="en-US" sz="2000" dirty="0"/>
          </a:p>
        </p:txBody>
      </p:sp>
      <p:sp>
        <p:nvSpPr>
          <p:cNvPr id="8" name="Text 6"/>
          <p:cNvSpPr txBox="1"/>
          <p:nvPr/>
        </p:nvSpPr>
        <p:spPr>
          <a:xfrm>
            <a:off x="749808"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süre teyit edilecek</a:t>
            </a:r>
            <a:endParaRPr lang="en-US" sz="1300" dirty="0"/>
          </a:p>
        </p:txBody>
      </p:sp>
      <p:sp>
        <p:nvSpPr>
          <p:cNvPr id="9" name="Text 7"/>
          <p:cNvSpPr txBox="1"/>
          <p:nvPr/>
        </p:nvSpPr>
        <p:spPr>
          <a:xfrm>
            <a:off x="749808"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Parsel, yamaç statüsü, zemin ve imar teyitleri</a:t>
            </a:r>
            <a:endParaRPr lang="en-US" sz="1400" dirty="0"/>
          </a:p>
          <a:p>
            <a:pPr marL="342900" indent="-342900">
              <a:spcAft>
                <a:spcPts val="600"/>
              </a:spcAft>
              <a:buSzPct val="100000"/>
              <a:buChar char="•"/>
            </a:pPr>
            <a:r>
              <a:rPr lang="en-US" sz="1400" dirty="0">
                <a:solidFill>
                  <a:schemeClr val="tx1"/>
                </a:solidFill>
              </a:rPr>
              <a:t>Sanayi çalışanlarına ön talep anketi</a:t>
            </a:r>
            <a:endParaRPr lang="en-US" sz="1400" dirty="0"/>
          </a:p>
          <a:p>
            <a:pPr marL="342900" indent="-342900">
              <a:spcAft>
                <a:spcPts val="600"/>
              </a:spcAft>
              <a:buSzPct val="100000"/>
              <a:buChar char="•"/>
            </a:pPr>
            <a:r>
              <a:rPr lang="en-US" sz="1400" dirty="0">
                <a:solidFill>
                  <a:schemeClr val="tx1"/>
                </a:solidFill>
              </a:rPr>
              <a:t>Master plan ve projeler</a:t>
            </a:r>
            <a:endParaRPr lang="en-US" sz="1400" dirty="0"/>
          </a:p>
        </p:txBody>
      </p:sp>
      <p:sp>
        <p:nvSpPr>
          <p:cNvPr id="10" name="Karar kapısı"/>
          <p:cNvSpPr/>
          <p:nvPr/>
        </p:nvSpPr>
        <p:spPr>
          <a:xfrm>
            <a:off x="3379394" y="1645920"/>
            <a:ext cx="457200" cy="457200"/>
          </a:xfrm>
          <a:prstGeom prst="diamond">
            <a:avLst/>
          </a:prstGeom>
          <a:solidFill>
            <a:schemeClr val="accent1"/>
          </a:solidFill>
          <a:ln/>
        </p:spPr>
      </p:sp>
      <p:sp>
        <p:nvSpPr>
          <p:cNvPr id="11" name="Text 9"/>
          <p:cNvSpPr txBox="1"/>
          <p:nvPr/>
        </p:nvSpPr>
        <p:spPr>
          <a:xfrm>
            <a:off x="3946322"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2</a:t>
            </a:r>
            <a:endParaRPr lang="en-US" sz="1400" dirty="0"/>
          </a:p>
          <a:p>
            <a:pPr indent="0" marL="0">
              <a:buNone/>
            </a:pPr>
            <a:r>
              <a:rPr lang="en-US" sz="1400" dirty="0">
                <a:solidFill>
                  <a:schemeClr val="tx1"/>
                </a:solidFill>
              </a:rPr>
              <a:t>Plan onayı ve talep sonucu</a:t>
            </a:r>
            <a:endParaRPr lang="en-US" sz="1400" dirty="0"/>
          </a:p>
        </p:txBody>
      </p:sp>
      <p:sp>
        <p:nvSpPr>
          <p:cNvPr id="12" name="Kart"/>
          <p:cNvSpPr/>
          <p:nvPr/>
        </p:nvSpPr>
        <p:spPr>
          <a:xfrm>
            <a:off x="3379394" y="2514600"/>
            <a:ext cx="2602154" cy="2788920"/>
          </a:xfrm>
          <a:prstGeom prst="roundRect">
            <a:avLst>
              <a:gd name="adj" fmla="val 2811"/>
            </a:avLst>
          </a:prstGeom>
          <a:solidFill>
            <a:schemeClr val="tx2"/>
          </a:solidFill>
          <a:ln/>
          <a:effectLst>
            <a:outerShdw sx="100000" sy="100000" kx="0" ky="0" algn="bl" rotWithShape="0" blurRad="76200" dist="19050" dir="5400000">
              <a:srgbClr val="000000">
                <a:alpha val="12000"/>
              </a:srgbClr>
            </a:outerShdw>
          </a:effectLst>
        </p:spPr>
      </p:sp>
      <p:sp>
        <p:nvSpPr>
          <p:cNvPr id="13" name="Text 11"/>
          <p:cNvSpPr txBox="1"/>
          <p:nvPr/>
        </p:nvSpPr>
        <p:spPr>
          <a:xfrm>
            <a:off x="3580562" y="2679192"/>
            <a:ext cx="2199818"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Aşama 0</a:t>
            </a:r>
            <a:endParaRPr lang="en-US" sz="2000" dirty="0"/>
          </a:p>
        </p:txBody>
      </p:sp>
      <p:sp>
        <p:nvSpPr>
          <p:cNvPr id="14" name="Text 12"/>
          <p:cNvSpPr txBox="1"/>
          <p:nvPr/>
        </p:nvSpPr>
        <p:spPr>
          <a:xfrm>
            <a:off x="3580562" y="3081528"/>
            <a:ext cx="2199818" cy="320040"/>
          </a:xfrm>
          <a:prstGeom prst="rect">
            <a:avLst/>
          </a:prstGeom>
          <a:noFill/>
          <a:ln/>
        </p:spPr>
        <p:txBody>
          <a:bodyPr wrap="square" lIns="0" tIns="0" rIns="0" bIns="0" rtlCol="0" anchor="t"/>
          <a:lstStyle/>
          <a:p>
            <a:pPr indent="0" marL="0">
              <a:buNone/>
            </a:pPr>
            <a:r>
              <a:rPr lang="en-US" sz="1300" b="1" dirty="0">
                <a:solidFill>
                  <a:schemeClr val="accent4"/>
                </a:solidFill>
              </a:rPr>
              <a:t>ilk konut teslimiyle aynı gün</a:t>
            </a:r>
            <a:endParaRPr lang="en-US" sz="1300" dirty="0"/>
          </a:p>
        </p:txBody>
      </p:sp>
      <p:sp>
        <p:nvSpPr>
          <p:cNvPr id="15" name="Text 13"/>
          <p:cNvSpPr txBox="1"/>
          <p:nvPr/>
        </p:nvSpPr>
        <p:spPr>
          <a:xfrm>
            <a:off x="3580562"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Ekspres, ring hat, ulaşım uygulaması</a:t>
            </a:r>
            <a:endParaRPr lang="en-US" sz="1400" dirty="0"/>
          </a:p>
          <a:p>
            <a:pPr marL="342900" indent="-342900">
              <a:spcAft>
                <a:spcPts val="600"/>
              </a:spcAft>
              <a:buSzPct val="100000"/>
              <a:buChar char="•"/>
            </a:pPr>
            <a:r>
              <a:rPr lang="en-US" sz="1400" dirty="0">
                <a:solidFill>
                  <a:schemeClr val="bg1"/>
                </a:solidFill>
              </a:rPr>
              <a:t>ASM ve 112; modüler kreş ve sınıflar</a:t>
            </a:r>
            <a:endParaRPr lang="en-US" sz="1400" dirty="0"/>
          </a:p>
          <a:p>
            <a:pPr marL="342900" indent="-342900">
              <a:spcAft>
                <a:spcPts val="600"/>
              </a:spcAft>
              <a:buSzPct val="100000"/>
              <a:buChar char="•"/>
            </a:pPr>
            <a:r>
              <a:rPr lang="en-US" sz="1400" dirty="0">
                <a:solidFill>
                  <a:schemeClr val="bg1"/>
                </a:solidFill>
              </a:rPr>
              <a:t>Meydan, pazar, gölün ilk etabı; fiber</a:t>
            </a:r>
            <a:endParaRPr lang="en-US" sz="1400" dirty="0"/>
          </a:p>
        </p:txBody>
      </p:sp>
      <p:sp>
        <p:nvSpPr>
          <p:cNvPr id="16" name="Karar kapısı"/>
          <p:cNvSpPr/>
          <p:nvPr/>
        </p:nvSpPr>
        <p:spPr>
          <a:xfrm>
            <a:off x="6210148" y="1645920"/>
            <a:ext cx="457200" cy="457200"/>
          </a:xfrm>
          <a:prstGeom prst="diamond">
            <a:avLst/>
          </a:prstGeom>
          <a:solidFill>
            <a:schemeClr val="accent1"/>
          </a:solidFill>
          <a:ln/>
        </p:spPr>
      </p:sp>
      <p:sp>
        <p:nvSpPr>
          <p:cNvPr id="17" name="Text 15"/>
          <p:cNvSpPr txBox="1"/>
          <p:nvPr/>
        </p:nvSpPr>
        <p:spPr>
          <a:xfrm>
            <a:off x="6777076"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3</a:t>
            </a:r>
            <a:endParaRPr lang="en-US" sz="1400" dirty="0"/>
          </a:p>
          <a:p>
            <a:pPr indent="0" marL="0">
              <a:buNone/>
            </a:pPr>
            <a:r>
              <a:rPr lang="en-US" sz="1400" dirty="0">
                <a:solidFill>
                  <a:schemeClr val="tx1"/>
                </a:solidFill>
              </a:rPr>
              <a:t>Yolcu talebi ve okul kaydı</a:t>
            </a:r>
            <a:endParaRPr lang="en-US" sz="1400" dirty="0"/>
          </a:p>
        </p:txBody>
      </p:sp>
      <p:sp>
        <p:nvSpPr>
          <p:cNvPr id="18" name="Kart"/>
          <p:cNvSpPr/>
          <p:nvPr/>
        </p:nvSpPr>
        <p:spPr>
          <a:xfrm>
            <a:off x="6210148"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19" name="Text 17"/>
          <p:cNvSpPr txBox="1"/>
          <p:nvPr/>
        </p:nvSpPr>
        <p:spPr>
          <a:xfrm>
            <a:off x="6411316"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1</a:t>
            </a:r>
            <a:endParaRPr lang="en-US" sz="2000" dirty="0"/>
          </a:p>
        </p:txBody>
      </p:sp>
      <p:sp>
        <p:nvSpPr>
          <p:cNvPr id="20" name="Text 18"/>
          <p:cNvSpPr txBox="1"/>
          <p:nvPr/>
        </p:nvSpPr>
        <p:spPr>
          <a:xfrm>
            <a:off x="6411316"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3–6 yıl</a:t>
            </a:r>
            <a:endParaRPr lang="en-US" sz="1300" dirty="0"/>
          </a:p>
        </p:txBody>
      </p:sp>
      <p:sp>
        <p:nvSpPr>
          <p:cNvPr id="21" name="Text 19"/>
          <p:cNvSpPr txBox="1"/>
          <p:nvPr/>
        </p:nvSpPr>
        <p:spPr>
          <a:xfrm>
            <a:off x="6411316"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Otobüs öncelikli koridor (BRT)</a:t>
            </a:r>
            <a:endParaRPr lang="en-US" sz="1400" dirty="0"/>
          </a:p>
          <a:p>
            <a:pPr marL="342900" indent="-342900">
              <a:spcAft>
                <a:spcPts val="600"/>
              </a:spcAft>
              <a:buSzPct val="100000"/>
              <a:buChar char="•"/>
            </a:pPr>
            <a:r>
              <a:rPr lang="en-US" sz="1400" dirty="0">
                <a:solidFill>
                  <a:schemeClr val="tx1"/>
                </a:solidFill>
              </a:rPr>
              <a:t>Okul kampüsleri tamamlanır</a:t>
            </a:r>
            <a:endParaRPr lang="en-US" sz="1400" dirty="0"/>
          </a:p>
          <a:p>
            <a:pPr marL="342900" indent="-342900">
              <a:spcAft>
                <a:spcPts val="600"/>
              </a:spcAft>
              <a:buSzPct val="100000"/>
              <a:buChar char="•"/>
            </a:pPr>
            <a:r>
              <a:rPr lang="en-US" sz="1400" dirty="0">
                <a:solidFill>
                  <a:schemeClr val="tx1"/>
                </a:solidFill>
              </a:rPr>
              <a:t>Kültür merkezi, göl çevresi, spor</a:t>
            </a:r>
            <a:endParaRPr lang="en-US" sz="1400" dirty="0"/>
          </a:p>
        </p:txBody>
      </p:sp>
      <p:sp>
        <p:nvSpPr>
          <p:cNvPr id="22" name="Karar kapısı"/>
          <p:cNvSpPr/>
          <p:nvPr/>
        </p:nvSpPr>
        <p:spPr>
          <a:xfrm>
            <a:off x="9040901" y="1645920"/>
            <a:ext cx="457200" cy="457200"/>
          </a:xfrm>
          <a:prstGeom prst="diamond">
            <a:avLst/>
          </a:prstGeom>
          <a:solidFill>
            <a:schemeClr val="accent1"/>
          </a:solidFill>
          <a:ln/>
        </p:spPr>
      </p:sp>
      <p:sp>
        <p:nvSpPr>
          <p:cNvPr id="23" name="Text 21"/>
          <p:cNvSpPr txBox="1"/>
          <p:nvPr/>
        </p:nvSpPr>
        <p:spPr>
          <a:xfrm>
            <a:off x="9607829"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4</a:t>
            </a:r>
            <a:endParaRPr lang="en-US" sz="1400" dirty="0"/>
          </a:p>
          <a:p>
            <a:pPr indent="0" marL="0">
              <a:buNone/>
            </a:pPr>
            <a:r>
              <a:rPr lang="en-US" sz="1400" dirty="0">
                <a:solidFill>
                  <a:schemeClr val="tx1"/>
                </a:solidFill>
              </a:rPr>
              <a:t>Saatte 4–5 bin yolcu</a:t>
            </a:r>
            <a:endParaRPr lang="en-US" sz="1400" dirty="0"/>
          </a:p>
        </p:txBody>
      </p:sp>
      <p:sp>
        <p:nvSpPr>
          <p:cNvPr id="24" name="Kart"/>
          <p:cNvSpPr/>
          <p:nvPr/>
        </p:nvSpPr>
        <p:spPr>
          <a:xfrm>
            <a:off x="9040901"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9242069"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2</a:t>
            </a:r>
            <a:endParaRPr lang="en-US" sz="2000" dirty="0"/>
          </a:p>
        </p:txBody>
      </p:sp>
      <p:sp>
        <p:nvSpPr>
          <p:cNvPr id="26" name="Text 24"/>
          <p:cNvSpPr txBox="1"/>
          <p:nvPr/>
        </p:nvSpPr>
        <p:spPr>
          <a:xfrm>
            <a:off x="9242069"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6–12 yıl</a:t>
            </a:r>
            <a:endParaRPr lang="en-US" sz="1300" dirty="0"/>
          </a:p>
        </p:txBody>
      </p:sp>
      <p:sp>
        <p:nvSpPr>
          <p:cNvPr id="27" name="Text 25"/>
          <p:cNvSpPr txBox="1"/>
          <p:nvPr/>
        </p:nvSpPr>
        <p:spPr>
          <a:xfrm>
            <a:off x="9242069"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Hafif raylı sisteme bağlantı</a:t>
            </a:r>
            <a:endParaRPr lang="en-US" sz="1400" dirty="0"/>
          </a:p>
          <a:p>
            <a:pPr marL="342900" indent="-342900">
              <a:spcAft>
                <a:spcPts val="600"/>
              </a:spcAft>
              <a:buSzPct val="100000"/>
              <a:buChar char="•"/>
            </a:pPr>
            <a:r>
              <a:rPr lang="en-US" sz="1400" dirty="0">
                <a:solidFill>
                  <a:schemeClr val="tx1"/>
                </a:solidFill>
              </a:rPr>
              <a:t>MYO ile ortak programlar</a:t>
            </a:r>
            <a:endParaRPr lang="en-US" sz="1400" dirty="0"/>
          </a:p>
          <a:p>
            <a:pPr marL="342900" indent="-342900">
              <a:spcAft>
                <a:spcPts val="600"/>
              </a:spcAft>
              <a:buSzPct val="100000"/>
              <a:buChar char="•"/>
            </a:pPr>
            <a:r>
              <a:rPr lang="en-US" sz="1400" dirty="0">
                <a:solidFill>
                  <a:schemeClr val="tx1"/>
                </a:solidFill>
              </a:rPr>
              <a:t>Kalan konut etapları</a:t>
            </a:r>
            <a:endParaRPr lang="en-US" sz="1400" dirty="0"/>
          </a:p>
        </p:txBody>
      </p:sp>
      <p:sp>
        <p:nvSpPr>
          <p:cNvPr id="28" name="Kart"/>
          <p:cNvSpPr/>
          <p:nvPr/>
        </p:nvSpPr>
        <p:spPr>
          <a:xfrm>
            <a:off x="548640" y="5486400"/>
            <a:ext cx="11094415" cy="548640"/>
          </a:xfrm>
          <a:prstGeom prst="roundRect">
            <a:avLst>
              <a:gd name="adj" fmla="val 13333"/>
            </a:avLst>
          </a:prstGeom>
          <a:solidFill>
            <a:schemeClr val="bg1"/>
          </a:solidFill>
          <a:ln w="12700">
            <a:solidFill>
              <a:srgbClr val="DDD8CC"/>
            </a:solidFill>
            <a:prstDash val="solid"/>
          </a:ln>
        </p:spPr>
      </p:sp>
      <p:sp>
        <p:nvSpPr>
          <p:cNvPr id="29" name="Text 27"/>
          <p:cNvSpPr txBox="1"/>
          <p:nvPr/>
        </p:nvSpPr>
        <p:spPr>
          <a:xfrm>
            <a:off x="777240" y="5486400"/>
            <a:ext cx="10637215" cy="548640"/>
          </a:xfrm>
          <a:prstGeom prst="rect">
            <a:avLst/>
          </a:prstGeom>
          <a:noFill/>
          <a:ln/>
        </p:spPr>
        <p:txBody>
          <a:bodyPr wrap="square" lIns="0" tIns="0" rIns="0" bIns="0" rtlCol="0" anchor="ctr"/>
          <a:lstStyle/>
          <a:p>
            <a:pPr indent="0" marL="0">
              <a:buNone/>
            </a:pPr>
            <a:r>
              <a:rPr lang="en-US" sz="1400" b="1" dirty="0">
                <a:solidFill>
                  <a:schemeClr val="accent1"/>
                </a:solidFill>
              </a:rPr>
              <a:t>Etap ilkesi: </a:t>
            </a:r>
            <a:pPr indent="0" marL="0">
              <a:buNone/>
            </a:pPr>
            <a:r>
              <a:rPr lang="en-US" sz="1400" dirty="0">
                <a:solidFill>
                  <a:schemeClr val="tx1"/>
                </a:solidFill>
              </a:rPr>
              <a:t>her konut etabı kendi okul, sağlık ve ulaşım hizmetiyle açılır; etap büyüklüğünü ön talep anketi belirler.</a:t>
            </a:r>
            <a:endParaRPr lang="en-US" sz="1400" dirty="0"/>
          </a:p>
        </p:txBody>
      </p:sp>
      <p:sp>
        <p:nvSpPr>
          <p:cNvPr id="30" name="Text 2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Süreler arazinin tahsisinden ve ilk konut tesliminden sayılır; hedef yıl belirlenince takvim yıllara çevrilecek.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REFERANSLAR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Referanslarımız: bölgede yaptıklarımız</a:t>
            </a:r>
            <a:endParaRPr lang="en-US" sz="3600" dirty="0"/>
          </a:p>
        </p:txBody>
      </p:sp>
      <p:sp>
        <p:nvSpPr>
          <p:cNvPr id="4" name="Kart"/>
          <p:cNvSpPr/>
          <p:nvPr/>
        </p:nvSpPr>
        <p:spPr>
          <a:xfrm>
            <a:off x="548640" y="1600200"/>
            <a:ext cx="5943600" cy="3429000"/>
          </a:xfrm>
          <a:prstGeom prst="roundRect">
            <a:avLst>
              <a:gd name="adj" fmla="val 2133"/>
            </a:avLst>
          </a:prstGeom>
          <a:solidFill>
            <a:schemeClr val="bg1"/>
          </a:solidFill>
          <a:ln/>
          <a:effectLst>
            <a:outerShdw sx="100000" sy="100000" kx="0" ky="0" algn="bl" rotWithShape="0" blurRad="76200" dist="19050" dir="5400000">
              <a:srgbClr val="000000">
                <a:alpha val="12000"/>
              </a:srgbClr>
            </a:outerShdw>
          </a:effectLst>
        </p:spPr>
      </p:sp>
      <p:pic>
        <p:nvPicPr>
          <p:cNvPr id="5" name="TAI Ankara Lodgings vaziyet perspektifi" descr="/home/user/sunum/araclar/sunum/assets/ref_tai_ankara.jpg">    </p:cNvPr>
          <p:cNvPicPr>
            <a:picLocks noChangeAspect="1"/>
          </p:cNvPicPr>
          <p:nvPr/>
        </p:nvPicPr>
        <p:blipFill>
          <a:blip r:embed="rId1"/>
          <a:stretch>
            <a:fillRect/>
          </a:stretch>
        </p:blipFill>
        <p:spPr>
          <a:xfrm>
            <a:off x="548640" y="1600200"/>
            <a:ext cx="5943600" cy="2366083"/>
          </a:xfrm>
          <a:prstGeom prst="rect">
            <a:avLst/>
          </a:prstGeom>
        </p:spPr>
      </p:pic>
      <p:sp>
        <p:nvSpPr>
          <p:cNvPr id="6" name="Text 3"/>
          <p:cNvSpPr txBox="1"/>
          <p:nvPr/>
        </p:nvSpPr>
        <p:spPr>
          <a:xfrm>
            <a:off x="777240" y="4103443"/>
            <a:ext cx="5486400" cy="347472"/>
          </a:xfrm>
          <a:prstGeom prst="rect">
            <a:avLst/>
          </a:prstGeom>
          <a:noFill/>
          <a:ln/>
        </p:spPr>
        <p:txBody>
          <a:bodyPr wrap="square" lIns="0" tIns="0" rIns="0" bIns="0" rtlCol="0" anchor="ctr"/>
          <a:lstStyle/>
          <a:p>
            <a:pPr indent="0" marL="0">
              <a:buNone/>
            </a:pPr>
            <a:r>
              <a:rPr lang="en-US" sz="1800" b="1" dirty="0">
                <a:solidFill>
                  <a:schemeClr val="tx2"/>
                </a:solidFill>
              </a:rPr>
              <a:t>TAI Ankara Lodgings  </a:t>
            </a:r>
            <a:pPr indent="0" marL="0">
              <a:buNone/>
            </a:pPr>
            <a:r>
              <a:rPr lang="en-US" sz="1300" b="1" dirty="0">
                <a:solidFill>
                  <a:schemeClr val="accent1"/>
                </a:solidFill>
              </a:rPr>
              <a:t>Kahramankazan · 2022 · 400.000 m² · 1.500 konut</a:t>
            </a:r>
            <a:endParaRPr lang="en-US" sz="1400" dirty="0"/>
          </a:p>
        </p:txBody>
      </p:sp>
      <p:sp>
        <p:nvSpPr>
          <p:cNvPr id="7" name="Text 4"/>
          <p:cNvSpPr txBox="1"/>
          <p:nvPr/>
        </p:nvSpPr>
        <p:spPr>
          <a:xfrm>
            <a:off x="777240" y="4487491"/>
            <a:ext cx="5486400" cy="566928"/>
          </a:xfrm>
          <a:prstGeom prst="rect">
            <a:avLst/>
          </a:prstGeom>
          <a:noFill/>
          <a:ln/>
        </p:spPr>
        <p:txBody>
          <a:bodyPr wrap="square" lIns="0" tIns="0" rIns="0" bIns="0" rtlCol="0" anchor="t"/>
          <a:lstStyle/>
          <a:p>
            <a:pPr indent="0" marL="0">
              <a:buNone/>
            </a:pPr>
            <a:r>
              <a:rPr lang="en-US" sz="1400" dirty="0">
                <a:solidFill>
                  <a:schemeClr val="tx1"/>
                </a:solidFill>
              </a:rPr>
              <a:t>Savunma sanayi çalışanları için yeni konut mahallesi: yeşil omurga; okul, sağlık ocağı, kütüphane ve spor yürüme mesafesinde.</a:t>
            </a:r>
            <a:endParaRPr lang="en-US" sz="1400" dirty="0"/>
          </a:p>
        </p:txBody>
      </p:sp>
      <p:sp>
        <p:nvSpPr>
          <p:cNvPr id="8" name="Kart"/>
          <p:cNvSpPr/>
          <p:nvPr/>
        </p:nvSpPr>
        <p:spPr>
          <a:xfrm>
            <a:off x="548640" y="5212080"/>
            <a:ext cx="5943600" cy="777240"/>
          </a:xfrm>
          <a:prstGeom prst="roundRect">
            <a:avLst>
              <a:gd name="adj" fmla="val 9412"/>
            </a:avLst>
          </a:prstGeom>
          <a:solidFill>
            <a:schemeClr val="bg1"/>
          </a:solidFill>
          <a:ln/>
          <a:effectLst>
            <a:outerShdw sx="100000" sy="100000" kx="0" ky="0" algn="bl" rotWithShape="0" blurRad="76200" dist="19050" dir="5400000">
              <a:srgbClr val="000000">
                <a:alpha val="12000"/>
              </a:srgbClr>
            </a:outerShdw>
          </a:effectLst>
        </p:spPr>
      </p:sp>
      <p:sp>
        <p:nvSpPr>
          <p:cNvPr id="9" name="İkon zemini"/>
          <p:cNvSpPr/>
          <p:nvPr/>
        </p:nvSpPr>
        <p:spPr>
          <a:xfrm>
            <a:off x="731520" y="5330952"/>
            <a:ext cx="548640" cy="548640"/>
          </a:xfrm>
          <a:prstGeom prst="ellipse">
            <a:avLst/>
          </a:prstGeom>
          <a:solidFill>
            <a:schemeClr val="accent1"/>
          </a:solidFill>
          <a:ln/>
        </p:spPr>
      </p:sp>
      <p:pic>
        <p:nvPicPr>
          <p:cNvPr id="10" name="İkon FaIndustry" descr="preencoded.png">    </p:cNvPr>
          <p:cNvPicPr>
            <a:picLocks noChangeAspect="1"/>
          </p:cNvPicPr>
          <p:nvPr/>
        </p:nvPicPr>
        <p:blipFill>
          <a:blip r:embed="rId2"/>
          <a:stretch>
            <a:fillRect/>
          </a:stretch>
        </p:blipFill>
        <p:spPr>
          <a:xfrm>
            <a:off x="863194" y="5462626"/>
            <a:ext cx="285293" cy="285293"/>
          </a:xfrm>
          <a:prstGeom prst="rect">
            <a:avLst/>
          </a:prstGeom>
        </p:spPr>
      </p:pic>
      <p:sp>
        <p:nvSpPr>
          <p:cNvPr id="11" name="Text 7"/>
          <p:cNvSpPr txBox="1"/>
          <p:nvPr/>
        </p:nvSpPr>
        <p:spPr>
          <a:xfrm>
            <a:off x="1417320" y="5285232"/>
            <a:ext cx="4892040" cy="658368"/>
          </a:xfrm>
          <a:prstGeom prst="rect">
            <a:avLst/>
          </a:prstGeom>
          <a:noFill/>
          <a:ln/>
        </p:spPr>
        <p:txBody>
          <a:bodyPr wrap="square" lIns="0" tIns="0" rIns="0" bIns="0" rtlCol="0" anchor="ctr"/>
          <a:lstStyle/>
          <a:p>
            <a:pPr indent="0" marL="0">
              <a:buNone/>
            </a:pPr>
            <a:r>
              <a:rPr lang="en-US" sz="1500" b="1" dirty="0">
                <a:solidFill>
                  <a:schemeClr val="tx2"/>
                </a:solidFill>
              </a:rPr>
              <a:t>TAI Kahramanmaraş Lodgings and Factory</a:t>
            </a:r>
            <a:endParaRPr lang="en-US" sz="1400" dirty="0"/>
          </a:p>
          <a:p>
            <a:pPr indent="0" marL="0">
              <a:buNone/>
            </a:pPr>
            <a:r>
              <a:rPr lang="en-US" sz="1300" dirty="0">
                <a:solidFill>
                  <a:schemeClr val="tx1"/>
                </a:solidFill>
              </a:rPr>
              <a:t>Lojmanlar ve fabrika: çalışan konutu ile üretim tesisini birlikte ele aldık.</a:t>
            </a:r>
            <a:endParaRPr lang="en-US" sz="1400" dirty="0"/>
          </a:p>
        </p:txBody>
      </p:sp>
      <p:pic>
        <p:nvPicPr>
          <p:cNvPr id="12" name="Kahramankazan Kentsel Dönüşüm" descr="/home/user/sunum/araclar/sunum/assets/ref_kentsel_donusum.jpg">    </p:cNvPr>
          <p:cNvPicPr>
            <a:picLocks noChangeAspect="1"/>
          </p:cNvPicPr>
          <p:nvPr/>
        </p:nvPicPr>
        <p:blipFill>
          <a:blip r:embed="rId3"/>
          <a:stretch>
            <a:fillRect/>
          </a:stretch>
        </p:blipFill>
        <p:spPr>
          <a:xfrm>
            <a:off x="6812280" y="1600200"/>
            <a:ext cx="2323948" cy="1206619"/>
          </a:xfrm>
          <a:prstGeom prst="rect">
            <a:avLst/>
          </a:prstGeom>
        </p:spPr>
      </p:pic>
      <p:pic>
        <p:nvPicPr>
          <p:cNvPr id="13" name="Kahramankazan Kent Merkezi" descr="/home/user/sunum/araclar/sunum/assets/ref_kent_merkezi.jpg">    </p:cNvPr>
          <p:cNvPicPr>
            <a:picLocks noChangeAspect="1"/>
          </p:cNvPicPr>
          <p:nvPr/>
        </p:nvPicPr>
        <p:blipFill>
          <a:blip r:embed="rId4"/>
          <a:stretch>
            <a:fillRect/>
          </a:stretch>
        </p:blipFill>
        <p:spPr>
          <a:xfrm>
            <a:off x="9319108" y="1600200"/>
            <a:ext cx="2323948" cy="1206619"/>
          </a:xfrm>
          <a:prstGeom prst="rect">
            <a:avLst/>
          </a:prstGeom>
        </p:spPr>
      </p:pic>
      <p:sp>
        <p:nvSpPr>
          <p:cNvPr id="14" name="Text 8"/>
          <p:cNvSpPr txBox="1"/>
          <p:nvPr/>
        </p:nvSpPr>
        <p:spPr>
          <a:xfrm>
            <a:off x="6812280"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Kentsel Dönüşüm</a:t>
            </a:r>
            <a:endParaRPr lang="en-US" sz="1100" dirty="0"/>
          </a:p>
        </p:txBody>
      </p:sp>
      <p:sp>
        <p:nvSpPr>
          <p:cNvPr id="15" name="Text 9"/>
          <p:cNvSpPr txBox="1"/>
          <p:nvPr/>
        </p:nvSpPr>
        <p:spPr>
          <a:xfrm>
            <a:off x="9319108"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 Merkezi</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12280" y="3218299"/>
          <a:ext cx="4830775" cy="914400"/>
        </p:xfrm>
        <a:graphic>
          <a:graphicData uri="http://schemas.openxmlformats.org/drawingml/2006/table">
            <a:tbl>
              <a:tblPr/>
              <a:tblGrid>
                <a:gridCol w="2240280"/>
                <a:gridCol w="502920"/>
                <a:gridCol w="987552"/>
                <a:gridCol w="1100023"/>
              </a:tblGrid>
              <a:tr h="384048">
                <a:tc>
                  <a:txBody>
                    <a:bodyPr/>
                    <a:lstStyle/>
                    <a:p>
                      <a:pPr algn="l" indent="0" marL="0">
                        <a:buNone/>
                      </a:pPr>
                      <a:r>
                        <a:rPr lang="en-US" sz="1300" b="1" dirty="0">
                          <a:solidFill>
                            <a:srgbClr val="FFFFFF"/>
                          </a:solidFill>
                        </a:rPr>
                        <a:t>Proje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Yıl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Alan (m²)</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l" indent="0" marL="0">
                        <a:buNone/>
                      </a:pPr>
                      <a:r>
                        <a:rPr lang="en-US" sz="1300" b="1" dirty="0">
                          <a:solidFill>
                            <a:srgbClr val="FFFFFF"/>
                          </a:solidFill>
                        </a:rPr>
                        <a:t>Rol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algn="l" indent="0" marL="0">
                        <a:buNone/>
                      </a:pPr>
                      <a:r>
                        <a:rPr lang="en-US" sz="1300" dirty="0">
                          <a:solidFill>
                            <a:srgbClr val="1B2430"/>
                          </a:solidFill>
                        </a:rPr>
                        <a:t>Kahramankazan Kentsel Dönüşüm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523.000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Kahramankazan Kent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412.175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Serapınar Termal Yaşam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3.000.000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GIA Büyük Sanayi Alanı, Niğde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2024</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29.000.000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7" name="Text 10"/>
          <p:cNvSpPr txBox="1"/>
          <p:nvPr/>
        </p:nvSpPr>
        <p:spPr>
          <a:xfrm>
            <a:off x="6812280" y="5513832"/>
            <a:ext cx="4830775" cy="502920"/>
          </a:xfrm>
          <a:prstGeom prst="rect">
            <a:avLst/>
          </a:prstGeom>
          <a:noFill/>
          <a:ln/>
        </p:spPr>
        <p:txBody>
          <a:bodyPr wrap="square" lIns="0" tIns="0" rIns="0" bIns="0" rtlCol="0" anchor="t"/>
          <a:lstStyle/>
          <a:p>
            <a:pPr indent="0" marL="0">
              <a:buNone/>
            </a:pPr>
            <a:r>
              <a:rPr lang="en-US" sz="1300" b="1" dirty="0">
                <a:solidFill>
                  <a:schemeClr val="tx2"/>
                </a:solidFill>
              </a:rPr>
              <a:t>Savunma sanayinde ayrıca: </a:t>
            </a:r>
            <a:pPr indent="0" marL="0">
              <a:buNone/>
            </a:pPr>
            <a:r>
              <a:rPr lang="en-US" sz="1300" dirty="0">
                <a:solidFill>
                  <a:schemeClr val="tx1"/>
                </a:solidFill>
              </a:rPr>
              <a:t>MKE Teknopark ve Genel Müdürlük Binası (2020), TR Motor ofis ve fabrika binaları (2023).</a:t>
            </a:r>
            <a:endParaRPr lang="en-US" sz="13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ve görseller: Belen &amp; Partners kurumsal portföyü (Ağustos 2025). Roller portföydeki gibidir.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RİSKLER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Riskler ve azaltma önlemleri</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429000"/>
                <a:gridCol w="3108960"/>
                <a:gridCol w="4556455"/>
              </a:tblGrid>
              <a:tr h="475488">
                <a:tc>
                  <a:txBody>
                    <a:bodyPr/>
                    <a:lstStyle/>
                    <a:p>
                      <a:pPr indent="0" marL="0">
                        <a:buNone/>
                      </a:pPr>
                      <a:r>
                        <a:rPr lang="en-US" sz="1400" b="1" dirty="0">
                          <a:solidFill>
                            <a:srgbClr val="FFFFFF"/>
                          </a:solidFill>
                        </a:rPr>
                        <a:t>Risk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Etkisi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Önlem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75488">
                <a:tc>
                  <a:txBody>
                    <a:bodyPr/>
                    <a:lstStyle/>
                    <a:p>
                      <a:pPr indent="0" marL="0">
                        <a:buNone/>
                      </a:pPr>
                      <a:r>
                        <a:rPr lang="en-US" sz="1400" b="1" dirty="0">
                          <a:solidFill>
                            <a:srgbClr val="1B2430"/>
                          </a:solidFill>
                        </a:rPr>
                        <a:t>Yamaçların orman ya da ağaçlandırma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Yapılaşabilir alan küçülür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sunumdan önce teyit; program yamaçları zaten koruyor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Zemin: jips, marn, şişen kil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 artar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Jeoteknik etüt; yapılar platolarda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Kuraklık ve su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Göl dolumu ve peyzaj sulaması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Yağmur suyu ve arıtılmış atıksu; şebeke yalnızca acil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Uçuş ve test gürültüsü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Alıcı algısı, okul ve sağlık konforu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 gerekirse hassas yapılar uzakta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Hizmetlerin geç gelmesi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"Yatak odası kent" (Sejong, Songdo)</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Aşama 0: hizmetler konutla aynı gün; modüler yapılar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Talep belirsizliği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Etap büyüklüğü şaşar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çalışanlarına ön talep anketi; etaplı gelişme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Plan ve imar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Takvim uzar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ve üst ölçek plan kararı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Maliyet artışı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Yatırım tutarı yükselir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Yüksek senaryo 15,9 milyar TL; yıllık güncelleme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Ayrıntılı risk tablosu ve teyit listesi raporda yer alır.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KARAR</a:t>
            </a: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lIns="0" tIns="0" rIns="0" bIns="0" rtlCol="0" anchor="t"/>
          <a:lstStyle/>
          <a:p>
            <a:pPr algn="l" indent="0" marL="0">
              <a:buNone/>
            </a:pPr>
            <a:r>
              <a:rPr lang="en-US" sz="3600" b="1" dirty="0">
                <a:solidFill>
                  <a:schemeClr val="bg1"/>
                </a:solidFill>
              </a:rPr>
              <a:t>Karar talebi ve sonraki adımlar</a:t>
            </a:r>
            <a:endParaRPr lang="en-US" sz="3600" dirty="0"/>
          </a:p>
        </p:txBody>
      </p:sp>
      <p:pic>
        <p:nvPicPr>
          <p:cNvPr id="4" name="Plato tarlaları" descr="/home/user/sunum/araclar/sunum/assets/karar.jpg">    </p:cNvPr>
          <p:cNvPicPr>
            <a:picLocks noChangeAspect="1"/>
          </p:cNvPicPr>
          <p:nvPr/>
        </p:nvPicPr>
        <p:blipFill>
          <a:blip r:embed="rId1"/>
          <a:stretch>
            <a:fillRect/>
          </a:stretch>
        </p:blipFill>
        <p:spPr>
          <a:xfrm>
            <a:off x="8031175" y="0"/>
            <a:ext cx="4160520" cy="6858000"/>
          </a:xfrm>
          <a:prstGeom prst="rect">
            <a:avLst/>
          </a:prstGeom>
        </p:spPr>
      </p:pic>
      <p:sp>
        <p:nvSpPr>
          <p:cNvPr id="5" name="Karar kutusu"/>
          <p:cNvSpPr/>
          <p:nvPr/>
        </p:nvSpPr>
        <p:spPr>
          <a:xfrm>
            <a:off x="548640" y="1600200"/>
            <a:ext cx="7071055" cy="1600200"/>
          </a:xfrm>
          <a:prstGeom prst="roundRect">
            <a:avLst>
              <a:gd name="adj" fmla="val 4571"/>
            </a:avLst>
          </a:prstGeom>
          <a:solidFill>
            <a:schemeClr val="bg1">
              <a:alpha val="12000"/>
            </a:schemeClr>
          </a:solidFill>
          <a:ln w="19050">
            <a:solidFill>
              <a:schemeClr val="accent4"/>
            </a:solidFill>
            <a:prstDash val="solid"/>
          </a:ln>
        </p:spPr>
      </p:sp>
      <p:sp>
        <p:nvSpPr>
          <p:cNvPr id="6" name="Text 3"/>
          <p:cNvSpPr txBox="1"/>
          <p:nvPr/>
        </p:nvSpPr>
        <p:spPr>
          <a:xfrm>
            <a:off x="822960" y="1764792"/>
            <a:ext cx="6522415" cy="1325880"/>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Talep</a:t>
            </a:r>
            <a:endParaRPr lang="en-US" sz="1400" dirty="0"/>
          </a:p>
          <a:p>
            <a:pPr indent="0" marL="0">
              <a:spcAft>
                <a:spcPts val="400"/>
              </a:spcAft>
              <a:buNone/>
            </a:pPr>
            <a:r>
              <a:rPr lang="en-US" sz="1800" dirty="0">
                <a:solidFill>
                  <a:schemeClr val="bg1"/>
                </a:solidFill>
                <a:latin typeface="Cambria" pitchFamily="34" charset="0"/>
                <a:ea typeface="Cambria" pitchFamily="34" charset="-122"/>
                <a:cs typeface="Cambria" pitchFamily="34" charset="-120"/>
              </a:rPr>
              <a:t>Sarıayak'taki 511.000 m²'lik Hazine arazisinin savunma ve havacılık sanayi çalışanlarına yönelik bir yaşam alanı, Kahramankazan Uydukent, olarak değerlendirilmesi.</a:t>
            </a:r>
            <a:endParaRPr lang="en-US" sz="1400" dirty="0"/>
          </a:p>
        </p:txBody>
      </p:sp>
      <p:sp>
        <p:nvSpPr>
          <p:cNvPr id="7" name="Adım numarası"/>
          <p:cNvSpPr/>
          <p:nvPr/>
        </p:nvSpPr>
        <p:spPr>
          <a:xfrm>
            <a:off x="548640" y="3429000"/>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8" name="Text 5"/>
          <p:cNvSpPr txBox="1"/>
          <p:nvPr/>
        </p:nvSpPr>
        <p:spPr>
          <a:xfrm>
            <a:off x="1143000" y="3410712"/>
            <a:ext cx="6476695" cy="457200"/>
          </a:xfrm>
          <a:prstGeom prst="rect">
            <a:avLst/>
          </a:prstGeom>
          <a:noFill/>
          <a:ln/>
        </p:spPr>
        <p:txBody>
          <a:bodyPr wrap="square" lIns="0" tIns="0" rIns="0" bIns="0" rtlCol="0" anchor="ctr"/>
          <a:lstStyle/>
          <a:p>
            <a:pPr indent="0" marL="0">
              <a:buNone/>
            </a:pPr>
            <a:r>
              <a:rPr lang="en-US" sz="1600" dirty="0">
                <a:solidFill>
                  <a:schemeClr val="bg1"/>
                </a:solidFill>
              </a:rPr>
              <a:t>Sarıayak parselinin bilgisi ve sayısal halihazır harita</a:t>
            </a:r>
            <a:endParaRPr lang="en-US" sz="1600" dirty="0"/>
          </a:p>
        </p:txBody>
      </p:sp>
      <p:sp>
        <p:nvSpPr>
          <p:cNvPr id="9" name="Adım numarası"/>
          <p:cNvSpPr/>
          <p:nvPr/>
        </p:nvSpPr>
        <p:spPr>
          <a:xfrm>
            <a:off x="548640" y="4005072"/>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10" name="Text 7"/>
          <p:cNvSpPr txBox="1"/>
          <p:nvPr/>
        </p:nvSpPr>
        <p:spPr>
          <a:xfrm>
            <a:off x="1143000" y="3986784"/>
            <a:ext cx="6476695" cy="457200"/>
          </a:xfrm>
          <a:prstGeom prst="rect">
            <a:avLst/>
          </a:prstGeom>
          <a:noFill/>
          <a:ln/>
        </p:spPr>
        <p:txBody>
          <a:bodyPr wrap="square" lIns="0" tIns="0" rIns="0" bIns="0" rtlCol="0" anchor="ctr"/>
          <a:lstStyle/>
          <a:p>
            <a:pPr indent="0" marL="0">
              <a:buNone/>
            </a:pPr>
            <a:r>
              <a:rPr lang="en-US" sz="1600" dirty="0">
                <a:solidFill>
                  <a:schemeClr val="bg1"/>
                </a:solidFill>
              </a:rPr>
              <a:t>Yamaçların hukuki statüsü (6831) ve zemin etüdü</a:t>
            </a:r>
            <a:endParaRPr lang="en-US" sz="1600" dirty="0"/>
          </a:p>
        </p:txBody>
      </p:sp>
      <p:sp>
        <p:nvSpPr>
          <p:cNvPr id="11" name="Adım numarası"/>
          <p:cNvSpPr/>
          <p:nvPr/>
        </p:nvSpPr>
        <p:spPr>
          <a:xfrm>
            <a:off x="548640" y="4581144"/>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12" name="Text 9"/>
          <p:cNvSpPr txBox="1"/>
          <p:nvPr/>
        </p:nvSpPr>
        <p:spPr>
          <a:xfrm>
            <a:off x="1143000" y="4562856"/>
            <a:ext cx="6476695" cy="457200"/>
          </a:xfrm>
          <a:prstGeom prst="rect">
            <a:avLst/>
          </a:prstGeom>
          <a:noFill/>
          <a:ln/>
        </p:spPr>
        <p:txBody>
          <a:bodyPr wrap="square" lIns="0" tIns="0" rIns="0" bIns="0" rtlCol="0" anchor="ctr"/>
          <a:lstStyle/>
          <a:p>
            <a:pPr indent="0" marL="0">
              <a:buNone/>
            </a:pPr>
            <a:r>
              <a:rPr lang="en-US" sz="1600" dirty="0">
                <a:solidFill>
                  <a:schemeClr val="bg1"/>
                </a:solidFill>
              </a:rPr>
              <a:t>İmar durumu; ASKİ, Başkent EDAŞ, Başkentgaz görüşleri</a:t>
            </a:r>
            <a:endParaRPr lang="en-US" sz="1600" dirty="0"/>
          </a:p>
        </p:txBody>
      </p:sp>
      <p:sp>
        <p:nvSpPr>
          <p:cNvPr id="13" name="Adım numarası"/>
          <p:cNvSpPr/>
          <p:nvPr/>
        </p:nvSpPr>
        <p:spPr>
          <a:xfrm>
            <a:off x="548640" y="5157216"/>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4</a:t>
            </a:r>
            <a:endParaRPr lang="en-US" sz="1500" dirty="0"/>
          </a:p>
        </p:txBody>
      </p:sp>
      <p:sp>
        <p:nvSpPr>
          <p:cNvPr id="14" name="Text 11"/>
          <p:cNvSpPr txBox="1"/>
          <p:nvPr/>
        </p:nvSpPr>
        <p:spPr>
          <a:xfrm>
            <a:off x="1143000" y="5138928"/>
            <a:ext cx="6476695" cy="457200"/>
          </a:xfrm>
          <a:prstGeom prst="rect">
            <a:avLst/>
          </a:prstGeom>
          <a:noFill/>
          <a:ln/>
        </p:spPr>
        <p:txBody>
          <a:bodyPr wrap="square" lIns="0" tIns="0" rIns="0" bIns="0" rtlCol="0" anchor="ctr"/>
          <a:lstStyle/>
          <a:p>
            <a:pPr indent="0" marL="0">
              <a:buNone/>
            </a:pPr>
            <a:r>
              <a:rPr lang="en-US" sz="1600" dirty="0">
                <a:solidFill>
                  <a:schemeClr val="bg1"/>
                </a:solidFill>
              </a:rPr>
              <a:t>Savunma sanayi çalışanlarına ön talep anketi</a:t>
            </a:r>
            <a:endParaRPr lang="en-US" sz="1600" dirty="0"/>
          </a:p>
        </p:txBody>
      </p:sp>
      <p:sp>
        <p:nvSpPr>
          <p:cNvPr id="15" name="Adım numarası"/>
          <p:cNvSpPr/>
          <p:nvPr/>
        </p:nvSpPr>
        <p:spPr>
          <a:xfrm>
            <a:off x="548640" y="5733288"/>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5</a:t>
            </a:r>
            <a:endParaRPr lang="en-US" sz="1500" dirty="0"/>
          </a:p>
        </p:txBody>
      </p:sp>
      <p:sp>
        <p:nvSpPr>
          <p:cNvPr id="16" name="Text 13"/>
          <p:cNvSpPr txBox="1"/>
          <p:nvPr/>
        </p:nvSpPr>
        <p:spPr>
          <a:xfrm>
            <a:off x="1143000" y="5715000"/>
            <a:ext cx="6476695" cy="457200"/>
          </a:xfrm>
          <a:prstGeom prst="rect">
            <a:avLst/>
          </a:prstGeom>
          <a:noFill/>
          <a:ln/>
        </p:spPr>
        <p:txBody>
          <a:bodyPr wrap="square" lIns="0" tIns="0" rIns="0" bIns="0" rtlCol="0" anchor="ctr"/>
          <a:lstStyle/>
          <a:p>
            <a:pPr indent="0" marL="0">
              <a:buNone/>
            </a:pPr>
            <a:r>
              <a:rPr lang="en-US" sz="1600" dirty="0">
                <a:solidFill>
                  <a:schemeClr val="bg1"/>
                </a:solidFill>
              </a:rPr>
              <a:t>SSB, sanayi kuruluşları, ABB, Kahramankazan Belediyesi, MEB ve Sağlık Bakanlığı ile çalışma grubu</a:t>
            </a:r>
            <a:endParaRPr lang="en-US" sz="1600" dirty="0"/>
          </a:p>
        </p:txBody>
      </p:sp>
    </p:spTree>
  </p:cSld>
  <p:clrMapOvr>
    <a:masterClrMapping/>
  </p:clrMapOvr>
</p:sld>
</file>

<file path=ppt/theme/theme1.xml><?xml version="1.0" encoding="utf-8"?>
<a:theme xmlns:a="http://schemas.openxmlformats.org/drawingml/2006/main" name="Uydukent">
  <a:themeElements>
    <a:clrScheme name="Uydukent">
      <a:dk1>
        <a:srgbClr val="1B2430"/>
      </a:dk1>
      <a:lt1>
        <a:srgbClr val="FFFFFF"/>
      </a:lt1>
      <a:dk2>
        <a:srgbClr val="0B2E4F"/>
      </a:dk2>
      <a:lt2>
        <a:srgbClr val="F6F4EE"/>
      </a:lt2>
      <a:accent1>
        <a:srgbClr val="9A5418"/>
      </a:accent1>
      <a:accent2>
        <a:srgbClr val="3E7CB1"/>
      </a:accent2>
      <a:accent3>
        <a:srgbClr val="6B8F5E"/>
      </a:accent3>
      <a:accent4>
        <a:srgbClr val="D9A441"/>
      </a:accent4>
      <a:accent5>
        <a:srgbClr val="5E6875"/>
      </a:accent5>
      <a:accent6>
        <a:srgbClr val="B5453A"/>
      </a:accent6>
      <a:hlink>
        <a:srgbClr val="3E7CB1"/>
      </a:hlink>
      <a:folHlink>
        <a:srgbClr val="6B5B95"/>
      </a:folHlink>
    </a:clrScheme>
    <a:fontScheme name="Uyduk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Belen &amp;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Kahramankazan Uydukent fizibilitesi</dc:title>
  <dc:subject>Savunma ve havacılık sanayi çalışanları için akıllı bir yaşam alanı</dc:subject>
  <dc:creator>Belen &amp; Partners</dc:creator>
  <cp:lastModifiedBy>Belen &amp; Partners</cp:lastModifiedBy>
  <cp:revision>1</cp:revision>
  <dcterms:created xsi:type="dcterms:W3CDTF">2026-10-23T13:10:59Z</dcterms:created>
  <dcterms:modified xsi:type="dcterms:W3CDTF">2026-10-23T13:10:59Z</dcterms:modified>
</cp:coreProperties>
</file>