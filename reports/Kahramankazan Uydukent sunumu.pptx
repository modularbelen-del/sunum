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3.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charts/chart4.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charts/chart5.xml" ContentType="application/vnd.openxmlformats-officedocument.drawingml.chart+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iriş" id="{0251de38-6a63-2d53-9bc2-d169437a12fc}">
          <p14:sldIdLst>
            <p14:sldId id="256"/>
            <p14:sldId id="257"/>
            <p14:sldId id="258"/>
            <p14:sldId id="259"/>
            <p14:sldId id="260"/>
            <p14:sldId id="261"/>
          </p14:sldIdLst>
        </p14:section>
        <p14:section name="Yer ve saha" id="{3d3e0e8d-fbbc-f62e-a046-94420784f516}">
          <p14:sldIdLst>
            <p14:sldId id="262"/>
            <p14:sldId id="263"/>
            <p14:sldId id="264"/>
            <p14:sldId id="265"/>
            <p14:sldId id="266"/>
            <p14:sldId id="267"/>
            <p14:sldId id="268"/>
            <p14:sldId id="269"/>
            <p14:sldId id="270"/>
            <p14:sldId id="271"/>
            <p14:sldId id="272"/>
            <p14:sldId id="273"/>
            <p14:sldId id="274"/>
            <p14:sldId id="275"/>
          </p14:sldIdLst>
        </p14:section>
        <p14:section name="Dünyadan uygulamalar" id="{c804b76d-11cf-43b2-f0a9-7b151ce2c512}">
          <p14:sldIdLst>
            <p14:sldId id="276"/>
            <p14:sldId id="277"/>
            <p14:sldId id="278"/>
            <p14:sldId id="279"/>
            <p14:sldId id="280"/>
            <p14:sldId id="281"/>
            <p14:sldId id="282"/>
          </p14:sldIdLst>
        </p14:section>
        <p14:section name="Yaşam alanı" id="{af5a5b0c-d3f5-f6ba-d8ea-1b9a4cfa05ea}">
          <p14:sldIdLst>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Lst>
        </p14:section>
        <p14:section name="Yatırım ve fayda" id="{4fa6bbd0-b7fd-1b30-9f53-7d339826eda1}">
          <p14:sldIdLst>
            <p14:sldId id="311"/>
            <p14:sldId id="312"/>
            <p14:sldId id="313"/>
            <p14:sldId id="314"/>
            <p14:sldId id="315"/>
            <p14:sldId id="316"/>
            <p14:sldId id="317"/>
          </p14:sldIdLst>
        </p14:section>
        <p14:section name="Uygulama" id="{898e4bc5-e2f6-4b0d-d21e-e9498f42daa4}">
          <p14:sldIdLst>
            <p14:sldId id="318"/>
            <p14:sldId id="319"/>
            <p14:sldId id="320"/>
            <p14:sldId id="321"/>
            <p14:sldId id="32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Savunma sanayii istihdamı (bin kişi)</a:t>
            </a:r>
          </a:p>
        </c:rich>
      </c:tx>
      <c:layout/>
      <c:overlay val="0"/>
    </c:title>
    <c:autoTitleDeleted val="0"/>
    <c:plotArea>
      <c:layout/>
      <c:barChart>
        <c:barDir val="col"/>
        <c:grouping val="clustered"/>
        <c:varyColors val="0"/>
        <c:ser>
          <c:idx val="0"/>
          <c:order val="0"/>
          <c:tx>
            <c:strRef>
              <c:f>Sheet1!$B$1</c:f>
              <c:strCache>
                <c:ptCount val="1"/>
                <c:pt idx="0">
                  <c:v>Savunma sanayii istihdamı</c:v>
                </c:pt>
              </c:strCache>
            </c:strRef>
          </c:tx>
          <c:spPr>
            <a:solidFill>
              <a:srgbClr val="0B2E4F"/>
            </a:solidFill>
            <a:effectLst/>
          </c:spPr>
          <c:invertIfNegative val="0"/>
          <c:dLbls>
            <c:numFmt formatCode="General" sourceLinked="0"/>
            <c:txPr>
              <a:bodyPr/>
              <a:lstStyle/>
              <a:p>
                <a:pPr>
                  <a:defRPr b="0" i="0" strike="noStrike" sz="18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2022</c:v>
                  </c:pt>
                  <c:pt idx="1">
                    <c:v>2028 hedefi</c:v>
                  </c:pt>
                </c:lvl>
              </c:multiLvlStrCache>
            </c:multiLvlStrRef>
          </c:cat>
          <c:val>
            <c:numRef>
              <c:f>Sheet1!$B$2:$B$3</c:f>
              <c:numCache>
                <c:formatCode>General</c:formatCode>
                <c:ptCount val="2"/>
                <c:pt idx="0">
                  <c:v>81.1</c:v>
                </c:pt>
                <c:pt idx="1">
                  <c:v>158</c:v>
                </c:pt>
              </c:numCache>
            </c:numRef>
          </c:val>
        </c:ser>
        <c:dLbls>
          <c:numFmt formatCode="General" sourceLinked="0"/>
          <c:txPr>
            <a:bodyPr/>
            <a:lstStyle/>
            <a:p>
              <a:pPr>
                <a:defRPr b="0" i="0" strike="noStrike" sz="1800" u="none">
                  <a:solidFill>
                    <a:srgbClr val="1B2430"/>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80"/>
          <c:min val="0"/>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5E68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Arazi kullanımı (ha; toplam 51,1)</a:t>
            </a:r>
          </a:p>
        </c:rich>
      </c:tx>
      <c:layout/>
      <c:overlay val="0"/>
    </c:title>
    <c:autoTitleDeleted val="0"/>
    <c:plotArea>
      <c:layout/>
      <c:barChart>
        <c:barDir val="bar"/>
        <c:grouping val="clustered"/>
        <c:varyColors val="0"/>
        <c:ser>
          <c:idx val="0"/>
          <c:order val="0"/>
          <c:tx>
            <c:strRef>
              <c:f>Sheet1!$B$1</c:f>
              <c:strCache>
                <c:ptCount val="1"/>
                <c:pt idx="0">
                  <c:v>Alan (ha)</c:v>
                </c:pt>
              </c:strCache>
            </c:strRef>
          </c:tx>
          <c:spPr>
            <a:solidFill>
              <a:srgbClr val="6B8F5E"/>
            </a:solidFill>
            <a:effectLst/>
          </c:spPr>
          <c:invertIfNegative val="0"/>
          <c:dLbls>
            <c:numFmt formatCode="0.0"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cat>
            <c:multiLvlStrRef>
              <c:f>Sheet1!$A$2:$A$9</c:f>
              <c:multiLvlStrCache>
                <c:ptCount val="8"/>
                <c:lvl>
                  <c:pt idx="0">
                    <c:v>Konut adaları (net)</c:v>
                  </c:pt>
                  <c:pt idx="1">
                    <c:v>Yollar, otopark, aktarma</c:v>
                  </c:pt>
                  <c:pt idx="2">
                    <c:v>Korunan yamaç ve yarıntılar</c:v>
                  </c:pt>
                  <c:pt idx="3">
                    <c:v>Yapay göl ve göl parkı</c:v>
                  </c:pt>
                  <c:pt idx="4">
                    <c:v>Eğitim</c:v>
                  </c:pt>
                  <c:pt idx="5">
                    <c:v>Sağlık, sosyal, ibadet, teknik</c:v>
                  </c:pt>
                  <c:pt idx="6">
                    <c:v>Spor ve mahalle parkları</c:v>
                  </c:pt>
                  <c:pt idx="7">
                    <c:v>Mahalle merkezi ve ticaret</c:v>
                  </c:pt>
                </c:lvl>
              </c:multiLvlStrCache>
            </c:multiLvlStrRef>
          </c:cat>
          <c:val>
            <c:numRef>
              <c:f>Sheet1!$B$2:$B$9</c:f>
              <c:numCache>
                <c:formatCode>General</c:formatCode>
                <c:ptCount val="8"/>
                <c:pt idx="0">
                  <c:v>13.1</c:v>
                </c:pt>
                <c:pt idx="1">
                  <c:v>10.2</c:v>
                </c:pt>
                <c:pt idx="2">
                  <c:v>10</c:v>
                </c:pt>
                <c:pt idx="3">
                  <c:v>6</c:v>
                </c:pt>
                <c:pt idx="4">
                  <c:v>4.9</c:v>
                </c:pt>
                <c:pt idx="5">
                  <c:v>3.2</c:v>
                </c:pt>
                <c:pt idx="6">
                  <c:v>2.5</c:v>
                </c:pt>
                <c:pt idx="7">
                  <c:v>1.2</c:v>
                </c:pt>
              </c:numCache>
            </c:numRef>
          </c:val>
        </c:ser>
        <c:dLbls>
          <c:numFmt formatCode="0.0"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5"/>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5E68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Kademelere göre öğrenci</a:t>
            </a:r>
          </a:p>
        </c:rich>
      </c:tx>
      <c:layout/>
      <c:overlay val="0"/>
    </c:title>
    <c:autoTitleDeleted val="0"/>
    <c:plotArea>
      <c:layout/>
      <c:barChart>
        <c:barDir val="col"/>
        <c:grouping val="clustered"/>
        <c:varyColors val="0"/>
        <c:ser>
          <c:idx val="0"/>
          <c:order val="0"/>
          <c:tx>
            <c:strRef>
              <c:f>Sheet1!$B$1</c:f>
              <c:strCache>
                <c:ptCount val="1"/>
                <c:pt idx="0">
                  <c:v>Öğrenci</c:v>
                </c:pt>
              </c:strCache>
            </c:strRef>
          </c:tx>
          <c:spPr>
            <a:solidFill>
              <a:srgbClr val="3E7CB1"/>
            </a:solidFill>
            <a:effectLst/>
          </c:spPr>
          <c:invertIfNegative val="0"/>
          <c:dLbls>
            <c:numFmt formatCode="General"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Kreş ve anaokulu</c:v>
                  </c:pt>
                  <c:pt idx="1">
                    <c:v>İlkokul</c:v>
                  </c:pt>
                  <c:pt idx="2">
                    <c:v>Ortaokul</c:v>
                  </c:pt>
                  <c:pt idx="3">
                    <c:v>Lise</c:v>
                  </c:pt>
                </c:lvl>
              </c:multiLvlStrCache>
            </c:multiLvlStrRef>
          </c:cat>
          <c:val>
            <c:numRef>
              <c:f>Sheet1!$B$2:$B$5</c:f>
              <c:numCache>
                <c:formatCode>General</c:formatCode>
                <c:ptCount val="4"/>
                <c:pt idx="0">
                  <c:v>338</c:v>
                </c:pt>
                <c:pt idx="1">
                  <c:v>450</c:v>
                </c:pt>
                <c:pt idx="2">
                  <c:v>412</c:v>
                </c:pt>
                <c:pt idx="3">
                  <c:v>338</c:v>
                </c:pt>
              </c:numCache>
            </c:numRef>
          </c:val>
        </c:ser>
        <c:dLbls>
          <c:numFmt formatCode="General"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520"/>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5E68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Baz senaryo, milyar TL</a:t>
            </a:r>
          </a:p>
        </c:rich>
      </c:tx>
      <c:layout/>
      <c:overlay val="0"/>
    </c:title>
    <c:autoTitleDeleted val="0"/>
    <c:plotArea>
      <c:layout/>
      <c:barChart>
        <c:barDir val="bar"/>
        <c:grouping val="clustered"/>
        <c:varyColors val="0"/>
        <c:ser>
          <c:idx val="0"/>
          <c:order val="0"/>
          <c:tx>
            <c:strRef>
              <c:f>Sheet1!$B$1</c:f>
              <c:strCache>
                <c:ptCount val="1"/>
                <c:pt idx="0">
                  <c:v>Baz senaryo (milyar TL)</c:v>
                </c:pt>
              </c:strCache>
            </c:strRef>
          </c:tx>
          <c:spPr>
            <a:solidFill>
              <a:srgbClr val="0B2E4F"/>
            </a:solidFill>
            <a:effectLst/>
          </c:spPr>
          <c:invertIfNegative val="0"/>
          <c:dLbls>
            <c:numFmt formatCode="0.0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0B2E4F"/>
              </a:solidFill>
              <a:effectLst/>
            </c:spPr>
          </c:dPt>
          <c:dPt>
            <c:idx val="1"/>
            <c:invertIfNegative val="0"/>
            <c:bubble3D val="0"/>
            <c:spPr>
              <a:solidFill>
                <a:srgbClr val="9A5418"/>
              </a:solidFill>
              <a:effectLst/>
            </c:spPr>
          </c:dPt>
          <c:dPt>
            <c:idx val="2"/>
            <c:invertIfNegative val="0"/>
            <c:bubble3D val="0"/>
            <c:spPr>
              <a:solidFill>
                <a:srgbClr val="5E6875"/>
              </a:solidFill>
              <a:effectLst/>
            </c:spPr>
          </c:dPt>
          <c:dPt>
            <c:idx val="3"/>
            <c:invertIfNegative val="0"/>
            <c:bubble3D val="0"/>
            <c:spPr>
              <a:solidFill>
                <a:srgbClr val="9A5418"/>
              </a:solidFill>
              <a:effectLst/>
            </c:spPr>
          </c:dPt>
          <c:dPt>
            <c:idx val="4"/>
            <c:invertIfNegative val="0"/>
            <c:bubble3D val="0"/>
            <c:spPr>
              <a:solidFill>
                <a:srgbClr val="0B2E4F"/>
              </a:solidFill>
              <a:effectLst/>
            </c:spPr>
          </c:dPt>
          <c:dPt>
            <c:idx val="5"/>
            <c:invertIfNegative val="0"/>
            <c:bubble3D val="0"/>
            <c:spPr>
              <a:solidFill>
                <a:srgbClr val="9A5418"/>
              </a:solidFill>
              <a:effectLst/>
            </c:spPr>
          </c:dPt>
          <c:dPt>
            <c:idx val="6"/>
            <c:invertIfNegative val="0"/>
            <c:bubble3D val="0"/>
            <c:spPr>
              <a:solidFill>
                <a:srgbClr val="9A5418"/>
              </a:solidFill>
              <a:effectLst/>
            </c:spPr>
          </c:dPt>
          <c:dPt>
            <c:idx val="7"/>
            <c:invertIfNegative val="0"/>
            <c:bubble3D val="0"/>
            <c:spPr>
              <a:solidFill>
                <a:srgbClr val="9A5418"/>
              </a:solidFill>
              <a:effectLst/>
            </c:spPr>
          </c:dPt>
          <c:dPt>
            <c:idx val="8"/>
            <c:invertIfNegative val="0"/>
            <c:bubble3D val="0"/>
            <c:spPr>
              <a:solidFill>
                <a:srgbClr val="0B2E4F"/>
              </a:solidFill>
              <a:effectLst/>
            </c:spPr>
          </c:dPt>
          <c:dPt>
            <c:idx val="9"/>
            <c:invertIfNegative val="0"/>
            <c:bubble3D val="0"/>
            <c:spPr>
              <a:solidFill>
                <a:srgbClr val="9A5418"/>
              </a:solidFill>
              <a:effectLst/>
            </c:spPr>
          </c:dPt>
          <c:cat>
            <c:multiLvlStrRef>
              <c:f>Sheet1!$A$2:$A$11</c:f>
              <c:multiLvlStrCache>
                <c:ptCount val="10"/>
                <c:lvl>
                  <c:pt idx="0">
                    <c:v>Konutlar</c:v>
                  </c:pt>
                  <c:pt idx="1">
                    <c:v>Kentsel altyapı</c:v>
                  </c:pt>
                  <c:pt idx="2">
                    <c:v>Proje, etüt, beklenmeyen (%10)</c:v>
                  </c:pt>
                  <c:pt idx="3">
                    <c:v>Ekspres hat ve aktarma</c:v>
                  </c:pt>
                  <c:pt idx="4">
                    <c:v>Mahalle merkezi ve ticaret</c:v>
                  </c:pt>
                  <c:pt idx="5">
                    <c:v>Göl, parklar, yamaç parkurları</c:v>
                  </c:pt>
                  <c:pt idx="6">
                    <c:v>Kültür, spor, sağlık</c:v>
                  </c:pt>
                  <c:pt idx="7">
                    <c:v>Devlet okul kampüsü</c:v>
                  </c:pt>
                  <c:pt idx="8">
                    <c:v>Özel okul kampüsü</c:v>
                  </c:pt>
                  <c:pt idx="9">
                    <c:v>Akıllı şehir sistemleri</c:v>
                  </c:pt>
                </c:lvl>
              </c:multiLvlStrCache>
            </c:multiLvlStrRef>
          </c:cat>
          <c:val>
            <c:numRef>
              <c:f>Sheet1!$B$2:$B$11</c:f>
              <c:numCache>
                <c:formatCode>General</c:formatCode>
                <c:ptCount val="10"/>
                <c:pt idx="0">
                  <c:v>7.94</c:v>
                </c:pt>
                <c:pt idx="1">
                  <c:v>1.59</c:v>
                </c:pt>
                <c:pt idx="2">
                  <c:v>1.14</c:v>
                </c:pt>
                <c:pt idx="3">
                  <c:v>0.48</c:v>
                </c:pt>
                <c:pt idx="4">
                  <c:v>0.32</c:v>
                </c:pt>
                <c:pt idx="5">
                  <c:v>0.3</c:v>
                </c:pt>
                <c:pt idx="6">
                  <c:v>0.28</c:v>
                </c:pt>
                <c:pt idx="7">
                  <c:v>0.2</c:v>
                </c:pt>
                <c:pt idx="8">
                  <c:v>0.16</c:v>
                </c:pt>
                <c:pt idx="9">
                  <c:v>0.15</c:v>
                </c:pt>
              </c:numCache>
            </c:numRef>
          </c:val>
        </c:ser>
        <c:dLbls>
          <c:numFmt formatCode="0.0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9.2"/>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5E68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Milyar TL (reel %5 indirim)</a:t>
            </a:r>
          </a:p>
        </c:rich>
      </c:tx>
      <c:layout/>
      <c:overlay val="0"/>
    </c:title>
    <c:autoTitleDeleted val="0"/>
    <c:plotArea>
      <c:layout/>
      <c:barChart>
        <c:barDir val="col"/>
        <c:grouping val="clustered"/>
        <c:varyColors val="0"/>
        <c:ser>
          <c:idx val="0"/>
          <c:order val="0"/>
          <c:tx>
            <c:strRef>
              <c:f>Sheet1!$B$1</c:f>
              <c:strCache>
                <c:ptCount val="1"/>
                <c:pt idx="0">
                  <c:v>Ulaşım faydası, 30 yıllık bugünkü değer</c:v>
                </c:pt>
              </c:strCache>
            </c:strRef>
          </c:tx>
          <c:spPr>
            <a:solidFill>
              <a:srgbClr val="6B8F5E"/>
            </a:solidFill>
            <a:effectLst/>
          </c:spPr>
          <c:invertIfNegative val="0"/>
          <c:dLbls>
            <c:numFmt formatCode="0.00"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Düşük</c:v>
                  </c:pt>
                  <c:pt idx="1">
                    <c:v>Baz</c:v>
                  </c:pt>
                  <c:pt idx="2">
                    <c:v>Yüksek</c:v>
                  </c:pt>
                </c:lvl>
              </c:multiLvlStrCache>
            </c:multiLvlStrRef>
          </c:cat>
          <c:val>
            <c:numRef>
              <c:f>Sheet1!$B$2:$B$4</c:f>
              <c:numCache>
                <c:formatCode>General</c:formatCode>
                <c:ptCount val="3"/>
                <c:pt idx="0">
                  <c:v>0.62</c:v>
                </c:pt>
                <c:pt idx="1">
                  <c:v>0.92</c:v>
                </c:pt>
                <c:pt idx="2">
                  <c:v>1.95</c:v>
                </c:pt>
              </c:numCache>
            </c:numRef>
          </c:val>
        </c:ser>
        <c:ser>
          <c:idx val="1"/>
          <c:order val="1"/>
          <c:tx>
            <c:strRef>
              <c:f>Sheet1!$C$1</c:f>
              <c:strCache>
                <c:ptCount val="1"/>
                <c:pt idx="0">
                  <c:v>Kamu ve ortak kullanım payı</c:v>
                </c:pt>
              </c:strCache>
            </c:strRef>
          </c:tx>
          <c:spPr>
            <a:solidFill>
              <a:srgbClr val="9A5418"/>
            </a:solidFill>
            <a:effectLst/>
          </c:spPr>
          <c:invertIfNegative val="0"/>
          <c:dLbls>
            <c:numFmt formatCode="0.00"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Düşük</c:v>
                  </c:pt>
                  <c:pt idx="1">
                    <c:v>Baz</c:v>
                  </c:pt>
                  <c:pt idx="2">
                    <c:v>Yüksek</c:v>
                  </c:pt>
                </c:lvl>
              </c:multiLvlStrCache>
            </c:multiLvlStrRef>
          </c:cat>
          <c:val>
            <c:numRef>
              <c:f>Sheet1!$C$2:$C$4</c:f>
              <c:numCache>
                <c:formatCode>General</c:formatCode>
                <c:ptCount val="3"/>
                <c:pt idx="0">
                  <c:v>2.54</c:v>
                </c:pt>
                <c:pt idx="1">
                  <c:v>3.29</c:v>
                </c:pt>
                <c:pt idx="2">
                  <c:v>4.11</c:v>
                </c:pt>
              </c:numCache>
            </c:numRef>
          </c:val>
        </c:ser>
        <c:dLbls>
          <c:numFmt formatCode="0.00"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4.8"/>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5E687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B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Belen &amp; Partners tarafından hazırlanan Kahramankazan Uydukent fizibilite çalışması sunulmaktadır. Çalışma, Kahramankazan Sarıayak'taki 511 bin metrekarelik Hazine arazisinin savunma ve havacılık sanayi çalışanlarına yönelik bir yaşam alanı olarak değerlendirilmesini konu almaktadır. Kapak görseli bölgeden alınmış drone çekimidir (22 Eylül 2026). Bazı rakamlar ilgili kurumlardan teyit edilecektir.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Önerinin özü, Hazine arazisinde eğitim, sağlık ve sosyal donatılarıyla bütünleşik, herkese açık bir yaşam alanı kurulmasıdır. Arazi Hazine mülkiyetinde olup satın alınması öngörülmemektedir; değerlendirme kararı Cumhurbaşkanlığının takdirindedir. Önerilen senaryo 2.500 konut ve yaklaşık 7.500 kişidir. Toplam yatırım baz senaryoda yaklaşık 12,5 milyar TL, aralık 9,9–15,9 milyar TL'dir. Sanayi bölgelerine 35 dakikanın altında ulaşım hedefi Uydukent Ekspres ile sağlanacaktır.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Kalkınma Planı, savunma sanayii istihdamının 2022–2028 döneminde yaklaşık iki katına çıkarılmasını hedeflemektedir. Bu büyümenin gerektirdiği nitelikli personelin bölgede yaşayabileceği konut, eğitim ve sosyal altyapı bir ön koşuldur. SSB Stratejik Planı, deneyimli personelin ayrılmasını resmi bir tehdit olarak tanımlamaktadır. Ana firmanın çalışan sayısı kaynaklara göre 13 ile 17 bin arasında değişmekte olup güncel resmi rakam teyit edilecektir.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Uydukent, Kahramankazan için öngörülen 2030 savunma sanayii ekosisteminin yaşam alanı bileşenidir. Ekosistem; ilçe merkezinin kentsel dönüşümü, Kışla'daki HAB uzay gelişim alanı, Kınık özel endüstri sanayi alanı, Soğucak'taki tropik yaşam ve sağlık merkezi ile bunları bağlayan hafif raylı sistemden oluşmaktadır. Ekosistemin tamamı 35,6 milyon metrekare olup diğer projelerle birlikte 100–200 bin kişilik kapasite öngörülmektedir. Uydukent'in kendi programı 51,1 hektar, 2.500 konut ve yaklaşık 7.500 kişidir.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Sektör istihdamının 2022'deki 81,1 bin kişiden 2028'de 158,0 bin kişiye çıkarılması hedeflenmektedir. Kahramankazan'daki kümenin ana firması 2023–2024 beyanlarına göre 13–17 bin kişi istihdam etmekte, bitişikteki HAB OSB için 15 bin kişilik istihdam öngörülmektedir. HAB OSB'nin güncel doluluk ve fiili istihdam verileri bulunamamış olup ilgili kurumlardan teyit edilecektir.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Kahramankazan'ın nüfusu 2023'te 60.804, 2024'te 62.060, 2025'te 63.143 kişidir. Uydukent'in öngörülen yaklaşık 7.500 kişilik nüfusu ilçe nüfusunun önemli bir bölümüne karşılık geldiğinden MPYY nüfus kademesinin ilçe projeksiyonuyla teyidi gerekmektedir. Sarıayak, 2022 verisine göre 58 kişilik küçük bir kırsal mahalledir.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Uydukent, Kahramankazan merkezine 8, Kınık sanayi alanına 11 kilometre uzaklıktadır; HAB ve Kışla bölgesine Kınık üzerinden yaklaşık 19 kilometredir. Uydukent sanayi bölgelerine en yakın nokta değildir; Eryaman ve Yenikent daha yakındır. Uydukent'in katkısı, işe yolculuğun Ankara'nın en yoğun sabah koridoru olan Batıkent–Susuz kesiminden ilçe içindeki ekspres hatta aktarılmasıdır. Mesafeler proje ekibinin bölge görselinden alınmış olup yol mesafesi mi kuş uçuşu mu olduğu teyit edilecektir.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Uydukent üç seçenekle karşılaştırılmıştır: mevcut durumun sürdürülmesi, HAB'a bitişik bir saha ve Yenikent. Uydukent'in güçlü yönleri tek malikli kamu arazisi olması, kamulaştırma gerektirmemesi, askeri yasak bölgenin dışında kalmasının beklenmesi ve stratejik tesisin büyüme alanını korumasıdır. Sanayi bölgelerine uzaklık ve raylı sistemin henüz bulunmaması orta düzeyde değerlendirilmiş olup ekspres hat ve planlanan hafif raylı sistemle telafi edilmesi öngörülmektedir. HAB'a bitişik saha ve Yenikent için arazi mülkiyeti araştırılmamıştır.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Drone görüntüleri Sarıayak bölgesinin arazi yapısını göstermektedir. Tepe üstündeki tarla platoları yapılaşmaya uygun bölümlerdir. Yamaçlarda erozyon yarıntıları ve eşyükselti teraslarına dikilmiş çam ağaçlandırması bulunmaktadır; bu alanların hukuki statüsü teyit edilecektir. Vadilerdeki mevcut köy yerleşimiyle bütünleşik bir tasarım öngörülmektedir. Platolardan ovaya açılan manzara önemli bir değerdir.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kritik teyit kalemi, yamaçlardaki teraslı ağaçlandırmanın 6831 sayılı Kanun kapsamındaki statüsüdür; bu alanlar programda zaten korunan yamaç olarak ayrılmıştır. Zemin koşulları jeoteknik etütle belirlenecektir. Ankara'nın üst ölçekli planı iptal edildiğinden imar durumunun kurumlardan yazılı olarak alınması gerekmektedir. Uydukent'in HAB ve Kışla bölgesine yaklaşık 19 kilometre uzaklığı, askeri yasak bölgenin dışında kalmasını olası kılmaktadır; pist ekseni ve gürültü ilişkisi parsel koordinatıyla yeniden hesaplanacaktır.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Ankara'nın üst ölçekli çevre düzeni planı 2020'de iptal edilmiş, 2050 hedefli yeni plan ise henüz onaylanmamıştır. Bu nedenle parselin plan statüsünün ilgili kurumlardan yazılı olarak teyit edilmesi gerekmektedir. Arazinin tarım nitelikli olması hâlinde 5403 sayılı Kanun kapsamında tarım dışı kullanım görüşü gerekebilecektir; parselin arazi kullanım kabiliyeti sınıfı bulunamamıştır.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Akademik bir olasılıksal çalışma Kazan için 0,30–0,35 g, Çankaya, Sincan ve Yenimahalle için 0,20–0,25 g bandı vermektedir; çalışmadaki Kazan'ın Kahramankazan olduğu teyit edilecektir. Drone görüntülerindeki açık renkli yamaçlar jipsli veya marnlı birimlere benzemekte olup bu husus bir hipotezdir. Tasarım değerleri AFAD parsel sorgusu ve jeoteknik etüt ile belirlenecektir.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İlçede iç Anadolu iklimi hâkim olup yazlar sıcak ve kurak, kışlar soğuktur. Göl su bilançosu için kritik olan buharlaşma ve hâkim rüzgâr verileri bulunamamış olup MGM'den talep edilecektir. Gürültü konusunda kamuya açık tek bilgi ses üstü test uçuşu bildirimleridir; bu nedenle konut cephelerinde akustik önlem alınması önerilmektedir.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Mevzuatta yapılaşabilir azami eğime ilişkin tek bir hüküm bulunamamış olup tablodaki eşikler yaygın uygulama bilgisidir ve teyit edilecektir. Drone görüntüleri sahanın düz olmadığını, tarla platoları, dik yamaçlar ve derin yarıntılardan oluştuğunu göstermektedir. Kesin yapılaşabilir alan, sayısal halihazır harita ve eğim analiziyle belirlenecektir.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Yamaçlardaki teraslı ağaçlandırmanın hukuki statüsü, yapılaşabilir alanı doğrudan etkilediği için fizibilitenin en kritik teyit kalemidir. Alan programında arazinin yaklaşık %20'si, yani 10 hektar, korunan yamaç ve yarıntı olarak ayrılmıştır. Ağaçlandırılmış kısmın net yapılaşma alanından çıkarılması ve gerektiğinde yeniden ağaçlandırma bedelinin fizibiliteye eklenmesi öngörülmektedir. Kayıtlar Orman İşletme Müdürlüğü ve Milli Emlak'tan parsel bazında teyit edilecektir.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Bölgeye özgü altyapı kapasitesi verisi bulunamadığından ASKİ, Başkent EDAŞ ve Başkentgaz'dan resmi kapasite görüşü alınması gerekmektedir. Ankara genelinde atıksu arıtma kapasitesi sınırda olup arıtılmış suyun yeniden kullanımı ASKİ'nin hedefleri arasında yer almaktadır. Sahadaki enerji nakil hattının güzergâhı hem yerleşim düzenini hem de okul yer seçimini etkileyebilecektir.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Drone çekimi 22 Eylül 2026 sabahı yapılmış ve videodan beş saniyede bir kare alınmıştır. Parsel sınırı elde bulunmadığından tespitler görüntülenen bölge için geçerlidir. Platolar yerleşime, yamaç ve yarıntılar ise yeşil kuşak, yürüyüş parkuru ve seyir noktalarına ayrılmaktadır; platolardan ovaya açılan geniş manzara konut adalarının yönlendirilmesinde değerlendirilecektir.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 beş üst ölçekli politika belgesiyle doğrudan uyumludur. En güçlü bağ, 12. Kalkınma Planı'nın savunma sanayii istihdam hedefi ile SSB Stratejik Planı'nın insan kaynağı tespitidir. Yerleşim ile toplu taşımanın birlikte planlanması, akıllı ve yeşil yerleşim ve sıfır atık ilkeleri de plan maddeleri arasındadır. Akıllı şehirler stratejisindeki ilgili eylem numarası teyit edilecektir.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 On İkinci Kalkınma Planı'nın yedi ayrı hükmüyle doğrudan ilişkilendirilebilmektedir. En güçlü dayanaklar, nitelikli insan kaynağına ilişkin 520.3 numaralı tedbir ile sanayi yatırım yerlerinin yaşam alanlarına erişilebilirlik gözetilerek geliştirilmesini öngören 430. maddedir. Planda savunma çalışanlarına konut sağlanmasına ilişkin ayrı bir madde bulunmamakta olup uyum dolaylı ancak güçlü biçimde kurulmaktadır.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2026 Yıllık Programı, savunma sanayiinde insan kaynağına yönelik çok sayıda alt tedbir ve 2026 yılı için 119,8 bin kişilik istihdam hedefi içermektedir. SSB Stratejik Planı ise deneyimli personelin yurt dışına veya başka sektörlere geçişini resmi bir tehdit olarak tanımlamaktadır. Uydukent, bu tehdide karşı yaşam kalitesi boyutunda bir tedbir olarak önerilmektedir. Yıllık Program'da savunma çalışanlarının konutuna ilişkin ayrı bir tedbir bulunmamaktadır.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Ulaşım ve işe erişim uygulamaları. San Francisco Körfezi, ABD (2014): 35 işletmeci ve sponsor; 765 servis aracıyla yılda 9,6 milyon biniş Uydukent için çıkarım: Servis durakları kamu düzenlemesine bağlanmalıdır Güney San Francisco, ABD (2013): Yalnız sürücü payı %74 iken katılım ilk 8 ayda %25; kent %30 mod değişimi şart koştu Uydukent için çıkarım: Ölçülebilir hedef ve bağımsız izleme konmalıdır Stanford, ABD (2000–2024): Kullanım izni koşuluyla yalnız sürücü payı %67'den (2003) %38'e (2024) indi Uydukent için çıkarım: İzne bağlı hedef gönüllü programdan güçlüdür San Francisco Yarımadası, ABD (2024–2025): Elektrifikasyon sonrası yolcu FY2025'te 9,1 milyona ulaştı (+%57); kapasite +%30 Uydukent için çıkarım: Hizmet kalitesi yolcu talebini belirgin artırır Ottawa, Kanada (2019): Merkezde ~180 otobüs/saate ulaşan yol raylıya çevrildi; tek hat dönüşümü 540 milyon $ Uydukent için çıkarım: Otobüs koridoru baştan raylı standardında ayrılmalı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Havacılık ve teknoloji kümelerinden uygulamalar. Toulouse, Fransa (2028 (hedef)): Fabrikalardan geçen ~27 km, 21 istasyonlu metro; 2,7 milyar €; açılış 2028'e kaydı Uydukent için çıkarım: Raylı hat gecikebilir; ilk gün otobüs hazır olmalı Toulouse, Fransa (2021): ~71.000 işlik bölgede %65 bireysel araç; ortak araç payı hedefi %3'ten %10'a Uydukent için çıkarım: Firmalar arası ortak mobilite planı kurulmalıdır Everett, ABD (2019): 73 milyon $'lık BRT fabrika yakınına ulaştı; 12.000 çalışan Swift hatları boyunca yaşıyor Uydukent için çıkarım: BRT güzergâhı çalışan konutlarıyla eşleşmelidir Hamburg, Almanya (2026): Fabrika iskelesi olan kamu feribotu hafta içi 06:45–22:15 arası ~15 dk aralıkla işliyor Uydukent için çıkarım: Tarifeli kamu hattına işyeri durağı eklenebilir Sacheon, Güney Kore (2024): 5.222 çalışanlı havacılık firması çevresinde 2030'a dek 257.000 yeni sakin hedefi Uydukent için çıkarım: Plan aşamasındadır; kanıtlanmış başarı sayılmamalı Bengaluru, Hindistan (2025): Electronic City hattı (19,15 km) günde 60–80 bin yolcu taşıdı; ilk tahmin 25–30 bin idi Uydukent için çıkarım: Gecikmiş raylı sistem birikmiş talep yaratır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Planlı kentler ve bilim kentleri. Tsukuba, Japonya (1963–2005): Araca göre tasarlanan kente raylı hat 2005'te geldi; nüfus 2020'de 241.656 Uydukent için çıkarım: Hızlı bağlantı ve kentsel yaşam baştan kurulmalıdır Sejong, Güney Kore (2020–2024): Toplu taşıma hedefi %70 iken 2020'de araç %45,4, otobüs %7,3; ticari boşluk %25,7 Uydukent için çıkarım: Mahalle ticareti ve fiilî kullanım planlanmalıdır The Woodlands, ABD (1974–2020): 114.436 kişilik kentte 151 park; tüm sakinler bir parka 10 dakika yürüme mesafesinde Uydukent için çıkarım: Park ağı yürüme mesafesi esasına göre kurulmalıdır Wolfsburg, Almanya (1938–2025): Nüfus 1973'te 131.971 ile zirveye ulaştı; 2025'te 129.813 ile durağan kaldı Uydukent için çıkarım: Tek işverene bağımlılık ikinci bir istihdam odağı ister Novosibirsk, Rusya (1958): 7 yılda 20 enstitü kuruldu; bilim insanları yaklaşık 40 sosyal kulüp oluşturdu Uydukent için çıkarım: Kulüp ve kültür altyapısı topluluğu kurar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Eğitim uygulamaları. São José dos Campos, Brezilya (2002–): Tam gün lise programında yılda 720 genç; %80'i tam burslu; 5.500'ü aşkın mezun Uydukent için çıkarım: Sanayi destekli okul bölgeye de açık olabilir Everett, ABD (2012–2017): Üniversite kampüsüne 250.000 USD ve üretim laboratuvarı; K-12'ye 6 milyon USD Uydukent için çıkarım: Okul ortaklığı laboratuvar ve mentorlukla kurulur Orlando, ABD (2015–2017): 786 öğrenci kapasiteli Eagle Creek İlkokulu'nda öğrenci sayısı ~1.000'e ulaştı Uydukent için çıkarım: Okul kapasitesi modüler ve genişletilebilir olmalı Sejong, Güney Kore (2020): Anaokullarının %96,7'si devlet okulu; doğurganlık hızı 1,28 (Seul 0,64) Uydukent için çıkarım: Erişilebilir kamu anaokulu aileleri yerleşime bağlar Konya, Türkiye (2021): 170 öğrenci; sınavda ilk %1'den öğrenci; atölye ve bilgisayar laboratuvarını firma donattı Uydukent için çıkarım: Firma–MEB protokolüyle staj, burs ve atölye sağlanır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Sağlık, sosyal yaşam ve göl yönetimi. Sejong, Güney Kore (2024): Şehrin tek acil merkezi 1 Eylül 2024'te gece yetişkin hizmetini durdurdu Uydukent için çıkarım: Acil erişim için bölgesel yedek ağ güvenceye alınmalı Orlando, ABD (2012): 397 milyon USD'lik hastane 95 yatakla açıldı; birinci basamak merkezi ayrıca kuruldu Uydukent için çıkarım: Birinci basamak yerleşimde, hastane bölgede kurgulanır Helsinki, Finlandiya (2024): Oodi ilk yılında 2.877.560 ziyaret aldı; kent kütüphaneleri 2024'te 9,2 milyon ziyaret Uydukent için çıkarım: Kütüphane mahallenin buluşma mekânı olarak tasarlanmalı Canberra, Avustralya (1974): 105 ha'lık göl çökeltme havuzu olarak tasarlandı; girişinde arıtma sulak alanı var Uydukent için çıkarım: Göl girişinde çökeltim ve arıtma bandı gerekir Milton Keynes, Birleşik Krallık (1970'ler): ~40 ha dengeleme gölünü bir vakıf işletiyor; yılda 1 milyonu aşkın ziyaretçi (beyan) Uydukent için çıkarım: Göl ve park işletimi bağımsız bir yapıya verilebilir Irvine, ABD (2025): İki yapay gölü sakin derneği işletiyor; örnek ilanda aidat aylık 157 USD Uydukent için çıkarım: Göl bakımı sakin aidatıyla sürdürülebilir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Akıllı şehir ve master plan uygulamaları. Fujisawa, Japonya (2011): 19 ha eski fabrika arsasında 1.000 hane hedefi; 742 milyon USD; karbonda %70 azaltım Uydukent için çıkarım: Hizmetler yönetim şirketi ve sakin komitesiyle yürür Kashiwa, Japonya (2005–2016): ~273 ha alan 2005'te raylı istasyonla başladı; 2016'da yaklaşık 5.000 sakin Uydukent için çıkarım: Akıllı şehir bir ulaşım çıpasıyla başlatılmalıdır Susono, Japonya (2024): Faz 1 yaklaşık 50.000 m²'de ~360 sakin; tüm planda ~70,8 ha ve ~2.000 sakin Uydukent için çıkarım: Aşamalı açılış ilk sakinlerle test edilmelidir Incheon, Güney Kore (~2020): Hedef nüfus 256.611; JLL'ye göre ~106.000 sakin; Seul'e 60 dakikayı aşan ulaşım Uydukent için çıkarım: İş-konut dengesi ve ulaşım olmadan doluluk gecikir Abu Dabi, BAE (2023): Başlangıçtaki 50.000 sakin hedefine karşı ~5.000 sakin; 2030 hedefi 40.000 Uydukent için çıkarım: Gerçekçi nüfus hedefi ve fazlama gerekir Stokholm, İsveç (2008): Bina kaynaklı sera gazı 1990 tabanının %40–46 altında; enerji hedefleri tutmadı Uydukent için çıkarım: İzlenemeyen sürdürülebilirlik hedefi konmamalıdır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Türkiye'den uygulamalar. Ankara, Türkiye (1983–1997): 516 konutla başlayan yerleşim 50.000 konuta ulaştı; metro 1997'de geldi Uydukent için çıkarım: Raylı bağlantı yerleşimle eşzamanlı planlanmalıdır Ereğli, Türkiye (1962–1965): Ulusal yarışmayla tasarlanan ilk prefabrik konut adaları; 2019'dan itibaren satıldı Uydukent için çıkarım: İşverene bağlı konut stoku politikayla kaybolabilir Kırıkkale, Türkiye (1935–2023): Nüfus 1935'te 4.599 iken 2023'te 283.053; ekonomi zamanla hizmetlere kaydı Uydukent için çıkarım: İkinci bir kent işlevi dayanıklılık sağlar Eskişehir, Türkiye (2008): ~400 dönümlük parkta ~2,5 ha gölet; hafta sonu 5–6 bin ziyaretçi Uydukent için çıkarım: Küçük gölet bilim ve çocuk programıyla canlanır Ankara, Türkiye (2021): ~70 ha'lık bahçe açılışından sonraki 4 günde 200 bin ziyaretçi ağırladı Uydukent için çıkarım: Ankara'da ücretsiz büyük park talebi yüksektir Gölbaşı, Ankara (2011): 2011 tezinde atıksu ve tarımsal akış nedeniyle azot ve fosfor sınırları aşıldı Uydukent için çıkarım: Gölde nütrient kontrolü baştan tasarlanmalıdır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senaryo değerlendirilmiştir: 2.000, 2.500 ve 3.000 konut. Önerilen senaryo 2.500 konut ve yaklaşık 7.500 kişidir. Arazinin yaklaşık beşte biri korunan yamaç olarak ayrılmış, net konut alanı 13,1 hektar olarak hesaplanmıştır. Donatı alanları Mekânsal Planlar Yapım Yönetmeliği Ek-2 standartlarına göre ihtiyatlı kademeden belirlenmiştir. Brüt yoğunluk hektar başına 49 konuttur; TAI Ankara Lodgings projesinde bu değer 37,5'tir.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senaryo, aynı 51,1 hektarlık brüt alan ve 10 hektarlık korunan yamaç varsayımıyla hesaplanmıştır. 2.500 konutluk senaryo, 2,29 emsal ve kişi başı 24,7 m² yeşil alanla yoğunluk ile yaşam kalitesi arasında denge sağladığından önerilmektedir. Konut yoğunluğu, yamaçların payı topoğrafik haritayla kesinleştiğinde yeniden hesaplanacaktır.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Donatı alanları, ihtiyatlı bir seçimle MPYY Ek-2'nin 75.001–150.000 nüfus kademesindeki kişi başı değerlerle hesaplanmıştır. Eğitim için öngörülen 6,5 m², anaokulu 0,5, ilkokul 2, ortaokul 2 ve lise grubu 2 m²'den oluşmaktadır. Kademe ilçe projeksiyon nüfusuyla teyit edilecek olup ilçenin 0–75.000 kademesinde kalması hâlinde bazı değerler düşecektir.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Şema ölçeklidir ancak parsel sınırı elde bulunmadığından haritaya oturtulmamıştır. Yapay göl ve göl parkı merkezde yer almaktadır. Göl kıyısında mahalle merkezi, kültür merkezi ve cami; doğuda aile sağlığı merkezi ve 112 istasyonu; güneyde spor kompleksi konumlandırılmıştır. Okul kampüsleri konutlara yürüme mesafesindedir. Dört mahalle platolarda, yamaç ve yarıntılar ise alanı çevreleyen yeşil kuşakta yer almaktadır.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Görsel, bölgeleme şemasındaki kurgunun kuşbakışı kavramsal ifadesidir. Merkezde yapay göl ve göl parkı, çevresinde ring yol, platolarda dört konut mahallesi, batıda okul kampüsleri, kuzeyde mahalle merkezi, kültür merkezi ve cami yer almaktadır. Yamaçlar ağaçlandırılmış yeşil kuşak olarak korunmaktadır. Görsel temsilî olup mimari tasarım niteliği taşımamaktadır.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Konut adaları, ortasında çocuk oyun alanları ve yeşil avlular bulunan çevre blokları olarak kurgulanmıştır. Kat yükseklikleri beş ile sekiz kat arasında değişmekte, çatılarda güneş panelleri yer almaktadır. Ana sokaklara bakan zemin katlarda mahalle ticareti öngörülmektedir. Görsel temsilîdir.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Eğitim olanakları, ailelerin yer seçiminde belirleyici ölçüttür. Genç aile varsayımıyla yaklaşık 1.540 öğrenci ve 57 derslik ihtiyacı hesaplanmıştır. MEB normlarında bir devlet okul kampüsü ile iki dilli, nitelikli bir özel okul kampüsü önerilmektedir. Kalıcı binalar tamamlanana kadar modüler sınıfların ilk günden hizmet vermesi öngörülmektedir.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Görselin ön planında özel okul kampüsü, arka planda devlet okul kampüsü yer almaktadır. Kampüsler avlulu yapılar, spor sahaları ve yeşil alanlarla kurgulanmıştır; konutlara yürüme mesafesindedir. Okulların spor salonu ve kütüphanesinin akşamları mahalleye açılması öngörülmektedir. Görsel temsilîdir.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MEB kılavuzu okul türüne göre sabit bir parsel büyüklüğü vermemekte, öğrenci başına en az 15 m² açık ve kapalı alan ilkesini esas almaktadır. Uydukent'te iki okul kampüsü konutlara yürüme mesafesinde konumlandırılmış olup en uzak konutun yaklaşık 500 m mesafede kalması öngörülmektedir. Okul parselleri, enerji nakil hattının güzergâhı netleştikten sonra kesinleştirilecektir.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Öğrenci sayıları, genç aile varsayımıyla 1.000 kişi başına kademe oranları üzerinden hesaplanmış olup varsayımdır. Önerilen senaryoda yaklaşık 1.540 öğrenci ve yaklaşık 57 derslik öngörülmektedir. Yerleşimin ilk yıllarında talebin kreş, anaokulu ve ilkokulda yoğunlaşması beklendiğinden modüler ve dönüştürülebilir okul binaları önerilmektedir. Kreşlerin konut adalarının zemin katlarında ve mahalle merkezinde yer alması planlanmaktadır.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Büyük işverenlerin yakınında nitelikli okul kurulması uluslararası ölçekte yaygın bir uygulamadır. Toulouse'daki uluslararası okul Airbus'ın talebiyle açılmıştır. Songdo'daki Chadwick 260–280 öğrenciyle başlamış, bugün yaklaşık 1.500 öğrenciye ulaşmıştır; bu durum kampüsün büyümeye göre planlanması gerektiğini göstermektedir. Wolfsburg'da Volkswagen okulu kurarak şehre devretmiştir. Türkiye'de Deneyap atölyeleri okullara eklenebilecek bir modeldir.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Sağlık hizmeti üç basamakta kurgulanmıştır. Yerleşim içinde ilk günden aile sağlığı merkezi, 112 istasyonu ve poliklinik öngörülmektedir. İlçede 2022'de hizmete açılan Kahramankazan Devlet Hastanesi bulunmaktadır; yatak sayısı kaynaklarda 150 ile 190 arasında değişmektedir. Proje ekibinin yeni şehir hastanesi olarak andığı tesis, kaynaklarda devlet hastanesi olarak geçmektedir. Sejong örneği, acil hizmetin baştan planlanmasının önemini göstermektedir.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Birinci basamak sağlık hizmetinin yerleşim içinde, hastane hizmetinin ise ilçe ve Ankara ölçeğinde karşılanması öngörülmektedir. Kahramankazan Devlet Hastanesi'nin yatak sayısı kaynaklarda 150 ile 190 arasında değişmekte olup Sağlık Bakanlığı'ndan teyit edilecektir. Yerleşimin kentsel alan niteliği nedeniyle 112 hizmetinde 10 dakikalık kentsel hedefin uygulanması önerilmektedir. Etlik ve Bilkent şehir hastanelerine erişim süreleri ayrıca ölçülecektir.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Yapay göl arazinin içinde, 2,5 hektar su yüzeyi ve 3,5 hektar göl parkıyla planlanmıştır. Ankara'da Ocak 2026'da barajların aktif doluluğu yüzde 1'e indiğinden gölün şebeke suyuyla doldurulması önerilmemektedir. Gölün yağmur suyu hasadı ve ileri arıtılmış atıksuyla beslenmesi, şebekenin yalnızca acil durumda kullanılması öngörülmektedir. Çökeltim havuzu, sirkülasyon ve biyolojik arıtma ilk günden tasarlanacaktır. Göl aynı zamanda taşkın dengeleme havzası ve sosyal yaşamın merkezidir.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Görsel, göl kıyısından mahalle merkezine doğru bakmaktadır. Göl çevresinde yürüyüş ve koşu parkuru, amfi basamaklar, iskele ve kafeler; kıyıda mahalle merkezi, kültür merkezi ve cami yer almaktadır. Göl, sosyal yaşamın ve yağmur suyu yönetiminin merkezi olarak tasarlanmıştır. Görsel temsilîdir.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Yürürlükteki yönetmeliğe göre 150'den fazla kadın çalışanı olan işyerleri 0–6 yaş çocuklar için yurt açmak veya yetkilendirilmiş yurtlarla anlaşmakla yükümlüdür. Bu yükümlülük, Uydukent'te küme firmalarıyla ortak işletilecek kreşler için hukuki bir zemin oluşturmaktadır. Eş istihdamı için mahalle merkezinde bir aile kariyer masası ve ortak çalışma alanı kurulması önerilmektedir.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Göl için doğal bir su kaynağı bulunmamakta olup 2025 yılı son 50 yılın en kurak yılı olmuştur. 8 Ocak 2026 itibarıyla barajlarda kullanılabilir su 13,974 milyon m³, günlük tüketim 1,4 milyon m³ olup yaklaşık 200 günlük su kalmıştır. Bu nedenle gölün yağmur suyu hasadı ve ileri arıtılmış atıksuyla beslenmesi, şebeke suyunun yalnızca acil durumda kullanılması önerilmektedir. Yarıntılardan gelen sedimentin göle taşınmaması için göl girişinde çökeltim havuzu öngörülmektedir.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Planlı kentlerde göl, mahalle merkezinin odağı olarak kullanılmaktadır. Reston'daki Lake Anne köy merkezi tescilli miras statüsündedir. Columbia'da göllerin bakımı sakin aidatıyla yürütülmekte, işletme modeli baştan kurulmaktadır. Singapur Bishan'da beton kanal doğal bir nehir parkına dönüştürülmüştür. Ankara'daki Göksu Parkı'nda 2021–22'de yaşanan su kalitesi sorunları, sirkülasyon, arıtma ve işletmeci gereksinimini göstermektedir.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Hedef, HAB ve Kınık sanayi alanlarına kapıdan kapıya 35 dakikanın altında ve sabit sürede ulaşımdır. Güzergâh Uydukent'ten Kınık'a 11, Kınık'tan HAB ve Kışla bölgesine 8 kilometredir. İlk günden mesaiye bağlı 13 elektrikli otobüsün çalışması öngörülmektedir; sabah zirvesinde yaklaşık 875 yolcu taşınacak, Batıkent–Susuz–Eryaman koridorundan yaklaşık 560 otomobil çekilecektir. Koridor baştan raylı sistem standardında ayrılacak, ekosistemde planlanan hafif raylı sisteme bağlantı talebe göre değerlendirilecektir.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Ulaşım projelerinin altyapı ve araç bileşenleri bu tabloda yer almaktadır. Uydukent Ekspres ve aktarma istasyonu ilk günden hizmete girecek olup yatırım tutarları hesaplanmıştır. Otobüs öncelikli koridor ile ekosistemin hafif raylı sistemine bağlantı ilerleyen aşamalarda talebe göre değerlendirilecektir. Ring hat ve Yenikent aktarması mevcut hizmetlere bağlantıyı sağlamaktadır.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Ulaşımın hizmet ve yönetim bileşenleri, altyapı yatırımlarını tamamlayan düşük maliyetli önlemlerdir. Çağrılı servis, bisiklet ve yaya ağı son kilometre erişimini sağlamakta; akıllı durak, ulaşım uygulaması ve park yönetimi talebi toplu taşımaya yönlendirmektedir. Kademeli mesai, yatırım gerektirmeden sabah zirvesini düşüren en etkili araçtır.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Servis ve aktarma istasyonu yerleşimin ana girişinde yer almaktadır. Güneş panelli peron örtüsü altında elektrikli ekspres otobüsler, ring hat ve mahalle içi çağrılı servis buluşmaktadır. İstasyon, ileride otobüs öncelikli koridor ve hafif raylı sistem bağlantısının da düğüm noktası olacaktır. Görsel temsilîdir.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Kahramankazan'a bugün ulaşan bir yolcu raylı sistemi bulunmamaktadır. En yakın raylı uç, 2026 içinde tamamlanması hedeflenen Başkentray Yenikent uzantısıdır; Kazan Soda bağlantısı yalnızca yük taşımacılığına hizmet etmektedir. Mevcut EGO hatlarının sefer sayısı vardiya ihtiyacını karşılamaktan uzak olduğundan Uydukent Ekspres ve Yenikent aktarması önerilmektedir. ABB'nin Sürdürülebilir Ulaşım Ana Planı sürecine girdi verilmesi de önerilmektedir.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Kalkınma Planı toplu taşımada önce otobüs ve metrobüsü, bunların yetersiz kaldığı koridorlarda raylı sistemi öngörmekte; tramvay için en az 7.000, hafif raylı sistem için en az 10.000, metro için en az 15.000 yolcu/saat-tek yön eşiği tanımlamaktadır. Uydukent Ekspres'in sabah pikindeki yaklaşık 875 yolcusu bu eşiklerin belirgin biçimde altındadır; bu nedenle ilk aşamada elektrikli ekspres otobüs, ikinci aşamada otobüs öncelikli koridor önerilmektedir. Raylı sistem kararının kümenin toplam talebine göre verilmesi ve güzergâhın baştan rezerve edilmesi önerilmektedir.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Türkiye'de 12 metrelik elektrikli otobüs için güncel ihale birim fiyatı bulunamamış olup değerler 2024 ve 2022 çıpalarına dayanan varsayımlardır; üretici tekliflerinin alınması öngörülmektedir. Baz senaryoda 13 otobüs ve şarj deposu için yaklaşık 452 milyon TL yatırım öngörülmektedir. Raylı sisteme geçiş ihtimaline karşı otobüs koridorunun eksen, istasyon aralığı ve yükleme açısından baştan raylı standardında rezerve edilmesi önerilmektedir.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Akıllı şehir bileşenleri; ulaşım, eğitim ve sosyal yaşam ihtiyaçlarına hizmet edecek biçimde tasarlanmıştır. Songdo deneyimi, teknolojinin tek başına topluluk oluşturmadığını göstermektedir; bu nedenle fiziksel buluşma mekânlarıyla birlikte planlanmaktadır. Sakinlerin önemli bölümünün savunma sanayi çalışanı olacağı dikkate alınarak veri güvenliği temel tasarım ilkesi olarak benimsenmiştir: veriler yurt içinde ve yerli altyapıda tutulacak, yalnızca gerekli veri toplanacak ve bağımsız güvenlik denetimi yapılacaktır.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Eylül 2026'da yürürlüğe giren 2030 Ulusal Akıllı Şehirler Stratejisi'nin resmi metnine ulaşılamamış olup öncelikler haber metinlerinden derlenmiştir; numaralı eylem atfı resmi metin üzerinden yapılacaktır. Uydukent'in akıllı şehir katmanı, stratejinin veri yönetimi, entegre hizmet ve dijital güvenlik eksenleriyle uyumlu biçimde kurgulanmaktadır. Türkiye'ye özgü birim maliyet bulunamadığından akıllı sistemler konut başına 40–90 bin TL varsayımıyla hesaplanmıştır.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Projenin sektöre katkısı iki yönlüdür: nitelikli personelin bölgeye kazandırılması ve deneyimli personelin korunması. Bu katkı altı başlıkta sağlanmaktadır: ulaşım süresi, aile yaşamı, eş istihdamı, sosyal yaşam, konut erişimi ve veri güvenliği. Konutların herkese açık olarak satışa sunulması ve savunma sanayi çalışanlarına öncelik tanınması öngörülmektedir. Uygulama modeli bu çalışmanın kapsamı dışındadır.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Toplam yatırım baz senaryoda 12,54 milyar TL, aralık 9,9–15,9 milyar TL'dir. Yatırımın büyük bölümünü konutlar oluşturmaktadır; konutlar, özel okul ve ticaret satış ve işletme gelirleriyle karşılanan kalemlerdir. Altyapı, devlet okulları, sağlık, kültür ve spor tesisleri, göl ve parklar, akıllı şehir sistemleri ve ekspres hattan oluşan kamu ve ortak kullanım payı yaklaşık 3,3 milyar TL olup toplamın yüzde 26'sıdır. Tutarlar KDV ve arazi bedeli hariçtir.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Tablodaki bedeller ihale ve sözleşme haberlerinden derlenmiş olup çoğunda KDV durumu ile yaklaşık maliyet ve sözleşme ayrımı belirtilmemiştir. Devlet okul kampüsü için derslik başına 6,0–7,1 milyon TL aralığı kullanılmış ve yaklaşık 32 derslik için 192–227 milyon TL öngörülmüştür. ASM ve kapalı yüzme havuzu için güncel ihale bedeli bulunamadığından ÇŞİDB 2026 yapı sınıfı maliyetleri yedek yöntem olarak kullanılmıştır.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Türkiye'ye özgü hektar veya konut başına altyapı bedeli bulunamadığından kentsel altyapı, konut yapım maliyetinin yüzde 15–25'i olarak varsayılmış ve duyarlılık aralığıyla gösterilmiştir. Boru hattı değerleri Alanya'daki toplam yatırımlardan türetilmiş kaba ortalamalar olup 2026 birim fiyatları bunların üzerinde olabilecektir. Göl maliyeti için Türkiye'de gölet birim fiyatı bulunamadığından ±%50 belirsizlikle metraj tahmini kullanılmıştır.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Ölçülebilen kamu faydası; kazanılan zaman, yakıt tasarrufu ve önlenen emisyon toplamında yılda 40 ile 127 milyon TL olarak hesaplanmıştır. Bu faydanın otuz yıllık bugünkü değeri kamu payının yüzde 19 ile 59'u arasındadır; dolayısıyla tek başına kamu payını karşılamamaktadır. Bu değer bir alt sınırdır; koridordaki diğer kullanıcılar, kaza maliyetleri, hizmetlere erişim ve personel kaybının işverene maliyeti ölçülmemiştir. Projenin temel gerekçesi stratejiktir.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Türkiye için resmi bir zaman değeri tablosu bulunamadığından ücret temelli yöntemle saatte 200 TL temel değer, mühendisler için 350 TL üst senaryo kullanılmıştır. Bu değer, UAB dergisinde yayımlanan çalışmanın dakika başına 0,94–12,44 TL aralığının orta-alt kısmıyla uyumludur. Türkiye ETS'si yolcu taşımacılığını kapsamadığından karbon bedeli AB ETS referansıyla gölge fiyat olarak hesaplanmıştır.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Ölçülebilen fayda üç kalemden oluşmaktadır: kazanılan zaman, yakıt tasarrufu ve önlenen karbon salımı. Baz senaryoda yıllık fayda yaklaşık 60 milyon TL olup bunun 45 milyon TL'si zaman kazancından gelmektedir. Zaman değeri ve mesafe en hassas parametreler olduğundan sonuçlar duyarlılık aralığıyla sunulmaktadır. Kaza, bakım, sağlık ve eğitime erişim etkileri ölçülmediğinden hesap bir alt sınır niteliğindedir.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Resmi bir konut başına istihdam çarpanı bulunamadığından şantiye istihdamı, TOKİ'nin 2021 oranının maliyet artışıyla düzeltilmesiyle hesaplanmış olup varsayımdır. Baz senaryoda inşaat döneminde yıllık ortalama yaklaşık 617 kişilik doğrudan şantiye istihdamı öngörülmektedir. Dolaylı ve uyarılmış istihdam için resmi çarpan bulunmadığından yalnızca doğrudan istihdam raporlanmaktadır.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Planlı kentlerden elde edilen temel ders, hizmetlerin gecikmesi durumunda ailelerin taşınmadığıdır. Bu nedenle Aşama 0'da ulaşım, sağlık, kreş ve sosyal yaşamın ilk bileşenlerinin ilk konut teslimiyle eş zamanlı açılması öngörülmektedir; modüler yapılar bunu mümkün kılmaktadır. Her aşamanın öncesinde bir karar kapısı bulunmaktadır. İlk karar kapısı bu sunumda talep edilen karardır; son karar kapısı hafif raylı sisteme bağlantının talebe göre değerlendirilmesidir.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Fizibilitenin dayandığı saha verilerinin önemli bir bölümü kamuya açık olmadığından ilgili kurumlardan yazılı teyit alınması gerekmektedir. En kritik iki teyit kalemi, yapılaşabilir alanı doğrudan etkileyen yamaçların hukuki statüsü ile zemin koşullarıdır. Sahanın 2565 sayılı Kanun kapsamındaki 2. derece bölgenin dışında kalması beklenmekte olup bu husus da teyit edilecektir.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Belen &amp; Partners olarak savunma sanayi için iki şehirde yerleşke ölçeğinde projeler gerçekleştirdik. Kahramankazan'daki TAI Ankara Lodgings 2022 yılında, 400 bin metrekare alanda 1.500 konutla tasarlanmıştır; okul, sağlık ocağı ve spor tesisleri yürüme mesafesindedir. Kahramanmaraş'ta lojman ve fabrika projesi gerçekleştirilmiştir. Kahramankazan'ın kentsel dönüşümü, kent merkezi ve Serapınar projeleri de aynı ilçededir; Uydukent bu planlama sürecinin yeni halkasıdır.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kritik iki risk saha koşullarıyla ilgilidir: yamaçların hukuki statüsü ve zemin. Her ikisi de kararın ardından atılacak ilk teyit adımlarıdır. Su riski göl için önerilen kaynak planıyla, gürültü riski parsel koordinatına göre yapılacak hesap ve yerleşim düzeniyle, hizmetlerin gecikmesi riski Aşama 0 ile karşılanmaktadır.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Talep edilen karar, Sarıayak'taki Hazine arazisinin savunma ve havacılık sanayi çalışanlarına yönelik bir yaşam alanı olarak değerlendirilmesidir. Kararın ardından öngörülen ilk adımlar şunlardır: parsel bilgileri ve halihazır harita, yamaçların hukuki statüsü ve zemin etüdü, imar durumu ve altyapı kapasite görüşleri, savunma sanayi çalışanlarına yönelik ön talep anketi ve kurumlar arası çalışma grubunun kurulması. Dikkatiniz için teşekkür ederiz.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CERIK">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15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4" name="Text 0"/>
          <p:cNvSpPr/>
          <p:nvPr/>
        </p:nvSpPr>
        <p:spPr>
          <a:xfrm>
            <a:off x="548640" y="6419088"/>
            <a:ext cx="8229600" cy="256032"/>
          </a:xfrm>
          <a:prstGeom prst="rect">
            <a:avLst/>
          </a:prstGeom>
          <a:noFill/>
          <a:ln/>
        </p:spPr>
        <p:txBody>
          <a:bodyPr wrap="square" lIns="0" tIns="0" rIns="0" bIns="0" rtlCol="0" anchor="ctr"/>
          <a:lstStyle/>
          <a:p>
            <a:pPr indent="0" marL="0">
              <a:buNone/>
            </a:pPr>
            <a:r>
              <a:rPr lang="en-US" sz="1000" dirty="0">
                <a:solidFill>
                  <a:schemeClr val="accent5"/>
                </a:solidFill>
              </a:rPr>
              <a:t>Belen &amp; Partners · Kahramankazan Uydukent fizibilitesi · Ekim 2026</a:t>
            </a:r>
            <a:endParaRPr lang="en-US" sz="10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OYU">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150" kern="0" dirty="0">
                <a:solidFill>
                  <a:schemeClr val="accent4"/>
                </a:solidFill>
              </a:defRPr>
            </a:lvl1pPr>
          </a:lstStyle>
          <a:p>
            <a:pPr indent="0" marL="0">
              <a:buNone/>
            </a:pP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nvSpPr>
        <p:spPr>
          <a:xfrm>
            <a:off x="548640" y="6419088"/>
            <a:ext cx="8229600" cy="256032"/>
          </a:xfrm>
          <a:prstGeom prst="rect">
            <a:avLst/>
          </a:prstGeom>
          <a:noFill/>
          <a:ln/>
        </p:spPr>
        <p:txBody>
          <a:bodyPr wrap="square" lIns="0" tIns="0" rIns="0" bIns="0" rtlCol="0" anchor="ctr"/>
          <a:lstStyle/>
          <a:p>
            <a:pPr indent="0" marL="0">
              <a:buNone/>
            </a:pPr>
            <a:r>
              <a:rPr lang="en-US" sz="1000" dirty="0">
                <a:solidFill>
                  <a:schemeClr val="bg2"/>
                </a:solidFill>
              </a:rPr>
              <a:t>Belen &amp; Partners · Kahramankazan Uydukent fizibilitesi · Ekim 2026</a:t>
            </a:r>
            <a:endParaRPr lang="en-US" sz="10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APA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48840"/>
            <a:ext cx="8686800" cy="10972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548640" y="3383280"/>
            <a:ext cx="7863840" cy="914400"/>
          </a:xfrm>
          <a:prstGeom prst="rect">
            <a:avLst/>
          </a:prstGeom>
          <a:noFill/>
          <a:ln/>
        </p:spPr>
        <p:txBody>
          <a:bodyPr wrap="square" rtlCol="0"/>
          <a:lstStyle>
            <a:lvl1pPr algn="l" indent="0" marL="0">
              <a:buNone/>
              <a:defRPr lang="en-US" sz="2200" dirty="0">
                <a:solidFill>
                  <a:schemeClr val="bg1"/>
                </a:solidFill>
              </a:defRPr>
            </a:lvl1pPr>
          </a:lstStyle>
          <a:p>
            <a:pPr algn="l" indent="0" marL="0">
              <a:buNone/>
            </a:pPr>
            <a:endParaRPr lang="en-US" sz="2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ARAR">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150" kern="0" dirty="0">
                <a:solidFill>
                  <a:schemeClr val="accent4"/>
                </a:solidFill>
              </a:defRPr>
            </a:lvl1pPr>
          </a:lstStyle>
          <a:p>
            <a:pPr indent="0" marL="0">
              <a:buNone/>
            </a:pPr>
            <a:endParaRPr lang="en-US" sz="1200" dirty="0"/>
          </a:p>
        </p:txBody>
      </p:sp>
      <p:sp>
        <p:nvSpPr>
          <p:cNvPr id="3" name="Text 0"/>
          <p:cNvSpPr/>
          <p:nvPr>
            <p:ph idx="101" type="title" hasCustomPrompt="1"/>
          </p:nvPr>
        </p:nvSpPr>
        <p:spPr>
          <a:xfrm>
            <a:off x="548640" y="658368"/>
            <a:ext cx="6949440" cy="749808"/>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nvSpPr>
        <p:spPr>
          <a:xfrm>
            <a:off x="548640" y="6419088"/>
            <a:ext cx="6949440" cy="256032"/>
          </a:xfrm>
          <a:prstGeom prst="rect">
            <a:avLst/>
          </a:prstGeom>
          <a:noFill/>
          <a:ln/>
        </p:spPr>
        <p:txBody>
          <a:bodyPr wrap="square" lIns="0" tIns="0" rIns="0" bIns="0" rtlCol="0" anchor="ctr"/>
          <a:lstStyle/>
          <a:p>
            <a:pPr indent="0" marL="0">
              <a:buNone/>
            </a:pPr>
            <a:r>
              <a:rPr lang="en-US" sz="1000" dirty="0">
                <a:solidFill>
                  <a:schemeClr val="bg2"/>
                </a:solidFill>
              </a:rPr>
              <a:t>Belen &amp; Partners · Kahramankazan Uydukent fizibilitesi · Ekim 2026</a:t>
            </a:r>
            <a:endParaRPr lang="en-US" sz="10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FOTO">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5074920"/>
            <a:ext cx="7132320" cy="274320"/>
          </a:xfrm>
          <a:prstGeom prst="rect">
            <a:avLst/>
          </a:prstGeom>
          <a:noFill/>
          <a:ln/>
        </p:spPr>
        <p:txBody>
          <a:bodyPr wrap="square" rtlCol="0"/>
          <a:lstStyle>
            <a:lvl1pPr indent="0" marL="0">
              <a:buNone/>
              <a:defRPr lang="en-US" sz="1200" b="1" spc="150" kern="0" dirty="0">
                <a:solidFill>
                  <a:schemeClr val="accent4"/>
                </a:solidFill>
              </a:defRPr>
            </a:lvl1pPr>
          </a:lstStyle>
          <a:p>
            <a:pPr indent="0" marL="0">
              <a:buNone/>
            </a:pPr>
            <a:endParaRPr lang="en-US" sz="1200" dirty="0"/>
          </a:p>
        </p:txBody>
      </p:sp>
      <p:sp>
        <p:nvSpPr>
          <p:cNvPr id="3" name="Text 0"/>
          <p:cNvSpPr/>
          <p:nvPr>
            <p:ph idx="101" type="title" hasCustomPrompt="1"/>
          </p:nvPr>
        </p:nvSpPr>
        <p:spPr>
          <a:xfrm>
            <a:off x="731520" y="5349240"/>
            <a:ext cx="7223760" cy="548640"/>
          </a:xfrm>
          <a:prstGeom prst="rect">
            <a:avLst/>
          </a:prstGeom>
          <a:noFill/>
          <a:ln/>
        </p:spPr>
        <p:txBody>
          <a:bodyPr wrap="square" rtlCol="0"/>
          <a:lstStyle>
            <a:lvl1pPr algn="l" indent="0" marL="0">
              <a:buNone/>
              <a:defRPr lang="en-US" sz="2600" b="1" dirty="0">
                <a:solidFill>
                  <a:schemeClr val="bg1"/>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1"/>
                </a:solidFil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2.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2.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2.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2.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slideLayout" Target="../slideLayouts/slideLayout2.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2.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6.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6.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34-1.png"/><Relationship Id="rId3" Type="http://schemas.openxmlformats.org/officeDocument/2006/relationships/image" Target="../media/image-34-2.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6.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2.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image" Target="../media/image-41-6.png"/><Relationship Id="rId7" Type="http://schemas.openxmlformats.org/officeDocument/2006/relationships/image" Target="../media/image-41-7.png"/><Relationship Id="rId8" Type="http://schemas.openxmlformats.org/officeDocument/2006/relationships/slideLayout" Target="../slideLayouts/slideLayout2.xml"/><Relationship Id="rId9"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6.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slideLayout" Target="../slideLayouts/slideLayout2.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6.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image" Target="../media/image-53-4.png"/><Relationship Id="rId5" Type="http://schemas.openxmlformats.org/officeDocument/2006/relationships/image" Target="../media/image-53-5.png"/><Relationship Id="rId6" Type="http://schemas.openxmlformats.org/officeDocument/2006/relationships/image" Target="../media/image-53-6.png"/><Relationship Id="rId7" Type="http://schemas.openxmlformats.org/officeDocument/2006/relationships/image" Target="../media/image-53-7.png"/><Relationship Id="rId8" Type="http://schemas.openxmlformats.org/officeDocument/2006/relationships/slideLayout" Target="../slideLayouts/slideLayout2.xml"/><Relationship Id="rId9"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image" Target="../media/image-55-5.png"/><Relationship Id="rId6" Type="http://schemas.openxmlformats.org/officeDocument/2006/relationships/image" Target="../media/image-55-6.png"/><Relationship Id="rId7" Type="http://schemas.openxmlformats.org/officeDocument/2006/relationships/slideLayout" Target="../slideLayouts/slideLayout2.xml"/><Relationship Id="rId8"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image" Target="../media/image-65-2.png"/><Relationship Id="rId3" Type="http://schemas.openxmlformats.org/officeDocument/2006/relationships/image" Target="../media/image-65-3.jpg"/><Relationship Id="rId4" Type="http://schemas.openxmlformats.org/officeDocument/2006/relationships/image" Target="../media/image-65-4.jpg"/><Relationship Id="rId5" Type="http://schemas.openxmlformats.org/officeDocument/2006/relationships/slideLayout" Target="../slideLayouts/slideLayout2.xml"/><Relationship Id="rId6"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5.xml"/><Relationship Id="rId3"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Kapak fotoğrafı: bölgeden ova manzarası" descr="/home/user/sunum/araclar/sunum/assets/kapak.jpg">    </p:cNvPr>
          <p:cNvPicPr>
            <a:picLocks noChangeAspect="1"/>
          </p:cNvPicPr>
          <p:nvPr/>
        </p:nvPicPr>
        <p:blipFill>
          <a:blip r:embed="rId1"/>
          <a:stretch>
            <a:fillRect/>
          </a:stretch>
        </p:blipFill>
        <p:spPr>
          <a:xfrm>
            <a:off x="0" y="0"/>
            <a:ext cx="12191695" cy="6858000"/>
          </a:xfrm>
          <a:prstGeom prst="rect">
            <a:avLst/>
          </a:prstGeom>
        </p:spPr>
      </p:pic>
      <p:sp>
        <p:nvSpPr>
          <p:cNvPr id="3" name="Karartma"/>
          <p:cNvSpPr/>
          <p:nvPr/>
        </p:nvSpPr>
        <p:spPr>
          <a:xfrm>
            <a:off x="0" y="0"/>
            <a:ext cx="12191695" cy="6858000"/>
          </a:xfrm>
          <a:prstGeom prst="rect">
            <a:avLst/>
          </a:prstGeom>
          <a:solidFill>
            <a:schemeClr val="tx2">
              <a:alpha val="72000"/>
            </a:schemeClr>
          </a:solidFill>
          <a:ln/>
        </p:spPr>
      </p:sp>
      <p:sp>
        <p:nvSpPr>
          <p:cNvPr id="4" name="Text 1"/>
          <p:cNvSpPr txBox="1"/>
          <p:nvPr/>
        </p:nvSpPr>
        <p:spPr>
          <a:xfrm>
            <a:off x="548640" y="1600200"/>
            <a:ext cx="7315200" cy="320040"/>
          </a:xfrm>
          <a:prstGeom prst="rect">
            <a:avLst/>
          </a:prstGeom>
          <a:noFill/>
          <a:ln/>
        </p:spPr>
        <p:txBody>
          <a:bodyPr wrap="square" lIns="0" tIns="0" rIns="0" bIns="0" rtlCol="0" anchor="t"/>
          <a:lstStyle/>
          <a:p>
            <a:pPr indent="0" marL="0">
              <a:buNone/>
            </a:pPr>
            <a:r>
              <a:rPr lang="en-US" sz="1400" b="1" spc="200" kern="0" dirty="0">
                <a:solidFill>
                  <a:schemeClr val="accent4"/>
                </a:solidFill>
              </a:rPr>
              <a:t>FİZİBİLİTE SUNUMU</a:t>
            </a:r>
            <a:endParaRPr lang="en-US" sz="1400" dirty="0"/>
          </a:p>
        </p:txBody>
      </p:sp>
      <p:sp>
        <p:nvSpPr>
          <p:cNvPr id="5" name="Text 0"/>
          <p:cNvSpPr/>
          <p:nvPr>
            <p:ph idx="100" type="title" hasCustomPrompt="1"/>
          </p:nvPr>
        </p:nvSpPr>
        <p:spPr>
          <a:xfrm>
            <a:off x="548640" y="2148840"/>
            <a:ext cx="8686800" cy="1097280"/>
          </a:xfrm>
          <a:prstGeom prst="rect">
            <a:avLst/>
          </a:prstGeom>
          <a:noFill/>
          <a:ln/>
        </p:spPr>
        <p:txBody>
          <a:bodyPr wrap="square" lIns="0" tIns="0" rIns="0" bIns="0" rtlCol="0" anchor="b"/>
          <a:lstStyle/>
          <a:p>
            <a:pPr algn="l" indent="0" marL="0">
              <a:buNone/>
            </a:pPr>
            <a:r>
              <a:rPr lang="en-US" sz="5400" b="1" dirty="0">
                <a:solidFill>
                  <a:schemeClr val="bg1"/>
                </a:solidFill>
              </a:rPr>
              <a:t>Kahramankazan Uydukent</a:t>
            </a:r>
            <a:endParaRPr lang="en-US" sz="5400" dirty="0"/>
          </a:p>
        </p:txBody>
      </p:sp>
      <p:sp>
        <p:nvSpPr>
          <p:cNvPr id="6" name="Text 0"/>
          <p:cNvSpPr/>
          <p:nvPr>
            <p:ph idx="101" type="body" hasCustomPrompt="1"/>
          </p:nvPr>
        </p:nvSpPr>
        <p:spPr>
          <a:xfrm>
            <a:off x="548640" y="3383280"/>
            <a:ext cx="7863840" cy="914400"/>
          </a:xfrm>
          <a:prstGeom prst="rect">
            <a:avLst/>
          </a:prstGeom>
          <a:noFill/>
          <a:ln/>
        </p:spPr>
        <p:txBody>
          <a:bodyPr wrap="square" lIns="0" tIns="0" rIns="0" bIns="0" rtlCol="0" anchor="t"/>
          <a:lstStyle/>
          <a:p>
            <a:pPr algn="l" indent="0" marL="0">
              <a:buNone/>
            </a:pPr>
            <a:r>
              <a:rPr lang="en-US" sz="2200" dirty="0">
                <a:solidFill>
                  <a:schemeClr val="bg1"/>
                </a:solidFill>
              </a:rPr>
              <a:t>Savunma ve havacılık sanayi çalışanları için akıllı bir yaşam alanı</a:t>
            </a:r>
            <a:endParaRPr lang="en-US" sz="2200" dirty="0"/>
          </a:p>
        </p:txBody>
      </p:sp>
      <p:sp>
        <p:nvSpPr>
          <p:cNvPr id="7" name="Text 4"/>
          <p:cNvSpPr txBox="1"/>
          <p:nvPr/>
        </p:nvSpPr>
        <p:spPr>
          <a:xfrm>
            <a:off x="548640" y="4480560"/>
            <a:ext cx="7315200" cy="320040"/>
          </a:xfrm>
          <a:prstGeom prst="rect">
            <a:avLst/>
          </a:prstGeom>
          <a:noFill/>
          <a:ln/>
        </p:spPr>
        <p:txBody>
          <a:bodyPr wrap="square" lIns="0" tIns="0" rIns="0" bIns="0" rtlCol="0" anchor="t"/>
          <a:lstStyle/>
          <a:p>
            <a:pPr indent="0" marL="0">
              <a:buNone/>
            </a:pPr>
            <a:r>
              <a:rPr lang="en-US" sz="1600" dirty="0">
                <a:solidFill>
                  <a:schemeClr val="bg2"/>
                </a:solidFill>
              </a:rPr>
              <a:t>Sarıayak, Kahramankazan · 511.000 m² Hazine arazisi</a:t>
            </a:r>
            <a:endParaRPr lang="en-US" sz="1600" dirty="0"/>
          </a:p>
        </p:txBody>
      </p:sp>
      <p:sp>
        <p:nvSpPr>
          <p:cNvPr id="8" name="Text 5"/>
          <p:cNvSpPr txBox="1"/>
          <p:nvPr/>
        </p:nvSpPr>
        <p:spPr>
          <a:xfrm>
            <a:off x="548640" y="5989320"/>
            <a:ext cx="7315200" cy="320040"/>
          </a:xfrm>
          <a:prstGeom prst="rect">
            <a:avLst/>
          </a:prstGeom>
          <a:noFill/>
          <a:ln/>
        </p:spPr>
        <p:txBody>
          <a:bodyPr wrap="square" lIns="0" tIns="0" rIns="0" bIns="0" rtlCol="0" anchor="t"/>
          <a:lstStyle/>
          <a:p>
            <a:pPr indent="0" marL="0">
              <a:buNone/>
            </a:pPr>
            <a:r>
              <a:rPr lang="en-US" sz="1400" b="1" dirty="0">
                <a:solidFill>
                  <a:schemeClr val="bg1"/>
                </a:solidFill>
              </a:rPr>
              <a:t>Belen &amp; Partners · Ekim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ÖZET</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bg1"/>
                </a:solidFill>
              </a:rPr>
              <a:t>Önerinin özeti</a:t>
            </a:r>
            <a:endParaRPr lang="en-US" sz="3600" dirty="0"/>
          </a:p>
        </p:txBody>
      </p:sp>
      <p:sp>
        <p:nvSpPr>
          <p:cNvPr id="4" name="Text 2"/>
          <p:cNvSpPr txBox="1"/>
          <p:nvPr/>
        </p:nvSpPr>
        <p:spPr>
          <a:xfrm>
            <a:off x="548640" y="1691640"/>
            <a:ext cx="10241280" cy="1371600"/>
          </a:xfrm>
          <a:prstGeom prst="rect">
            <a:avLst/>
          </a:prstGeom>
          <a:noFill/>
          <a:ln/>
        </p:spPr>
        <p:txBody>
          <a:bodyPr wrap="square" lIns="0" tIns="0" rIns="0" bIns="0" rtlCol="0" anchor="t"/>
          <a:lstStyle/>
          <a:p>
            <a:pPr indent="0" marL="0">
              <a:buNone/>
            </a:pPr>
            <a:r>
              <a:rPr lang="en-US" sz="2600" i="1" dirty="0">
                <a:solidFill>
                  <a:schemeClr val="bg1"/>
                </a:solidFill>
                <a:latin typeface="Cambria" pitchFamily="34" charset="0"/>
                <a:ea typeface="Cambria" pitchFamily="34" charset="-122"/>
                <a:cs typeface="Cambria" pitchFamily="34" charset="-120"/>
              </a:rPr>
              <a:t>Sarıayak'taki 511 bin m²'lik Hazine arazisinde, savunma ve havacılık sanayi çalışanlarına yönelik, eğitim, sağlık ve sosyal donatılarıyla bütünleşik, herkese açık bir yaşam alanının kurulması önerilmektedir: Kahramankazan Uydukent.</a:t>
            </a:r>
            <a:endParaRPr lang="en-US" sz="2600" dirty="0"/>
          </a:p>
        </p:txBody>
      </p:sp>
      <p:sp>
        <p:nvSpPr>
          <p:cNvPr id="5" name="Gösterge"/>
          <p:cNvSpPr/>
          <p:nvPr/>
        </p:nvSpPr>
        <p:spPr>
          <a:xfrm>
            <a:off x="548640" y="3520440"/>
            <a:ext cx="2036003" cy="1783080"/>
          </a:xfrm>
          <a:prstGeom prst="roundRect">
            <a:avLst>
              <a:gd name="adj" fmla="val 4103"/>
            </a:avLst>
          </a:prstGeom>
          <a:solidFill>
            <a:schemeClr val="bg1">
              <a:alpha val="12000"/>
            </a:schemeClr>
          </a:solidFill>
          <a:ln/>
        </p:spPr>
      </p:sp>
      <p:sp>
        <p:nvSpPr>
          <p:cNvPr id="6" name="Text 4"/>
          <p:cNvSpPr txBox="1"/>
          <p:nvPr/>
        </p:nvSpPr>
        <p:spPr>
          <a:xfrm>
            <a:off x="731520" y="3648456"/>
            <a:ext cx="1670243" cy="891540"/>
          </a:xfrm>
          <a:prstGeom prst="rect">
            <a:avLst/>
          </a:prstGeom>
          <a:noFill/>
          <a:ln/>
        </p:spPr>
        <p:txBody>
          <a:bodyPr wrap="square" lIns="0" tIns="0" rIns="0" bIns="0" rtlCol="0" anchor="b"/>
          <a:lstStyle/>
          <a:p>
            <a:pPr indent="0" marL="0">
              <a:buNone/>
            </a:pPr>
            <a:r>
              <a:rPr lang="en-US" sz="2800" b="1" dirty="0">
                <a:solidFill>
                  <a:schemeClr val="accent4"/>
                </a:solidFill>
                <a:latin typeface="Cambria" pitchFamily="34" charset="0"/>
                <a:ea typeface="Cambria" pitchFamily="34" charset="-122"/>
                <a:cs typeface="Cambria" pitchFamily="34" charset="-120"/>
              </a:rPr>
              <a:t>51,1 ha</a:t>
            </a:r>
            <a:endParaRPr lang="en-US" sz="2800" dirty="0"/>
          </a:p>
        </p:txBody>
      </p:sp>
      <p:sp>
        <p:nvSpPr>
          <p:cNvPr id="7" name="Text 5"/>
          <p:cNvSpPr txBox="1"/>
          <p:nvPr/>
        </p:nvSpPr>
        <p:spPr>
          <a:xfrm>
            <a:off x="731520" y="4558284"/>
            <a:ext cx="1670243" cy="653796"/>
          </a:xfrm>
          <a:prstGeom prst="rect">
            <a:avLst/>
          </a:prstGeom>
          <a:noFill/>
          <a:ln/>
        </p:spPr>
        <p:txBody>
          <a:bodyPr wrap="square" lIns="0" tIns="0" rIns="0" bIns="0" rtlCol="0" anchor="t"/>
          <a:lstStyle/>
          <a:p>
            <a:pPr indent="0" marL="0">
              <a:buNone/>
            </a:pPr>
            <a:r>
              <a:rPr lang="en-US" sz="1400" dirty="0">
                <a:solidFill>
                  <a:schemeClr val="bg1"/>
                </a:solidFill>
              </a:rPr>
              <a:t>Hazine arazisi; satın alma gerektirmez</a:t>
            </a:r>
            <a:endParaRPr lang="en-US" sz="1400" dirty="0"/>
          </a:p>
        </p:txBody>
      </p:sp>
      <p:sp>
        <p:nvSpPr>
          <p:cNvPr id="8" name="Gösterge"/>
          <p:cNvSpPr/>
          <p:nvPr/>
        </p:nvSpPr>
        <p:spPr>
          <a:xfrm>
            <a:off x="2813243" y="3520440"/>
            <a:ext cx="2036003" cy="1783080"/>
          </a:xfrm>
          <a:prstGeom prst="roundRect">
            <a:avLst>
              <a:gd name="adj" fmla="val 4103"/>
            </a:avLst>
          </a:prstGeom>
          <a:solidFill>
            <a:schemeClr val="bg1">
              <a:alpha val="12000"/>
            </a:schemeClr>
          </a:solidFill>
          <a:ln/>
        </p:spPr>
      </p:sp>
      <p:sp>
        <p:nvSpPr>
          <p:cNvPr id="9" name="Text 7"/>
          <p:cNvSpPr txBox="1"/>
          <p:nvPr/>
        </p:nvSpPr>
        <p:spPr>
          <a:xfrm>
            <a:off x="2996123" y="3648456"/>
            <a:ext cx="1670243" cy="891540"/>
          </a:xfrm>
          <a:prstGeom prst="rect">
            <a:avLst/>
          </a:prstGeom>
          <a:noFill/>
          <a:ln/>
        </p:spPr>
        <p:txBody>
          <a:bodyPr wrap="square" lIns="0" tIns="0" rIns="0" bIns="0" rtlCol="0" anchor="b"/>
          <a:lstStyle/>
          <a:p>
            <a:pPr indent="0" marL="0">
              <a:buNone/>
            </a:pPr>
            <a:r>
              <a:rPr lang="en-US" sz="2800" b="1" dirty="0">
                <a:solidFill>
                  <a:schemeClr val="accent4"/>
                </a:solidFill>
                <a:latin typeface="Cambria" pitchFamily="34" charset="0"/>
                <a:ea typeface="Cambria" pitchFamily="34" charset="-122"/>
                <a:cs typeface="Cambria" pitchFamily="34" charset="-120"/>
              </a:rPr>
              <a:t>2.500</a:t>
            </a:r>
            <a:endParaRPr lang="en-US" sz="2800" dirty="0"/>
          </a:p>
        </p:txBody>
      </p:sp>
      <p:sp>
        <p:nvSpPr>
          <p:cNvPr id="10" name="Text 8"/>
          <p:cNvSpPr txBox="1"/>
          <p:nvPr/>
        </p:nvSpPr>
        <p:spPr>
          <a:xfrm>
            <a:off x="2996123" y="4558284"/>
            <a:ext cx="1670243" cy="653796"/>
          </a:xfrm>
          <a:prstGeom prst="rect">
            <a:avLst/>
          </a:prstGeom>
          <a:noFill/>
          <a:ln/>
        </p:spPr>
        <p:txBody>
          <a:bodyPr wrap="square" lIns="0" tIns="0" rIns="0" bIns="0" rtlCol="0" anchor="t"/>
          <a:lstStyle/>
          <a:p>
            <a:pPr indent="0" marL="0">
              <a:buNone/>
            </a:pPr>
            <a:r>
              <a:rPr lang="en-US" sz="1400" dirty="0">
                <a:solidFill>
                  <a:schemeClr val="bg1"/>
                </a:solidFill>
              </a:rPr>
              <a:t>konut (önerilen senaryo)</a:t>
            </a:r>
            <a:endParaRPr lang="en-US" sz="1400" dirty="0"/>
          </a:p>
        </p:txBody>
      </p:sp>
      <p:sp>
        <p:nvSpPr>
          <p:cNvPr id="11" name="Gösterge"/>
          <p:cNvSpPr/>
          <p:nvPr/>
        </p:nvSpPr>
        <p:spPr>
          <a:xfrm>
            <a:off x="5077846" y="3520440"/>
            <a:ext cx="2036003" cy="1783080"/>
          </a:xfrm>
          <a:prstGeom prst="roundRect">
            <a:avLst>
              <a:gd name="adj" fmla="val 4103"/>
            </a:avLst>
          </a:prstGeom>
          <a:solidFill>
            <a:schemeClr val="bg1">
              <a:alpha val="12000"/>
            </a:schemeClr>
          </a:solidFill>
          <a:ln/>
        </p:spPr>
      </p:sp>
      <p:sp>
        <p:nvSpPr>
          <p:cNvPr id="12" name="Text 10"/>
          <p:cNvSpPr txBox="1"/>
          <p:nvPr/>
        </p:nvSpPr>
        <p:spPr>
          <a:xfrm>
            <a:off x="5260726" y="3648456"/>
            <a:ext cx="1670243" cy="891540"/>
          </a:xfrm>
          <a:prstGeom prst="rect">
            <a:avLst/>
          </a:prstGeom>
          <a:noFill/>
          <a:ln/>
        </p:spPr>
        <p:txBody>
          <a:bodyPr wrap="square" lIns="0" tIns="0" rIns="0" bIns="0" rtlCol="0" anchor="b"/>
          <a:lstStyle/>
          <a:p>
            <a:pPr indent="0" marL="0">
              <a:buNone/>
            </a:pPr>
            <a:r>
              <a:rPr lang="en-US" sz="2800" b="1" dirty="0">
                <a:solidFill>
                  <a:schemeClr val="accent4"/>
                </a:solidFill>
                <a:latin typeface="Cambria" pitchFamily="34" charset="0"/>
                <a:ea typeface="Cambria" pitchFamily="34" charset="-122"/>
                <a:cs typeface="Cambria" pitchFamily="34" charset="-120"/>
              </a:rPr>
              <a:t>~7.500</a:t>
            </a:r>
            <a:endParaRPr lang="en-US" sz="2800" dirty="0"/>
          </a:p>
        </p:txBody>
      </p:sp>
      <p:sp>
        <p:nvSpPr>
          <p:cNvPr id="13" name="Text 11"/>
          <p:cNvSpPr txBox="1"/>
          <p:nvPr/>
        </p:nvSpPr>
        <p:spPr>
          <a:xfrm>
            <a:off x="5260726" y="4558284"/>
            <a:ext cx="1670243" cy="653796"/>
          </a:xfrm>
          <a:prstGeom prst="rect">
            <a:avLst/>
          </a:prstGeom>
          <a:noFill/>
          <a:ln/>
        </p:spPr>
        <p:txBody>
          <a:bodyPr wrap="square" lIns="0" tIns="0" rIns="0" bIns="0" rtlCol="0" anchor="t"/>
          <a:lstStyle/>
          <a:p>
            <a:pPr indent="0" marL="0">
              <a:buNone/>
            </a:pPr>
            <a:r>
              <a:rPr lang="en-US" sz="1400" dirty="0">
                <a:solidFill>
                  <a:schemeClr val="bg1"/>
                </a:solidFill>
              </a:rPr>
              <a:t>kişi</a:t>
            </a:r>
            <a:endParaRPr lang="en-US" sz="1400" dirty="0"/>
          </a:p>
        </p:txBody>
      </p:sp>
      <p:sp>
        <p:nvSpPr>
          <p:cNvPr id="14" name="Gösterge"/>
          <p:cNvSpPr/>
          <p:nvPr/>
        </p:nvSpPr>
        <p:spPr>
          <a:xfrm>
            <a:off x="7342449" y="3520440"/>
            <a:ext cx="2036003" cy="1783080"/>
          </a:xfrm>
          <a:prstGeom prst="roundRect">
            <a:avLst>
              <a:gd name="adj" fmla="val 4103"/>
            </a:avLst>
          </a:prstGeom>
          <a:solidFill>
            <a:schemeClr val="bg1">
              <a:alpha val="12000"/>
            </a:schemeClr>
          </a:solidFill>
          <a:ln/>
        </p:spPr>
      </p:sp>
      <p:sp>
        <p:nvSpPr>
          <p:cNvPr id="15" name="Text 13"/>
          <p:cNvSpPr txBox="1"/>
          <p:nvPr/>
        </p:nvSpPr>
        <p:spPr>
          <a:xfrm>
            <a:off x="7525329" y="3648456"/>
            <a:ext cx="1670243" cy="891540"/>
          </a:xfrm>
          <a:prstGeom prst="rect">
            <a:avLst/>
          </a:prstGeom>
          <a:noFill/>
          <a:ln/>
        </p:spPr>
        <p:txBody>
          <a:bodyPr wrap="square" lIns="0" tIns="0" rIns="0" bIns="0" rtlCol="0" anchor="b"/>
          <a:lstStyle/>
          <a:p>
            <a:pPr indent="0" marL="0">
              <a:buNone/>
            </a:pPr>
            <a:r>
              <a:rPr lang="en-US" sz="2800" b="1" dirty="0">
                <a:solidFill>
                  <a:schemeClr val="accent4"/>
                </a:solidFill>
                <a:latin typeface="Cambria" pitchFamily="34" charset="0"/>
                <a:ea typeface="Cambria" pitchFamily="34" charset="-122"/>
                <a:cs typeface="Cambria" pitchFamily="34" charset="-120"/>
              </a:rPr>
              <a:t>~12,5 mlr</a:t>
            </a:r>
            <a:endParaRPr lang="en-US" sz="2800" dirty="0"/>
          </a:p>
        </p:txBody>
      </p:sp>
      <p:sp>
        <p:nvSpPr>
          <p:cNvPr id="16" name="Text 14"/>
          <p:cNvSpPr txBox="1"/>
          <p:nvPr/>
        </p:nvSpPr>
        <p:spPr>
          <a:xfrm>
            <a:off x="7525329" y="4558284"/>
            <a:ext cx="1670243" cy="653796"/>
          </a:xfrm>
          <a:prstGeom prst="rect">
            <a:avLst/>
          </a:prstGeom>
          <a:noFill/>
          <a:ln/>
        </p:spPr>
        <p:txBody>
          <a:bodyPr wrap="square" lIns="0" tIns="0" rIns="0" bIns="0" rtlCol="0" anchor="t"/>
          <a:lstStyle/>
          <a:p>
            <a:pPr indent="0" marL="0">
              <a:buNone/>
            </a:pPr>
            <a:r>
              <a:rPr lang="en-US" sz="1400" dirty="0">
                <a:solidFill>
                  <a:schemeClr val="bg1"/>
                </a:solidFill>
              </a:rPr>
              <a:t>TL toplam yatırım (9,9–15,9)</a:t>
            </a:r>
            <a:endParaRPr lang="en-US" sz="1400" dirty="0"/>
          </a:p>
        </p:txBody>
      </p:sp>
      <p:sp>
        <p:nvSpPr>
          <p:cNvPr id="17" name="Gösterge"/>
          <p:cNvSpPr/>
          <p:nvPr/>
        </p:nvSpPr>
        <p:spPr>
          <a:xfrm>
            <a:off x="9607052" y="3520440"/>
            <a:ext cx="2036003" cy="1783080"/>
          </a:xfrm>
          <a:prstGeom prst="roundRect">
            <a:avLst>
              <a:gd name="adj" fmla="val 4103"/>
            </a:avLst>
          </a:prstGeom>
          <a:solidFill>
            <a:schemeClr val="bg1">
              <a:alpha val="12000"/>
            </a:schemeClr>
          </a:solidFill>
          <a:ln/>
        </p:spPr>
      </p:sp>
      <p:sp>
        <p:nvSpPr>
          <p:cNvPr id="18" name="Text 16"/>
          <p:cNvSpPr txBox="1"/>
          <p:nvPr/>
        </p:nvSpPr>
        <p:spPr>
          <a:xfrm>
            <a:off x="9789932" y="3648456"/>
            <a:ext cx="1670243" cy="891540"/>
          </a:xfrm>
          <a:prstGeom prst="rect">
            <a:avLst/>
          </a:prstGeom>
          <a:noFill/>
          <a:ln/>
        </p:spPr>
        <p:txBody>
          <a:bodyPr wrap="square" lIns="0" tIns="0" rIns="0" bIns="0" rtlCol="0" anchor="b"/>
          <a:lstStyle/>
          <a:p>
            <a:pPr indent="0" marL="0">
              <a:buNone/>
            </a:pPr>
            <a:r>
              <a:rPr lang="en-US" sz="2800" b="1" dirty="0">
                <a:solidFill>
                  <a:schemeClr val="accent4"/>
                </a:solidFill>
                <a:latin typeface="Cambria" pitchFamily="34" charset="0"/>
                <a:ea typeface="Cambria" pitchFamily="34" charset="-122"/>
                <a:cs typeface="Cambria" pitchFamily="34" charset="-120"/>
              </a:rPr>
              <a:t>&lt; 35 dk</a:t>
            </a:r>
            <a:endParaRPr lang="en-US" sz="2800" dirty="0"/>
          </a:p>
        </p:txBody>
      </p:sp>
      <p:sp>
        <p:nvSpPr>
          <p:cNvPr id="19" name="Text 17"/>
          <p:cNvSpPr txBox="1"/>
          <p:nvPr/>
        </p:nvSpPr>
        <p:spPr>
          <a:xfrm>
            <a:off x="9789932" y="4558284"/>
            <a:ext cx="1670243" cy="653796"/>
          </a:xfrm>
          <a:prstGeom prst="rect">
            <a:avLst/>
          </a:prstGeom>
          <a:noFill/>
          <a:ln/>
        </p:spPr>
        <p:txBody>
          <a:bodyPr wrap="square" lIns="0" tIns="0" rIns="0" bIns="0" rtlCol="0" anchor="t"/>
          <a:lstStyle/>
          <a:p>
            <a:pPr indent="0" marL="0">
              <a:buNone/>
            </a:pPr>
            <a:r>
              <a:rPr lang="en-US" sz="1400" dirty="0">
                <a:solidFill>
                  <a:schemeClr val="bg1"/>
                </a:solidFill>
              </a:rPr>
              <a:t>sanayi bölgelerine ekspres ulaşım (hedef)</a:t>
            </a:r>
            <a:endParaRPr lang="en-US" sz="1400" dirty="0"/>
          </a:p>
        </p:txBody>
      </p:sp>
      <p:sp>
        <p:nvSpPr>
          <p:cNvPr id="20" name="Text 18"/>
          <p:cNvSpPr txBox="1"/>
          <p:nvPr/>
        </p:nvSpPr>
        <p:spPr>
          <a:xfrm>
            <a:off x="548640" y="5623560"/>
            <a:ext cx="11094415" cy="320040"/>
          </a:xfrm>
          <a:prstGeom prst="rect">
            <a:avLst/>
          </a:prstGeom>
          <a:noFill/>
          <a:ln/>
        </p:spPr>
        <p:txBody>
          <a:bodyPr wrap="square" lIns="0" tIns="0" rIns="0" bIns="0" rtlCol="0" anchor="t"/>
          <a:lstStyle/>
          <a:p>
            <a:pPr indent="0" marL="0">
              <a:buNone/>
            </a:pPr>
            <a:r>
              <a:rPr lang="en-US" sz="1300" dirty="0">
                <a:solidFill>
                  <a:schemeClr val="bg2"/>
                </a:solidFill>
              </a:rPr>
              <a:t>Konutların herkese açık olarak satışa sunulması ve savunma sanayi çalışanlarına öncelik tanınması öngörülmektedir. Tutarlar 2026 fiyatlarıyla, KDV ve arazi bedeli hariçtir.</a:t>
            </a:r>
            <a:endParaRPr lang="en-US" sz="13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GİRİŞ · GEREKÇE</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Sektörel büyüme ve insan kaynağı ihtiyacı</a:t>
            </a:r>
            <a:endParaRPr lang="en-US" sz="3600" dirty="0"/>
          </a:p>
        </p:txBody>
      </p:sp>
      <p:graphicFrame>
        <p:nvGraphicFramePr>
          <p:cNvPr id="4" name="Chart 0" descr=""/>
          <p:cNvGraphicFramePr/>
          <p:nvPr/>
        </p:nvGraphicFramePr>
        <p:xfrm>
          <a:off x="548640" y="1600200"/>
          <a:ext cx="4846320" cy="4343400"/>
        </p:xfrm>
        <a:graphic xmlns:a="http://schemas.openxmlformats.org/drawingml/2006/main">
          <a:graphicData uri="http://schemas.openxmlformats.org/drawingml/2006/chart">
            <c:chart xmlns:c="http://schemas.openxmlformats.org/drawingml/2006/chart" r:id="rId1"/>
          </a:graphicData>
        </a:graphic>
      </p:graphicFrame>
      <p:sp>
        <p:nvSpPr>
          <p:cNvPr id="5" name="İkon zemini"/>
          <p:cNvSpPr/>
          <p:nvPr/>
        </p:nvSpPr>
        <p:spPr>
          <a:xfrm>
            <a:off x="5852160" y="1645920"/>
            <a:ext cx="640080" cy="640080"/>
          </a:xfrm>
          <a:prstGeom prst="ellipse">
            <a:avLst/>
          </a:prstGeom>
          <a:solidFill>
            <a:schemeClr val="tx2"/>
          </a:solidFill>
          <a:ln/>
        </p:spPr>
      </p:sp>
      <p:pic>
        <p:nvPicPr>
          <p:cNvPr id="6" name="İkon FaChartLine" descr="preencoded.png">    </p:cNvPr>
          <p:cNvPicPr>
            <a:picLocks noChangeAspect="1"/>
          </p:cNvPicPr>
          <p:nvPr/>
        </p:nvPicPr>
        <p:blipFill>
          <a:blip r:embed="rId2"/>
          <a:stretch>
            <a:fillRect/>
          </a:stretch>
        </p:blipFill>
        <p:spPr>
          <a:xfrm>
            <a:off x="6005779" y="1799539"/>
            <a:ext cx="332842" cy="332842"/>
          </a:xfrm>
          <a:prstGeom prst="rect">
            <a:avLst/>
          </a:prstGeom>
        </p:spPr>
      </p:pic>
      <p:sp>
        <p:nvSpPr>
          <p:cNvPr id="7" name="Text 3"/>
          <p:cNvSpPr txBox="1"/>
          <p:nvPr/>
        </p:nvSpPr>
        <p:spPr>
          <a:xfrm>
            <a:off x="6675120" y="1645920"/>
            <a:ext cx="4937760" cy="365760"/>
          </a:xfrm>
          <a:prstGeom prst="rect">
            <a:avLst/>
          </a:prstGeom>
          <a:noFill/>
          <a:ln/>
        </p:spPr>
        <p:txBody>
          <a:bodyPr wrap="square" lIns="0" tIns="0" rIns="0" bIns="0" rtlCol="0" anchor="t"/>
          <a:lstStyle/>
          <a:p>
            <a:pPr indent="0" marL="0">
              <a:buNone/>
            </a:pPr>
            <a:r>
              <a:rPr lang="en-US" sz="1800" b="1" dirty="0">
                <a:solidFill>
                  <a:schemeClr val="tx2"/>
                </a:solidFill>
              </a:rPr>
              <a:t>İstihdam hedefi</a:t>
            </a:r>
            <a:endParaRPr lang="en-US" sz="1800" dirty="0"/>
          </a:p>
        </p:txBody>
      </p:sp>
      <p:sp>
        <p:nvSpPr>
          <p:cNvPr id="8" name="Text 4"/>
          <p:cNvSpPr txBox="1"/>
          <p:nvPr/>
        </p:nvSpPr>
        <p:spPr>
          <a:xfrm>
            <a:off x="6675120" y="2057400"/>
            <a:ext cx="4937760" cy="868680"/>
          </a:xfrm>
          <a:prstGeom prst="rect">
            <a:avLst/>
          </a:prstGeom>
          <a:noFill/>
          <a:ln/>
        </p:spPr>
        <p:txBody>
          <a:bodyPr wrap="square" lIns="0" tIns="0" rIns="0" bIns="0" rtlCol="0" anchor="t"/>
          <a:lstStyle/>
          <a:p>
            <a:pPr indent="0" marL="0">
              <a:buNone/>
            </a:pPr>
            <a:r>
              <a:rPr lang="en-US" sz="1500" dirty="0">
                <a:solidFill>
                  <a:schemeClr val="tx1"/>
                </a:solidFill>
              </a:rPr>
              <a:t>12. Kalkınma Planı'nda sektör istihdamının 2022'deki 81,1 binden 2028'de 158 bine çıkarılması hedeflenmektedir.</a:t>
            </a:r>
            <a:endParaRPr lang="en-US" sz="1500" dirty="0"/>
          </a:p>
        </p:txBody>
      </p:sp>
      <p:sp>
        <p:nvSpPr>
          <p:cNvPr id="9" name="İkon zemini"/>
          <p:cNvSpPr/>
          <p:nvPr/>
        </p:nvSpPr>
        <p:spPr>
          <a:xfrm>
            <a:off x="5852160" y="3108960"/>
            <a:ext cx="640080" cy="640080"/>
          </a:xfrm>
          <a:prstGeom prst="ellipse">
            <a:avLst/>
          </a:prstGeom>
          <a:solidFill>
            <a:schemeClr val="tx2"/>
          </a:solidFill>
          <a:ln/>
        </p:spPr>
      </p:sp>
      <p:pic>
        <p:nvPicPr>
          <p:cNvPr id="10" name="İkon FaTriangleExclamation" descr="preencoded.png">    </p:cNvPr>
          <p:cNvPicPr>
            <a:picLocks noChangeAspect="1"/>
          </p:cNvPicPr>
          <p:nvPr/>
        </p:nvPicPr>
        <p:blipFill>
          <a:blip r:embed="rId3"/>
          <a:stretch>
            <a:fillRect/>
          </a:stretch>
        </p:blipFill>
        <p:spPr>
          <a:xfrm>
            <a:off x="6005779" y="3262579"/>
            <a:ext cx="332842" cy="332842"/>
          </a:xfrm>
          <a:prstGeom prst="rect">
            <a:avLst/>
          </a:prstGeom>
        </p:spPr>
      </p:pic>
      <p:sp>
        <p:nvSpPr>
          <p:cNvPr id="11" name="Text 6"/>
          <p:cNvSpPr txBox="1"/>
          <p:nvPr/>
        </p:nvSpPr>
        <p:spPr>
          <a:xfrm>
            <a:off x="6675120" y="3108960"/>
            <a:ext cx="4937760" cy="365760"/>
          </a:xfrm>
          <a:prstGeom prst="rect">
            <a:avLst/>
          </a:prstGeom>
          <a:noFill/>
          <a:ln/>
        </p:spPr>
        <p:txBody>
          <a:bodyPr wrap="square" lIns="0" tIns="0" rIns="0" bIns="0" rtlCol="0" anchor="t"/>
          <a:lstStyle/>
          <a:p>
            <a:pPr indent="0" marL="0">
              <a:buNone/>
            </a:pPr>
            <a:r>
              <a:rPr lang="en-US" sz="1800" b="1" dirty="0">
                <a:solidFill>
                  <a:schemeClr val="tx2"/>
                </a:solidFill>
              </a:rPr>
              <a:t>Nitelikli personel kaybı riski</a:t>
            </a:r>
            <a:endParaRPr lang="en-US" sz="1800" dirty="0"/>
          </a:p>
        </p:txBody>
      </p:sp>
      <p:sp>
        <p:nvSpPr>
          <p:cNvPr id="12" name="Text 7"/>
          <p:cNvSpPr txBox="1"/>
          <p:nvPr/>
        </p:nvSpPr>
        <p:spPr>
          <a:xfrm>
            <a:off x="6675120" y="3520440"/>
            <a:ext cx="4937760" cy="868680"/>
          </a:xfrm>
          <a:prstGeom prst="rect">
            <a:avLst/>
          </a:prstGeom>
          <a:noFill/>
          <a:ln/>
        </p:spPr>
        <p:txBody>
          <a:bodyPr wrap="square" lIns="0" tIns="0" rIns="0" bIns="0" rtlCol="0" anchor="t"/>
          <a:lstStyle/>
          <a:p>
            <a:pPr indent="0" marL="0">
              <a:buNone/>
            </a:pPr>
            <a:r>
              <a:rPr lang="en-US" sz="1500" dirty="0">
                <a:solidFill>
                  <a:schemeClr val="tx1"/>
                </a:solidFill>
              </a:rPr>
              <a:t>SSB Stratejik Planı 2024–2028'de deneyimli personelin yurt dışına veya başka sektörlere geçişi tehdit olarak tanımlanmaktadır.</a:t>
            </a:r>
            <a:endParaRPr lang="en-US" sz="1500" dirty="0"/>
          </a:p>
        </p:txBody>
      </p:sp>
      <p:sp>
        <p:nvSpPr>
          <p:cNvPr id="13" name="İkon zemini"/>
          <p:cNvSpPr/>
          <p:nvPr/>
        </p:nvSpPr>
        <p:spPr>
          <a:xfrm>
            <a:off x="5852160" y="4572000"/>
            <a:ext cx="640080" cy="640080"/>
          </a:xfrm>
          <a:prstGeom prst="ellipse">
            <a:avLst/>
          </a:prstGeom>
          <a:solidFill>
            <a:schemeClr val="tx2"/>
          </a:solidFill>
          <a:ln/>
        </p:spPr>
      </p:sp>
      <p:pic>
        <p:nvPicPr>
          <p:cNvPr id="14" name="İkon FaIndustry" descr="preencoded.png">    </p:cNvPr>
          <p:cNvPicPr>
            <a:picLocks noChangeAspect="1"/>
          </p:cNvPicPr>
          <p:nvPr/>
        </p:nvPicPr>
        <p:blipFill>
          <a:blip r:embed="rId4"/>
          <a:stretch>
            <a:fillRect/>
          </a:stretch>
        </p:blipFill>
        <p:spPr>
          <a:xfrm>
            <a:off x="6005779" y="4725619"/>
            <a:ext cx="332842" cy="332842"/>
          </a:xfrm>
          <a:prstGeom prst="rect">
            <a:avLst/>
          </a:prstGeom>
        </p:spPr>
      </p:pic>
      <p:sp>
        <p:nvSpPr>
          <p:cNvPr id="15" name="Text 9"/>
          <p:cNvSpPr txBox="1"/>
          <p:nvPr/>
        </p:nvSpPr>
        <p:spPr>
          <a:xfrm>
            <a:off x="6675120" y="4572000"/>
            <a:ext cx="4937760" cy="365760"/>
          </a:xfrm>
          <a:prstGeom prst="rect">
            <a:avLst/>
          </a:prstGeom>
          <a:noFill/>
          <a:ln/>
        </p:spPr>
        <p:txBody>
          <a:bodyPr wrap="square" lIns="0" tIns="0" rIns="0" bIns="0" rtlCol="0" anchor="t"/>
          <a:lstStyle/>
          <a:p>
            <a:pPr indent="0" marL="0">
              <a:buNone/>
            </a:pPr>
            <a:r>
              <a:rPr lang="en-US" sz="1800" b="1" dirty="0">
                <a:solidFill>
                  <a:schemeClr val="tx2"/>
                </a:solidFill>
              </a:rPr>
              <a:t>Kahramankazan savunma ve havacılık kümesi</a:t>
            </a:r>
            <a:endParaRPr lang="en-US" sz="1800" dirty="0"/>
          </a:p>
        </p:txBody>
      </p:sp>
      <p:sp>
        <p:nvSpPr>
          <p:cNvPr id="16" name="Text 10"/>
          <p:cNvSpPr txBox="1"/>
          <p:nvPr/>
        </p:nvSpPr>
        <p:spPr>
          <a:xfrm>
            <a:off x="6675120" y="4983480"/>
            <a:ext cx="4937760" cy="868680"/>
          </a:xfrm>
          <a:prstGeom prst="rect">
            <a:avLst/>
          </a:prstGeom>
          <a:noFill/>
          <a:ln/>
        </p:spPr>
        <p:txBody>
          <a:bodyPr wrap="square" lIns="0" tIns="0" rIns="0" bIns="0" rtlCol="0" anchor="t"/>
          <a:lstStyle/>
          <a:p>
            <a:pPr indent="0" marL="0">
              <a:buNone/>
            </a:pPr>
            <a:r>
              <a:rPr lang="en-US" sz="1500" dirty="0">
                <a:solidFill>
                  <a:schemeClr val="tx1"/>
                </a:solidFill>
              </a:rPr>
              <a:t>Kümenin ana firmasında 13–17 bin çalışan bulunmaktadır (TUSAŞ, 2023–24 beyanları); HAB OSB için 15 bin istihdam hedeflenmektedir.</a:t>
            </a:r>
            <a:endParaRPr lang="en-US" sz="1500" dirty="0"/>
          </a:p>
        </p:txBody>
      </p:sp>
      <p:sp>
        <p:nvSpPr>
          <p:cNvPr id="17" name="Text 11"/>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12. Kalkınma Planı, Tablo 22; SSB Stratejik Planı 2024–2028, s. 46; TUSAŞ çalışan sayıları basın beyanlarından, teyit edilecek.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GİRİŞ · EKOSİSTEM</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Kahramankazan 2030 ekosistemi</a:t>
            </a:r>
            <a:endParaRPr lang="en-US" sz="3600" dirty="0"/>
          </a:p>
        </p:txBody>
      </p:sp>
      <p:pic>
        <p:nvPicPr>
          <p:cNvPr id="4" name="Kahramankazan 2030 savunma sanayii ekosistemi" descr="/home/user/sunum/araclar/sunum/assets/ekosistem.jpg">    </p:cNvPr>
          <p:cNvPicPr>
            <a:picLocks noChangeAspect="1"/>
          </p:cNvPicPr>
          <p:nvPr/>
        </p:nvPicPr>
        <p:blipFill>
          <a:blip r:embed="rId1"/>
          <a:stretch>
            <a:fillRect/>
          </a:stretch>
        </p:blipFill>
        <p:spPr>
          <a:xfrm>
            <a:off x="548640" y="1600200"/>
            <a:ext cx="6903720" cy="3883343"/>
          </a:xfrm>
          <a:prstGeom prst="rect">
            <a:avLst/>
          </a:prstGeom>
        </p:spPr>
      </p:pic>
      <p:sp>
        <p:nvSpPr>
          <p:cNvPr id="5" name="Bölge 1"/>
          <p:cNvSpPr/>
          <p:nvPr/>
        </p:nvSpPr>
        <p:spPr>
          <a:xfrm>
            <a:off x="7772400" y="1627632"/>
            <a:ext cx="384048" cy="384048"/>
          </a:xfrm>
          <a:prstGeom prst="ellipse">
            <a:avLst/>
          </a:prstGeom>
          <a:solidFill>
            <a:srgbClr val="C93BB8"/>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3"/>
          <p:cNvSpPr txBox="1"/>
          <p:nvPr/>
        </p:nvSpPr>
        <p:spPr>
          <a:xfrm>
            <a:off x="8275320" y="1572768"/>
            <a:ext cx="3322015" cy="502920"/>
          </a:xfrm>
          <a:prstGeom prst="rect">
            <a:avLst/>
          </a:prstGeom>
          <a:noFill/>
          <a:ln/>
        </p:spPr>
        <p:txBody>
          <a:bodyPr wrap="square" lIns="0" tIns="0" rIns="0" bIns="0" rtlCol="0" anchor="ctr"/>
          <a:lstStyle/>
          <a:p>
            <a:pPr indent="0" marL="0">
              <a:buNone/>
            </a:pPr>
            <a:r>
              <a:rPr lang="en-US" sz="1400" b="1" dirty="0">
                <a:solidFill>
                  <a:schemeClr val="tx2"/>
                </a:solidFill>
              </a:rPr>
              <a:t>Kentsel Dönüşüm Bölgesi</a:t>
            </a:r>
            <a:endParaRPr lang="en-US" sz="1400" dirty="0"/>
          </a:p>
          <a:p>
            <a:pPr indent="0" marL="0">
              <a:buNone/>
            </a:pPr>
            <a:r>
              <a:rPr lang="en-US" sz="1200" dirty="0">
                <a:solidFill>
                  <a:schemeClr val="accent5"/>
                </a:solidFill>
              </a:rPr>
              <a:t>Kahramankazan merkezi</a:t>
            </a:r>
            <a:endParaRPr lang="en-US" sz="1400" dirty="0"/>
          </a:p>
        </p:txBody>
      </p:sp>
      <p:sp>
        <p:nvSpPr>
          <p:cNvPr id="7" name="Bölge 2"/>
          <p:cNvSpPr/>
          <p:nvPr/>
        </p:nvSpPr>
        <p:spPr>
          <a:xfrm>
            <a:off x="7772400" y="2176272"/>
            <a:ext cx="384048" cy="384048"/>
          </a:xfrm>
          <a:prstGeom prst="ellipse">
            <a:avLst/>
          </a:prstGeom>
          <a:solidFill>
            <a:srgbClr val="D9363E"/>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5"/>
          <p:cNvSpPr txBox="1"/>
          <p:nvPr/>
        </p:nvSpPr>
        <p:spPr>
          <a:xfrm>
            <a:off x="8275320" y="2121408"/>
            <a:ext cx="3322015" cy="502920"/>
          </a:xfrm>
          <a:prstGeom prst="rect">
            <a:avLst/>
          </a:prstGeom>
          <a:noFill/>
          <a:ln/>
        </p:spPr>
        <p:txBody>
          <a:bodyPr wrap="square" lIns="0" tIns="0" rIns="0" bIns="0" rtlCol="0" anchor="ctr"/>
          <a:lstStyle/>
          <a:p>
            <a:pPr indent="0" marL="0">
              <a:buNone/>
            </a:pPr>
            <a:r>
              <a:rPr lang="en-US" sz="1400" b="1" dirty="0">
                <a:solidFill>
                  <a:schemeClr val="tx2"/>
                </a:solidFill>
              </a:rPr>
              <a:t>HAB Uzay Gelişim Alanı</a:t>
            </a:r>
            <a:endParaRPr lang="en-US" sz="1400" dirty="0"/>
          </a:p>
          <a:p>
            <a:pPr indent="0" marL="0">
              <a:buNone/>
            </a:pPr>
            <a:r>
              <a:rPr lang="en-US" sz="1200" dirty="0">
                <a:solidFill>
                  <a:schemeClr val="accent5"/>
                </a:solidFill>
              </a:rPr>
              <a:t>Kışla Bölgesi</a:t>
            </a:r>
            <a:endParaRPr lang="en-US" sz="1400" dirty="0"/>
          </a:p>
        </p:txBody>
      </p:sp>
      <p:sp>
        <p:nvSpPr>
          <p:cNvPr id="9" name="Bu çalışma"/>
          <p:cNvSpPr/>
          <p:nvPr/>
        </p:nvSpPr>
        <p:spPr>
          <a:xfrm>
            <a:off x="7680960" y="2642616"/>
            <a:ext cx="3962095" cy="548640"/>
          </a:xfrm>
          <a:prstGeom prst="roundRect">
            <a:avLst>
              <a:gd name="adj" fmla="val 10000"/>
            </a:avLst>
          </a:prstGeom>
          <a:solidFill>
            <a:schemeClr val="bg1"/>
          </a:solidFill>
          <a:ln w="15875">
            <a:solidFill>
              <a:srgbClr val="2F7DE1"/>
            </a:solidFill>
            <a:prstDash val="solid"/>
          </a:ln>
        </p:spPr>
      </p:sp>
      <p:sp>
        <p:nvSpPr>
          <p:cNvPr id="10" name="Bölge 3"/>
          <p:cNvSpPr/>
          <p:nvPr/>
        </p:nvSpPr>
        <p:spPr>
          <a:xfrm>
            <a:off x="7772400" y="2724912"/>
            <a:ext cx="384048" cy="384048"/>
          </a:xfrm>
          <a:prstGeom prst="ellipse">
            <a:avLst/>
          </a:prstGeom>
          <a:solidFill>
            <a:srgbClr val="2F7DE1"/>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8"/>
          <p:cNvSpPr txBox="1"/>
          <p:nvPr/>
        </p:nvSpPr>
        <p:spPr>
          <a:xfrm>
            <a:off x="8275320" y="2670048"/>
            <a:ext cx="3322015" cy="502920"/>
          </a:xfrm>
          <a:prstGeom prst="rect">
            <a:avLst/>
          </a:prstGeom>
          <a:noFill/>
          <a:ln/>
        </p:spPr>
        <p:txBody>
          <a:bodyPr wrap="square" lIns="0" tIns="0" rIns="0" bIns="0" rtlCol="0" anchor="ctr"/>
          <a:lstStyle/>
          <a:p>
            <a:pPr indent="0" marL="0">
              <a:buNone/>
            </a:pPr>
            <a:r>
              <a:rPr lang="en-US" sz="1400" b="1" dirty="0">
                <a:solidFill>
                  <a:schemeClr val="tx2"/>
                </a:solidFill>
              </a:rPr>
              <a:t>Uydukent (bu çalışmanın konusu)</a:t>
            </a:r>
            <a:endParaRPr lang="en-US" sz="1400" dirty="0"/>
          </a:p>
          <a:p>
            <a:pPr indent="0" marL="0">
              <a:buNone/>
            </a:pPr>
            <a:r>
              <a:rPr lang="en-US" sz="1200" dirty="0">
                <a:solidFill>
                  <a:schemeClr val="accent5"/>
                </a:solidFill>
              </a:rPr>
              <a:t>Sarıayak Bölgesi · 51,1 ha</a:t>
            </a:r>
            <a:endParaRPr lang="en-US" sz="1400" dirty="0"/>
          </a:p>
        </p:txBody>
      </p:sp>
      <p:sp>
        <p:nvSpPr>
          <p:cNvPr id="12" name="Bölge 4"/>
          <p:cNvSpPr/>
          <p:nvPr/>
        </p:nvSpPr>
        <p:spPr>
          <a:xfrm>
            <a:off x="7772400" y="3273552"/>
            <a:ext cx="384048" cy="384048"/>
          </a:xfrm>
          <a:prstGeom prst="ellipse">
            <a:avLst/>
          </a:prstGeom>
          <a:solidFill>
            <a:srgbClr val="E8831F"/>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3" name="Text 10"/>
          <p:cNvSpPr txBox="1"/>
          <p:nvPr/>
        </p:nvSpPr>
        <p:spPr>
          <a:xfrm>
            <a:off x="8275320" y="3218688"/>
            <a:ext cx="3322015" cy="502920"/>
          </a:xfrm>
          <a:prstGeom prst="rect">
            <a:avLst/>
          </a:prstGeom>
          <a:noFill/>
          <a:ln/>
        </p:spPr>
        <p:txBody>
          <a:bodyPr wrap="square" lIns="0" tIns="0" rIns="0" bIns="0" rtlCol="0" anchor="ctr"/>
          <a:lstStyle/>
          <a:p>
            <a:pPr indent="0" marL="0">
              <a:buNone/>
            </a:pPr>
            <a:r>
              <a:rPr lang="en-US" sz="1400" b="1" dirty="0">
                <a:solidFill>
                  <a:schemeClr val="tx2"/>
                </a:solidFill>
              </a:rPr>
              <a:t>Kınık Özel Endüstri Sanayi Alanı</a:t>
            </a:r>
            <a:endParaRPr lang="en-US" sz="1400" dirty="0"/>
          </a:p>
          <a:p>
            <a:pPr indent="0" marL="0">
              <a:buNone/>
            </a:pPr>
            <a:r>
              <a:rPr lang="en-US" sz="1200" dirty="0">
                <a:solidFill>
                  <a:schemeClr val="accent5"/>
                </a:solidFill>
              </a:rPr>
              <a:t>Kınık Bölgesi</a:t>
            </a:r>
            <a:endParaRPr lang="en-US" sz="1400" dirty="0"/>
          </a:p>
        </p:txBody>
      </p:sp>
      <p:sp>
        <p:nvSpPr>
          <p:cNvPr id="14" name="Bölge 5"/>
          <p:cNvSpPr/>
          <p:nvPr/>
        </p:nvSpPr>
        <p:spPr>
          <a:xfrm>
            <a:off x="7772400" y="3822192"/>
            <a:ext cx="384048" cy="384048"/>
          </a:xfrm>
          <a:prstGeom prst="ellipse">
            <a:avLst/>
          </a:prstGeom>
          <a:solidFill>
            <a:srgbClr val="F0A040"/>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5" name="Text 12"/>
          <p:cNvSpPr txBox="1"/>
          <p:nvPr/>
        </p:nvSpPr>
        <p:spPr>
          <a:xfrm>
            <a:off x="8275320" y="3767328"/>
            <a:ext cx="3322015" cy="502920"/>
          </a:xfrm>
          <a:prstGeom prst="rect">
            <a:avLst/>
          </a:prstGeom>
          <a:noFill/>
          <a:ln/>
        </p:spPr>
        <p:txBody>
          <a:bodyPr wrap="square" lIns="0" tIns="0" rIns="0" bIns="0" rtlCol="0" anchor="ctr"/>
          <a:lstStyle/>
          <a:p>
            <a:pPr indent="0" marL="0">
              <a:buNone/>
            </a:pPr>
            <a:r>
              <a:rPr lang="en-US" sz="1400" b="1" dirty="0">
                <a:solidFill>
                  <a:schemeClr val="tx2"/>
                </a:solidFill>
              </a:rPr>
              <a:t>Hafif raylı ulaşım sistemi</a:t>
            </a:r>
            <a:endParaRPr lang="en-US" sz="1400" dirty="0"/>
          </a:p>
          <a:p>
            <a:pPr indent="0" marL="0">
              <a:buNone/>
            </a:pPr>
            <a:r>
              <a:rPr lang="en-US" sz="1200" dirty="0">
                <a:solidFill>
                  <a:schemeClr val="accent5"/>
                </a:solidFill>
              </a:rPr>
              <a:t>Kahramankazan–Kışla hattı</a:t>
            </a:r>
            <a:endParaRPr lang="en-US" sz="1400" dirty="0"/>
          </a:p>
        </p:txBody>
      </p:sp>
      <p:sp>
        <p:nvSpPr>
          <p:cNvPr id="16" name="Bölge +"/>
          <p:cNvSpPr/>
          <p:nvPr/>
        </p:nvSpPr>
        <p:spPr>
          <a:xfrm>
            <a:off x="7772400" y="4370832"/>
            <a:ext cx="384048" cy="384048"/>
          </a:xfrm>
          <a:prstGeom prst="ellipse">
            <a:avLst/>
          </a:prstGeom>
          <a:solidFill>
            <a:srgbClr val="2AAFB8"/>
          </a:solidFill>
          <a:ln/>
        </p:spPr>
        <p:txBody>
          <a:bodyPr wrap="square" lIns="0" tIns="0" rIns="0" bIns="0" rtlCol="0" anchor="ctr"/>
          <a:lstStyle/>
          <a:p>
            <a:pPr algn="ctr" indent="0" marL="0">
              <a:buNone/>
            </a:pPr>
            <a:r>
              <a:rPr lang="en-US" sz="1400" b="1" dirty="0">
                <a:solidFill>
                  <a:srgbClr val="FFFFFF"/>
                </a:solidFill>
              </a:rPr>
              <a:t>+</a:t>
            </a:r>
            <a:endParaRPr lang="en-US" sz="1400" dirty="0"/>
          </a:p>
        </p:txBody>
      </p:sp>
      <p:sp>
        <p:nvSpPr>
          <p:cNvPr id="17" name="Text 14"/>
          <p:cNvSpPr txBox="1"/>
          <p:nvPr/>
        </p:nvSpPr>
        <p:spPr>
          <a:xfrm>
            <a:off x="8275320" y="4315968"/>
            <a:ext cx="3322015" cy="502920"/>
          </a:xfrm>
          <a:prstGeom prst="rect">
            <a:avLst/>
          </a:prstGeom>
          <a:noFill/>
          <a:ln/>
        </p:spPr>
        <p:txBody>
          <a:bodyPr wrap="square" lIns="0" tIns="0" rIns="0" bIns="0" rtlCol="0" anchor="ctr"/>
          <a:lstStyle/>
          <a:p>
            <a:pPr indent="0" marL="0">
              <a:buNone/>
            </a:pPr>
            <a:r>
              <a:rPr lang="en-US" sz="1400" b="1" dirty="0">
                <a:solidFill>
                  <a:schemeClr val="tx2"/>
                </a:solidFill>
              </a:rPr>
              <a:t>Tropik yaşam ve sağlık merkezi</a:t>
            </a:r>
            <a:endParaRPr lang="en-US" sz="1400" dirty="0"/>
          </a:p>
          <a:p>
            <a:pPr indent="0" marL="0">
              <a:buNone/>
            </a:pPr>
            <a:r>
              <a:rPr lang="en-US" sz="1200" dirty="0">
                <a:solidFill>
                  <a:schemeClr val="accent5"/>
                </a:solidFill>
              </a:rPr>
              <a:t>Soğucak Bölgesi</a:t>
            </a:r>
            <a:endParaRPr lang="en-US" sz="1400" dirty="0"/>
          </a:p>
        </p:txBody>
      </p:sp>
      <p:sp>
        <p:nvSpPr>
          <p:cNvPr id="18" name="Gösterge"/>
          <p:cNvSpPr/>
          <p:nvPr/>
        </p:nvSpPr>
        <p:spPr>
          <a:xfrm>
            <a:off x="7680960" y="4983480"/>
            <a:ext cx="3962095" cy="1005840"/>
          </a:xfrm>
          <a:prstGeom prst="roundRect">
            <a:avLst>
              <a:gd name="adj" fmla="val 7273"/>
            </a:avLst>
          </a:prstGeom>
          <a:solidFill>
            <a:schemeClr val="bg1"/>
          </a:solidFill>
          <a:ln/>
          <a:effectLst>
            <a:outerShdw sx="100000" sy="100000" kx="0" ky="0" algn="bl" rotWithShape="0" blurRad="76200" dist="19050" dir="5400000">
              <a:srgbClr val="000000">
                <a:alpha val="12000"/>
              </a:srgbClr>
            </a:outerShdw>
          </a:effectLst>
        </p:spPr>
      </p:sp>
      <p:sp>
        <p:nvSpPr>
          <p:cNvPr id="19" name="Text 16"/>
          <p:cNvSpPr txBox="1"/>
          <p:nvPr/>
        </p:nvSpPr>
        <p:spPr>
          <a:xfrm>
            <a:off x="7863840" y="5111496"/>
            <a:ext cx="3596335" cy="502920"/>
          </a:xfrm>
          <a:prstGeom prst="rect">
            <a:avLst/>
          </a:prstGeom>
          <a:noFill/>
          <a:ln/>
        </p:spPr>
        <p:txBody>
          <a:bodyPr wrap="square" lIns="0" tIns="0" rIns="0" bIns="0" rtlCol="0" anchor="b"/>
          <a:lstStyle/>
          <a:p>
            <a:pPr indent="0" marL="0">
              <a:buNone/>
            </a:pPr>
            <a:r>
              <a:rPr lang="en-US" sz="1800" b="1" dirty="0">
                <a:solidFill>
                  <a:schemeClr val="tx2"/>
                </a:solidFill>
                <a:latin typeface="Cambria" pitchFamily="34" charset="0"/>
                <a:ea typeface="Cambria" pitchFamily="34" charset="-122"/>
                <a:cs typeface="Cambria" pitchFamily="34" charset="-120"/>
              </a:rPr>
              <a:t>35,6 mn m² · 100–200 bin kişi</a:t>
            </a:r>
            <a:endParaRPr lang="en-US" sz="1800" dirty="0"/>
          </a:p>
        </p:txBody>
      </p:sp>
      <p:sp>
        <p:nvSpPr>
          <p:cNvPr id="20" name="Text 17"/>
          <p:cNvSpPr txBox="1"/>
          <p:nvPr/>
        </p:nvSpPr>
        <p:spPr>
          <a:xfrm>
            <a:off x="7863840" y="5632704"/>
            <a:ext cx="3596335" cy="265176"/>
          </a:xfrm>
          <a:prstGeom prst="rect">
            <a:avLst/>
          </a:prstGeom>
          <a:noFill/>
          <a:ln/>
        </p:spPr>
        <p:txBody>
          <a:bodyPr wrap="square" lIns="0" tIns="0" rIns="0" bIns="0" rtlCol="0" anchor="t"/>
          <a:lstStyle/>
          <a:p>
            <a:pPr indent="0" marL="0">
              <a:buNone/>
            </a:pPr>
            <a:r>
              <a:rPr lang="en-US" sz="1200" dirty="0">
                <a:solidFill>
                  <a:schemeClr val="tx1"/>
                </a:solidFill>
              </a:rPr>
              <a:t>ekosistemin tamamı, diğer projelerle birlikte</a:t>
            </a:r>
            <a:endParaRPr lang="en-US" sz="1200" dirty="0"/>
          </a:p>
        </p:txBody>
      </p:sp>
      <p:sp>
        <p:nvSpPr>
          <p:cNvPr id="21" name="Text 18"/>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proje ekibinin ekosistem görseli (vizyon; teyit edilecek). Uydukent'in kendi programı: 51,1 ha, 2.500 konut, ~7.500 kişi.</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BÖLGE · SAVUNMA VE HAVACILIK KÜMESİ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Savunma ve havacılık kümesi rakamlarla</a:t>
            </a:r>
            <a:endParaRPr lang="en-US" sz="3600" dirty="0"/>
          </a:p>
        </p:txBody>
      </p:sp>
      <p:sp>
        <p:nvSpPr>
          <p:cNvPr id="4" name="Gösterge"/>
          <p:cNvSpPr/>
          <p:nvPr/>
        </p:nvSpPr>
        <p:spPr>
          <a:xfrm>
            <a:off x="548640" y="1600200"/>
            <a:ext cx="3515258"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5" name="Text 3"/>
          <p:cNvSpPr txBox="1"/>
          <p:nvPr/>
        </p:nvSpPr>
        <p:spPr>
          <a:xfrm>
            <a:off x="731520" y="1728216"/>
            <a:ext cx="3149498" cy="662940"/>
          </a:xfrm>
          <a:prstGeom prst="rect">
            <a:avLst/>
          </a:prstGeom>
          <a:noFill/>
          <a:ln/>
        </p:spPr>
        <p:txBody>
          <a:bodyPr wrap="square" lIns="0" tIns="0" rIns="0" bIns="0" rtlCol="0" anchor="b"/>
          <a:lstStyle/>
          <a:p>
            <a:pPr indent="0" marL="0">
              <a:buNone/>
            </a:pPr>
            <a:r>
              <a:rPr lang="en-US" sz="2800" b="1" dirty="0">
                <a:solidFill>
                  <a:schemeClr val="tx2"/>
                </a:solidFill>
                <a:latin typeface="Cambria" pitchFamily="34" charset="0"/>
                <a:ea typeface="Cambria" pitchFamily="34" charset="-122"/>
                <a:cs typeface="Cambria" pitchFamily="34" charset="-120"/>
              </a:rPr>
              <a:t>158,0 bin</a:t>
            </a:r>
            <a:endParaRPr lang="en-US" sz="2800" dirty="0"/>
          </a:p>
        </p:txBody>
      </p:sp>
      <p:sp>
        <p:nvSpPr>
          <p:cNvPr id="6" name="Text 4"/>
          <p:cNvSpPr txBox="1"/>
          <p:nvPr/>
        </p:nvSpPr>
        <p:spPr>
          <a:xfrm>
            <a:off x="731520" y="2409444"/>
            <a:ext cx="3149498" cy="425196"/>
          </a:xfrm>
          <a:prstGeom prst="rect">
            <a:avLst/>
          </a:prstGeom>
          <a:noFill/>
          <a:ln/>
        </p:spPr>
        <p:txBody>
          <a:bodyPr wrap="square" lIns="0" tIns="0" rIns="0" bIns="0" rtlCol="0" anchor="t"/>
          <a:lstStyle/>
          <a:p>
            <a:pPr indent="0" marL="0">
              <a:buNone/>
            </a:pPr>
            <a:r>
              <a:rPr lang="en-US" sz="1300" dirty="0">
                <a:solidFill>
                  <a:schemeClr val="tx1"/>
                </a:solidFill>
              </a:rPr>
              <a:t>2028 sektör istihdam hedefi (Tablo 22)</a:t>
            </a:r>
            <a:endParaRPr lang="en-US" sz="1300" dirty="0"/>
          </a:p>
        </p:txBody>
      </p:sp>
      <p:sp>
        <p:nvSpPr>
          <p:cNvPr id="7" name="Gösterge"/>
          <p:cNvSpPr/>
          <p:nvPr/>
        </p:nvSpPr>
        <p:spPr>
          <a:xfrm>
            <a:off x="4338218" y="1600200"/>
            <a:ext cx="3515258"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8" name="Text 6"/>
          <p:cNvSpPr txBox="1"/>
          <p:nvPr/>
        </p:nvSpPr>
        <p:spPr>
          <a:xfrm>
            <a:off x="4521098" y="1728216"/>
            <a:ext cx="3149498" cy="662940"/>
          </a:xfrm>
          <a:prstGeom prst="rect">
            <a:avLst/>
          </a:prstGeom>
          <a:noFill/>
          <a:ln/>
        </p:spPr>
        <p:txBody>
          <a:bodyPr wrap="square" lIns="0" tIns="0" rIns="0" bIns="0" rtlCol="0" anchor="b"/>
          <a:lstStyle/>
          <a:p>
            <a:pPr indent="0" marL="0">
              <a:buNone/>
            </a:pPr>
            <a:r>
              <a:rPr lang="en-US" sz="2800" b="1" dirty="0">
                <a:solidFill>
                  <a:schemeClr val="tx2"/>
                </a:solidFill>
                <a:latin typeface="Cambria" pitchFamily="34" charset="0"/>
                <a:ea typeface="Cambria" pitchFamily="34" charset="-122"/>
                <a:cs typeface="Cambria" pitchFamily="34" charset="-120"/>
              </a:rPr>
              <a:t>119,8 bin</a:t>
            </a:r>
            <a:endParaRPr lang="en-US" sz="2800" dirty="0"/>
          </a:p>
        </p:txBody>
      </p:sp>
      <p:sp>
        <p:nvSpPr>
          <p:cNvPr id="9" name="Text 7"/>
          <p:cNvSpPr txBox="1"/>
          <p:nvPr/>
        </p:nvSpPr>
        <p:spPr>
          <a:xfrm>
            <a:off x="4521098" y="2409444"/>
            <a:ext cx="3149498" cy="425196"/>
          </a:xfrm>
          <a:prstGeom prst="rect">
            <a:avLst/>
          </a:prstGeom>
          <a:noFill/>
          <a:ln/>
        </p:spPr>
        <p:txBody>
          <a:bodyPr wrap="square" lIns="0" tIns="0" rIns="0" bIns="0" rtlCol="0" anchor="t"/>
          <a:lstStyle/>
          <a:p>
            <a:pPr indent="0" marL="0">
              <a:buNone/>
            </a:pPr>
            <a:r>
              <a:rPr lang="en-US" sz="1300" dirty="0">
                <a:solidFill>
                  <a:schemeClr val="tx1"/>
                </a:solidFill>
              </a:rPr>
              <a:t>2026 sektör istihdam hedefi</a:t>
            </a:r>
            <a:endParaRPr lang="en-US" sz="1300" dirty="0"/>
          </a:p>
        </p:txBody>
      </p:sp>
      <p:sp>
        <p:nvSpPr>
          <p:cNvPr id="10" name="Gösterge"/>
          <p:cNvSpPr/>
          <p:nvPr/>
        </p:nvSpPr>
        <p:spPr>
          <a:xfrm>
            <a:off x="8127797" y="1600200"/>
            <a:ext cx="3515258"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1" name="Text 9"/>
          <p:cNvSpPr txBox="1"/>
          <p:nvPr/>
        </p:nvSpPr>
        <p:spPr>
          <a:xfrm>
            <a:off x="8310677" y="1728216"/>
            <a:ext cx="3149498" cy="662940"/>
          </a:xfrm>
          <a:prstGeom prst="rect">
            <a:avLst/>
          </a:prstGeom>
          <a:noFill/>
          <a:ln/>
        </p:spPr>
        <p:txBody>
          <a:bodyPr wrap="square" lIns="0" tIns="0" rIns="0" bIns="0" rtlCol="0" anchor="b"/>
          <a:lstStyle/>
          <a:p>
            <a:pPr indent="0" marL="0">
              <a:buNone/>
            </a:pPr>
            <a:r>
              <a:rPr lang="en-US" sz="2800" b="1" dirty="0">
                <a:solidFill>
                  <a:schemeClr val="tx2"/>
                </a:solidFill>
                <a:latin typeface="Cambria" pitchFamily="34" charset="0"/>
                <a:ea typeface="Cambria" pitchFamily="34" charset="-122"/>
                <a:cs typeface="Cambria" pitchFamily="34" charset="-120"/>
              </a:rPr>
              <a:t>730 ha</a:t>
            </a:r>
            <a:endParaRPr lang="en-US" sz="2800" dirty="0"/>
          </a:p>
        </p:txBody>
      </p:sp>
      <p:sp>
        <p:nvSpPr>
          <p:cNvPr id="12" name="Text 10"/>
          <p:cNvSpPr txBox="1"/>
          <p:nvPr/>
        </p:nvSpPr>
        <p:spPr>
          <a:xfrm>
            <a:off x="8310677" y="2409444"/>
            <a:ext cx="3149498" cy="425196"/>
          </a:xfrm>
          <a:prstGeom prst="rect">
            <a:avLst/>
          </a:prstGeom>
          <a:noFill/>
          <a:ln/>
        </p:spPr>
        <p:txBody>
          <a:bodyPr wrap="square" lIns="0" tIns="0" rIns="0" bIns="0" rtlCol="0" anchor="t"/>
          <a:lstStyle/>
          <a:p>
            <a:pPr indent="0" marL="0">
              <a:buNone/>
            </a:pPr>
            <a:r>
              <a:rPr lang="en-US" sz="1300" dirty="0">
                <a:solidFill>
                  <a:schemeClr val="tx1"/>
                </a:solidFill>
              </a:rPr>
              <a:t>HAB OSB planlanan alanı</a:t>
            </a:r>
            <a:endParaRPr lang="en-US" sz="1300" dirty="0"/>
          </a:p>
        </p:txBody>
      </p:sp>
      <p:sp>
        <p:nvSpPr>
          <p:cNvPr id="13" name="Gösterge"/>
          <p:cNvSpPr/>
          <p:nvPr/>
        </p:nvSpPr>
        <p:spPr>
          <a:xfrm>
            <a:off x="548640" y="3154680"/>
            <a:ext cx="3515258"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4" name="Text 12"/>
          <p:cNvSpPr txBox="1"/>
          <p:nvPr/>
        </p:nvSpPr>
        <p:spPr>
          <a:xfrm>
            <a:off x="731520" y="3282696"/>
            <a:ext cx="3149498" cy="662940"/>
          </a:xfrm>
          <a:prstGeom prst="rect">
            <a:avLst/>
          </a:prstGeom>
          <a:noFill/>
          <a:ln/>
        </p:spPr>
        <p:txBody>
          <a:bodyPr wrap="square" lIns="0" tIns="0" rIns="0" bIns="0" rtlCol="0" anchor="b"/>
          <a:lstStyle/>
          <a:p>
            <a:pPr indent="0" marL="0">
              <a:buNone/>
            </a:pPr>
            <a:r>
              <a:rPr lang="en-US" sz="2800" b="1" dirty="0">
                <a:solidFill>
                  <a:schemeClr val="tx2"/>
                </a:solidFill>
                <a:latin typeface="Cambria" pitchFamily="34" charset="0"/>
                <a:ea typeface="Cambria" pitchFamily="34" charset="-122"/>
                <a:cs typeface="Cambria" pitchFamily="34" charset="-120"/>
              </a:rPr>
              <a:t>15 bin</a:t>
            </a:r>
            <a:endParaRPr lang="en-US" sz="2800" dirty="0"/>
          </a:p>
        </p:txBody>
      </p:sp>
      <p:sp>
        <p:nvSpPr>
          <p:cNvPr id="15" name="Text 13"/>
          <p:cNvSpPr txBox="1"/>
          <p:nvPr/>
        </p:nvSpPr>
        <p:spPr>
          <a:xfrm>
            <a:off x="731520" y="3963924"/>
            <a:ext cx="3149498" cy="425196"/>
          </a:xfrm>
          <a:prstGeom prst="rect">
            <a:avLst/>
          </a:prstGeom>
          <a:noFill/>
          <a:ln/>
        </p:spPr>
        <p:txBody>
          <a:bodyPr wrap="square" lIns="0" tIns="0" rIns="0" bIns="0" rtlCol="0" anchor="t"/>
          <a:lstStyle/>
          <a:p>
            <a:pPr indent="0" marL="0">
              <a:buNone/>
            </a:pPr>
            <a:r>
              <a:rPr lang="en-US" sz="1300" dirty="0">
                <a:solidFill>
                  <a:schemeClr val="tx1"/>
                </a:solidFill>
              </a:rPr>
              <a:t>HAB OSB istihdam hedefi</a:t>
            </a:r>
            <a:endParaRPr lang="en-US" sz="1300" dirty="0"/>
          </a:p>
        </p:txBody>
      </p:sp>
      <p:sp>
        <p:nvSpPr>
          <p:cNvPr id="16" name="Gösterge"/>
          <p:cNvSpPr/>
          <p:nvPr/>
        </p:nvSpPr>
        <p:spPr>
          <a:xfrm>
            <a:off x="4338218" y="3154680"/>
            <a:ext cx="3515258"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7" name="Text 15"/>
          <p:cNvSpPr txBox="1"/>
          <p:nvPr/>
        </p:nvSpPr>
        <p:spPr>
          <a:xfrm>
            <a:off x="4521098" y="3282696"/>
            <a:ext cx="3149498" cy="662940"/>
          </a:xfrm>
          <a:prstGeom prst="rect">
            <a:avLst/>
          </a:prstGeom>
          <a:noFill/>
          <a:ln/>
        </p:spPr>
        <p:txBody>
          <a:bodyPr wrap="square" lIns="0" tIns="0" rIns="0" bIns="0" rtlCol="0" anchor="b"/>
          <a:lstStyle/>
          <a:p>
            <a:pPr indent="0" marL="0">
              <a:buNone/>
            </a:pPr>
            <a:r>
              <a:rPr lang="en-US" sz="2800" b="1" dirty="0">
                <a:solidFill>
                  <a:schemeClr val="tx2"/>
                </a:solidFill>
                <a:latin typeface="Cambria" pitchFamily="34" charset="0"/>
                <a:ea typeface="Cambria" pitchFamily="34" charset="-122"/>
                <a:cs typeface="Cambria" pitchFamily="34" charset="-120"/>
              </a:rPr>
              <a:t>150 / 152</a:t>
            </a:r>
            <a:endParaRPr lang="en-US" sz="2800" dirty="0"/>
          </a:p>
        </p:txBody>
      </p:sp>
      <p:sp>
        <p:nvSpPr>
          <p:cNvPr id="18" name="Text 16"/>
          <p:cNvSpPr txBox="1"/>
          <p:nvPr/>
        </p:nvSpPr>
        <p:spPr>
          <a:xfrm>
            <a:off x="4521098" y="3963924"/>
            <a:ext cx="3149498" cy="425196"/>
          </a:xfrm>
          <a:prstGeom prst="rect">
            <a:avLst/>
          </a:prstGeom>
          <a:noFill/>
          <a:ln/>
        </p:spPr>
        <p:txBody>
          <a:bodyPr wrap="square" lIns="0" tIns="0" rIns="0" bIns="0" rtlCol="0" anchor="t"/>
          <a:lstStyle/>
          <a:p>
            <a:pPr indent="0" marL="0">
              <a:buNone/>
            </a:pPr>
            <a:r>
              <a:rPr lang="en-US" sz="1300" dirty="0">
                <a:solidFill>
                  <a:schemeClr val="tx1"/>
                </a:solidFill>
              </a:rPr>
              <a:t>HAB OSB'de tahsisli parsel (Ocak 2022)</a:t>
            </a:r>
            <a:endParaRPr lang="en-US" sz="1300" dirty="0"/>
          </a:p>
        </p:txBody>
      </p:sp>
      <p:sp>
        <p:nvSpPr>
          <p:cNvPr id="19" name="Gösterge"/>
          <p:cNvSpPr/>
          <p:nvPr/>
        </p:nvSpPr>
        <p:spPr>
          <a:xfrm>
            <a:off x="8127797" y="3154680"/>
            <a:ext cx="3515258"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20" name="Text 18"/>
          <p:cNvSpPr txBox="1"/>
          <p:nvPr/>
        </p:nvSpPr>
        <p:spPr>
          <a:xfrm>
            <a:off x="8310677" y="3282696"/>
            <a:ext cx="3149498" cy="662940"/>
          </a:xfrm>
          <a:prstGeom prst="rect">
            <a:avLst/>
          </a:prstGeom>
          <a:noFill/>
          <a:ln/>
        </p:spPr>
        <p:txBody>
          <a:bodyPr wrap="square" lIns="0" tIns="0" rIns="0" bIns="0" rtlCol="0" anchor="b"/>
          <a:lstStyle/>
          <a:p>
            <a:pPr indent="0" marL="0">
              <a:buNone/>
            </a:pPr>
            <a:r>
              <a:rPr lang="en-US" sz="2800" b="1" dirty="0">
                <a:solidFill>
                  <a:schemeClr val="tx2"/>
                </a:solidFill>
                <a:latin typeface="Cambria" pitchFamily="34" charset="0"/>
                <a:ea typeface="Cambria" pitchFamily="34" charset="-122"/>
                <a:cs typeface="Cambria" pitchFamily="34" charset="-120"/>
              </a:rPr>
              <a:t>~17 bin</a:t>
            </a:r>
            <a:endParaRPr lang="en-US" sz="2800" dirty="0"/>
          </a:p>
        </p:txBody>
      </p:sp>
      <p:sp>
        <p:nvSpPr>
          <p:cNvPr id="21" name="Text 19"/>
          <p:cNvSpPr txBox="1"/>
          <p:nvPr/>
        </p:nvSpPr>
        <p:spPr>
          <a:xfrm>
            <a:off x="8310677" y="3963924"/>
            <a:ext cx="3149498" cy="425196"/>
          </a:xfrm>
          <a:prstGeom prst="rect">
            <a:avLst/>
          </a:prstGeom>
          <a:noFill/>
          <a:ln/>
        </p:spPr>
        <p:txBody>
          <a:bodyPr wrap="square" lIns="0" tIns="0" rIns="0" bIns="0" rtlCol="0" anchor="t"/>
          <a:lstStyle/>
          <a:p>
            <a:pPr indent="0" marL="0">
              <a:buNone/>
            </a:pPr>
            <a:r>
              <a:rPr lang="en-US" sz="1300" dirty="0">
                <a:solidFill>
                  <a:schemeClr val="tx1"/>
                </a:solidFill>
              </a:rPr>
              <a:t>Ana firma çalışanı (TUSAŞ, Ocak 2024)</a:t>
            </a:r>
            <a:endParaRPr lang="en-US" sz="1300" dirty="0"/>
          </a:p>
        </p:txBody>
      </p:sp>
      <p:sp>
        <p:nvSpPr>
          <p:cNvPr id="22" name="Text 20"/>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12. Kalkınma Planı Tablo 22; 2026 Yıllık Programı s.168; HAB OSB: Savunmasanayist 2022 (ikincil); TUSAŞ beyanı, Ocak 2024 (ikincil).</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BÖLGE · İLÇE PROFİLİ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Kahramankazan ilçesi rakamlarla</a:t>
            </a:r>
            <a:endParaRPr lang="en-US" sz="3600" dirty="0"/>
          </a:p>
        </p:txBody>
      </p:sp>
      <p:sp>
        <p:nvSpPr>
          <p:cNvPr id="4" name="Gösterge"/>
          <p:cNvSpPr/>
          <p:nvPr/>
        </p:nvSpPr>
        <p:spPr>
          <a:xfrm>
            <a:off x="548640" y="1600200"/>
            <a:ext cx="3515258"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5" name="Text 3"/>
          <p:cNvSpPr txBox="1"/>
          <p:nvPr/>
        </p:nvSpPr>
        <p:spPr>
          <a:xfrm>
            <a:off x="731520" y="1728216"/>
            <a:ext cx="3149498" cy="662940"/>
          </a:xfrm>
          <a:prstGeom prst="rect">
            <a:avLst/>
          </a:prstGeom>
          <a:noFill/>
          <a:ln/>
        </p:spPr>
        <p:txBody>
          <a:bodyPr wrap="square" lIns="0" tIns="0" rIns="0" bIns="0" rtlCol="0" anchor="b"/>
          <a:lstStyle/>
          <a:p>
            <a:pPr indent="0" marL="0">
              <a:buNone/>
            </a:pPr>
            <a:r>
              <a:rPr lang="en-US" sz="2800" b="1" dirty="0">
                <a:solidFill>
                  <a:schemeClr val="tx2"/>
                </a:solidFill>
                <a:latin typeface="Cambria" pitchFamily="34" charset="0"/>
                <a:ea typeface="Cambria" pitchFamily="34" charset="-122"/>
                <a:cs typeface="Cambria" pitchFamily="34" charset="-120"/>
              </a:rPr>
              <a:t>63.143</a:t>
            </a:r>
            <a:endParaRPr lang="en-US" sz="2800" dirty="0"/>
          </a:p>
        </p:txBody>
      </p:sp>
      <p:sp>
        <p:nvSpPr>
          <p:cNvPr id="6" name="Text 4"/>
          <p:cNvSpPr txBox="1"/>
          <p:nvPr/>
        </p:nvSpPr>
        <p:spPr>
          <a:xfrm>
            <a:off x="731520" y="2409444"/>
            <a:ext cx="3149498" cy="425196"/>
          </a:xfrm>
          <a:prstGeom prst="rect">
            <a:avLst/>
          </a:prstGeom>
          <a:noFill/>
          <a:ln/>
        </p:spPr>
        <p:txBody>
          <a:bodyPr wrap="square" lIns="0" tIns="0" rIns="0" bIns="0" rtlCol="0" anchor="t"/>
          <a:lstStyle/>
          <a:p>
            <a:pPr indent="0" marL="0">
              <a:buNone/>
            </a:pPr>
            <a:r>
              <a:rPr lang="en-US" sz="1300" dirty="0">
                <a:solidFill>
                  <a:schemeClr val="tx1"/>
                </a:solidFill>
              </a:rPr>
              <a:t>İlçe nüfusu (2025, ADNKS)</a:t>
            </a:r>
            <a:endParaRPr lang="en-US" sz="1300" dirty="0"/>
          </a:p>
        </p:txBody>
      </p:sp>
      <p:sp>
        <p:nvSpPr>
          <p:cNvPr id="7" name="Gösterge"/>
          <p:cNvSpPr/>
          <p:nvPr/>
        </p:nvSpPr>
        <p:spPr>
          <a:xfrm>
            <a:off x="4338218" y="1600200"/>
            <a:ext cx="3515258"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8" name="Text 6"/>
          <p:cNvSpPr txBox="1"/>
          <p:nvPr/>
        </p:nvSpPr>
        <p:spPr>
          <a:xfrm>
            <a:off x="4521098" y="1728216"/>
            <a:ext cx="3149498" cy="662940"/>
          </a:xfrm>
          <a:prstGeom prst="rect">
            <a:avLst/>
          </a:prstGeom>
          <a:noFill/>
          <a:ln/>
        </p:spPr>
        <p:txBody>
          <a:bodyPr wrap="square" lIns="0" tIns="0" rIns="0" bIns="0" rtlCol="0" anchor="b"/>
          <a:lstStyle/>
          <a:p>
            <a:pPr indent="0" marL="0">
              <a:buNone/>
            </a:pPr>
            <a:r>
              <a:rPr lang="en-US" sz="2800" b="1" dirty="0">
                <a:solidFill>
                  <a:schemeClr val="tx2"/>
                </a:solidFill>
                <a:latin typeface="Cambria" pitchFamily="34" charset="0"/>
                <a:ea typeface="Cambria" pitchFamily="34" charset="-122"/>
                <a:cs typeface="Cambria" pitchFamily="34" charset="-120"/>
              </a:rPr>
              <a:t>%1,7–2,1</a:t>
            </a:r>
            <a:endParaRPr lang="en-US" sz="2800" dirty="0"/>
          </a:p>
        </p:txBody>
      </p:sp>
      <p:sp>
        <p:nvSpPr>
          <p:cNvPr id="9" name="Text 7"/>
          <p:cNvSpPr txBox="1"/>
          <p:nvPr/>
        </p:nvSpPr>
        <p:spPr>
          <a:xfrm>
            <a:off x="4521098" y="2409444"/>
            <a:ext cx="3149498" cy="425196"/>
          </a:xfrm>
          <a:prstGeom prst="rect">
            <a:avLst/>
          </a:prstGeom>
          <a:noFill/>
          <a:ln/>
        </p:spPr>
        <p:txBody>
          <a:bodyPr wrap="square" lIns="0" tIns="0" rIns="0" bIns="0" rtlCol="0" anchor="t"/>
          <a:lstStyle/>
          <a:p>
            <a:pPr indent="0" marL="0">
              <a:buNone/>
            </a:pPr>
            <a:r>
              <a:rPr lang="en-US" sz="1300" dirty="0">
                <a:solidFill>
                  <a:schemeClr val="tx1"/>
                </a:solidFill>
              </a:rPr>
              <a:t>Yıllık nüfus artışı (yaklaşık)</a:t>
            </a:r>
            <a:endParaRPr lang="en-US" sz="1300" dirty="0"/>
          </a:p>
        </p:txBody>
      </p:sp>
      <p:sp>
        <p:nvSpPr>
          <p:cNvPr id="10" name="Gösterge"/>
          <p:cNvSpPr/>
          <p:nvPr/>
        </p:nvSpPr>
        <p:spPr>
          <a:xfrm>
            <a:off x="8127797" y="1600200"/>
            <a:ext cx="3515258"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1" name="Text 9"/>
          <p:cNvSpPr txBox="1"/>
          <p:nvPr/>
        </p:nvSpPr>
        <p:spPr>
          <a:xfrm>
            <a:off x="8310677" y="1728216"/>
            <a:ext cx="3149498" cy="662940"/>
          </a:xfrm>
          <a:prstGeom prst="rect">
            <a:avLst/>
          </a:prstGeom>
          <a:noFill/>
          <a:ln/>
        </p:spPr>
        <p:txBody>
          <a:bodyPr wrap="square" lIns="0" tIns="0" rIns="0" bIns="0" rtlCol="0" anchor="b"/>
          <a:lstStyle/>
          <a:p>
            <a:pPr indent="0" marL="0">
              <a:buNone/>
            </a:pPr>
            <a:r>
              <a:rPr lang="en-US" sz="2800" b="1" dirty="0">
                <a:solidFill>
                  <a:schemeClr val="tx2"/>
                </a:solidFill>
                <a:latin typeface="Cambria" pitchFamily="34" charset="0"/>
                <a:ea typeface="Cambria" pitchFamily="34" charset="-122"/>
                <a:cs typeface="Cambria" pitchFamily="34" charset="-120"/>
              </a:rPr>
              <a:t>48</a:t>
            </a:r>
            <a:endParaRPr lang="en-US" sz="2800" dirty="0"/>
          </a:p>
        </p:txBody>
      </p:sp>
      <p:sp>
        <p:nvSpPr>
          <p:cNvPr id="12" name="Text 10"/>
          <p:cNvSpPr txBox="1"/>
          <p:nvPr/>
        </p:nvSpPr>
        <p:spPr>
          <a:xfrm>
            <a:off x="8310677" y="2409444"/>
            <a:ext cx="3149498" cy="425196"/>
          </a:xfrm>
          <a:prstGeom prst="rect">
            <a:avLst/>
          </a:prstGeom>
          <a:noFill/>
          <a:ln/>
        </p:spPr>
        <p:txBody>
          <a:bodyPr wrap="square" lIns="0" tIns="0" rIns="0" bIns="0" rtlCol="0" anchor="t"/>
          <a:lstStyle/>
          <a:p>
            <a:pPr indent="0" marL="0">
              <a:buNone/>
            </a:pPr>
            <a:r>
              <a:rPr lang="en-US" sz="1300" dirty="0">
                <a:solidFill>
                  <a:schemeClr val="tx1"/>
                </a:solidFill>
              </a:rPr>
              <a:t>Mahalle sayısı</a:t>
            </a:r>
            <a:endParaRPr lang="en-US" sz="1300" dirty="0"/>
          </a:p>
        </p:txBody>
      </p:sp>
      <p:sp>
        <p:nvSpPr>
          <p:cNvPr id="13" name="Gösterge"/>
          <p:cNvSpPr/>
          <p:nvPr/>
        </p:nvSpPr>
        <p:spPr>
          <a:xfrm>
            <a:off x="548640" y="3154680"/>
            <a:ext cx="3515258"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4" name="Text 12"/>
          <p:cNvSpPr txBox="1"/>
          <p:nvPr/>
        </p:nvSpPr>
        <p:spPr>
          <a:xfrm>
            <a:off x="731520" y="3282696"/>
            <a:ext cx="3149498" cy="662940"/>
          </a:xfrm>
          <a:prstGeom prst="rect">
            <a:avLst/>
          </a:prstGeom>
          <a:noFill/>
          <a:ln/>
        </p:spPr>
        <p:txBody>
          <a:bodyPr wrap="square" lIns="0" tIns="0" rIns="0" bIns="0" rtlCol="0" anchor="b"/>
          <a:lstStyle/>
          <a:p>
            <a:pPr indent="0" marL="0">
              <a:buNone/>
            </a:pPr>
            <a:r>
              <a:rPr lang="en-US" sz="2800" b="1" dirty="0">
                <a:solidFill>
                  <a:schemeClr val="tx2"/>
                </a:solidFill>
                <a:latin typeface="Cambria" pitchFamily="34" charset="0"/>
                <a:ea typeface="Cambria" pitchFamily="34" charset="-122"/>
                <a:cs typeface="Cambria" pitchFamily="34" charset="-120"/>
              </a:rPr>
              <a:t>58</a:t>
            </a:r>
            <a:endParaRPr lang="en-US" sz="2800" dirty="0"/>
          </a:p>
        </p:txBody>
      </p:sp>
      <p:sp>
        <p:nvSpPr>
          <p:cNvPr id="15" name="Text 13"/>
          <p:cNvSpPr txBox="1"/>
          <p:nvPr/>
        </p:nvSpPr>
        <p:spPr>
          <a:xfrm>
            <a:off x="731520" y="3963924"/>
            <a:ext cx="3149498" cy="425196"/>
          </a:xfrm>
          <a:prstGeom prst="rect">
            <a:avLst/>
          </a:prstGeom>
          <a:noFill/>
          <a:ln/>
        </p:spPr>
        <p:txBody>
          <a:bodyPr wrap="square" lIns="0" tIns="0" rIns="0" bIns="0" rtlCol="0" anchor="t"/>
          <a:lstStyle/>
          <a:p>
            <a:pPr indent="0" marL="0">
              <a:buNone/>
            </a:pPr>
            <a:r>
              <a:rPr lang="en-US" sz="1300" dirty="0">
                <a:solidFill>
                  <a:schemeClr val="tx1"/>
                </a:solidFill>
              </a:rPr>
              <a:t>Sarıayak Mahallesi nüfusu (2022)</a:t>
            </a:r>
            <a:endParaRPr lang="en-US" sz="1300" dirty="0"/>
          </a:p>
        </p:txBody>
      </p:sp>
      <p:sp>
        <p:nvSpPr>
          <p:cNvPr id="16" name="Gösterge"/>
          <p:cNvSpPr/>
          <p:nvPr/>
        </p:nvSpPr>
        <p:spPr>
          <a:xfrm>
            <a:off x="4338218" y="3154680"/>
            <a:ext cx="3515258"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7" name="Text 15"/>
          <p:cNvSpPr txBox="1"/>
          <p:nvPr/>
        </p:nvSpPr>
        <p:spPr>
          <a:xfrm>
            <a:off x="4521098" y="3282696"/>
            <a:ext cx="3149498" cy="662940"/>
          </a:xfrm>
          <a:prstGeom prst="rect">
            <a:avLst/>
          </a:prstGeom>
          <a:noFill/>
          <a:ln/>
        </p:spPr>
        <p:txBody>
          <a:bodyPr wrap="square" lIns="0" tIns="0" rIns="0" bIns="0" rtlCol="0" anchor="b"/>
          <a:lstStyle/>
          <a:p>
            <a:pPr indent="0" marL="0">
              <a:buNone/>
            </a:pPr>
            <a:r>
              <a:rPr lang="en-US" sz="2800" b="1" dirty="0">
                <a:solidFill>
                  <a:schemeClr val="tx2"/>
                </a:solidFill>
                <a:latin typeface="Cambria" pitchFamily="34" charset="0"/>
                <a:ea typeface="Cambria" pitchFamily="34" charset="-122"/>
                <a:cs typeface="Cambria" pitchFamily="34" charset="-120"/>
              </a:rPr>
              <a:t>547 km²</a:t>
            </a:r>
            <a:endParaRPr lang="en-US" sz="2800" dirty="0"/>
          </a:p>
        </p:txBody>
      </p:sp>
      <p:sp>
        <p:nvSpPr>
          <p:cNvPr id="18" name="Text 16"/>
          <p:cNvSpPr txBox="1"/>
          <p:nvPr/>
        </p:nvSpPr>
        <p:spPr>
          <a:xfrm>
            <a:off x="4521098" y="3963924"/>
            <a:ext cx="3149498" cy="425196"/>
          </a:xfrm>
          <a:prstGeom prst="rect">
            <a:avLst/>
          </a:prstGeom>
          <a:noFill/>
          <a:ln/>
        </p:spPr>
        <p:txBody>
          <a:bodyPr wrap="square" lIns="0" tIns="0" rIns="0" bIns="0" rtlCol="0" anchor="t"/>
          <a:lstStyle/>
          <a:p>
            <a:pPr indent="0" marL="0">
              <a:buNone/>
            </a:pPr>
            <a:r>
              <a:rPr lang="en-US" sz="1300" dirty="0">
                <a:solidFill>
                  <a:schemeClr val="tx1"/>
                </a:solidFill>
              </a:rPr>
              <a:t>İlçe yüzölçümü (Brifing 2017: 600 km²)</a:t>
            </a:r>
            <a:endParaRPr lang="en-US" sz="1300" dirty="0"/>
          </a:p>
        </p:txBody>
      </p:sp>
      <p:sp>
        <p:nvSpPr>
          <p:cNvPr id="19" name="Gösterge"/>
          <p:cNvSpPr/>
          <p:nvPr/>
        </p:nvSpPr>
        <p:spPr>
          <a:xfrm>
            <a:off x="8127797" y="3154680"/>
            <a:ext cx="3515258"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20" name="Text 18"/>
          <p:cNvSpPr txBox="1"/>
          <p:nvPr/>
        </p:nvSpPr>
        <p:spPr>
          <a:xfrm>
            <a:off x="8310677" y="3282696"/>
            <a:ext cx="3149498" cy="662940"/>
          </a:xfrm>
          <a:prstGeom prst="rect">
            <a:avLst/>
          </a:prstGeom>
          <a:noFill/>
          <a:ln/>
        </p:spPr>
        <p:txBody>
          <a:bodyPr wrap="square" lIns="0" tIns="0" rIns="0" bIns="0" rtlCol="0" anchor="b"/>
          <a:lstStyle/>
          <a:p>
            <a:pPr indent="0" marL="0">
              <a:buNone/>
            </a:pPr>
            <a:r>
              <a:rPr lang="en-US" sz="2800" b="1" dirty="0">
                <a:solidFill>
                  <a:schemeClr val="tx2"/>
                </a:solidFill>
                <a:latin typeface="Cambria" pitchFamily="34" charset="0"/>
                <a:ea typeface="Cambria" pitchFamily="34" charset="-122"/>
                <a:cs typeface="Cambria" pitchFamily="34" charset="-120"/>
              </a:rPr>
              <a:t>45 km</a:t>
            </a:r>
            <a:endParaRPr lang="en-US" sz="2800" dirty="0"/>
          </a:p>
        </p:txBody>
      </p:sp>
      <p:sp>
        <p:nvSpPr>
          <p:cNvPr id="21" name="Text 19"/>
          <p:cNvSpPr txBox="1"/>
          <p:nvPr/>
        </p:nvSpPr>
        <p:spPr>
          <a:xfrm>
            <a:off x="8310677" y="3963924"/>
            <a:ext cx="3149498" cy="425196"/>
          </a:xfrm>
          <a:prstGeom prst="rect">
            <a:avLst/>
          </a:prstGeom>
          <a:noFill/>
          <a:ln/>
        </p:spPr>
        <p:txBody>
          <a:bodyPr wrap="square" lIns="0" tIns="0" rIns="0" bIns="0" rtlCol="0" anchor="t"/>
          <a:lstStyle/>
          <a:p>
            <a:pPr indent="0" marL="0">
              <a:buNone/>
            </a:pPr>
            <a:r>
              <a:rPr lang="en-US" sz="1300" dirty="0">
                <a:solidFill>
                  <a:schemeClr val="tx1"/>
                </a:solidFill>
              </a:rPr>
              <a:t>Ankara'ya uzaklık (Brifing 2017)</a:t>
            </a:r>
            <a:endParaRPr lang="en-US" sz="1300" dirty="0"/>
          </a:p>
        </p:txBody>
      </p:sp>
      <p:sp>
        <p:nvSpPr>
          <p:cNvPr id="22" name="Text 20"/>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ATO Rakamlarla Ankara (Nisan 2026, TÜİK ADNKS); Kahramankazan İlçe Tarım Müdürlüğü Brifing 2017; Wikipedia (Sarıayak, 2022).</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YER VE SAHA · KONUM</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Konum: kent içi trafik koridorunun dışında</a:t>
            </a:r>
            <a:endParaRPr lang="en-US" sz="3600" dirty="0"/>
          </a:p>
        </p:txBody>
      </p:sp>
      <p:pic>
        <p:nvPicPr>
          <p:cNvPr id="4" name="Bölge mesafeleri" descr="/home/user/sunum/araclar/sunum/assets/mesafeler.jpg">    </p:cNvPr>
          <p:cNvPicPr>
            <a:picLocks noChangeAspect="1"/>
          </p:cNvPicPr>
          <p:nvPr/>
        </p:nvPicPr>
        <p:blipFill>
          <a:blip r:embed="rId1"/>
          <a:stretch>
            <a:fillRect/>
          </a:stretch>
        </p:blipFill>
        <p:spPr>
          <a:xfrm>
            <a:off x="548640" y="1600200"/>
            <a:ext cx="6675120" cy="3754755"/>
          </a:xfrm>
          <a:prstGeom prst="rect">
            <a:avLst/>
          </a:prstGeom>
        </p:spPr>
      </p:pic>
      <p:sp>
        <p:nvSpPr>
          <p:cNvPr id="5" name="Text 2"/>
          <p:cNvSpPr txBox="1"/>
          <p:nvPr/>
        </p:nvSpPr>
        <p:spPr>
          <a:xfrm>
            <a:off x="548640" y="5428107"/>
            <a:ext cx="6675120" cy="274320"/>
          </a:xfrm>
          <a:prstGeom prst="rect">
            <a:avLst/>
          </a:prstGeom>
          <a:noFill/>
          <a:ln/>
        </p:spPr>
        <p:txBody>
          <a:bodyPr wrap="square" lIns="0" tIns="0" rIns="0" bIns="0" rtlCol="0" anchor="t"/>
          <a:lstStyle/>
          <a:p>
            <a:pPr indent="0" marL="0">
              <a:buNone/>
            </a:pPr>
            <a:r>
              <a:rPr lang="en-US" sz="1100" dirty="0">
                <a:solidFill>
                  <a:schemeClr val="accent5"/>
                </a:solidFill>
              </a:rPr>
              <a:t>Proje ekibinin bölge görseli; ölçeksiz perspektif, mesafeler görseldeki değerlerdir.</a:t>
            </a:r>
            <a:endParaRPr lang="en-US" sz="1100" dirty="0"/>
          </a:p>
        </p:txBody>
      </p:sp>
      <p:sp>
        <p:nvSpPr>
          <p:cNvPr id="6" name="Text 3"/>
          <p:cNvSpPr txBox="1"/>
          <p:nvPr/>
        </p:nvSpPr>
        <p:spPr>
          <a:xfrm>
            <a:off x="7543800" y="1600200"/>
            <a:ext cx="4099255" cy="320040"/>
          </a:xfrm>
          <a:prstGeom prst="rect">
            <a:avLst/>
          </a:prstGeom>
          <a:noFill/>
          <a:ln/>
        </p:spPr>
        <p:txBody>
          <a:bodyPr wrap="square" lIns="0" tIns="0" rIns="0" bIns="0" rtlCol="0" anchor="t"/>
          <a:lstStyle/>
          <a:p>
            <a:pPr indent="0" marL="0">
              <a:buNone/>
            </a:pPr>
            <a:r>
              <a:rPr lang="en-US" sz="1600" b="1" dirty="0">
                <a:solidFill>
                  <a:schemeClr val="tx2"/>
                </a:solidFill>
              </a:rPr>
              <a:t>Uydukent'ten uzaklık (km)</a:t>
            </a:r>
            <a:endParaRPr lang="en-US" sz="1600" dirty="0"/>
          </a:p>
        </p:txBody>
      </p:sp>
      <p:sp>
        <p:nvSpPr>
          <p:cNvPr id="7" name="Text 4"/>
          <p:cNvSpPr txBox="1"/>
          <p:nvPr/>
        </p:nvSpPr>
        <p:spPr>
          <a:xfrm>
            <a:off x="7543800" y="2011680"/>
            <a:ext cx="4099255" cy="237744"/>
          </a:xfrm>
          <a:prstGeom prst="rect">
            <a:avLst/>
          </a:prstGeom>
          <a:noFill/>
          <a:ln/>
        </p:spPr>
        <p:txBody>
          <a:bodyPr wrap="square" lIns="0" tIns="0" rIns="0" bIns="0" rtlCol="0" anchor="t"/>
          <a:lstStyle/>
          <a:p>
            <a:pPr indent="0" marL="0">
              <a:buNone/>
            </a:pPr>
            <a:r>
              <a:rPr lang="en-US" sz="1300" dirty="0">
                <a:solidFill>
                  <a:schemeClr val="tx1"/>
                </a:solidFill>
              </a:rPr>
              <a:t>Kahramankazan merkezi</a:t>
            </a:r>
            <a:endParaRPr lang="en-US" sz="1300" dirty="0"/>
          </a:p>
        </p:txBody>
      </p:sp>
      <p:sp>
        <p:nvSpPr>
          <p:cNvPr id="8" name="Uzaklık çubuğu Kahramankazan merkezi"/>
          <p:cNvSpPr/>
          <p:nvPr/>
        </p:nvSpPr>
        <p:spPr>
          <a:xfrm>
            <a:off x="7543800" y="2276856"/>
            <a:ext cx="1097280" cy="182880"/>
          </a:xfrm>
          <a:prstGeom prst="rect">
            <a:avLst/>
          </a:prstGeom>
          <a:solidFill>
            <a:schemeClr val="accent5"/>
          </a:solidFill>
          <a:ln/>
        </p:spPr>
      </p:sp>
      <p:sp>
        <p:nvSpPr>
          <p:cNvPr id="9" name="Text 6"/>
          <p:cNvSpPr txBox="1"/>
          <p:nvPr/>
        </p:nvSpPr>
        <p:spPr>
          <a:xfrm>
            <a:off x="8714232" y="2212848"/>
            <a:ext cx="548640" cy="292608"/>
          </a:xfrm>
          <a:prstGeom prst="rect">
            <a:avLst/>
          </a:prstGeom>
          <a:noFill/>
          <a:ln/>
        </p:spPr>
        <p:txBody>
          <a:bodyPr wrap="square" lIns="0" tIns="0" rIns="0" bIns="0" rtlCol="0" anchor="ctr"/>
          <a:lstStyle/>
          <a:p>
            <a:pPr indent="0" marL="0">
              <a:buNone/>
            </a:pPr>
            <a:r>
              <a:rPr lang="en-US" sz="1400" b="1" dirty="0">
                <a:solidFill>
                  <a:schemeClr val="tx1"/>
                </a:solidFill>
              </a:rPr>
              <a:t>8</a:t>
            </a:r>
            <a:endParaRPr lang="en-US" sz="1400" dirty="0"/>
          </a:p>
        </p:txBody>
      </p:sp>
      <p:sp>
        <p:nvSpPr>
          <p:cNvPr id="10" name="Text 7"/>
          <p:cNvSpPr txBox="1"/>
          <p:nvPr/>
        </p:nvSpPr>
        <p:spPr>
          <a:xfrm>
            <a:off x="7543800" y="2560320"/>
            <a:ext cx="4099255" cy="237744"/>
          </a:xfrm>
          <a:prstGeom prst="rect">
            <a:avLst/>
          </a:prstGeom>
          <a:noFill/>
          <a:ln/>
        </p:spPr>
        <p:txBody>
          <a:bodyPr wrap="square" lIns="0" tIns="0" rIns="0" bIns="0" rtlCol="0" anchor="t"/>
          <a:lstStyle/>
          <a:p>
            <a:pPr indent="0" marL="0">
              <a:buNone/>
            </a:pPr>
            <a:r>
              <a:rPr lang="en-US" sz="1300" dirty="0">
                <a:solidFill>
                  <a:schemeClr val="tx1"/>
                </a:solidFill>
              </a:rPr>
              <a:t>Kınık sanayi alanı</a:t>
            </a:r>
            <a:endParaRPr lang="en-US" sz="1300" dirty="0"/>
          </a:p>
        </p:txBody>
      </p:sp>
      <p:sp>
        <p:nvSpPr>
          <p:cNvPr id="11" name="Uzaklık çubuğu Kınık sanayi alanı"/>
          <p:cNvSpPr/>
          <p:nvPr/>
        </p:nvSpPr>
        <p:spPr>
          <a:xfrm>
            <a:off x="7543800" y="2825496"/>
            <a:ext cx="1508760" cy="182880"/>
          </a:xfrm>
          <a:prstGeom prst="rect">
            <a:avLst/>
          </a:prstGeom>
          <a:solidFill>
            <a:schemeClr val="accent5"/>
          </a:solidFill>
          <a:ln/>
        </p:spPr>
      </p:sp>
      <p:sp>
        <p:nvSpPr>
          <p:cNvPr id="12" name="Text 9"/>
          <p:cNvSpPr txBox="1"/>
          <p:nvPr/>
        </p:nvSpPr>
        <p:spPr>
          <a:xfrm>
            <a:off x="9125712" y="2761488"/>
            <a:ext cx="548640" cy="292608"/>
          </a:xfrm>
          <a:prstGeom prst="rect">
            <a:avLst/>
          </a:prstGeom>
          <a:noFill/>
          <a:ln/>
        </p:spPr>
        <p:txBody>
          <a:bodyPr wrap="square" lIns="0" tIns="0" rIns="0" bIns="0" rtlCol="0" anchor="ctr"/>
          <a:lstStyle/>
          <a:p>
            <a:pPr indent="0" marL="0">
              <a:buNone/>
            </a:pPr>
            <a:r>
              <a:rPr lang="en-US" sz="1400" b="1" dirty="0">
                <a:solidFill>
                  <a:schemeClr val="tx1"/>
                </a:solidFill>
              </a:rPr>
              <a:t>11</a:t>
            </a:r>
            <a:endParaRPr lang="en-US" sz="1400" dirty="0"/>
          </a:p>
        </p:txBody>
      </p:sp>
      <p:sp>
        <p:nvSpPr>
          <p:cNvPr id="13" name="Text 10"/>
          <p:cNvSpPr txBox="1"/>
          <p:nvPr/>
        </p:nvSpPr>
        <p:spPr>
          <a:xfrm>
            <a:off x="7543800" y="3108960"/>
            <a:ext cx="4099255" cy="237744"/>
          </a:xfrm>
          <a:prstGeom prst="rect">
            <a:avLst/>
          </a:prstGeom>
          <a:noFill/>
          <a:ln/>
        </p:spPr>
        <p:txBody>
          <a:bodyPr wrap="square" lIns="0" tIns="0" rIns="0" bIns="0" rtlCol="0" anchor="t"/>
          <a:lstStyle/>
          <a:p>
            <a:pPr indent="0" marL="0">
              <a:buNone/>
            </a:pPr>
            <a:r>
              <a:rPr lang="en-US" sz="1300" b="1" dirty="0">
                <a:solidFill>
                  <a:schemeClr val="accent1"/>
                </a:solidFill>
              </a:rPr>
              <a:t>HAB / Kışla, Kınık üzerinden</a:t>
            </a:r>
            <a:endParaRPr lang="en-US" sz="1300" dirty="0"/>
          </a:p>
        </p:txBody>
      </p:sp>
      <p:sp>
        <p:nvSpPr>
          <p:cNvPr id="14" name="Uzaklık çubuğu HAB / Kışla, Kınık üzerinden"/>
          <p:cNvSpPr/>
          <p:nvPr/>
        </p:nvSpPr>
        <p:spPr>
          <a:xfrm>
            <a:off x="7543800" y="3374136"/>
            <a:ext cx="2606040" cy="182880"/>
          </a:xfrm>
          <a:prstGeom prst="rect">
            <a:avLst/>
          </a:prstGeom>
          <a:solidFill>
            <a:schemeClr val="accent1"/>
          </a:solidFill>
          <a:ln/>
        </p:spPr>
      </p:sp>
      <p:sp>
        <p:nvSpPr>
          <p:cNvPr id="15" name="Text 12"/>
          <p:cNvSpPr txBox="1"/>
          <p:nvPr/>
        </p:nvSpPr>
        <p:spPr>
          <a:xfrm>
            <a:off x="10222992" y="3310128"/>
            <a:ext cx="548640" cy="292608"/>
          </a:xfrm>
          <a:prstGeom prst="rect">
            <a:avLst/>
          </a:prstGeom>
          <a:noFill/>
          <a:ln/>
        </p:spPr>
        <p:txBody>
          <a:bodyPr wrap="square" lIns="0" tIns="0" rIns="0" bIns="0" rtlCol="0" anchor="ctr"/>
          <a:lstStyle/>
          <a:p>
            <a:pPr indent="0" marL="0">
              <a:buNone/>
            </a:pPr>
            <a:r>
              <a:rPr lang="en-US" sz="1400" b="1" dirty="0">
                <a:solidFill>
                  <a:schemeClr val="accent1"/>
                </a:solidFill>
              </a:rPr>
              <a:t>19</a:t>
            </a:r>
            <a:endParaRPr lang="en-US" sz="1400" dirty="0"/>
          </a:p>
        </p:txBody>
      </p:sp>
      <p:sp>
        <p:nvSpPr>
          <p:cNvPr id="16" name="Text 13"/>
          <p:cNvSpPr txBox="1"/>
          <p:nvPr/>
        </p:nvSpPr>
        <p:spPr>
          <a:xfrm>
            <a:off x="7543800" y="3657600"/>
            <a:ext cx="4099255" cy="237744"/>
          </a:xfrm>
          <a:prstGeom prst="rect">
            <a:avLst/>
          </a:prstGeom>
          <a:noFill/>
          <a:ln/>
        </p:spPr>
        <p:txBody>
          <a:bodyPr wrap="square" lIns="0" tIns="0" rIns="0" bIns="0" rtlCol="0" anchor="t"/>
          <a:lstStyle/>
          <a:p>
            <a:pPr indent="0" marL="0">
              <a:buNone/>
            </a:pPr>
            <a:r>
              <a:rPr lang="en-US" sz="1300" dirty="0">
                <a:solidFill>
                  <a:schemeClr val="tx1"/>
                </a:solidFill>
              </a:rPr>
              <a:t>HAB / Kışla, merkez üzerinden</a:t>
            </a:r>
            <a:endParaRPr lang="en-US" sz="1300" dirty="0"/>
          </a:p>
        </p:txBody>
      </p:sp>
      <p:sp>
        <p:nvSpPr>
          <p:cNvPr id="17" name="Uzaklık çubuğu HAB / Kışla, merkez üzerinden"/>
          <p:cNvSpPr/>
          <p:nvPr/>
        </p:nvSpPr>
        <p:spPr>
          <a:xfrm>
            <a:off x="7543800" y="3922776"/>
            <a:ext cx="3291840" cy="182880"/>
          </a:xfrm>
          <a:prstGeom prst="rect">
            <a:avLst/>
          </a:prstGeom>
          <a:solidFill>
            <a:schemeClr val="accent5"/>
          </a:solidFill>
          <a:ln/>
        </p:spPr>
      </p:sp>
      <p:sp>
        <p:nvSpPr>
          <p:cNvPr id="18" name="Text 15"/>
          <p:cNvSpPr txBox="1"/>
          <p:nvPr/>
        </p:nvSpPr>
        <p:spPr>
          <a:xfrm>
            <a:off x="10908792" y="3858768"/>
            <a:ext cx="548640" cy="292608"/>
          </a:xfrm>
          <a:prstGeom prst="rect">
            <a:avLst/>
          </a:prstGeom>
          <a:noFill/>
          <a:ln/>
        </p:spPr>
        <p:txBody>
          <a:bodyPr wrap="square" lIns="0" tIns="0" rIns="0" bIns="0" rtlCol="0" anchor="ctr"/>
          <a:lstStyle/>
          <a:p>
            <a:pPr indent="0" marL="0">
              <a:buNone/>
            </a:pPr>
            <a:r>
              <a:rPr lang="en-US" sz="1400" b="1" dirty="0">
                <a:solidFill>
                  <a:schemeClr val="tx1"/>
                </a:solidFill>
              </a:rPr>
              <a:t>24</a:t>
            </a:r>
            <a:endParaRPr lang="en-US" sz="1400" dirty="0"/>
          </a:p>
        </p:txBody>
      </p:sp>
      <p:sp>
        <p:nvSpPr>
          <p:cNvPr id="19" name="Kart"/>
          <p:cNvSpPr/>
          <p:nvPr/>
        </p:nvSpPr>
        <p:spPr>
          <a:xfrm>
            <a:off x="7543800" y="4206240"/>
            <a:ext cx="4099255" cy="1783080"/>
          </a:xfrm>
          <a:prstGeom prst="roundRect">
            <a:avLst>
              <a:gd name="adj" fmla="val 4103"/>
            </a:avLst>
          </a:prstGeom>
          <a:solidFill>
            <a:schemeClr val="bg1"/>
          </a:solidFill>
          <a:ln/>
          <a:effectLst>
            <a:outerShdw sx="100000" sy="100000" kx="0" ky="0" algn="bl" rotWithShape="0" blurRad="76200" dist="19050" dir="5400000">
              <a:srgbClr val="000000">
                <a:alpha val="12000"/>
              </a:srgbClr>
            </a:outerShdw>
          </a:effectLst>
        </p:spPr>
      </p:sp>
      <p:sp>
        <p:nvSpPr>
          <p:cNvPr id="20" name="Text 17"/>
          <p:cNvSpPr txBox="1"/>
          <p:nvPr/>
        </p:nvSpPr>
        <p:spPr>
          <a:xfrm>
            <a:off x="7726680" y="4315968"/>
            <a:ext cx="3733495" cy="160020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Değerlendirme: yolculuk koridorunun değişmesi</a:t>
            </a:r>
            <a:endParaRPr lang="en-US" sz="1400" dirty="0"/>
          </a:p>
          <a:p>
            <a:pPr indent="0" marL="0">
              <a:spcAft>
                <a:spcPts val="400"/>
              </a:spcAft>
              <a:buNone/>
            </a:pPr>
            <a:r>
              <a:rPr lang="en-US" sz="1300" dirty="0">
                <a:solidFill>
                  <a:schemeClr val="tx1"/>
                </a:solidFill>
              </a:rPr>
              <a:t>Eryaman'ın TUSAŞ'a kuş uçuşu uzaklığı 11,7 km, Yenikent'in 9,1 km'dir. Uydukent'in katkısı, işe yolculuğun Batıkent–Susuz kesiminden ilçe içi ekspres hatta aktarılmasıdır.</a:t>
            </a:r>
            <a:endParaRPr lang="en-US" sz="1400" dirty="0"/>
          </a:p>
        </p:txBody>
      </p:sp>
      <p:sp>
        <p:nvSpPr>
          <p:cNvPr id="21" name="Text 18"/>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19 ve 24 km, görseldeki iki bacağın toplamıdır (hesap). Kahramankazan–Kışla 16 km değeri, OSM'den hesaplanan 16,9 km ile uyumlu.</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YER VE SAHA · YER SEÇİMİ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Alternatif sahaların karşılaştırılması</a:t>
            </a:r>
            <a:endParaRPr lang="en-US" sz="3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920240"/>
                <a:gridCol w="2057400"/>
                <a:gridCol w="2514600"/>
                <a:gridCol w="2057400"/>
                <a:gridCol w="2544775"/>
              </a:tblGrid>
              <a:tr h="512064">
                <a:tc>
                  <a:txBody>
                    <a:bodyPr/>
                    <a:lstStyle/>
                    <a:p>
                      <a:pPr indent="0" marL="0">
                        <a:buNone/>
                      </a:pPr>
                      <a:r>
                        <a:rPr lang="en-US" sz="1400" b="1" dirty="0">
                          <a:solidFill>
                            <a:srgbClr val="FFFFFF"/>
                          </a:solidFill>
                        </a:rPr>
                        <a:t>Ölçüt</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(A) Bir şey yapmamak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(B) HAB'a bitişik saha</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(C) Yenikent</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Uydukent (Sarıayak)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9A5418"/>
                    </a:solidFill>
                  </a:tcPr>
                </a:tc>
              </a:tr>
              <a:tr h="512064">
                <a:tc>
                  <a:txBody>
                    <a:bodyPr/>
                    <a:lstStyle/>
                    <a:p>
                      <a:pPr indent="0" marL="0">
                        <a:buNone/>
                      </a:pPr>
                      <a:r>
                        <a:rPr lang="en-US" sz="1400" b="1" dirty="0">
                          <a:solidFill>
                            <a:srgbClr val="1B2430"/>
                          </a:solidFill>
                        </a:rPr>
                        <a:t>Arazi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Yeni arazi yok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Belirsiz; askeri alan ve OSB ile iç içe</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Belirsiz, kentsel parseller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7EBD3"/>
                    </a:solidFill>
                  </a:tcPr>
                </a:tc>
                <a:tc>
                  <a:txBody>
                    <a:bodyPr/>
                    <a:lstStyle/>
                    <a:p>
                      <a:pPr indent="0" marL="0">
                        <a:buNone/>
                      </a:pPr>
                      <a:r>
                        <a:rPr lang="en-US" sz="1400" b="1" dirty="0">
                          <a:solidFill>
                            <a:srgbClr val="1B2430"/>
                          </a:solidFill>
                        </a:rPr>
                        <a:t>511 bin m², tek malik Hazine</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r>
              <a:tr h="512064">
                <a:tc>
                  <a:txBody>
                    <a:bodyPr/>
                    <a:lstStyle/>
                    <a:p>
                      <a:pPr indent="0" marL="0">
                        <a:buNone/>
                      </a:pPr>
                      <a:r>
                        <a:rPr lang="en-US" sz="1400" b="1" dirty="0">
                          <a:solidFill>
                            <a:srgbClr val="1B2430"/>
                          </a:solidFill>
                        </a:rPr>
                        <a:t>Askeri kısıtlar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Etkilenmez</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Yasak bölge içinde, yükseklik sınırı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Sınıra yakın olabilir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7EBD3"/>
                    </a:solidFill>
                  </a:tcPr>
                </a:tc>
                <a:tc>
                  <a:txBody>
                    <a:bodyPr/>
                    <a:lstStyle/>
                    <a:p>
                      <a:pPr indent="0" marL="0">
                        <a:buNone/>
                      </a:pPr>
                      <a:r>
                        <a:rPr lang="en-US" sz="1400" b="1" dirty="0">
                          <a:solidFill>
                            <a:srgbClr val="1B2430"/>
                          </a:solidFill>
                        </a:rPr>
                        <a:t>HAB'a ~19 km; yasak bölge dışında (teyit)</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r>
              <a:tr h="512064">
                <a:tc>
                  <a:txBody>
                    <a:bodyPr/>
                    <a:lstStyle/>
                    <a:p>
                      <a:pPr indent="0" marL="0">
                        <a:buNone/>
                      </a:pPr>
                      <a:r>
                        <a:rPr lang="en-US" sz="1400" b="1" dirty="0">
                          <a:solidFill>
                            <a:srgbClr val="1B2430"/>
                          </a:solidFill>
                        </a:rPr>
                        <a:t>Sabah piki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Sürer ve büyür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Azalır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Azalır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b="1" dirty="0">
                          <a:solidFill>
                            <a:srgbClr val="1B2430"/>
                          </a:solidFill>
                        </a:rPr>
                        <a:t>Azalır: yolculuk koridor değiştirir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r>
              <a:tr h="512064">
                <a:tc>
                  <a:txBody>
                    <a:bodyPr/>
                    <a:lstStyle/>
                    <a:p>
                      <a:pPr indent="0" marL="0">
                        <a:buNone/>
                      </a:pPr>
                      <a:r>
                        <a:rPr lang="en-US" sz="1400" b="1" dirty="0">
                          <a:solidFill>
                            <a:srgbClr val="1B2430"/>
                          </a:solidFill>
                        </a:rPr>
                        <a:t>Sanayi bölgesine uzaklık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12–17 km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7EBD3"/>
                    </a:solidFill>
                  </a:tcPr>
                </a:tc>
                <a:tc>
                  <a:txBody>
                    <a:bodyPr/>
                    <a:lstStyle/>
                    <a:p>
                      <a:pPr indent="0" marL="0">
                        <a:buNone/>
                      </a:pPr>
                      <a:r>
                        <a:rPr lang="en-US" sz="1400" dirty="0">
                          <a:solidFill>
                            <a:srgbClr val="1B2430"/>
                          </a:solidFill>
                        </a:rPr>
                        <a:t>5 km'den az</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~9 km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b="1" dirty="0">
                          <a:solidFill>
                            <a:srgbClr val="1B2430"/>
                          </a:solidFill>
                        </a:rPr>
                        <a:t>Kınık 11 km, HAB ~19 km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7EBD3"/>
                    </a:solidFill>
                  </a:tcPr>
                </a:tc>
              </a:tr>
              <a:tr h="512064">
                <a:tc>
                  <a:txBody>
                    <a:bodyPr/>
                    <a:lstStyle/>
                    <a:p>
                      <a:pPr indent="0" marL="0">
                        <a:buNone/>
                      </a:pPr>
                      <a:r>
                        <a:rPr lang="en-US" sz="1400" b="1" dirty="0">
                          <a:solidFill>
                            <a:srgbClr val="1B2430"/>
                          </a:solidFill>
                        </a:rPr>
                        <a:t>Raylı erişim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Var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Yok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Var (Başkentray)</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b="1" dirty="0">
                          <a:solidFill>
                            <a:srgbClr val="1B2430"/>
                          </a:solidFill>
                        </a:rPr>
                        <a:t>Planlanan hafif raylı sisteme bağlanır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7EBD3"/>
                    </a:solidFill>
                  </a:tcPr>
                </a:tc>
              </a:tr>
              <a:tr h="512064">
                <a:tc>
                  <a:txBody>
                    <a:bodyPr/>
                    <a:lstStyle/>
                    <a:p>
                      <a:pPr indent="0" marL="0">
                        <a:buNone/>
                      </a:pPr>
                      <a:r>
                        <a:rPr lang="en-US" sz="1400" b="1" dirty="0">
                          <a:solidFill>
                            <a:srgbClr val="1B2430"/>
                          </a:solidFill>
                        </a:rPr>
                        <a:t>Kent hizmetleri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Tam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Sıfırdan kurulur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Sincan hizmetleri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b="1" dirty="0">
                          <a:solidFill>
                            <a:srgbClr val="1B2430"/>
                          </a:solidFill>
                        </a:rPr>
                        <a:t>İlçe merkezi 8 km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r>
              <a:tr h="512064">
                <a:tc>
                  <a:txBody>
                    <a:bodyPr/>
                    <a:lstStyle/>
                    <a:p>
                      <a:pPr indent="0" marL="0">
                        <a:buNone/>
                      </a:pPr>
                      <a:r>
                        <a:rPr lang="en-US" sz="1400" b="1" dirty="0">
                          <a:solidFill>
                            <a:srgbClr val="1B2430"/>
                          </a:solidFill>
                        </a:rPr>
                        <a:t>Tesisin büyüme alanı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Korunur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Daralır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Kısmen etkilenir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7EBD3"/>
                    </a:solidFill>
                  </a:tcPr>
                </a:tc>
                <a:tc>
                  <a:txBody>
                    <a:bodyPr/>
                    <a:lstStyle/>
                    <a:p>
                      <a:pPr indent="0" marL="0">
                        <a:buNone/>
                      </a:pPr>
                      <a:r>
                        <a:rPr lang="en-US" sz="1400" b="1" dirty="0">
                          <a:solidFill>
                            <a:srgbClr val="1B2430"/>
                          </a:solidFill>
                        </a:rPr>
                        <a:t>Korunur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r>
            </a:tbl>
          </a:graphicData>
        </a:graphic>
      </p:graphicFrame>
      <p:sp>
        <p:nvSpPr>
          <p:cNvPr id="5" name="Gösterim"/>
          <p:cNvSpPr/>
          <p:nvPr/>
        </p:nvSpPr>
        <p:spPr>
          <a:xfrm>
            <a:off x="548640" y="5879592"/>
            <a:ext cx="201168" cy="201168"/>
          </a:xfrm>
          <a:prstGeom prst="rect">
            <a:avLst/>
          </a:prstGeom>
          <a:solidFill>
            <a:srgbClr val="E2ECDD"/>
          </a:solidFill>
          <a:ln w="9525">
            <a:solidFill>
              <a:srgbClr val="DDD8CC"/>
            </a:solidFill>
            <a:prstDash val="solid"/>
          </a:ln>
        </p:spPr>
      </p:sp>
      <p:sp>
        <p:nvSpPr>
          <p:cNvPr id="6" name="Text 3"/>
          <p:cNvSpPr txBox="1"/>
          <p:nvPr/>
        </p:nvSpPr>
        <p:spPr>
          <a:xfrm>
            <a:off x="822960" y="5833872"/>
            <a:ext cx="1188720" cy="292608"/>
          </a:xfrm>
          <a:prstGeom prst="rect">
            <a:avLst/>
          </a:prstGeom>
          <a:noFill/>
          <a:ln/>
        </p:spPr>
        <p:txBody>
          <a:bodyPr wrap="square" lIns="0" tIns="0" rIns="0" bIns="0" rtlCol="0" anchor="ctr"/>
          <a:lstStyle/>
          <a:p>
            <a:pPr indent="0" marL="0">
              <a:buNone/>
            </a:pPr>
            <a:r>
              <a:rPr lang="en-US" sz="1200" dirty="0">
                <a:solidFill>
                  <a:schemeClr val="tx1"/>
                </a:solidFill>
              </a:rPr>
              <a:t>Avantaj</a:t>
            </a:r>
            <a:endParaRPr lang="en-US" sz="1200" dirty="0"/>
          </a:p>
        </p:txBody>
      </p:sp>
      <p:sp>
        <p:nvSpPr>
          <p:cNvPr id="7" name="Gösterim"/>
          <p:cNvSpPr/>
          <p:nvPr/>
        </p:nvSpPr>
        <p:spPr>
          <a:xfrm>
            <a:off x="2103120" y="5879592"/>
            <a:ext cx="201168" cy="201168"/>
          </a:xfrm>
          <a:prstGeom prst="rect">
            <a:avLst/>
          </a:prstGeom>
          <a:solidFill>
            <a:srgbClr val="F7EBD3"/>
          </a:solidFill>
          <a:ln w="9525">
            <a:solidFill>
              <a:srgbClr val="DDD8CC"/>
            </a:solidFill>
            <a:prstDash val="solid"/>
          </a:ln>
        </p:spPr>
      </p:sp>
      <p:sp>
        <p:nvSpPr>
          <p:cNvPr id="8" name="Text 5"/>
          <p:cNvSpPr txBox="1"/>
          <p:nvPr/>
        </p:nvSpPr>
        <p:spPr>
          <a:xfrm>
            <a:off x="2377440" y="5833872"/>
            <a:ext cx="1188720" cy="292608"/>
          </a:xfrm>
          <a:prstGeom prst="rect">
            <a:avLst/>
          </a:prstGeom>
          <a:noFill/>
          <a:ln/>
        </p:spPr>
        <p:txBody>
          <a:bodyPr wrap="square" lIns="0" tIns="0" rIns="0" bIns="0" rtlCol="0" anchor="ctr"/>
          <a:lstStyle/>
          <a:p>
            <a:pPr indent="0" marL="0">
              <a:buNone/>
            </a:pPr>
            <a:r>
              <a:rPr lang="en-US" sz="1200" dirty="0">
                <a:solidFill>
                  <a:schemeClr val="tx1"/>
                </a:solidFill>
              </a:rPr>
              <a:t>Orta</a:t>
            </a:r>
            <a:endParaRPr lang="en-US" sz="1200" dirty="0"/>
          </a:p>
        </p:txBody>
      </p:sp>
      <p:sp>
        <p:nvSpPr>
          <p:cNvPr id="9" name="Gösterim"/>
          <p:cNvSpPr/>
          <p:nvPr/>
        </p:nvSpPr>
        <p:spPr>
          <a:xfrm>
            <a:off x="3657600" y="5879592"/>
            <a:ext cx="201168" cy="201168"/>
          </a:xfrm>
          <a:prstGeom prst="rect">
            <a:avLst/>
          </a:prstGeom>
          <a:solidFill>
            <a:srgbClr val="F6DFDB"/>
          </a:solidFill>
          <a:ln w="9525">
            <a:solidFill>
              <a:srgbClr val="DDD8CC"/>
            </a:solidFill>
            <a:prstDash val="solid"/>
          </a:ln>
        </p:spPr>
      </p:sp>
      <p:sp>
        <p:nvSpPr>
          <p:cNvPr id="10" name="Text 7"/>
          <p:cNvSpPr txBox="1"/>
          <p:nvPr/>
        </p:nvSpPr>
        <p:spPr>
          <a:xfrm>
            <a:off x="3931920" y="5833872"/>
            <a:ext cx="1188720" cy="292608"/>
          </a:xfrm>
          <a:prstGeom prst="rect">
            <a:avLst/>
          </a:prstGeom>
          <a:noFill/>
          <a:ln/>
        </p:spPr>
        <p:txBody>
          <a:bodyPr wrap="square" lIns="0" tIns="0" rIns="0" bIns="0" rtlCol="0" anchor="ctr"/>
          <a:lstStyle/>
          <a:p>
            <a:pPr indent="0" marL="0">
              <a:buNone/>
            </a:pPr>
            <a:r>
              <a:rPr lang="en-US" sz="1200" dirty="0">
                <a:solidFill>
                  <a:schemeClr val="tx1"/>
                </a:solidFill>
              </a:rPr>
              <a:t>Zayıf nokta</a:t>
            </a:r>
            <a:endParaRPr lang="en-US" sz="1200" dirty="0"/>
          </a:p>
        </p:txBody>
      </p:sp>
      <p:sp>
        <p:nvSpPr>
          <p:cNvPr id="11" name="Text 8"/>
          <p:cNvSpPr txBox="1"/>
          <p:nvPr/>
        </p:nvSpPr>
        <p:spPr>
          <a:xfrm>
            <a:off x="5303520" y="5833872"/>
            <a:ext cx="6336792" cy="292608"/>
          </a:xfrm>
          <a:prstGeom prst="rect">
            <a:avLst/>
          </a:prstGeom>
          <a:noFill/>
          <a:ln/>
        </p:spPr>
        <p:txBody>
          <a:bodyPr wrap="square" lIns="0" tIns="0" rIns="0" bIns="0" rtlCol="0" anchor="ctr"/>
          <a:lstStyle/>
          <a:p>
            <a:pPr algn="r" indent="0" marL="0">
              <a:buNone/>
            </a:pPr>
            <a:r>
              <a:rPr lang="en-US" sz="1300" b="1" dirty="0">
                <a:solidFill>
                  <a:schemeClr val="tx2"/>
                </a:solidFill>
              </a:rPr>
              <a:t>Uzaklığın telafisi: Uydukent Ekspres ve planlanan hafif raylı sistem.</a:t>
            </a:r>
            <a:endParaRPr lang="en-US" sz="13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YER VE SAHA · BÖLGEDEN GÖRÜNÜM</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Bölgenin arazi yapısı</a:t>
            </a:r>
            <a:endParaRPr lang="en-US" sz="3600" dirty="0"/>
          </a:p>
        </p:txBody>
      </p:sp>
      <p:pic>
        <p:nvPicPr>
          <p:cNvPr id="4" name="Sarıayak bölgesinde köy ve plato" descr="/home/user/sunum/araclar/sunum/assets/saha_buyuk.jpg">    </p:cNvPr>
          <p:cNvPicPr>
            <a:picLocks noChangeAspect="1"/>
          </p:cNvPicPr>
          <p:nvPr/>
        </p:nvPicPr>
        <p:blipFill>
          <a:blip r:embed="rId1"/>
          <a:stretch>
            <a:fillRect/>
          </a:stretch>
        </p:blipFill>
        <p:spPr>
          <a:xfrm>
            <a:off x="548640" y="1600200"/>
            <a:ext cx="6720840" cy="4389120"/>
          </a:xfrm>
          <a:prstGeom prst="rect">
            <a:avLst/>
          </a:prstGeom>
        </p:spPr>
      </p:pic>
      <p:pic>
        <p:nvPicPr>
          <p:cNvPr id="5" name="Yarıntı ve teraslı ağaçlandırma" descr="/home/user/sunum/araclar/sunum/assets/saha_sag1.jpg">    </p:cNvPr>
          <p:cNvPicPr>
            <a:picLocks noChangeAspect="1"/>
          </p:cNvPicPr>
          <p:nvPr/>
        </p:nvPicPr>
        <p:blipFill>
          <a:blip r:embed="rId2"/>
          <a:stretch>
            <a:fillRect/>
          </a:stretch>
        </p:blipFill>
        <p:spPr>
          <a:xfrm>
            <a:off x="7452360" y="1600200"/>
            <a:ext cx="4187952" cy="2103120"/>
          </a:xfrm>
          <a:prstGeom prst="rect">
            <a:avLst/>
          </a:prstGeom>
        </p:spPr>
      </p:pic>
      <p:pic>
        <p:nvPicPr>
          <p:cNvPr id="6" name="Yamaç terasları ve yollar" descr="/home/user/sunum/araclar/sunum/assets/saha_sag2.jpg">    </p:cNvPr>
          <p:cNvPicPr>
            <a:picLocks noChangeAspect="1"/>
          </p:cNvPicPr>
          <p:nvPr/>
        </p:nvPicPr>
        <p:blipFill>
          <a:blip r:embed="rId3"/>
          <a:stretch>
            <a:fillRect/>
          </a:stretch>
        </p:blipFill>
        <p:spPr>
          <a:xfrm>
            <a:off x="7452360" y="3886200"/>
            <a:ext cx="4187952" cy="2103120"/>
          </a:xfrm>
          <a:prstGeom prst="rect">
            <a:avLst/>
          </a:prstGeom>
        </p:spPr>
      </p:pic>
      <p:sp>
        <p:nvSpPr>
          <p:cNvPr id="7" name="Fotoğraf etiketi"/>
          <p:cNvSpPr/>
          <p:nvPr/>
        </p:nvSpPr>
        <p:spPr>
          <a:xfrm>
            <a:off x="731520" y="5440680"/>
            <a:ext cx="3383280" cy="365760"/>
          </a:xfrm>
          <a:prstGeom prst="roundRect">
            <a:avLst>
              <a:gd name="adj" fmla="val 15000"/>
            </a:avLst>
          </a:prstGeom>
          <a:solidFill>
            <a:schemeClr val="tx2">
              <a:alpha val="90000"/>
            </a:schemeClr>
          </a:solidFill>
          <a:ln/>
        </p:spPr>
        <p:txBody>
          <a:bodyPr wrap="square" lIns="0" tIns="1524" rIns="1524" bIns="0" rtlCol="0" anchor="ctr"/>
          <a:lstStyle/>
          <a:p>
            <a:pPr indent="0" marL="0">
              <a:buNone/>
            </a:pPr>
            <a:r>
              <a:rPr lang="en-US" sz="1300" b="1" dirty="0">
                <a:solidFill>
                  <a:schemeClr val="bg1"/>
                </a:solidFill>
              </a:rPr>
              <a:t>Vadide köy yerleşimi, platoda tarlalar</a:t>
            </a:r>
            <a:endParaRPr lang="en-US" sz="1300" dirty="0"/>
          </a:p>
        </p:txBody>
      </p:sp>
      <p:sp>
        <p:nvSpPr>
          <p:cNvPr id="8" name="Fotoğraf etiketi"/>
          <p:cNvSpPr/>
          <p:nvPr/>
        </p:nvSpPr>
        <p:spPr>
          <a:xfrm>
            <a:off x="7635240" y="3154680"/>
            <a:ext cx="3108960" cy="365760"/>
          </a:xfrm>
          <a:prstGeom prst="roundRect">
            <a:avLst>
              <a:gd name="adj" fmla="val 15000"/>
            </a:avLst>
          </a:prstGeom>
          <a:solidFill>
            <a:schemeClr val="tx2">
              <a:alpha val="90000"/>
            </a:schemeClr>
          </a:solidFill>
          <a:ln/>
        </p:spPr>
        <p:txBody>
          <a:bodyPr wrap="square" lIns="0" tIns="1524" rIns="1524" bIns="0" rtlCol="0" anchor="ctr"/>
          <a:lstStyle/>
          <a:p>
            <a:pPr indent="0" marL="0">
              <a:buNone/>
            </a:pPr>
            <a:r>
              <a:rPr lang="en-US" sz="1300" b="1" dirty="0">
                <a:solidFill>
                  <a:schemeClr val="bg1"/>
                </a:solidFill>
              </a:rPr>
              <a:t>Yarıntı ve teraslı çam ağaçlandırması</a:t>
            </a:r>
            <a:endParaRPr lang="en-US" sz="1300" dirty="0"/>
          </a:p>
        </p:txBody>
      </p:sp>
      <p:sp>
        <p:nvSpPr>
          <p:cNvPr id="9" name="Fotoğraf etiketi"/>
          <p:cNvSpPr/>
          <p:nvPr/>
        </p:nvSpPr>
        <p:spPr>
          <a:xfrm>
            <a:off x="7635240" y="5440680"/>
            <a:ext cx="3154680" cy="365760"/>
          </a:xfrm>
          <a:prstGeom prst="roundRect">
            <a:avLst>
              <a:gd name="adj" fmla="val 15000"/>
            </a:avLst>
          </a:prstGeom>
          <a:solidFill>
            <a:schemeClr val="tx2">
              <a:alpha val="90000"/>
            </a:schemeClr>
          </a:solidFill>
          <a:ln/>
        </p:spPr>
        <p:txBody>
          <a:bodyPr wrap="square" lIns="0" tIns="1524" rIns="1524" bIns="0" rtlCol="0" anchor="ctr"/>
          <a:lstStyle/>
          <a:p>
            <a:pPr indent="0" marL="0">
              <a:buNone/>
            </a:pPr>
            <a:r>
              <a:rPr lang="en-US" sz="1300" b="1" dirty="0">
                <a:solidFill>
                  <a:schemeClr val="bg1"/>
                </a:solidFill>
              </a:rPr>
              <a:t>Yamaç terasları, enerji hattı ve yollar</a:t>
            </a:r>
            <a:endParaRPr lang="en-US" sz="1300" dirty="0"/>
          </a:p>
        </p:txBody>
      </p:sp>
      <p:sp>
        <p:nvSpPr>
          <p:cNvPr id="10" name="Text 5"/>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Drone çekimi: 22 Eylül 2026, Sarıayak bölgesi, proje ekibi. Parsel sınırı işaretli değildir; topoğrafya halihazır haritayla teyit edilecek.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YER VE SAHA · SAHA ANALİZİ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Saha bulguları ve yapılacak teyitler</a:t>
            </a:r>
            <a:endParaRPr lang="en-US" sz="3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600200"/>
                <a:gridCol w="3566160"/>
                <a:gridCol w="2926080"/>
                <a:gridCol w="3001975"/>
              </a:tblGrid>
              <a:tr h="530352">
                <a:tc>
                  <a:txBody>
                    <a:bodyPr/>
                    <a:lstStyle/>
                    <a:p>
                      <a:pPr indent="0" marL="0">
                        <a:buNone/>
                      </a:pPr>
                      <a:r>
                        <a:rPr lang="en-US" sz="1400" b="1" dirty="0">
                          <a:solidFill>
                            <a:srgbClr val="FFFFFF"/>
                          </a:solidFill>
                        </a:rPr>
                        <a:t>Konu</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Bulgu</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Değerlendirme</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Yapılacak iş</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530352">
                <a:tc>
                  <a:txBody>
                    <a:bodyPr/>
                    <a:lstStyle/>
                    <a:p>
                      <a:pPr indent="0" marL="0">
                        <a:buNone/>
                      </a:pPr>
                      <a:r>
                        <a:rPr lang="en-US" sz="1400" b="1" dirty="0">
                          <a:solidFill>
                            <a:srgbClr val="1B2430"/>
                          </a:solidFill>
                        </a:rPr>
                        <a:t>Topoğrafya</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Bölgede platolar, dik yamaçlar, yarıntılar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Konut platolara; alanın ~%20'si korunur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Halihazır harita, eğim analizi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Ağaçlandırma</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Bölge yamaçlarında teraslı çam dikimi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Statü varsa yapılaşma dışında kalır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6831 statüsü: Orman İşletme, Milli Emlak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Zemin</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Olası jipsli, marnlı birimler (tahmin)</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Temel ve altyapı maliyetini etkiler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Zemin etüdü ve jeoteknik rapor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Plan durumu</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Ankara ÇDP 2020'de iptal; 2050 planı onaylanmadı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İmar statüsü belirsiz</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İmar durumu yazısı (ABB, ÇŞİDB)</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Deprem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Akademik çalışma: Kazan için 0,30–0,35 g bandı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Ankara ortalamasının üzerinde olabilir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AFAD sorgusu, TBDY 2018</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Altyapı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Enerji hattı, stabilize yollar; kapasite verisi yok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Hat güzergâhı yerleşimi etkiler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ASKİ, Başkent EDAŞ, Başkentgaz görüşü</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Uçuş ekseni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HAB'a ~19 km; pist ekseni ilişkisi hesaplanmadı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Gürültü ve algı riski olabilir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Parsel koordinatıyla MSB ve SHGM verisi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bölgedeki drone tespitleri (22 Eylül 2026), ABB jeoloji raporu, akademik olasılıksal tehlike çalışması. Tümü Sarıayak parseli için teyit edilecek.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SAHA · PLAN VE ARAZİ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Plan durumu ve arazi yapısı</a:t>
            </a:r>
            <a:endParaRPr lang="en-US" sz="3600" dirty="0"/>
          </a:p>
        </p:txBody>
      </p:sp>
      <p:sp>
        <p:nvSpPr>
          <p:cNvPr id="4" name="Madde numarası"/>
          <p:cNvSpPr/>
          <p:nvPr/>
        </p:nvSpPr>
        <p:spPr>
          <a:xfrm>
            <a:off x="548640" y="1673352"/>
            <a:ext cx="438912" cy="438912"/>
          </a:xfrm>
          <a:prstGeom prst="ellipse">
            <a:avLst/>
          </a:prstGeom>
          <a:solidFill>
            <a:schemeClr val="tx2"/>
          </a:solid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5" name="Text 3"/>
          <p:cNvSpPr txBox="1"/>
          <p:nvPr/>
        </p:nvSpPr>
        <p:spPr>
          <a:xfrm>
            <a:off x="1188720" y="1618488"/>
            <a:ext cx="10454335" cy="768096"/>
          </a:xfrm>
          <a:prstGeom prst="rect">
            <a:avLst/>
          </a:prstGeom>
          <a:noFill/>
          <a:ln/>
        </p:spPr>
        <p:txBody>
          <a:bodyPr wrap="square" lIns="0" tIns="0" rIns="0" bIns="0" rtlCol="0" anchor="ctr"/>
          <a:lstStyle/>
          <a:p>
            <a:pPr indent="0" marL="0">
              <a:buNone/>
            </a:pPr>
            <a:r>
              <a:rPr lang="en-US" sz="1700" dirty="0">
                <a:solidFill>
                  <a:schemeClr val="tx1"/>
                </a:solidFill>
              </a:rPr>
              <a:t>1/100.000 Ankara ÇDP (2038), Ankara 9. İdare Mahkemesi'nin 28.09.2020 tarihli kararıyla iptal edilmiştir</a:t>
            </a:r>
            <a:endParaRPr lang="en-US" sz="1700" dirty="0"/>
          </a:p>
        </p:txBody>
      </p:sp>
      <p:sp>
        <p:nvSpPr>
          <p:cNvPr id="6" name="Madde numarası"/>
          <p:cNvSpPr/>
          <p:nvPr/>
        </p:nvSpPr>
        <p:spPr>
          <a:xfrm>
            <a:off x="548640" y="2514600"/>
            <a:ext cx="438912" cy="438912"/>
          </a:xfrm>
          <a:prstGeom prst="ellipse">
            <a:avLst/>
          </a:prstGeom>
          <a:solidFill>
            <a:schemeClr val="accent1"/>
          </a:solid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7" name="Text 5"/>
          <p:cNvSpPr txBox="1"/>
          <p:nvPr/>
        </p:nvSpPr>
        <p:spPr>
          <a:xfrm>
            <a:off x="1188720" y="2459736"/>
            <a:ext cx="10454335" cy="768096"/>
          </a:xfrm>
          <a:prstGeom prst="rect">
            <a:avLst/>
          </a:prstGeom>
          <a:noFill/>
          <a:ln/>
        </p:spPr>
        <p:txBody>
          <a:bodyPr wrap="square" lIns="0" tIns="0" rIns="0" bIns="0" rtlCol="0" anchor="ctr"/>
          <a:lstStyle/>
          <a:p>
            <a:pPr indent="0" marL="0">
              <a:buNone/>
            </a:pPr>
            <a:r>
              <a:rPr lang="en-US" sz="1700" dirty="0">
                <a:solidFill>
                  <a:schemeClr val="tx1"/>
                </a:solidFill>
              </a:rPr>
              <a:t>2050 hedefli yeni 1/100.000 ÇDP 31 Ocak 2026'da tanıtılmış, henüz onaylanmamıştır</a:t>
            </a:r>
            <a:endParaRPr lang="en-US" sz="1700" dirty="0"/>
          </a:p>
        </p:txBody>
      </p:sp>
      <p:sp>
        <p:nvSpPr>
          <p:cNvPr id="8" name="Madde numarası"/>
          <p:cNvSpPr/>
          <p:nvPr/>
        </p:nvSpPr>
        <p:spPr>
          <a:xfrm>
            <a:off x="548640" y="3355848"/>
            <a:ext cx="438912" cy="438912"/>
          </a:xfrm>
          <a:prstGeom prst="ellipse">
            <a:avLst/>
          </a:prstGeom>
          <a:solidFill>
            <a:schemeClr val="tx2"/>
          </a:solid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9" name="Text 7"/>
          <p:cNvSpPr txBox="1"/>
          <p:nvPr/>
        </p:nvSpPr>
        <p:spPr>
          <a:xfrm>
            <a:off x="1188720" y="3300984"/>
            <a:ext cx="10454335" cy="768096"/>
          </a:xfrm>
          <a:prstGeom prst="rect">
            <a:avLst/>
          </a:prstGeom>
          <a:noFill/>
          <a:ln/>
        </p:spPr>
        <p:txBody>
          <a:bodyPr wrap="square" lIns="0" tIns="0" rIns="0" bIns="0" rtlCol="0" anchor="ctr"/>
          <a:lstStyle/>
          <a:p>
            <a:pPr indent="0" marL="0">
              <a:buNone/>
            </a:pPr>
            <a:r>
              <a:rPr lang="en-US" sz="1700" dirty="0">
                <a:solidFill>
                  <a:schemeClr val="tx1"/>
                </a:solidFill>
              </a:rPr>
              <a:t>Parselin plan statüsü ve imar durumu ÇŞİDB, ABB ve Kahramankazan Belediyesi'nden yazıyla istenecektir</a:t>
            </a:r>
            <a:endParaRPr lang="en-US" sz="1700" dirty="0"/>
          </a:p>
        </p:txBody>
      </p:sp>
      <p:sp>
        <p:nvSpPr>
          <p:cNvPr id="10" name="Madde numarası"/>
          <p:cNvSpPr/>
          <p:nvPr/>
        </p:nvSpPr>
        <p:spPr>
          <a:xfrm>
            <a:off x="548640" y="4197096"/>
            <a:ext cx="438912" cy="438912"/>
          </a:xfrm>
          <a:prstGeom prst="ellipse">
            <a:avLst/>
          </a:prstGeom>
          <a:solidFill>
            <a:schemeClr val="accent1"/>
          </a:solid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1" name="Text 9"/>
          <p:cNvSpPr txBox="1"/>
          <p:nvPr/>
        </p:nvSpPr>
        <p:spPr>
          <a:xfrm>
            <a:off x="1188720" y="4142232"/>
            <a:ext cx="10454335" cy="768096"/>
          </a:xfrm>
          <a:prstGeom prst="rect">
            <a:avLst/>
          </a:prstGeom>
          <a:noFill/>
          <a:ln/>
        </p:spPr>
        <p:txBody>
          <a:bodyPr wrap="square" lIns="0" tIns="0" rIns="0" bIns="0" rtlCol="0" anchor="ctr"/>
          <a:lstStyle/>
          <a:p>
            <a:pPr indent="0" marL="0">
              <a:buNone/>
            </a:pPr>
            <a:r>
              <a:rPr lang="en-US" sz="1700" dirty="0">
                <a:solidFill>
                  <a:schemeClr val="tx1"/>
                </a:solidFill>
              </a:rPr>
              <a:t>İlçe tarım alanı 270.029,5 da; sulanan alan 29.005 da olup kuru tarım ağırlıklıdır (2017)</a:t>
            </a:r>
            <a:endParaRPr lang="en-US" sz="1700" dirty="0"/>
          </a:p>
        </p:txBody>
      </p:sp>
      <p:sp>
        <p:nvSpPr>
          <p:cNvPr id="12" name="Madde numarası"/>
          <p:cNvSpPr/>
          <p:nvPr/>
        </p:nvSpPr>
        <p:spPr>
          <a:xfrm>
            <a:off x="548640" y="5038344"/>
            <a:ext cx="438912" cy="438912"/>
          </a:xfrm>
          <a:prstGeom prst="ellipse">
            <a:avLst/>
          </a:prstGeom>
          <a:solidFill>
            <a:schemeClr val="tx2"/>
          </a:solid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13" name="Text 11"/>
          <p:cNvSpPr txBox="1"/>
          <p:nvPr/>
        </p:nvSpPr>
        <p:spPr>
          <a:xfrm>
            <a:off x="1188720" y="4983480"/>
            <a:ext cx="10454335" cy="768096"/>
          </a:xfrm>
          <a:prstGeom prst="rect">
            <a:avLst/>
          </a:prstGeom>
          <a:noFill/>
          <a:ln/>
        </p:spPr>
        <p:txBody>
          <a:bodyPr wrap="square" lIns="0" tIns="0" rIns="0" bIns="0" rtlCol="0" anchor="ctr"/>
          <a:lstStyle/>
          <a:p>
            <a:pPr indent="0" marL="0">
              <a:buNone/>
            </a:pPr>
            <a:r>
              <a:rPr lang="en-US" sz="1700" dirty="0">
                <a:solidFill>
                  <a:schemeClr val="tx1"/>
                </a:solidFill>
              </a:rPr>
              <a:t>Büyük Ova Koruma Alanları (Kasım 2024): 19 ilde 28 ova; Ankara'dan Türkhöyük ve Acıkuyu</a:t>
            </a:r>
            <a:endParaRPr lang="en-US" sz="1700" dirty="0"/>
          </a:p>
        </p:txBody>
      </p:sp>
      <p:sp>
        <p:nvSpPr>
          <p:cNvPr id="14" name="Text 1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ÇŞB Ankara plan açıklama raporu (2026-05); Karar, 31.01.2026; İlçe Tarım Brifing 2017; TRT Haber, 15.11.2024. Parsel statüsü teyit edilecek.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SAHA · DOĞAL RİSKLER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Deprem, taşkın ve jeoloji</a:t>
            </a:r>
            <a:endParaRPr lang="en-US" sz="3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773604"/>
                <a:gridCol w="2773604"/>
                <a:gridCol w="2773604"/>
                <a:gridCol w="2773604"/>
              </a:tblGrid>
              <a:tr h="457200">
                <a:tc>
                  <a:txBody>
                    <a:bodyPr/>
                    <a:lstStyle/>
                    <a:p>
                      <a:pPr indent="0" marL="0">
                        <a:buNone/>
                      </a:pPr>
                      <a:r>
                        <a:rPr lang="en-US" sz="1300" b="1" dirty="0">
                          <a:solidFill>
                            <a:srgbClr val="FFFFFF"/>
                          </a:solidFill>
                        </a:rPr>
                        <a:t>Konu</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Bulgu</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Durum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Sonraki adım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457200">
                <a:tc>
                  <a:txBody>
                    <a:bodyPr/>
                    <a:lstStyle/>
                    <a:p>
                      <a:pPr indent="0" marL="0">
                        <a:buNone/>
                      </a:pPr>
                      <a:r>
                        <a:rPr lang="en-US" sz="1300" b="1" dirty="0">
                          <a:solidFill>
                            <a:srgbClr val="1B2430"/>
                          </a:solidFill>
                        </a:rPr>
                        <a:t>Deprem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Kazan için 0,30–0,35 g (475 yıl)</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Akademik çalışma; teyit edilecek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AFAD TDTH parsel sorgusu</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Yakın faylar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KAF ~80–100 km; Tuzgölü ve Keskin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Uzman görüşü (ikincil)</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MTA diri fay haritası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Taşkın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Ova Çayı; parsel kaydı bulunamadı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DSİ haritasına erişilemedi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DSİ taşkın ve dere görüşü</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Jeoloji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Jipsli Neojen birimleri olasılığı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Hipotez</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MTA paftası, jeoteknik etüt</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Zemin riski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Şişen kil, jips çözünmesi, sülfat</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Genel mühendislik bilgisi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Zemin etüdü ve tasarım önlemi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Heyelan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Ankara 1950–1999: 702 olay, %51 heyelan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İlçe verisi bulunamadı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Mühendislik jeolojisi haritası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Yeraltı suyu</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Potansiyelin %75'i ova havzalarında</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2006 DSİ verisi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DSİ kuyu ve seviye verisi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Özmen ve Erkan 2014 (Turkish Journal of Earth Sciences 23(4)); ABB Nazım Plan Doğal Yapı raporu; Gazete Vatan. Parsel için teyit edilecek.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SAHA · İKLİM VE ÇEVRE</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İklim, hava kalitesi ve gürültü</a:t>
            </a:r>
            <a:endParaRPr lang="en-US" sz="3600" dirty="0"/>
          </a:p>
        </p:txBody>
      </p:sp>
      <p:sp>
        <p:nvSpPr>
          <p:cNvPr id="4" name="Kart"/>
          <p:cNvSpPr/>
          <p:nvPr/>
        </p:nvSpPr>
        <p:spPr>
          <a:xfrm>
            <a:off x="548640" y="1600200"/>
            <a:ext cx="5410048" cy="4343400"/>
          </a:xfrm>
          <a:prstGeom prst="roundRect">
            <a:avLst>
              <a:gd name="adj" fmla="val 1684"/>
            </a:avLst>
          </a:prstGeom>
          <a:solidFill>
            <a:schemeClr val="bg1"/>
          </a:solidFill>
          <a:ln/>
          <a:effectLst>
            <a:outerShdw sx="100000" sy="100000" kx="0" ky="0" algn="bl" rotWithShape="0" blurRad="76200" dist="19050" dir="5400000">
              <a:srgbClr val="000000">
                <a:alpha val="12000"/>
              </a:srgbClr>
            </a:outerShdw>
          </a:effectLst>
        </p:spPr>
      </p:sp>
      <p:sp>
        <p:nvSpPr>
          <p:cNvPr id="5" name="Text 3"/>
          <p:cNvSpPr txBox="1"/>
          <p:nvPr/>
        </p:nvSpPr>
        <p:spPr>
          <a:xfrm>
            <a:off x="822960" y="1828800"/>
            <a:ext cx="4861408" cy="411480"/>
          </a:xfrm>
          <a:prstGeom prst="rect">
            <a:avLst/>
          </a:prstGeom>
          <a:noFill/>
          <a:ln/>
        </p:spPr>
        <p:txBody>
          <a:bodyPr wrap="square" lIns="0" tIns="0" rIns="0" bIns="0" rtlCol="0" anchor="t"/>
          <a:lstStyle/>
          <a:p>
            <a:pPr indent="0" marL="0">
              <a:buNone/>
            </a:pPr>
            <a:r>
              <a:rPr lang="en-US" sz="1800" b="1" dirty="0">
                <a:solidFill>
                  <a:schemeClr val="tx2"/>
                </a:solidFill>
              </a:rPr>
              <a:t>İklim (ilçe ve Ankara)</a:t>
            </a:r>
            <a:endParaRPr lang="en-US" sz="1800" dirty="0"/>
          </a:p>
        </p:txBody>
      </p:sp>
      <p:sp>
        <p:nvSpPr>
          <p:cNvPr id="6" name="Text 4"/>
          <p:cNvSpPr txBox="1"/>
          <p:nvPr/>
        </p:nvSpPr>
        <p:spPr>
          <a:xfrm>
            <a:off x="822960" y="2377440"/>
            <a:ext cx="4861408" cy="34290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Yıllık yağış 350–450 mm; yağış kış ve bahar ağırlıklı; nispi nem yaklaşık %60</a:t>
            </a:r>
            <a:endParaRPr lang="en-US" sz="1500" dirty="0"/>
          </a:p>
          <a:p>
            <a:pPr marL="342900" indent="-342900">
              <a:spcAft>
                <a:spcPts val="600"/>
              </a:spcAft>
              <a:buSzPct val="100000"/>
              <a:buChar char="•"/>
            </a:pPr>
            <a:r>
              <a:rPr lang="en-US" sz="1500" dirty="0">
                <a:solidFill>
                  <a:schemeClr val="tx1"/>
                </a:solidFill>
              </a:rPr>
              <a:t>Ocak ortalaması ~0,4–0,9 °C; Ağustos ortalaması ~23,6 °C (MGM, teyit edilecek)</a:t>
            </a:r>
            <a:endParaRPr lang="en-US" sz="1500" dirty="0"/>
          </a:p>
          <a:p>
            <a:pPr marL="342900" indent="-342900">
              <a:spcAft>
                <a:spcPts val="600"/>
              </a:spcAft>
              <a:buSzPct val="100000"/>
              <a:buChar char="•"/>
            </a:pPr>
            <a:r>
              <a:rPr lang="en-US" sz="1500" dirty="0">
                <a:solidFill>
                  <a:schemeClr val="tx1"/>
                </a:solidFill>
              </a:rPr>
              <a:t>Yıl içinde en yüksek ve en düşük sıcaklık arasındaki fark 44,1 °C</a:t>
            </a:r>
            <a:endParaRPr lang="en-US" sz="1500" dirty="0"/>
          </a:p>
          <a:p>
            <a:pPr marL="342900" indent="-342900">
              <a:spcAft>
                <a:spcPts val="600"/>
              </a:spcAft>
              <a:buSzPct val="100000"/>
              <a:buChar char="•"/>
            </a:pPr>
            <a:r>
              <a:rPr lang="en-US" sz="1500" dirty="0">
                <a:solidFill>
                  <a:schemeClr val="tx1"/>
                </a:solidFill>
              </a:rPr>
              <a:t>Mayıs yağışı ~51–52 mm; iki MGM tablosu arasında fark bulunmaktadır</a:t>
            </a:r>
            <a:endParaRPr lang="en-US" sz="1500" dirty="0"/>
          </a:p>
          <a:p>
            <a:pPr marL="342900" indent="-342900">
              <a:spcAft>
                <a:spcPts val="600"/>
              </a:spcAft>
              <a:buSzPct val="100000"/>
              <a:buChar char="•"/>
            </a:pPr>
            <a:r>
              <a:rPr lang="en-US" sz="1500" dirty="0">
                <a:solidFill>
                  <a:schemeClr val="tx1"/>
                </a:solidFill>
              </a:rPr>
              <a:t>Hâkim rüzgâr, don ve kar günü ile buharlaşma verileri MGM'den istenecektir</a:t>
            </a:r>
            <a:endParaRPr lang="en-US" sz="1500" dirty="0"/>
          </a:p>
        </p:txBody>
      </p:sp>
      <p:sp>
        <p:nvSpPr>
          <p:cNvPr id="7" name="Kart"/>
          <p:cNvSpPr/>
          <p:nvPr/>
        </p:nvSpPr>
        <p:spPr>
          <a:xfrm>
            <a:off x="6233008" y="1600200"/>
            <a:ext cx="5410048" cy="4343400"/>
          </a:xfrm>
          <a:prstGeom prst="roundRect">
            <a:avLst>
              <a:gd name="adj" fmla="val 1684"/>
            </a:avLst>
          </a:prstGeom>
          <a:solidFill>
            <a:schemeClr val="bg1"/>
          </a:solidFill>
          <a:ln/>
          <a:effectLst>
            <a:outerShdw sx="100000" sy="100000" kx="0" ky="0" algn="bl" rotWithShape="0" blurRad="76200" dist="19050" dir="5400000">
              <a:srgbClr val="000000">
                <a:alpha val="12000"/>
              </a:srgbClr>
            </a:outerShdw>
          </a:effectLst>
        </p:spPr>
      </p:sp>
      <p:sp>
        <p:nvSpPr>
          <p:cNvPr id="8" name="Text 6"/>
          <p:cNvSpPr txBox="1"/>
          <p:nvPr/>
        </p:nvSpPr>
        <p:spPr>
          <a:xfrm>
            <a:off x="6507328" y="1828800"/>
            <a:ext cx="4861408" cy="411480"/>
          </a:xfrm>
          <a:prstGeom prst="rect">
            <a:avLst/>
          </a:prstGeom>
          <a:noFill/>
          <a:ln/>
        </p:spPr>
        <p:txBody>
          <a:bodyPr wrap="square" lIns="0" tIns="0" rIns="0" bIns="0" rtlCol="0" anchor="t"/>
          <a:lstStyle/>
          <a:p>
            <a:pPr indent="0" marL="0">
              <a:buNone/>
            </a:pPr>
            <a:r>
              <a:rPr lang="en-US" sz="1800" b="1" dirty="0">
                <a:solidFill>
                  <a:schemeClr val="accent1"/>
                </a:solidFill>
              </a:rPr>
              <a:t>Hava kalitesi ve gürültü</a:t>
            </a:r>
            <a:endParaRPr lang="en-US" sz="1800" dirty="0"/>
          </a:p>
        </p:txBody>
      </p:sp>
      <p:sp>
        <p:nvSpPr>
          <p:cNvPr id="9" name="Text 7"/>
          <p:cNvSpPr txBox="1"/>
          <p:nvPr/>
        </p:nvSpPr>
        <p:spPr>
          <a:xfrm>
            <a:off x="6507328" y="2377440"/>
            <a:ext cx="4861408" cy="34290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Bölgedeki ses üstü test uçuşları için Ankara Valiliği önceden bildirim yayımlamaktadır</a:t>
            </a:r>
            <a:endParaRPr lang="en-US" sz="1500" dirty="0"/>
          </a:p>
          <a:p>
            <a:pPr marL="342900" indent="-342900">
              <a:spcAft>
                <a:spcPts val="600"/>
              </a:spcAft>
              <a:buSzPct val="100000"/>
              <a:buChar char="•"/>
            </a:pPr>
            <a:r>
              <a:rPr lang="en-US" sz="1500" dirty="0">
                <a:solidFill>
                  <a:schemeClr val="tx1"/>
                </a:solidFill>
              </a:rPr>
              <a:t>Gürültü konturu ve uçuş koridoru verisi kamuya açık değildir; genel düzeyde talep edilecektir</a:t>
            </a:r>
            <a:endParaRPr lang="en-US" sz="1500" dirty="0"/>
          </a:p>
          <a:p>
            <a:pPr marL="342900" indent="-342900">
              <a:spcAft>
                <a:spcPts val="600"/>
              </a:spcAft>
              <a:buSzPct val="100000"/>
              <a:buChar char="•"/>
            </a:pPr>
            <a:r>
              <a:rPr lang="en-US" sz="1500" dirty="0">
                <a:solidFill>
                  <a:schemeClr val="tx1"/>
                </a:solidFill>
              </a:rPr>
              <a:t>Sanayi alanlarına ilişkin hava kalitesi ölçümleri ÇŞİDB İl Müdürlüğü'nden istenecektir</a:t>
            </a:r>
            <a:endParaRPr lang="en-US" sz="1500" dirty="0"/>
          </a:p>
          <a:p>
            <a:pPr marL="342900" indent="-342900">
              <a:spcAft>
                <a:spcPts val="600"/>
              </a:spcAft>
              <a:buSzPct val="100000"/>
              <a:buChar char="•"/>
            </a:pPr>
            <a:r>
              <a:rPr lang="en-US" sz="1500" dirty="0">
                <a:solidFill>
                  <a:schemeClr val="tx1"/>
                </a:solidFill>
              </a:rPr>
              <a:t>Konut tasarımında akustik cephe önlemi varsayılmaktadır (varsayım)</a:t>
            </a:r>
            <a:endParaRPr lang="en-US" sz="1500" dirty="0"/>
          </a:p>
        </p:txBody>
      </p:sp>
      <p:sp>
        <p:nvSpPr>
          <p:cNvPr id="10" name="Text 8"/>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İlçe Tarım Brifing 2017; MGM Ankara il istatistikleri (1927–2025 ve 1991–2020 normalleri); NTV ve CNN Türk (Valilik bildirimi).</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SAHA · TOPOĞRAFYA</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Topoğrafya ve eğim eşikleri</a:t>
            </a:r>
            <a:endParaRPr lang="en-US" sz="3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106436"/>
                <a:gridCol w="3993989"/>
                <a:gridCol w="3993989"/>
              </a:tblGrid>
              <a:tr h="457200">
                <a:tc>
                  <a:txBody>
                    <a:bodyPr/>
                    <a:lstStyle/>
                    <a:p>
                      <a:pPr indent="0" marL="0">
                        <a:buNone/>
                      </a:pPr>
                      <a:r>
                        <a:rPr lang="en-US" sz="1300" b="1" dirty="0">
                          <a:solidFill>
                            <a:srgbClr val="FFFFFF"/>
                          </a:solidFill>
                        </a:rPr>
                        <a:t>Eğim veya birim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Yapılaşma durumu</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Maliyet ve kullanım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457200">
                <a:tc>
                  <a:txBody>
                    <a:bodyPr/>
                    <a:lstStyle/>
                    <a:p>
                      <a:pPr indent="0" marL="0">
                        <a:buNone/>
                      </a:pPr>
                      <a:r>
                        <a:rPr lang="en-US" sz="1300" b="1" dirty="0">
                          <a:solidFill>
                            <a:srgbClr val="1B2430"/>
                          </a:solidFill>
                        </a:rPr>
                        <a:t>%0–10</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Yapılaşmaya elverişli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Olağan maliyet</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%10–20</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Ek maliyetle yapılabilir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Kazı-dolgu ve istinat artar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%20–30</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Seki veya ayrık yerleşimle</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Yüksek zemin düzenlemesi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%30 üzeri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Genelde yapılaşma dışı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Yeşil kuşak ve ağaçlandırma</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Yarıntılar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Yapılaşmaya uygun değil</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Doldurulması çok pahalı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Platolar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Konut adaları için uygun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Görece düz tarla platoları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İlçe rakımı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~890–892 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Bazı yerlerde 1.350 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Genel uygulama bilgisi; mevzuatta tek bir azami eğim hükmü bulunamamıştır (teyit edilecek). Drone tespitleri, 22.09.2026; Brifing 2017.</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SAHA · AĞAÇLANDIRMA</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Ağaçlandırma alanları ve hukuki statü</a:t>
            </a:r>
            <a:endParaRPr lang="en-US" sz="3600" dirty="0"/>
          </a:p>
        </p:txBody>
      </p:sp>
      <p:sp>
        <p:nvSpPr>
          <p:cNvPr id="4" name="Madde numarası"/>
          <p:cNvSpPr/>
          <p:nvPr/>
        </p:nvSpPr>
        <p:spPr>
          <a:xfrm>
            <a:off x="548640" y="1673352"/>
            <a:ext cx="438912" cy="438912"/>
          </a:xfrm>
          <a:prstGeom prst="ellipse">
            <a:avLst/>
          </a:prstGeom>
          <a:solidFill>
            <a:schemeClr val="tx2"/>
          </a:solid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5" name="Text 3"/>
          <p:cNvSpPr txBox="1"/>
          <p:nvPr/>
        </p:nvSpPr>
        <p:spPr>
          <a:xfrm>
            <a:off x="1188720" y="1618488"/>
            <a:ext cx="10454335" cy="768096"/>
          </a:xfrm>
          <a:prstGeom prst="rect">
            <a:avLst/>
          </a:prstGeom>
          <a:noFill/>
          <a:ln/>
        </p:spPr>
        <p:txBody>
          <a:bodyPr wrap="square" lIns="0" tIns="0" rIns="0" bIns="0" rtlCol="0" anchor="ctr"/>
          <a:lstStyle/>
          <a:p>
            <a:pPr indent="0" marL="0">
              <a:buNone/>
            </a:pPr>
            <a:r>
              <a:rPr lang="en-US" sz="1700" dirty="0">
                <a:solidFill>
                  <a:schemeClr val="tx1"/>
                </a:solidFill>
              </a:rPr>
              <a:t>Drone görüntülerinde yamaçlardaki eşyükselti teraslarına dikilmiş genç çam sıraları görülmektedir (22.09.2026)</a:t>
            </a:r>
            <a:endParaRPr lang="en-US" sz="1700" dirty="0"/>
          </a:p>
        </p:txBody>
      </p:sp>
      <p:sp>
        <p:nvSpPr>
          <p:cNvPr id="6" name="Madde numarası"/>
          <p:cNvSpPr/>
          <p:nvPr/>
        </p:nvSpPr>
        <p:spPr>
          <a:xfrm>
            <a:off x="548640" y="2514600"/>
            <a:ext cx="438912" cy="438912"/>
          </a:xfrm>
          <a:prstGeom prst="ellipse">
            <a:avLst/>
          </a:prstGeom>
          <a:solidFill>
            <a:schemeClr val="accent1"/>
          </a:solid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7" name="Text 5"/>
          <p:cNvSpPr txBox="1"/>
          <p:nvPr/>
        </p:nvSpPr>
        <p:spPr>
          <a:xfrm>
            <a:off x="1188720" y="2459736"/>
            <a:ext cx="10454335" cy="768096"/>
          </a:xfrm>
          <a:prstGeom prst="rect">
            <a:avLst/>
          </a:prstGeom>
          <a:noFill/>
          <a:ln/>
        </p:spPr>
        <p:txBody>
          <a:bodyPr wrap="square" lIns="0" tIns="0" rIns="0" bIns="0" rtlCol="0" anchor="ctr"/>
          <a:lstStyle/>
          <a:p>
            <a:pPr indent="0" marL="0">
              <a:buNone/>
            </a:pPr>
            <a:r>
              <a:rPr lang="en-US" sz="1700" dirty="0">
                <a:solidFill>
                  <a:schemeClr val="tx1"/>
                </a:solidFill>
              </a:rPr>
              <a:t>Kahramankazan'a ait OGM ağaçlandırma veya erozyon kontrol projesi kaydı bulunamamıştır</a:t>
            </a:r>
            <a:endParaRPr lang="en-US" sz="1700" dirty="0"/>
          </a:p>
        </p:txBody>
      </p:sp>
      <p:sp>
        <p:nvSpPr>
          <p:cNvPr id="8" name="Madde numarası"/>
          <p:cNvSpPr/>
          <p:nvPr/>
        </p:nvSpPr>
        <p:spPr>
          <a:xfrm>
            <a:off x="548640" y="3355848"/>
            <a:ext cx="438912" cy="438912"/>
          </a:xfrm>
          <a:prstGeom prst="ellipse">
            <a:avLst/>
          </a:prstGeom>
          <a:solidFill>
            <a:schemeClr val="tx2"/>
          </a:solid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9" name="Text 7"/>
          <p:cNvSpPr txBox="1"/>
          <p:nvPr/>
        </p:nvSpPr>
        <p:spPr>
          <a:xfrm>
            <a:off x="1188720" y="3300984"/>
            <a:ext cx="10454335" cy="768096"/>
          </a:xfrm>
          <a:prstGeom prst="rect">
            <a:avLst/>
          </a:prstGeom>
          <a:noFill/>
          <a:ln/>
        </p:spPr>
        <p:txBody>
          <a:bodyPr wrap="square" lIns="0" tIns="0" rIns="0" bIns="0" rtlCol="0" anchor="ctr"/>
          <a:lstStyle/>
          <a:p>
            <a:pPr indent="0" marL="0">
              <a:buNone/>
            </a:pPr>
            <a:r>
              <a:rPr lang="en-US" sz="1700" dirty="0">
                <a:solidFill>
                  <a:schemeClr val="tx1"/>
                </a:solidFill>
              </a:rPr>
              <a:t>6831 sayılı Kanun çerçevesinde orman idaresi ağaçlandırma ve erozyon kontrolü yapabilmektedir</a:t>
            </a:r>
            <a:endParaRPr lang="en-US" sz="1700" dirty="0"/>
          </a:p>
        </p:txBody>
      </p:sp>
      <p:sp>
        <p:nvSpPr>
          <p:cNvPr id="10" name="Madde numarası"/>
          <p:cNvSpPr/>
          <p:nvPr/>
        </p:nvSpPr>
        <p:spPr>
          <a:xfrm>
            <a:off x="548640" y="4197096"/>
            <a:ext cx="438912" cy="438912"/>
          </a:xfrm>
          <a:prstGeom prst="ellipse">
            <a:avLst/>
          </a:prstGeom>
          <a:solidFill>
            <a:schemeClr val="accent1"/>
          </a:solid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1" name="Text 9"/>
          <p:cNvSpPr txBox="1"/>
          <p:nvPr/>
        </p:nvSpPr>
        <p:spPr>
          <a:xfrm>
            <a:off x="1188720" y="4142232"/>
            <a:ext cx="10454335" cy="768096"/>
          </a:xfrm>
          <a:prstGeom prst="rect">
            <a:avLst/>
          </a:prstGeom>
          <a:noFill/>
          <a:ln/>
        </p:spPr>
        <p:txBody>
          <a:bodyPr wrap="square" lIns="0" tIns="0" rIns="0" bIns="0" rtlCol="0" anchor="ctr"/>
          <a:lstStyle/>
          <a:p>
            <a:pPr indent="0" marL="0">
              <a:buNone/>
            </a:pPr>
            <a:r>
              <a:rPr lang="en-US" sz="1700" dirty="0">
                <a:solidFill>
                  <a:schemeClr val="tx1"/>
                </a:solidFill>
              </a:rPr>
              <a:t>Ağaçsız orman toprağında 3 ha ve üzeri sahalara bedelsiz izin verilebilmektedir (eski metin, teyit edilecek)</a:t>
            </a:r>
            <a:endParaRPr lang="en-US" sz="1700" dirty="0"/>
          </a:p>
        </p:txBody>
      </p:sp>
      <p:sp>
        <p:nvSpPr>
          <p:cNvPr id="12" name="Madde numarası"/>
          <p:cNvSpPr/>
          <p:nvPr/>
        </p:nvSpPr>
        <p:spPr>
          <a:xfrm>
            <a:off x="548640" y="5038344"/>
            <a:ext cx="438912" cy="438912"/>
          </a:xfrm>
          <a:prstGeom prst="ellipse">
            <a:avLst/>
          </a:prstGeom>
          <a:solidFill>
            <a:schemeClr val="tx2"/>
          </a:solid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13" name="Text 11"/>
          <p:cNvSpPr txBox="1"/>
          <p:nvPr/>
        </p:nvSpPr>
        <p:spPr>
          <a:xfrm>
            <a:off x="1188720" y="4983480"/>
            <a:ext cx="10454335" cy="768096"/>
          </a:xfrm>
          <a:prstGeom prst="rect">
            <a:avLst/>
          </a:prstGeom>
          <a:noFill/>
          <a:ln/>
        </p:spPr>
        <p:txBody>
          <a:bodyPr wrap="square" lIns="0" tIns="0" rIns="0" bIns="0" rtlCol="0" anchor="ctr"/>
          <a:lstStyle/>
          <a:p>
            <a:pPr indent="0" marL="0">
              <a:buNone/>
            </a:pPr>
            <a:r>
              <a:rPr lang="en-US" sz="1700" dirty="0">
                <a:solidFill>
                  <a:schemeClr val="tx1"/>
                </a:solidFill>
              </a:rPr>
              <a:t>Statü bulunması hâlinde bu alanlar yapılaşma dışında kalır; programda 10 ha korunan yamaç ayrılmıştır</a:t>
            </a:r>
            <a:endParaRPr lang="en-US" sz="1700" dirty="0"/>
          </a:p>
        </p:txBody>
      </p:sp>
      <p:sp>
        <p:nvSpPr>
          <p:cNvPr id="14" name="Text 1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Drone tespitleri (22.09.2026); Ağaçlandırma Yönetmeliği; Milli Ağaçlandırma ve Erozyon Kontrolü Seferberliği Yönetmeliği (FAOLEX).</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SAHA · ALTYAPI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Altyapı durumu ve kapasite görüşleri</a:t>
            </a:r>
            <a:endParaRPr lang="en-US" sz="3600" dirty="0"/>
          </a:p>
        </p:txBody>
      </p:sp>
      <p:sp>
        <p:nvSpPr>
          <p:cNvPr id="4" name="Madde numarası"/>
          <p:cNvSpPr/>
          <p:nvPr/>
        </p:nvSpPr>
        <p:spPr>
          <a:xfrm>
            <a:off x="548640" y="1673352"/>
            <a:ext cx="438912" cy="438912"/>
          </a:xfrm>
          <a:prstGeom prst="ellipse">
            <a:avLst/>
          </a:prstGeom>
          <a:solidFill>
            <a:schemeClr val="tx2"/>
          </a:solid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5" name="Text 3"/>
          <p:cNvSpPr txBox="1"/>
          <p:nvPr/>
        </p:nvSpPr>
        <p:spPr>
          <a:xfrm>
            <a:off x="1188720" y="1618488"/>
            <a:ext cx="10454335" cy="768096"/>
          </a:xfrm>
          <a:prstGeom prst="rect">
            <a:avLst/>
          </a:prstGeom>
          <a:noFill/>
          <a:ln/>
        </p:spPr>
        <p:txBody>
          <a:bodyPr wrap="square" lIns="0" tIns="0" rIns="0" bIns="0" rtlCol="0" anchor="ctr"/>
          <a:lstStyle/>
          <a:p>
            <a:pPr indent="0" marL="0">
              <a:buNone/>
            </a:pPr>
            <a:r>
              <a:rPr lang="en-US" sz="1700" dirty="0">
                <a:solidFill>
                  <a:schemeClr val="tx1"/>
                </a:solidFill>
              </a:rPr>
              <a:t>Kahramankazan'a özgü ASKİ, Başkent EDAŞ ve Başkentgaz kapasite verisi bulunamamıştır</a:t>
            </a:r>
            <a:endParaRPr lang="en-US" sz="1700" dirty="0"/>
          </a:p>
        </p:txBody>
      </p:sp>
      <p:sp>
        <p:nvSpPr>
          <p:cNvPr id="6" name="Madde numarası"/>
          <p:cNvSpPr/>
          <p:nvPr/>
        </p:nvSpPr>
        <p:spPr>
          <a:xfrm>
            <a:off x="548640" y="2514600"/>
            <a:ext cx="438912" cy="438912"/>
          </a:xfrm>
          <a:prstGeom prst="ellipse">
            <a:avLst/>
          </a:prstGeom>
          <a:solidFill>
            <a:schemeClr val="accent1"/>
          </a:solid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7" name="Text 5"/>
          <p:cNvSpPr txBox="1"/>
          <p:nvPr/>
        </p:nvSpPr>
        <p:spPr>
          <a:xfrm>
            <a:off x="1188720" y="2459736"/>
            <a:ext cx="10454335" cy="768096"/>
          </a:xfrm>
          <a:prstGeom prst="rect">
            <a:avLst/>
          </a:prstGeom>
          <a:noFill/>
          <a:ln/>
        </p:spPr>
        <p:txBody>
          <a:bodyPr wrap="square" lIns="0" tIns="0" rIns="0" bIns="0" rtlCol="0" anchor="ctr"/>
          <a:lstStyle/>
          <a:p>
            <a:pPr indent="0" marL="0">
              <a:buNone/>
            </a:pPr>
            <a:r>
              <a:rPr lang="en-US" sz="1700" dirty="0">
                <a:solidFill>
                  <a:schemeClr val="tx1"/>
                </a:solidFill>
              </a:rPr>
              <a:t>ASKİ yaklaşık 500 milyon dolarlık üç proje duyurmuştur; Tatlar atıksu arıtma tesisi bunlardan biridir</a:t>
            </a:r>
            <a:endParaRPr lang="en-US" sz="1700" dirty="0"/>
          </a:p>
        </p:txBody>
      </p:sp>
      <p:sp>
        <p:nvSpPr>
          <p:cNvPr id="8" name="Madde numarası"/>
          <p:cNvSpPr/>
          <p:nvPr/>
        </p:nvSpPr>
        <p:spPr>
          <a:xfrm>
            <a:off x="548640" y="3355848"/>
            <a:ext cx="438912" cy="438912"/>
          </a:xfrm>
          <a:prstGeom prst="ellipse">
            <a:avLst/>
          </a:prstGeom>
          <a:solidFill>
            <a:schemeClr val="tx2"/>
          </a:solid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9" name="Text 7"/>
          <p:cNvSpPr txBox="1"/>
          <p:nvPr/>
        </p:nvSpPr>
        <p:spPr>
          <a:xfrm>
            <a:off x="1188720" y="3300984"/>
            <a:ext cx="10454335" cy="768096"/>
          </a:xfrm>
          <a:prstGeom prst="rect">
            <a:avLst/>
          </a:prstGeom>
          <a:noFill/>
          <a:ln/>
        </p:spPr>
        <p:txBody>
          <a:bodyPr wrap="square" lIns="0" tIns="0" rIns="0" bIns="0" rtlCol="0" anchor="ctr"/>
          <a:lstStyle/>
          <a:p>
            <a:pPr indent="0" marL="0">
              <a:buNone/>
            </a:pPr>
            <a:r>
              <a:rPr lang="en-US" sz="1700" dirty="0">
                <a:solidFill>
                  <a:schemeClr val="tx1"/>
                </a:solidFill>
              </a:rPr>
              <a:t>İvedik arıtma tesisi kapasite sınırındadır; ~560.000 m³/gün kapasite artışı planlanmıştır</a:t>
            </a:r>
            <a:endParaRPr lang="en-US" sz="1700" dirty="0"/>
          </a:p>
        </p:txBody>
      </p:sp>
      <p:sp>
        <p:nvSpPr>
          <p:cNvPr id="10" name="Madde numarası"/>
          <p:cNvSpPr/>
          <p:nvPr/>
        </p:nvSpPr>
        <p:spPr>
          <a:xfrm>
            <a:off x="548640" y="4197096"/>
            <a:ext cx="438912" cy="438912"/>
          </a:xfrm>
          <a:prstGeom prst="ellipse">
            <a:avLst/>
          </a:prstGeom>
          <a:solidFill>
            <a:schemeClr val="accent1"/>
          </a:solid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1" name="Text 9"/>
          <p:cNvSpPr txBox="1"/>
          <p:nvPr/>
        </p:nvSpPr>
        <p:spPr>
          <a:xfrm>
            <a:off x="1188720" y="4142232"/>
            <a:ext cx="10454335" cy="768096"/>
          </a:xfrm>
          <a:prstGeom prst="rect">
            <a:avLst/>
          </a:prstGeom>
          <a:noFill/>
          <a:ln/>
        </p:spPr>
        <p:txBody>
          <a:bodyPr wrap="square" lIns="0" tIns="0" rIns="0" bIns="0" rtlCol="0" anchor="ctr"/>
          <a:lstStyle/>
          <a:p>
            <a:pPr indent="0" marL="0">
              <a:buNone/>
            </a:pPr>
            <a:r>
              <a:rPr lang="en-US" sz="1700" dirty="0">
                <a:solidFill>
                  <a:schemeClr val="tx1"/>
                </a:solidFill>
              </a:rPr>
              <a:t>Sahada enerji nakil hattı direkleri görülmektedir; hat bilgisi Başkent EDAŞ ve TEİAŞ'tan alınacaktır</a:t>
            </a:r>
            <a:endParaRPr lang="en-US" sz="1700" dirty="0"/>
          </a:p>
        </p:txBody>
      </p:sp>
      <p:sp>
        <p:nvSpPr>
          <p:cNvPr id="12" name="Madde numarası"/>
          <p:cNvSpPr/>
          <p:nvPr/>
        </p:nvSpPr>
        <p:spPr>
          <a:xfrm>
            <a:off x="548640" y="5038344"/>
            <a:ext cx="438912" cy="438912"/>
          </a:xfrm>
          <a:prstGeom prst="ellipse">
            <a:avLst/>
          </a:prstGeom>
          <a:solidFill>
            <a:schemeClr val="tx2"/>
          </a:solid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13" name="Text 11"/>
          <p:cNvSpPr txBox="1"/>
          <p:nvPr/>
        </p:nvSpPr>
        <p:spPr>
          <a:xfrm>
            <a:off x="1188720" y="4983480"/>
            <a:ext cx="10454335" cy="768096"/>
          </a:xfrm>
          <a:prstGeom prst="rect">
            <a:avLst/>
          </a:prstGeom>
          <a:noFill/>
          <a:ln/>
        </p:spPr>
        <p:txBody>
          <a:bodyPr wrap="square" lIns="0" tIns="0" rIns="0" bIns="0" rtlCol="0" anchor="ctr"/>
          <a:lstStyle/>
          <a:p>
            <a:pPr indent="0" marL="0">
              <a:buNone/>
            </a:pPr>
            <a:r>
              <a:rPr lang="en-US" sz="1700" dirty="0">
                <a:solidFill>
                  <a:schemeClr val="tx1"/>
                </a:solidFill>
              </a:rPr>
              <a:t>MEB yer seçimine göre okul parselleri yüksek gerilim hattından en az 100 m uzakta olmalıdır</a:t>
            </a:r>
            <a:endParaRPr lang="en-US" sz="1700" dirty="0"/>
          </a:p>
        </p:txBody>
      </p:sp>
      <p:sp>
        <p:nvSpPr>
          <p:cNvPr id="14" name="Text 1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Habertürk ve BloombergHT (ASKİ projeleri); Hürriyet Ankara (İvedik); MEB Kurum Açma Yönetmeliği 24.06.2017 (Takvim); drone tespitleri.</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SAHA · DRONE TESPİTLERİ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Drone saha tespitleri</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106436"/>
                <a:gridCol w="3993989"/>
                <a:gridCol w="3993989"/>
              </a:tblGrid>
              <a:tr h="457200">
                <a:tc>
                  <a:txBody>
                    <a:bodyPr/>
                    <a:lstStyle/>
                    <a:p>
                      <a:pPr indent="0" marL="0">
                        <a:buNone/>
                      </a:pPr>
                      <a:r>
                        <a:rPr lang="en-US" sz="1300" b="1" dirty="0">
                          <a:solidFill>
                            <a:srgbClr val="FFFFFF"/>
                          </a:solidFill>
                        </a:rPr>
                        <a:t>Tespit</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Gözlem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Program etkisi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457200">
                <a:tc>
                  <a:txBody>
                    <a:bodyPr/>
                    <a:lstStyle/>
                    <a:p>
                      <a:pPr indent="0" marL="0">
                        <a:buNone/>
                      </a:pPr>
                      <a:r>
                        <a:rPr lang="en-US" sz="1300" b="1" dirty="0">
                          <a:solidFill>
                            <a:srgbClr val="1B2430"/>
                          </a:solidFill>
                        </a:rPr>
                        <a:t>Topoğrafya</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Platolar, dik yamaçlar, derin yarıntılar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Düz ova varsayımı geçersiz</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Yapılaşma</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Tepe üstünde buğday platoları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Konut adaları platolarda</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Ağaçlandırma</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Teraslarda genç çam sıraları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10 ha korunan yamaç</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Zemin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Açık renkli, çıplak, oyulmuş yamaçlar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Jeoteknik etüt zorunlu</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Mevcut yerleşim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Vadide eski köy, yeni evler, seralar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Köyle bağlantılı tasarım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Altyapı izleri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Enerji nakil hattı, stabilize yollar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Hat güzergâhı teyit edilecek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Su toplama</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Yarıntı ve vadi yağmur suyunu topluyor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Göl girişinde çökeltim havuzu</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Proje ekibi drone çekimi, 22 Eylül 2026 sabahı, 2 dk 19 sn, 4K; 28 kare. Parsel sınırı işaretli değildir; tespitler teyit edilecektir.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YER VE SAHA · POLİTİKA UYUMU</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Üst ölçekli politika belgeleriyle uyum</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017520"/>
                <a:gridCol w="3657600"/>
                <a:gridCol w="4419295"/>
              </a:tblGrid>
              <a:tr h="457200">
                <a:tc>
                  <a:txBody>
                    <a:bodyPr/>
                    <a:lstStyle/>
                    <a:p>
                      <a:pPr indent="0" marL="0">
                        <a:buNone/>
                      </a:pPr>
                      <a:r>
                        <a:rPr lang="en-US" sz="1400" b="1" dirty="0">
                          <a:solidFill>
                            <a:srgbClr val="FFFFFF"/>
                          </a:solidFill>
                        </a:rPr>
                        <a:t>Belge</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Madde ve hedef</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Uydukent'teki karşılığı</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457200">
                <a:tc rowSpan="5">
                  <a:txBody>
                    <a:bodyPr/>
                    <a:lstStyle/>
                    <a:p>
                      <a:pPr indent="0" marL="0">
                        <a:buNone/>
                      </a:pPr>
                      <a:r>
                        <a:rPr lang="en-US" sz="1400" b="1" dirty="0">
                          <a:solidFill>
                            <a:srgbClr val="1B2430"/>
                          </a:solidFill>
                        </a:rPr>
                        <a:t>12. Kalkınma Planı (2024–2028)</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m. 520.3, Tablo 22: istihdam 81,1 → 158 bin</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Nitelikli personelin bölgede yerleşmesi</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vMerge="1">
                  <a:tcPr/>
                </a:tc>
                <a:tc>
                  <a:txBody>
                    <a:bodyPr/>
                    <a:lstStyle/>
                    <a:p>
                      <a:pPr indent="0" marL="0">
                        <a:buNone/>
                      </a:pPr>
                      <a:r>
                        <a:rPr lang="en-US" sz="1400" dirty="0">
                          <a:solidFill>
                            <a:srgbClr val="1B2430"/>
                          </a:solidFill>
                        </a:rPr>
                        <a:t>m. 430</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Sanayi yatırım yeri ile yaşam alanı erişimi</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vMerge="1">
                  <a:tcPr/>
                </a:tc>
                <a:tc>
                  <a:txBody>
                    <a:bodyPr/>
                    <a:lstStyle/>
                    <a:p>
                      <a:pPr indent="0" marL="0">
                        <a:buNone/>
                      </a:pPr>
                      <a:r>
                        <a:rPr lang="en-US" sz="1400" dirty="0">
                          <a:solidFill>
                            <a:srgbClr val="1B2430"/>
                          </a:solidFill>
                        </a:rPr>
                        <a:t>m. 850, 853.2, 857</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Akıllı, yeşil, dirençli, mahalle kültürlü yerleşim</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vMerge="1">
                  <a:tcPr/>
                </a:tc>
                <a:tc>
                  <a:txBody>
                    <a:bodyPr/>
                    <a:lstStyle/>
                    <a:p>
                      <a:pPr indent="0" marL="0">
                        <a:buNone/>
                      </a:pPr>
                      <a:r>
                        <a:rPr lang="en-US" sz="1400" dirty="0">
                          <a:solidFill>
                            <a:srgbClr val="1B2430"/>
                          </a:solidFill>
                        </a:rPr>
                        <a:t>m. 884.2, 885</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Yerleşim ile toplu taşımanın birlikte planlanması</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vMerge="1">
                  <a:tcPr/>
                </a:tc>
                <a:tc>
                  <a:txBody>
                    <a:bodyPr/>
                    <a:lstStyle/>
                    <a:p>
                      <a:pPr indent="0" marL="0">
                        <a:buNone/>
                      </a:pPr>
                      <a:r>
                        <a:rPr lang="en-US" sz="1400" dirty="0">
                          <a:solidFill>
                            <a:srgbClr val="1B2430"/>
                          </a:solidFill>
                        </a:rPr>
                        <a:t>m. 880.5, 881–882</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Sıfır atık, yağmur suyu hasadı (göl ve peyzaj)</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B2430"/>
                          </a:solidFill>
                        </a:rPr>
                        <a:t>2026 Yıllık Program</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853.2, 885.4</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Akıllı şehir öğeleri; Akıllı Ulaşım Eylem Planı 2025–2030</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B2430"/>
                          </a:solidFill>
                        </a:rPr>
                        <a:t>SSB Stratejik Planı 2024–2028</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H3.5; s. 46 tehdit tespiti</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Deneyimli personeli sektörde tutmak</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B2430"/>
                          </a:solidFill>
                        </a:rPr>
                        <a:t>2030 Ulusal Akıllı Şehirler Stratejisi</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Veri yönetimi, dijital güvenlik</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Akıllı yaşam alanı ve veri güvenliği</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12. Kalkınma Planı; 2026 Cumhurbaşkanlığı Yıllık Programı; SSB Stratejik Planı 2024–2028. Akıllı şehirler stratejisindeki eylem numarası teyit edilecek.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POLİTİKA · KALKINMA PLANI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On İkinci Kalkınma Planı ile uyum</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106436"/>
                <a:gridCol w="3993989"/>
                <a:gridCol w="3993989"/>
              </a:tblGrid>
              <a:tr h="457200">
                <a:tc>
                  <a:txBody>
                    <a:bodyPr/>
                    <a:lstStyle/>
                    <a:p>
                      <a:pPr indent="0" marL="0">
                        <a:buNone/>
                      </a:pPr>
                      <a:r>
                        <a:rPr lang="en-US" sz="1300" b="1" dirty="0">
                          <a:solidFill>
                            <a:srgbClr val="FFFFFF"/>
                          </a:solidFill>
                        </a:rPr>
                        <a:t>Madde</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Plan hükmü</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Uydukent ile ilişki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457200">
                <a:tc>
                  <a:txBody>
                    <a:bodyPr/>
                    <a:lstStyle/>
                    <a:p>
                      <a:pPr indent="0" marL="0">
                        <a:buNone/>
                      </a:pPr>
                      <a:r>
                        <a:rPr lang="en-US" sz="1300" b="1" dirty="0">
                          <a:solidFill>
                            <a:srgbClr val="1B2430"/>
                          </a:solidFill>
                        </a:rPr>
                        <a:t>520.3</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Savunma için nitelikli insan kaynağı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Nitelikli personelin bölgede yerleşmesi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430</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Yatırım yerlerinin yaşam alanına erişimi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Sanayi alanlarına yakın yaşam alanı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850, 853.2, 857</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Akıllı, yeşil ve dirençli yerleşim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Akıllı şehir katmanı, mahalle kültürü</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373, 862, 862.4</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Konut arzı; veriye dayalı talep analizi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2.500 konutluk arz; ön talep anketi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884.2, 885</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Mekânsal plan ile ulaşım bütünlüğü</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Uydukent Ekspres, yürünebilir mahalle</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891.1</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Ankara–Konya–Mersin savunma sanayii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Ankara savunma kümesine destek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880.5, 881–882</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Sıfır atık, yağmur suyu hasadı, gri su</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Göl ve peyzajda hasat ve gri su</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On İkinci Kalkınma Planı 2024–2028 (SBB, Aralık 2023), s.67–225; madde metinleri resmi PDF ile karşılaştırılacaktır.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POLİTİKA · YILLIK PROGRAM VE SSB</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Yıllık Program ve SSB Stratejik Planı</a:t>
            </a:r>
            <a:endParaRPr lang="en-US" sz="3600" dirty="0"/>
          </a:p>
        </p:txBody>
      </p:sp>
      <p:sp>
        <p:nvSpPr>
          <p:cNvPr id="4" name="Kart"/>
          <p:cNvSpPr/>
          <p:nvPr/>
        </p:nvSpPr>
        <p:spPr>
          <a:xfrm>
            <a:off x="548640" y="1600200"/>
            <a:ext cx="5410048" cy="4343400"/>
          </a:xfrm>
          <a:prstGeom prst="roundRect">
            <a:avLst>
              <a:gd name="adj" fmla="val 1684"/>
            </a:avLst>
          </a:prstGeom>
          <a:solidFill>
            <a:schemeClr val="bg1"/>
          </a:solidFill>
          <a:ln/>
          <a:effectLst>
            <a:outerShdw sx="100000" sy="100000" kx="0" ky="0" algn="bl" rotWithShape="0" blurRad="76200" dist="19050" dir="5400000">
              <a:srgbClr val="000000">
                <a:alpha val="12000"/>
              </a:srgbClr>
            </a:outerShdw>
          </a:effectLst>
        </p:spPr>
      </p:sp>
      <p:sp>
        <p:nvSpPr>
          <p:cNvPr id="5" name="Text 3"/>
          <p:cNvSpPr txBox="1"/>
          <p:nvPr/>
        </p:nvSpPr>
        <p:spPr>
          <a:xfrm>
            <a:off x="822960" y="1828800"/>
            <a:ext cx="4861408" cy="411480"/>
          </a:xfrm>
          <a:prstGeom prst="rect">
            <a:avLst/>
          </a:prstGeom>
          <a:noFill/>
          <a:ln/>
        </p:spPr>
        <p:txBody>
          <a:bodyPr wrap="square" lIns="0" tIns="0" rIns="0" bIns="0" rtlCol="0" anchor="t"/>
          <a:lstStyle/>
          <a:p>
            <a:pPr indent="0" marL="0">
              <a:buNone/>
            </a:pPr>
            <a:r>
              <a:rPr lang="en-US" sz="1800" b="1" dirty="0">
                <a:solidFill>
                  <a:schemeClr val="tx2"/>
                </a:solidFill>
              </a:rPr>
              <a:t>2026 Cumhurbaşkanlığı Yıllık Programı</a:t>
            </a:r>
            <a:endParaRPr lang="en-US" sz="1800" dirty="0"/>
          </a:p>
        </p:txBody>
      </p:sp>
      <p:sp>
        <p:nvSpPr>
          <p:cNvPr id="6" name="Text 4"/>
          <p:cNvSpPr txBox="1"/>
          <p:nvPr/>
        </p:nvSpPr>
        <p:spPr>
          <a:xfrm>
            <a:off x="822960" y="2377440"/>
            <a:ext cx="4861408" cy="34290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Tedbir 520.3: Savunma Kariyer Platformu, ELMAS Programı ve sektörde insan kaynağı ihtiyaç analizleri</a:t>
            </a:r>
            <a:endParaRPr lang="en-US" sz="1500" dirty="0"/>
          </a:p>
          <a:p>
            <a:pPr marL="342900" indent="-342900">
              <a:spcAft>
                <a:spcPts val="600"/>
              </a:spcAft>
              <a:buSzPct val="100000"/>
              <a:buChar char="•"/>
            </a:pPr>
            <a:r>
              <a:rPr lang="en-US" sz="1500" dirty="0">
                <a:solidFill>
                  <a:schemeClr val="tx1"/>
                </a:solidFill>
              </a:rPr>
              <a:t>Sektör istihdamı: 99,0 bin (2024), 108,9 bin (2025 tahmini), 119,8 bin kişi (2026 hedefi)</a:t>
            </a:r>
            <a:endParaRPr lang="en-US" sz="1500" dirty="0"/>
          </a:p>
          <a:p>
            <a:pPr marL="342900" indent="-342900">
              <a:spcAft>
                <a:spcPts val="600"/>
              </a:spcAft>
              <a:buSzPct val="100000"/>
              <a:buChar char="•"/>
            </a:pPr>
            <a:r>
              <a:rPr lang="en-US" sz="1500" dirty="0">
                <a:solidFill>
                  <a:schemeClr val="tx1"/>
                </a:solidFill>
              </a:rPr>
              <a:t>2026 hedefleri: yerlilik %83, ihracat 8,0 milyar $, ciro 20,0 milyar $</a:t>
            </a:r>
            <a:endParaRPr lang="en-US" sz="1500" dirty="0"/>
          </a:p>
          <a:p>
            <a:pPr marL="342900" indent="-342900">
              <a:spcAft>
                <a:spcPts val="600"/>
              </a:spcAft>
              <a:buSzPct val="100000"/>
              <a:buChar char="•"/>
            </a:pPr>
            <a:r>
              <a:rPr lang="en-US" sz="1500" dirty="0">
                <a:solidFill>
                  <a:schemeClr val="tx1"/>
                </a:solidFill>
              </a:rPr>
              <a:t>Tedbir 862.1: Sosyal Konut Projesi kapsamında 100 bin konut üretimine başlanması</a:t>
            </a:r>
            <a:endParaRPr lang="en-US" sz="1500" dirty="0"/>
          </a:p>
          <a:p>
            <a:pPr marL="342900" indent="-342900">
              <a:spcAft>
                <a:spcPts val="600"/>
              </a:spcAft>
              <a:buSzPct val="100000"/>
              <a:buChar char="•"/>
            </a:pPr>
            <a:r>
              <a:rPr lang="en-US" sz="1500" dirty="0">
                <a:solidFill>
                  <a:schemeClr val="tx1"/>
                </a:solidFill>
              </a:rPr>
              <a:t>Tedbir 853.2 akıllı ve yeşil şehir öğeleri; 885.4 Akıllı Ulaşım Sistemleri 2025–2030 Eylem Planı</a:t>
            </a:r>
            <a:endParaRPr lang="en-US" sz="1500" dirty="0"/>
          </a:p>
        </p:txBody>
      </p:sp>
      <p:sp>
        <p:nvSpPr>
          <p:cNvPr id="7" name="Kart"/>
          <p:cNvSpPr/>
          <p:nvPr/>
        </p:nvSpPr>
        <p:spPr>
          <a:xfrm>
            <a:off x="6233008" y="1600200"/>
            <a:ext cx="5410048" cy="4343400"/>
          </a:xfrm>
          <a:prstGeom prst="roundRect">
            <a:avLst>
              <a:gd name="adj" fmla="val 1684"/>
            </a:avLst>
          </a:prstGeom>
          <a:solidFill>
            <a:schemeClr val="bg1"/>
          </a:solidFill>
          <a:ln/>
          <a:effectLst>
            <a:outerShdw sx="100000" sy="100000" kx="0" ky="0" algn="bl" rotWithShape="0" blurRad="76200" dist="19050" dir="5400000">
              <a:srgbClr val="000000">
                <a:alpha val="12000"/>
              </a:srgbClr>
            </a:outerShdw>
          </a:effectLst>
        </p:spPr>
      </p:sp>
      <p:sp>
        <p:nvSpPr>
          <p:cNvPr id="8" name="Text 6"/>
          <p:cNvSpPr txBox="1"/>
          <p:nvPr/>
        </p:nvSpPr>
        <p:spPr>
          <a:xfrm>
            <a:off x="6507328" y="1828800"/>
            <a:ext cx="4861408" cy="411480"/>
          </a:xfrm>
          <a:prstGeom prst="rect">
            <a:avLst/>
          </a:prstGeom>
          <a:noFill/>
          <a:ln/>
        </p:spPr>
        <p:txBody>
          <a:bodyPr wrap="square" lIns="0" tIns="0" rIns="0" bIns="0" rtlCol="0" anchor="t"/>
          <a:lstStyle/>
          <a:p>
            <a:pPr indent="0" marL="0">
              <a:buNone/>
            </a:pPr>
            <a:r>
              <a:rPr lang="en-US" sz="1800" b="1" dirty="0">
                <a:solidFill>
                  <a:schemeClr val="accent1"/>
                </a:solidFill>
              </a:rPr>
              <a:t>SSB Stratejik Planı 2024–2028</a:t>
            </a:r>
            <a:endParaRPr lang="en-US" sz="1800" dirty="0"/>
          </a:p>
        </p:txBody>
      </p:sp>
      <p:sp>
        <p:nvSpPr>
          <p:cNvPr id="9" name="Text 7"/>
          <p:cNvSpPr txBox="1"/>
          <p:nvPr/>
        </p:nvSpPr>
        <p:spPr>
          <a:xfrm>
            <a:off x="6507328" y="2377440"/>
            <a:ext cx="4861408" cy="34290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Hedef H3.5: nitelikli insan kaynağının sektöre ilgisinin artırılması</a:t>
            </a:r>
            <a:endParaRPr lang="en-US" sz="1500" dirty="0"/>
          </a:p>
          <a:p>
            <a:pPr marL="342900" indent="-342900">
              <a:spcAft>
                <a:spcPts val="600"/>
              </a:spcAft>
              <a:buSzPct val="100000"/>
              <a:buChar char="•"/>
            </a:pPr>
            <a:r>
              <a:rPr lang="en-US" sz="1500" dirty="0">
                <a:solidFill>
                  <a:schemeClr val="tx1"/>
                </a:solidFill>
              </a:rPr>
              <a:t>Strateji: deneyimli insan kaynağının sektöre kazandırılması için politikalar geliştirilmesi</a:t>
            </a:r>
            <a:endParaRPr lang="en-US" sz="1500" dirty="0"/>
          </a:p>
          <a:p>
            <a:pPr marL="342900" indent="-342900">
              <a:spcAft>
                <a:spcPts val="600"/>
              </a:spcAft>
              <a:buSzPct val="100000"/>
              <a:buChar char="•"/>
            </a:pPr>
            <a:r>
              <a:rPr lang="en-US" sz="1500" dirty="0">
                <a:solidFill>
                  <a:schemeClr val="tx1"/>
                </a:solidFill>
              </a:rPr>
              <a:t>Tehdit (s.46): yurt dışına veya farklı sektörlere geçişle kazanılmış tecrübenin kaybı</a:t>
            </a:r>
            <a:endParaRPr lang="en-US" sz="1500" dirty="0"/>
          </a:p>
          <a:p>
            <a:pPr marL="342900" indent="-342900">
              <a:spcAft>
                <a:spcPts val="600"/>
              </a:spcAft>
              <a:buSzPct val="100000"/>
              <a:buChar char="•"/>
            </a:pPr>
            <a:r>
              <a:rPr lang="en-US" sz="1500" dirty="0">
                <a:solidFill>
                  <a:schemeClr val="tx1"/>
                </a:solidFill>
              </a:rPr>
              <a:t>Zayıf yön: kariyer planlaması ve yetenek yönetimine dayalı İK politikasının geliştirilememesi</a:t>
            </a:r>
            <a:endParaRPr lang="en-US" sz="1500" dirty="0"/>
          </a:p>
          <a:p>
            <a:pPr marL="342900" indent="-342900">
              <a:spcAft>
                <a:spcPts val="600"/>
              </a:spcAft>
              <a:buSzPct val="100000"/>
              <a:buChar char="•"/>
            </a:pPr>
            <a:r>
              <a:rPr lang="en-US" sz="1500" dirty="0">
                <a:solidFill>
                  <a:schemeClr val="tx1"/>
                </a:solidFill>
              </a:rPr>
              <a:t>Göstergeler: istihdam programlarıyla yerleştirilen genç sayısı ve staj sağlanan öğrenci sayısı</a:t>
            </a:r>
            <a:endParaRPr lang="en-US" sz="1500" dirty="0"/>
          </a:p>
        </p:txBody>
      </p:sp>
      <p:sp>
        <p:nvSpPr>
          <p:cNvPr id="10" name="Text 8"/>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2026 Yıllık Programı (RG 30.10.2025, Mükerrer 33062), s.166–168; SSB 2024–2028 Stratejik Planı, s.46 ve s.92–93; tablo değerleri teyit edilecek.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DÜNYADAN UYGULAMALAR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Ulaşım ve işe erişim uygulamaları</a:t>
            </a:r>
            <a:endParaRPr lang="en-US" sz="3600" dirty="0"/>
          </a:p>
        </p:txBody>
      </p:sp>
      <p:sp>
        <p:nvSpPr>
          <p:cNvPr id="4" name="Kart"/>
          <p:cNvSpPr/>
          <p:nvPr/>
        </p:nvSpPr>
        <p:spPr>
          <a:xfrm>
            <a:off x="548640" y="1600200"/>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31520" y="1783080"/>
            <a:ext cx="438912" cy="438912"/>
          </a:xfrm>
          <a:prstGeom prst="ellipse">
            <a:avLst/>
          </a:prstGeom>
          <a:solidFill>
            <a:schemeClr val="accent2"/>
          </a:solidFill>
          <a:ln/>
        </p:spPr>
      </p:sp>
      <p:pic>
        <p:nvPicPr>
          <p:cNvPr id="6" name="İkon FaBus" descr="preencoded.png">    </p:cNvPr>
          <p:cNvPicPr>
            <a:picLocks noChangeAspect="1"/>
          </p:cNvPicPr>
          <p:nvPr/>
        </p:nvPicPr>
        <p:blipFill>
          <a:blip r:embed="rId1"/>
          <a:stretch>
            <a:fillRect/>
          </a:stretch>
        </p:blipFill>
        <p:spPr>
          <a:xfrm>
            <a:off x="836859" y="1888419"/>
            <a:ext cx="228234" cy="228234"/>
          </a:xfrm>
          <a:prstGeom prst="rect">
            <a:avLst/>
          </a:prstGeom>
        </p:spPr>
      </p:pic>
      <p:sp>
        <p:nvSpPr>
          <p:cNvPr id="7" name="Text 4"/>
          <p:cNvSpPr txBox="1"/>
          <p:nvPr/>
        </p:nvSpPr>
        <p:spPr>
          <a:xfrm>
            <a:off x="1280160" y="1764792"/>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San Francisco Körfezi, ABD · 2014</a:t>
            </a:r>
            <a:endParaRPr lang="en-US" sz="1100" dirty="0"/>
          </a:p>
        </p:txBody>
      </p:sp>
      <p:sp>
        <p:nvSpPr>
          <p:cNvPr id="8" name="Text 5"/>
          <p:cNvSpPr txBox="1"/>
          <p:nvPr/>
        </p:nvSpPr>
        <p:spPr>
          <a:xfrm>
            <a:off x="1280160" y="2002536"/>
            <a:ext cx="2600858" cy="274320"/>
          </a:xfrm>
          <a:prstGeom prst="rect">
            <a:avLst/>
          </a:prstGeom>
          <a:noFill/>
          <a:ln/>
        </p:spPr>
        <p:txBody>
          <a:bodyPr wrap="square" lIns="0" tIns="0" rIns="0" bIns="0" rtlCol="0" anchor="t"/>
          <a:lstStyle/>
          <a:p>
            <a:pPr indent="0" marL="0">
              <a:buNone/>
            </a:pPr>
            <a:r>
              <a:rPr lang="en-US" sz="1400" b="1" dirty="0">
                <a:solidFill>
                  <a:schemeClr val="tx2"/>
                </a:solidFill>
              </a:rPr>
              <a:t>İşveren servis ağları</a:t>
            </a:r>
            <a:endParaRPr lang="en-US" sz="1400" dirty="0"/>
          </a:p>
        </p:txBody>
      </p:sp>
      <p:sp>
        <p:nvSpPr>
          <p:cNvPr id="9" name="Text 6"/>
          <p:cNvSpPr txBox="1"/>
          <p:nvPr/>
        </p:nvSpPr>
        <p:spPr>
          <a:xfrm>
            <a:off x="731520" y="2368296"/>
            <a:ext cx="3149498" cy="749808"/>
          </a:xfrm>
          <a:prstGeom prst="rect">
            <a:avLst/>
          </a:prstGeom>
          <a:noFill/>
          <a:ln/>
        </p:spPr>
        <p:txBody>
          <a:bodyPr wrap="square" lIns="0" tIns="0" rIns="0" bIns="0" rtlCol="0" anchor="t"/>
          <a:lstStyle/>
          <a:p>
            <a:pPr indent="0" marL="0">
              <a:buNone/>
            </a:pPr>
            <a:r>
              <a:rPr lang="en-US" sz="1300" dirty="0">
                <a:solidFill>
                  <a:schemeClr val="tx1"/>
                </a:solidFill>
              </a:rPr>
              <a:t>35 işletmeci ve sponsor; 765 servis aracıyla yılda 9,6 milyon biniş</a:t>
            </a:r>
            <a:endParaRPr lang="en-US" sz="1300" dirty="0"/>
          </a:p>
        </p:txBody>
      </p:sp>
      <p:sp>
        <p:nvSpPr>
          <p:cNvPr id="10" name="Text 7"/>
          <p:cNvSpPr txBox="1"/>
          <p:nvPr/>
        </p:nvSpPr>
        <p:spPr>
          <a:xfrm>
            <a:off x="731520" y="3118104"/>
            <a:ext cx="3149498" cy="502920"/>
          </a:xfrm>
          <a:prstGeom prst="rect">
            <a:avLst/>
          </a:prstGeom>
          <a:noFill/>
          <a:ln/>
        </p:spPr>
        <p:txBody>
          <a:bodyPr wrap="square" lIns="0" tIns="0" rIns="0" bIns="0" rtlCol="0" anchor="t"/>
          <a:lstStyle/>
          <a:p>
            <a:pPr indent="0" marL="0">
              <a:buNone/>
            </a:pPr>
            <a:r>
              <a:rPr lang="en-US" sz="1250" b="1" dirty="0">
                <a:solidFill>
                  <a:schemeClr val="tx2"/>
                </a:solidFill>
              </a:rPr>
              <a:t>Servis durakları kamu düzenlemesine bağlanmalıdır</a:t>
            </a:r>
            <a:endParaRPr lang="en-US" sz="1250" dirty="0"/>
          </a:p>
        </p:txBody>
      </p:sp>
      <p:sp>
        <p:nvSpPr>
          <p:cNvPr id="11" name="Kart"/>
          <p:cNvSpPr/>
          <p:nvPr/>
        </p:nvSpPr>
        <p:spPr>
          <a:xfrm>
            <a:off x="4338218" y="1600200"/>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12" name="İkon zemini"/>
          <p:cNvSpPr/>
          <p:nvPr/>
        </p:nvSpPr>
        <p:spPr>
          <a:xfrm>
            <a:off x="4521098" y="1783080"/>
            <a:ext cx="438912" cy="438912"/>
          </a:xfrm>
          <a:prstGeom prst="ellipse">
            <a:avLst/>
          </a:prstGeom>
          <a:solidFill>
            <a:schemeClr val="accent2"/>
          </a:solidFill>
          <a:ln/>
        </p:spPr>
      </p:sp>
      <p:pic>
        <p:nvPicPr>
          <p:cNvPr id="13" name="İkon FaBus" descr="preencoded.png">    </p:cNvPr>
          <p:cNvPicPr>
            <a:picLocks noChangeAspect="1"/>
          </p:cNvPicPr>
          <p:nvPr/>
        </p:nvPicPr>
        <p:blipFill>
          <a:blip r:embed="rId2"/>
          <a:stretch>
            <a:fillRect/>
          </a:stretch>
        </p:blipFill>
        <p:spPr>
          <a:xfrm>
            <a:off x="4626437" y="1888419"/>
            <a:ext cx="228234" cy="228234"/>
          </a:xfrm>
          <a:prstGeom prst="rect">
            <a:avLst/>
          </a:prstGeom>
        </p:spPr>
      </p:pic>
      <p:sp>
        <p:nvSpPr>
          <p:cNvPr id="14" name="Text 10"/>
          <p:cNvSpPr txBox="1"/>
          <p:nvPr/>
        </p:nvSpPr>
        <p:spPr>
          <a:xfrm>
            <a:off x="5069738" y="1764792"/>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Güney San Francisco, ABD · 2013</a:t>
            </a:r>
            <a:endParaRPr lang="en-US" sz="1100" dirty="0"/>
          </a:p>
        </p:txBody>
      </p:sp>
      <p:sp>
        <p:nvSpPr>
          <p:cNvPr id="15" name="Text 11"/>
          <p:cNvSpPr txBox="1"/>
          <p:nvPr/>
        </p:nvSpPr>
        <p:spPr>
          <a:xfrm>
            <a:off x="5069738" y="2002536"/>
            <a:ext cx="2600858" cy="274320"/>
          </a:xfrm>
          <a:prstGeom prst="rect">
            <a:avLst/>
          </a:prstGeom>
          <a:noFill/>
          <a:ln/>
        </p:spPr>
        <p:txBody>
          <a:bodyPr wrap="square" lIns="0" tIns="0" rIns="0" bIns="0" rtlCol="0" anchor="t"/>
          <a:lstStyle/>
          <a:p>
            <a:pPr indent="0" marL="0">
              <a:buNone/>
            </a:pPr>
            <a:r>
              <a:rPr lang="en-US" sz="1400" b="1" dirty="0">
                <a:solidFill>
                  <a:schemeClr val="tx2"/>
                </a:solidFill>
              </a:rPr>
              <a:t>Genentech gRide programı</a:t>
            </a:r>
            <a:endParaRPr lang="en-US" sz="1400" dirty="0"/>
          </a:p>
        </p:txBody>
      </p:sp>
      <p:sp>
        <p:nvSpPr>
          <p:cNvPr id="16" name="Text 12"/>
          <p:cNvSpPr txBox="1"/>
          <p:nvPr/>
        </p:nvSpPr>
        <p:spPr>
          <a:xfrm>
            <a:off x="4521098" y="2368296"/>
            <a:ext cx="3149498" cy="749808"/>
          </a:xfrm>
          <a:prstGeom prst="rect">
            <a:avLst/>
          </a:prstGeom>
          <a:noFill/>
          <a:ln/>
        </p:spPr>
        <p:txBody>
          <a:bodyPr wrap="square" lIns="0" tIns="0" rIns="0" bIns="0" rtlCol="0" anchor="t"/>
          <a:lstStyle/>
          <a:p>
            <a:pPr indent="0" marL="0">
              <a:buNone/>
            </a:pPr>
            <a:r>
              <a:rPr lang="en-US" sz="1300" dirty="0">
                <a:solidFill>
                  <a:schemeClr val="tx1"/>
                </a:solidFill>
              </a:rPr>
              <a:t>Yalnız sürücü payı %74 iken katılım ilk 8 ayda %25; kent %30 mod değişimi şart koştu</a:t>
            </a:r>
            <a:endParaRPr lang="en-US" sz="1300" dirty="0"/>
          </a:p>
        </p:txBody>
      </p:sp>
      <p:sp>
        <p:nvSpPr>
          <p:cNvPr id="17" name="Text 13"/>
          <p:cNvSpPr txBox="1"/>
          <p:nvPr/>
        </p:nvSpPr>
        <p:spPr>
          <a:xfrm>
            <a:off x="4521098" y="3118104"/>
            <a:ext cx="3149498" cy="502920"/>
          </a:xfrm>
          <a:prstGeom prst="rect">
            <a:avLst/>
          </a:prstGeom>
          <a:noFill/>
          <a:ln/>
        </p:spPr>
        <p:txBody>
          <a:bodyPr wrap="square" lIns="0" tIns="0" rIns="0" bIns="0" rtlCol="0" anchor="t"/>
          <a:lstStyle/>
          <a:p>
            <a:pPr indent="0" marL="0">
              <a:buNone/>
            </a:pPr>
            <a:r>
              <a:rPr lang="en-US" sz="1250" b="1" dirty="0">
                <a:solidFill>
                  <a:schemeClr val="tx2"/>
                </a:solidFill>
              </a:rPr>
              <a:t>Ölçülebilir hedef ve bağımsız izleme konmalıdır</a:t>
            </a:r>
            <a:endParaRPr lang="en-US" sz="1250" dirty="0"/>
          </a:p>
        </p:txBody>
      </p:sp>
      <p:sp>
        <p:nvSpPr>
          <p:cNvPr id="18" name="Kart"/>
          <p:cNvSpPr/>
          <p:nvPr/>
        </p:nvSpPr>
        <p:spPr>
          <a:xfrm>
            <a:off x="8127797" y="1600200"/>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19" name="İkon zemini"/>
          <p:cNvSpPr/>
          <p:nvPr/>
        </p:nvSpPr>
        <p:spPr>
          <a:xfrm>
            <a:off x="8310677" y="1783080"/>
            <a:ext cx="438912" cy="438912"/>
          </a:xfrm>
          <a:prstGeom prst="ellipse">
            <a:avLst/>
          </a:prstGeom>
          <a:solidFill>
            <a:schemeClr val="accent2"/>
          </a:solidFill>
          <a:ln/>
        </p:spPr>
      </p:sp>
      <p:pic>
        <p:nvPicPr>
          <p:cNvPr id="20" name="İkon FaBus" descr="preencoded.png">    </p:cNvPr>
          <p:cNvPicPr>
            <a:picLocks noChangeAspect="1"/>
          </p:cNvPicPr>
          <p:nvPr/>
        </p:nvPicPr>
        <p:blipFill>
          <a:blip r:embed="rId3"/>
          <a:stretch>
            <a:fillRect/>
          </a:stretch>
        </p:blipFill>
        <p:spPr>
          <a:xfrm>
            <a:off x="8416016" y="1888419"/>
            <a:ext cx="228234" cy="228234"/>
          </a:xfrm>
          <a:prstGeom prst="rect">
            <a:avLst/>
          </a:prstGeom>
        </p:spPr>
      </p:pic>
      <p:sp>
        <p:nvSpPr>
          <p:cNvPr id="21" name="Text 16"/>
          <p:cNvSpPr txBox="1"/>
          <p:nvPr/>
        </p:nvSpPr>
        <p:spPr>
          <a:xfrm>
            <a:off x="8859317" y="1764792"/>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Stanford, ABD · 2000–2024</a:t>
            </a:r>
            <a:endParaRPr lang="en-US" sz="1100" dirty="0"/>
          </a:p>
        </p:txBody>
      </p:sp>
      <p:sp>
        <p:nvSpPr>
          <p:cNvPr id="22" name="Text 17"/>
          <p:cNvSpPr txBox="1"/>
          <p:nvPr/>
        </p:nvSpPr>
        <p:spPr>
          <a:xfrm>
            <a:off x="8859317" y="2002536"/>
            <a:ext cx="2600858" cy="274320"/>
          </a:xfrm>
          <a:prstGeom prst="rect">
            <a:avLst/>
          </a:prstGeom>
          <a:noFill/>
          <a:ln/>
        </p:spPr>
        <p:txBody>
          <a:bodyPr wrap="square" lIns="0" tIns="0" rIns="0" bIns="0" rtlCol="0" anchor="t"/>
          <a:lstStyle/>
          <a:p>
            <a:pPr indent="0" marL="0">
              <a:buNone/>
            </a:pPr>
            <a:r>
              <a:rPr lang="en-US" sz="1400" b="1" dirty="0">
                <a:solidFill>
                  <a:schemeClr val="tx2"/>
                </a:solidFill>
              </a:rPr>
              <a:t>Net yeni yolculuk yok ilkesi</a:t>
            </a:r>
            <a:endParaRPr lang="en-US" sz="1400" dirty="0"/>
          </a:p>
        </p:txBody>
      </p:sp>
      <p:sp>
        <p:nvSpPr>
          <p:cNvPr id="23" name="Text 18"/>
          <p:cNvSpPr txBox="1"/>
          <p:nvPr/>
        </p:nvSpPr>
        <p:spPr>
          <a:xfrm>
            <a:off x="8310677" y="2368296"/>
            <a:ext cx="3149498" cy="749808"/>
          </a:xfrm>
          <a:prstGeom prst="rect">
            <a:avLst/>
          </a:prstGeom>
          <a:noFill/>
          <a:ln/>
        </p:spPr>
        <p:txBody>
          <a:bodyPr wrap="square" lIns="0" tIns="0" rIns="0" bIns="0" rtlCol="0" anchor="t"/>
          <a:lstStyle/>
          <a:p>
            <a:pPr indent="0" marL="0">
              <a:buNone/>
            </a:pPr>
            <a:r>
              <a:rPr lang="en-US" sz="1300" dirty="0">
                <a:solidFill>
                  <a:schemeClr val="tx1"/>
                </a:solidFill>
              </a:rPr>
              <a:t>Kullanım izni koşuluyla yalnız sürücü payı %67'den (2003) %38'e (2024) indi</a:t>
            </a:r>
            <a:endParaRPr lang="en-US" sz="1300" dirty="0"/>
          </a:p>
        </p:txBody>
      </p:sp>
      <p:sp>
        <p:nvSpPr>
          <p:cNvPr id="24" name="Text 19"/>
          <p:cNvSpPr txBox="1"/>
          <p:nvPr/>
        </p:nvSpPr>
        <p:spPr>
          <a:xfrm>
            <a:off x="8310677" y="3118104"/>
            <a:ext cx="3149498" cy="502920"/>
          </a:xfrm>
          <a:prstGeom prst="rect">
            <a:avLst/>
          </a:prstGeom>
          <a:noFill/>
          <a:ln/>
        </p:spPr>
        <p:txBody>
          <a:bodyPr wrap="square" lIns="0" tIns="0" rIns="0" bIns="0" rtlCol="0" anchor="t"/>
          <a:lstStyle/>
          <a:p>
            <a:pPr indent="0" marL="0">
              <a:buNone/>
            </a:pPr>
            <a:r>
              <a:rPr lang="en-US" sz="1250" b="1" dirty="0">
                <a:solidFill>
                  <a:schemeClr val="tx2"/>
                </a:solidFill>
              </a:rPr>
              <a:t>İzne bağlı hedef gönüllü programdan güçlüdür</a:t>
            </a:r>
            <a:endParaRPr lang="en-US" sz="1250" dirty="0"/>
          </a:p>
        </p:txBody>
      </p:sp>
      <p:sp>
        <p:nvSpPr>
          <p:cNvPr id="25" name="Kart"/>
          <p:cNvSpPr/>
          <p:nvPr/>
        </p:nvSpPr>
        <p:spPr>
          <a:xfrm>
            <a:off x="548640" y="3867912"/>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26" name="İkon zemini"/>
          <p:cNvSpPr/>
          <p:nvPr/>
        </p:nvSpPr>
        <p:spPr>
          <a:xfrm>
            <a:off x="731520" y="4050792"/>
            <a:ext cx="438912" cy="438912"/>
          </a:xfrm>
          <a:prstGeom prst="ellipse">
            <a:avLst/>
          </a:prstGeom>
          <a:solidFill>
            <a:schemeClr val="accent2"/>
          </a:solidFill>
          <a:ln/>
        </p:spPr>
      </p:sp>
      <p:pic>
        <p:nvPicPr>
          <p:cNvPr id="27" name="İkon FaBus" descr="preencoded.png">    </p:cNvPr>
          <p:cNvPicPr>
            <a:picLocks noChangeAspect="1"/>
          </p:cNvPicPr>
          <p:nvPr/>
        </p:nvPicPr>
        <p:blipFill>
          <a:blip r:embed="rId4"/>
          <a:stretch>
            <a:fillRect/>
          </a:stretch>
        </p:blipFill>
        <p:spPr>
          <a:xfrm>
            <a:off x="836859" y="4156131"/>
            <a:ext cx="228234" cy="228234"/>
          </a:xfrm>
          <a:prstGeom prst="rect">
            <a:avLst/>
          </a:prstGeom>
        </p:spPr>
      </p:pic>
      <p:sp>
        <p:nvSpPr>
          <p:cNvPr id="28" name="Text 22"/>
          <p:cNvSpPr txBox="1"/>
          <p:nvPr/>
        </p:nvSpPr>
        <p:spPr>
          <a:xfrm>
            <a:off x="1280160" y="4032504"/>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San Francisco Yarımadası, ABD · 2024–2025</a:t>
            </a:r>
            <a:endParaRPr lang="en-US" sz="1100" dirty="0"/>
          </a:p>
        </p:txBody>
      </p:sp>
      <p:sp>
        <p:nvSpPr>
          <p:cNvPr id="29" name="Text 23"/>
          <p:cNvSpPr txBox="1"/>
          <p:nvPr/>
        </p:nvSpPr>
        <p:spPr>
          <a:xfrm>
            <a:off x="1280160" y="4270248"/>
            <a:ext cx="2600858" cy="274320"/>
          </a:xfrm>
          <a:prstGeom prst="rect">
            <a:avLst/>
          </a:prstGeom>
          <a:noFill/>
          <a:ln/>
        </p:spPr>
        <p:txBody>
          <a:bodyPr wrap="square" lIns="0" tIns="0" rIns="0" bIns="0" rtlCol="0" anchor="t"/>
          <a:lstStyle/>
          <a:p>
            <a:pPr indent="0" marL="0">
              <a:buNone/>
            </a:pPr>
            <a:r>
              <a:rPr lang="en-US" sz="1400" b="1" dirty="0">
                <a:solidFill>
                  <a:schemeClr val="tx2"/>
                </a:solidFill>
              </a:rPr>
              <a:t>Caltrain elektrifikasyonu</a:t>
            </a:r>
            <a:endParaRPr lang="en-US" sz="1400" dirty="0"/>
          </a:p>
        </p:txBody>
      </p:sp>
      <p:sp>
        <p:nvSpPr>
          <p:cNvPr id="30" name="Text 24"/>
          <p:cNvSpPr txBox="1"/>
          <p:nvPr/>
        </p:nvSpPr>
        <p:spPr>
          <a:xfrm>
            <a:off x="731520" y="4636008"/>
            <a:ext cx="3149498" cy="749808"/>
          </a:xfrm>
          <a:prstGeom prst="rect">
            <a:avLst/>
          </a:prstGeom>
          <a:noFill/>
          <a:ln/>
        </p:spPr>
        <p:txBody>
          <a:bodyPr wrap="square" lIns="0" tIns="0" rIns="0" bIns="0" rtlCol="0" anchor="t"/>
          <a:lstStyle/>
          <a:p>
            <a:pPr indent="0" marL="0">
              <a:buNone/>
            </a:pPr>
            <a:r>
              <a:rPr lang="en-US" sz="1300" dirty="0">
                <a:solidFill>
                  <a:schemeClr val="tx1"/>
                </a:solidFill>
              </a:rPr>
              <a:t>Elektrifikasyon sonrası yolcu FY2025'te 9,1 milyona ulaştı (+%57); kapasite +%30</a:t>
            </a:r>
            <a:endParaRPr lang="en-US" sz="1300" dirty="0"/>
          </a:p>
        </p:txBody>
      </p:sp>
      <p:sp>
        <p:nvSpPr>
          <p:cNvPr id="31" name="Text 25"/>
          <p:cNvSpPr txBox="1"/>
          <p:nvPr/>
        </p:nvSpPr>
        <p:spPr>
          <a:xfrm>
            <a:off x="731520" y="5385816"/>
            <a:ext cx="3149498" cy="502920"/>
          </a:xfrm>
          <a:prstGeom prst="rect">
            <a:avLst/>
          </a:prstGeom>
          <a:noFill/>
          <a:ln/>
        </p:spPr>
        <p:txBody>
          <a:bodyPr wrap="square" lIns="0" tIns="0" rIns="0" bIns="0" rtlCol="0" anchor="t"/>
          <a:lstStyle/>
          <a:p>
            <a:pPr indent="0" marL="0">
              <a:buNone/>
            </a:pPr>
            <a:r>
              <a:rPr lang="en-US" sz="1250" b="1" dirty="0">
                <a:solidFill>
                  <a:schemeClr val="tx2"/>
                </a:solidFill>
              </a:rPr>
              <a:t>Hizmet kalitesi yolcu talebini belirgin artırır</a:t>
            </a:r>
            <a:endParaRPr lang="en-US" sz="1250" dirty="0"/>
          </a:p>
        </p:txBody>
      </p:sp>
      <p:sp>
        <p:nvSpPr>
          <p:cNvPr id="32" name="Kart"/>
          <p:cNvSpPr/>
          <p:nvPr/>
        </p:nvSpPr>
        <p:spPr>
          <a:xfrm>
            <a:off x="4338218" y="3867912"/>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33" name="İkon zemini"/>
          <p:cNvSpPr/>
          <p:nvPr/>
        </p:nvSpPr>
        <p:spPr>
          <a:xfrm>
            <a:off x="4521098" y="4050792"/>
            <a:ext cx="438912" cy="438912"/>
          </a:xfrm>
          <a:prstGeom prst="ellipse">
            <a:avLst/>
          </a:prstGeom>
          <a:solidFill>
            <a:schemeClr val="accent2"/>
          </a:solidFill>
          <a:ln/>
        </p:spPr>
      </p:sp>
      <p:pic>
        <p:nvPicPr>
          <p:cNvPr id="34" name="İkon FaBus" descr="preencoded.png">    </p:cNvPr>
          <p:cNvPicPr>
            <a:picLocks noChangeAspect="1"/>
          </p:cNvPicPr>
          <p:nvPr/>
        </p:nvPicPr>
        <p:blipFill>
          <a:blip r:embed="rId5"/>
          <a:stretch>
            <a:fillRect/>
          </a:stretch>
        </p:blipFill>
        <p:spPr>
          <a:xfrm>
            <a:off x="4626437" y="4156131"/>
            <a:ext cx="228234" cy="228234"/>
          </a:xfrm>
          <a:prstGeom prst="rect">
            <a:avLst/>
          </a:prstGeom>
        </p:spPr>
      </p:pic>
      <p:sp>
        <p:nvSpPr>
          <p:cNvPr id="35" name="Text 28"/>
          <p:cNvSpPr txBox="1"/>
          <p:nvPr/>
        </p:nvSpPr>
        <p:spPr>
          <a:xfrm>
            <a:off x="5069738" y="4032504"/>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Ottawa, Kanada · 2019</a:t>
            </a:r>
            <a:endParaRPr lang="en-US" sz="1100" dirty="0"/>
          </a:p>
        </p:txBody>
      </p:sp>
      <p:sp>
        <p:nvSpPr>
          <p:cNvPr id="36" name="Text 29"/>
          <p:cNvSpPr txBox="1"/>
          <p:nvPr/>
        </p:nvSpPr>
        <p:spPr>
          <a:xfrm>
            <a:off x="5069738" y="4270248"/>
            <a:ext cx="2600858" cy="274320"/>
          </a:xfrm>
          <a:prstGeom prst="rect">
            <a:avLst/>
          </a:prstGeom>
          <a:noFill/>
          <a:ln/>
        </p:spPr>
        <p:txBody>
          <a:bodyPr wrap="square" lIns="0" tIns="0" rIns="0" bIns="0" rtlCol="0" anchor="t"/>
          <a:lstStyle/>
          <a:p>
            <a:pPr indent="0" marL="0">
              <a:buNone/>
            </a:pPr>
            <a:r>
              <a:rPr lang="en-US" sz="1400" b="1" dirty="0">
                <a:solidFill>
                  <a:schemeClr val="tx2"/>
                </a:solidFill>
              </a:rPr>
              <a:t>Transitway'den hafif raylıya</a:t>
            </a:r>
            <a:endParaRPr lang="en-US" sz="1400" dirty="0"/>
          </a:p>
        </p:txBody>
      </p:sp>
      <p:sp>
        <p:nvSpPr>
          <p:cNvPr id="37" name="Text 30"/>
          <p:cNvSpPr txBox="1"/>
          <p:nvPr/>
        </p:nvSpPr>
        <p:spPr>
          <a:xfrm>
            <a:off x="4521098" y="4636008"/>
            <a:ext cx="3149498" cy="749808"/>
          </a:xfrm>
          <a:prstGeom prst="rect">
            <a:avLst/>
          </a:prstGeom>
          <a:noFill/>
          <a:ln/>
        </p:spPr>
        <p:txBody>
          <a:bodyPr wrap="square" lIns="0" tIns="0" rIns="0" bIns="0" rtlCol="0" anchor="t"/>
          <a:lstStyle/>
          <a:p>
            <a:pPr indent="0" marL="0">
              <a:buNone/>
            </a:pPr>
            <a:r>
              <a:rPr lang="en-US" sz="1300" dirty="0">
                <a:solidFill>
                  <a:schemeClr val="tx1"/>
                </a:solidFill>
              </a:rPr>
              <a:t>Merkezde ~180 otobüs/saate ulaşan yol raylıya çevrildi; tek hat dönüşümü 540 milyon $</a:t>
            </a:r>
            <a:endParaRPr lang="en-US" sz="1300" dirty="0"/>
          </a:p>
        </p:txBody>
      </p:sp>
      <p:sp>
        <p:nvSpPr>
          <p:cNvPr id="38" name="Text 31"/>
          <p:cNvSpPr txBox="1"/>
          <p:nvPr/>
        </p:nvSpPr>
        <p:spPr>
          <a:xfrm>
            <a:off x="4521098" y="5385816"/>
            <a:ext cx="3149498" cy="502920"/>
          </a:xfrm>
          <a:prstGeom prst="rect">
            <a:avLst/>
          </a:prstGeom>
          <a:noFill/>
          <a:ln/>
        </p:spPr>
        <p:txBody>
          <a:bodyPr wrap="square" lIns="0" tIns="0" rIns="0" bIns="0" rtlCol="0" anchor="t"/>
          <a:lstStyle/>
          <a:p>
            <a:pPr indent="0" marL="0">
              <a:buNone/>
            </a:pPr>
            <a:r>
              <a:rPr lang="en-US" sz="1250" b="1" dirty="0">
                <a:solidFill>
                  <a:schemeClr val="tx2"/>
                </a:solidFill>
              </a:rPr>
              <a:t>Otobüs koridoru baştan raylı standardında ayrılmalı</a:t>
            </a:r>
            <a:endParaRPr lang="en-US" sz="1250" dirty="0"/>
          </a:p>
        </p:txBody>
      </p:sp>
      <p:sp>
        <p:nvSpPr>
          <p:cNvPr id="39" name="Text 3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araştırma notları (kurum, akademik ve basın kaynakları). Örnek fotoğrafları telif nedeniyle kullanılmamıştır.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DÜNYADAN UYGULAMALAR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000" b="1" dirty="0">
                <a:solidFill>
                  <a:schemeClr val="tx2"/>
                </a:solidFill>
              </a:rPr>
              <a:t>Havacılık ve teknoloji kümelerinden uygulamalar</a:t>
            </a:r>
            <a:endParaRPr lang="en-US" sz="3600" dirty="0"/>
          </a:p>
        </p:txBody>
      </p:sp>
      <p:sp>
        <p:nvSpPr>
          <p:cNvPr id="4" name="Kart"/>
          <p:cNvSpPr/>
          <p:nvPr/>
        </p:nvSpPr>
        <p:spPr>
          <a:xfrm>
            <a:off x="548640" y="1600200"/>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31520" y="1783080"/>
            <a:ext cx="438912" cy="438912"/>
          </a:xfrm>
          <a:prstGeom prst="ellipse">
            <a:avLst/>
          </a:prstGeom>
          <a:solidFill>
            <a:schemeClr val="accent2"/>
          </a:solidFill>
          <a:ln/>
        </p:spPr>
      </p:sp>
      <p:pic>
        <p:nvPicPr>
          <p:cNvPr id="6" name="İkon FaPlaneDeparture" descr="preencoded.png">    </p:cNvPr>
          <p:cNvPicPr>
            <a:picLocks noChangeAspect="1"/>
          </p:cNvPicPr>
          <p:nvPr/>
        </p:nvPicPr>
        <p:blipFill>
          <a:blip r:embed="rId1"/>
          <a:stretch>
            <a:fillRect/>
          </a:stretch>
        </p:blipFill>
        <p:spPr>
          <a:xfrm>
            <a:off x="836859" y="1888419"/>
            <a:ext cx="228234" cy="228234"/>
          </a:xfrm>
          <a:prstGeom prst="rect">
            <a:avLst/>
          </a:prstGeom>
        </p:spPr>
      </p:pic>
      <p:sp>
        <p:nvSpPr>
          <p:cNvPr id="7" name="Text 4"/>
          <p:cNvSpPr txBox="1"/>
          <p:nvPr/>
        </p:nvSpPr>
        <p:spPr>
          <a:xfrm>
            <a:off x="1280160" y="1764792"/>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Toulouse, Fransa · 2028 (hedef)</a:t>
            </a:r>
            <a:endParaRPr lang="en-US" sz="1100" dirty="0"/>
          </a:p>
        </p:txBody>
      </p:sp>
      <p:sp>
        <p:nvSpPr>
          <p:cNvPr id="8" name="Text 5"/>
          <p:cNvSpPr txBox="1"/>
          <p:nvPr/>
        </p:nvSpPr>
        <p:spPr>
          <a:xfrm>
            <a:off x="1280160" y="2002536"/>
            <a:ext cx="2600858" cy="274320"/>
          </a:xfrm>
          <a:prstGeom prst="rect">
            <a:avLst/>
          </a:prstGeom>
          <a:noFill/>
          <a:ln/>
        </p:spPr>
        <p:txBody>
          <a:bodyPr wrap="square" lIns="0" tIns="0" rIns="0" bIns="0" rtlCol="0" anchor="t"/>
          <a:lstStyle/>
          <a:p>
            <a:pPr indent="0" marL="0">
              <a:buNone/>
            </a:pPr>
            <a:r>
              <a:rPr lang="en-US" sz="1400" b="1" dirty="0">
                <a:solidFill>
                  <a:schemeClr val="tx2"/>
                </a:solidFill>
              </a:rPr>
              <a:t>Toulouse Aerospace Express</a:t>
            </a:r>
            <a:endParaRPr lang="en-US" sz="1400" dirty="0"/>
          </a:p>
        </p:txBody>
      </p:sp>
      <p:sp>
        <p:nvSpPr>
          <p:cNvPr id="9" name="Text 6"/>
          <p:cNvSpPr txBox="1"/>
          <p:nvPr/>
        </p:nvSpPr>
        <p:spPr>
          <a:xfrm>
            <a:off x="731520" y="2368296"/>
            <a:ext cx="3149498" cy="749808"/>
          </a:xfrm>
          <a:prstGeom prst="rect">
            <a:avLst/>
          </a:prstGeom>
          <a:noFill/>
          <a:ln/>
        </p:spPr>
        <p:txBody>
          <a:bodyPr wrap="square" lIns="0" tIns="0" rIns="0" bIns="0" rtlCol="0" anchor="t"/>
          <a:lstStyle/>
          <a:p>
            <a:pPr indent="0" marL="0">
              <a:buNone/>
            </a:pPr>
            <a:r>
              <a:rPr lang="en-US" sz="1300" dirty="0">
                <a:solidFill>
                  <a:schemeClr val="tx1"/>
                </a:solidFill>
              </a:rPr>
              <a:t>Fabrikalardan geçen ~27 km, 21 istasyonlu metro; 2,7 milyar €; açılış 2028'e kaydı</a:t>
            </a:r>
            <a:endParaRPr lang="en-US" sz="1300" dirty="0"/>
          </a:p>
        </p:txBody>
      </p:sp>
      <p:sp>
        <p:nvSpPr>
          <p:cNvPr id="10" name="Text 7"/>
          <p:cNvSpPr txBox="1"/>
          <p:nvPr/>
        </p:nvSpPr>
        <p:spPr>
          <a:xfrm>
            <a:off x="731520" y="3118104"/>
            <a:ext cx="3149498" cy="502920"/>
          </a:xfrm>
          <a:prstGeom prst="rect">
            <a:avLst/>
          </a:prstGeom>
          <a:noFill/>
          <a:ln/>
        </p:spPr>
        <p:txBody>
          <a:bodyPr wrap="square" lIns="0" tIns="0" rIns="0" bIns="0" rtlCol="0" anchor="t"/>
          <a:lstStyle/>
          <a:p>
            <a:pPr indent="0" marL="0">
              <a:buNone/>
            </a:pPr>
            <a:r>
              <a:rPr lang="en-US" sz="1250" b="1" dirty="0">
                <a:solidFill>
                  <a:schemeClr val="tx2"/>
                </a:solidFill>
              </a:rPr>
              <a:t>Raylı hat gecikebilir; ilk gün otobüs hazır olmalı</a:t>
            </a:r>
            <a:endParaRPr lang="en-US" sz="1250" dirty="0"/>
          </a:p>
        </p:txBody>
      </p:sp>
      <p:sp>
        <p:nvSpPr>
          <p:cNvPr id="11" name="Kart"/>
          <p:cNvSpPr/>
          <p:nvPr/>
        </p:nvSpPr>
        <p:spPr>
          <a:xfrm>
            <a:off x="4338218" y="1600200"/>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12" name="İkon zemini"/>
          <p:cNvSpPr/>
          <p:nvPr/>
        </p:nvSpPr>
        <p:spPr>
          <a:xfrm>
            <a:off x="4521098" y="1783080"/>
            <a:ext cx="438912" cy="438912"/>
          </a:xfrm>
          <a:prstGeom prst="ellipse">
            <a:avLst/>
          </a:prstGeom>
          <a:solidFill>
            <a:schemeClr val="accent2"/>
          </a:solidFill>
          <a:ln/>
        </p:spPr>
      </p:sp>
      <p:pic>
        <p:nvPicPr>
          <p:cNvPr id="13" name="İkon FaPlaneDeparture" descr="preencoded.png">    </p:cNvPr>
          <p:cNvPicPr>
            <a:picLocks noChangeAspect="1"/>
          </p:cNvPicPr>
          <p:nvPr/>
        </p:nvPicPr>
        <p:blipFill>
          <a:blip r:embed="rId2"/>
          <a:stretch>
            <a:fillRect/>
          </a:stretch>
        </p:blipFill>
        <p:spPr>
          <a:xfrm>
            <a:off x="4626437" y="1888419"/>
            <a:ext cx="228234" cy="228234"/>
          </a:xfrm>
          <a:prstGeom prst="rect">
            <a:avLst/>
          </a:prstGeom>
        </p:spPr>
      </p:pic>
      <p:sp>
        <p:nvSpPr>
          <p:cNvPr id="14" name="Text 10"/>
          <p:cNvSpPr txBox="1"/>
          <p:nvPr/>
        </p:nvSpPr>
        <p:spPr>
          <a:xfrm>
            <a:off x="5069738" y="1764792"/>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Toulouse, Fransa · 2021</a:t>
            </a:r>
            <a:endParaRPr lang="en-US" sz="1100" dirty="0"/>
          </a:p>
        </p:txBody>
      </p:sp>
      <p:sp>
        <p:nvSpPr>
          <p:cNvPr id="15" name="Text 11"/>
          <p:cNvSpPr txBox="1"/>
          <p:nvPr/>
        </p:nvSpPr>
        <p:spPr>
          <a:xfrm>
            <a:off x="5069738" y="2002536"/>
            <a:ext cx="2600858" cy="274320"/>
          </a:xfrm>
          <a:prstGeom prst="rect">
            <a:avLst/>
          </a:prstGeom>
          <a:noFill/>
          <a:ln/>
        </p:spPr>
        <p:txBody>
          <a:bodyPr wrap="square" lIns="0" tIns="0" rIns="0" bIns="0" rtlCol="0" anchor="t"/>
          <a:lstStyle/>
          <a:p>
            <a:pPr indent="0" marL="0">
              <a:buNone/>
            </a:pPr>
            <a:r>
              <a:rPr lang="en-US" sz="1400" b="1" dirty="0">
                <a:solidFill>
                  <a:schemeClr val="tx2"/>
                </a:solidFill>
              </a:rPr>
              <a:t>COMMUTE ortak mobilite planı</a:t>
            </a:r>
            <a:endParaRPr lang="en-US" sz="1400" dirty="0"/>
          </a:p>
        </p:txBody>
      </p:sp>
      <p:sp>
        <p:nvSpPr>
          <p:cNvPr id="16" name="Text 12"/>
          <p:cNvSpPr txBox="1"/>
          <p:nvPr/>
        </p:nvSpPr>
        <p:spPr>
          <a:xfrm>
            <a:off x="4521098" y="2368296"/>
            <a:ext cx="3149498" cy="749808"/>
          </a:xfrm>
          <a:prstGeom prst="rect">
            <a:avLst/>
          </a:prstGeom>
          <a:noFill/>
          <a:ln/>
        </p:spPr>
        <p:txBody>
          <a:bodyPr wrap="square" lIns="0" tIns="0" rIns="0" bIns="0" rtlCol="0" anchor="t"/>
          <a:lstStyle/>
          <a:p>
            <a:pPr indent="0" marL="0">
              <a:buNone/>
            </a:pPr>
            <a:r>
              <a:rPr lang="en-US" sz="1300" dirty="0">
                <a:solidFill>
                  <a:schemeClr val="tx1"/>
                </a:solidFill>
              </a:rPr>
              <a:t>~71.000 işlik bölgede %65 bireysel araç; ortak araç payı hedefi %3'ten %10'a</a:t>
            </a:r>
            <a:endParaRPr lang="en-US" sz="1300" dirty="0"/>
          </a:p>
        </p:txBody>
      </p:sp>
      <p:sp>
        <p:nvSpPr>
          <p:cNvPr id="17" name="Text 13"/>
          <p:cNvSpPr txBox="1"/>
          <p:nvPr/>
        </p:nvSpPr>
        <p:spPr>
          <a:xfrm>
            <a:off x="4521098" y="3118104"/>
            <a:ext cx="3149498" cy="502920"/>
          </a:xfrm>
          <a:prstGeom prst="rect">
            <a:avLst/>
          </a:prstGeom>
          <a:noFill/>
          <a:ln/>
        </p:spPr>
        <p:txBody>
          <a:bodyPr wrap="square" lIns="0" tIns="0" rIns="0" bIns="0" rtlCol="0" anchor="t"/>
          <a:lstStyle/>
          <a:p>
            <a:pPr indent="0" marL="0">
              <a:buNone/>
            </a:pPr>
            <a:r>
              <a:rPr lang="en-US" sz="1250" b="1" dirty="0">
                <a:solidFill>
                  <a:schemeClr val="tx2"/>
                </a:solidFill>
              </a:rPr>
              <a:t>Firmalar arası ortak mobilite planı kurulmalıdır</a:t>
            </a:r>
            <a:endParaRPr lang="en-US" sz="1250" dirty="0"/>
          </a:p>
        </p:txBody>
      </p:sp>
      <p:sp>
        <p:nvSpPr>
          <p:cNvPr id="18" name="Kart"/>
          <p:cNvSpPr/>
          <p:nvPr/>
        </p:nvSpPr>
        <p:spPr>
          <a:xfrm>
            <a:off x="8127797" y="1600200"/>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19" name="İkon zemini"/>
          <p:cNvSpPr/>
          <p:nvPr/>
        </p:nvSpPr>
        <p:spPr>
          <a:xfrm>
            <a:off x="8310677" y="1783080"/>
            <a:ext cx="438912" cy="438912"/>
          </a:xfrm>
          <a:prstGeom prst="ellipse">
            <a:avLst/>
          </a:prstGeom>
          <a:solidFill>
            <a:schemeClr val="accent2"/>
          </a:solidFill>
          <a:ln/>
        </p:spPr>
      </p:sp>
      <p:pic>
        <p:nvPicPr>
          <p:cNvPr id="20" name="İkon FaPlaneDeparture" descr="preencoded.png">    </p:cNvPr>
          <p:cNvPicPr>
            <a:picLocks noChangeAspect="1"/>
          </p:cNvPicPr>
          <p:nvPr/>
        </p:nvPicPr>
        <p:blipFill>
          <a:blip r:embed="rId3"/>
          <a:stretch>
            <a:fillRect/>
          </a:stretch>
        </p:blipFill>
        <p:spPr>
          <a:xfrm>
            <a:off x="8416016" y="1888419"/>
            <a:ext cx="228234" cy="228234"/>
          </a:xfrm>
          <a:prstGeom prst="rect">
            <a:avLst/>
          </a:prstGeom>
        </p:spPr>
      </p:pic>
      <p:sp>
        <p:nvSpPr>
          <p:cNvPr id="21" name="Text 16"/>
          <p:cNvSpPr txBox="1"/>
          <p:nvPr/>
        </p:nvSpPr>
        <p:spPr>
          <a:xfrm>
            <a:off x="8859317" y="1764792"/>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Everett, ABD · 2019</a:t>
            </a:r>
            <a:endParaRPr lang="en-US" sz="1100" dirty="0"/>
          </a:p>
        </p:txBody>
      </p:sp>
      <p:sp>
        <p:nvSpPr>
          <p:cNvPr id="22" name="Text 17"/>
          <p:cNvSpPr txBox="1"/>
          <p:nvPr/>
        </p:nvSpPr>
        <p:spPr>
          <a:xfrm>
            <a:off x="8859317" y="2002536"/>
            <a:ext cx="2600858" cy="274320"/>
          </a:xfrm>
          <a:prstGeom prst="rect">
            <a:avLst/>
          </a:prstGeom>
          <a:noFill/>
          <a:ln/>
        </p:spPr>
        <p:txBody>
          <a:bodyPr wrap="square" lIns="0" tIns="0" rIns="0" bIns="0" rtlCol="0" anchor="t"/>
          <a:lstStyle/>
          <a:p>
            <a:pPr indent="0" marL="0">
              <a:buNone/>
            </a:pPr>
            <a:r>
              <a:rPr lang="en-US" sz="1400" b="1" dirty="0">
                <a:solidFill>
                  <a:schemeClr val="tx2"/>
                </a:solidFill>
              </a:rPr>
              <a:t>Swift Green Line BRT</a:t>
            </a:r>
            <a:endParaRPr lang="en-US" sz="1400" dirty="0"/>
          </a:p>
        </p:txBody>
      </p:sp>
      <p:sp>
        <p:nvSpPr>
          <p:cNvPr id="23" name="Text 18"/>
          <p:cNvSpPr txBox="1"/>
          <p:nvPr/>
        </p:nvSpPr>
        <p:spPr>
          <a:xfrm>
            <a:off x="8310677" y="2368296"/>
            <a:ext cx="3149498" cy="749808"/>
          </a:xfrm>
          <a:prstGeom prst="rect">
            <a:avLst/>
          </a:prstGeom>
          <a:noFill/>
          <a:ln/>
        </p:spPr>
        <p:txBody>
          <a:bodyPr wrap="square" lIns="0" tIns="0" rIns="0" bIns="0" rtlCol="0" anchor="t"/>
          <a:lstStyle/>
          <a:p>
            <a:pPr indent="0" marL="0">
              <a:buNone/>
            </a:pPr>
            <a:r>
              <a:rPr lang="en-US" sz="1300" dirty="0">
                <a:solidFill>
                  <a:schemeClr val="tx1"/>
                </a:solidFill>
              </a:rPr>
              <a:t>73 milyon $'lık BRT fabrika yakınına ulaştı; 12.000 çalışan Swift hatları boyunca yaşıyor</a:t>
            </a:r>
            <a:endParaRPr lang="en-US" sz="1300" dirty="0"/>
          </a:p>
        </p:txBody>
      </p:sp>
      <p:sp>
        <p:nvSpPr>
          <p:cNvPr id="24" name="Text 19"/>
          <p:cNvSpPr txBox="1"/>
          <p:nvPr/>
        </p:nvSpPr>
        <p:spPr>
          <a:xfrm>
            <a:off x="8310677" y="3118104"/>
            <a:ext cx="3149498" cy="502920"/>
          </a:xfrm>
          <a:prstGeom prst="rect">
            <a:avLst/>
          </a:prstGeom>
          <a:noFill/>
          <a:ln/>
        </p:spPr>
        <p:txBody>
          <a:bodyPr wrap="square" lIns="0" tIns="0" rIns="0" bIns="0" rtlCol="0" anchor="t"/>
          <a:lstStyle/>
          <a:p>
            <a:pPr indent="0" marL="0">
              <a:buNone/>
            </a:pPr>
            <a:r>
              <a:rPr lang="en-US" sz="1250" b="1" dirty="0">
                <a:solidFill>
                  <a:schemeClr val="tx2"/>
                </a:solidFill>
              </a:rPr>
              <a:t>BRT güzergâhı çalışan konutlarıyla eşleşmelidir</a:t>
            </a:r>
            <a:endParaRPr lang="en-US" sz="1250" dirty="0"/>
          </a:p>
        </p:txBody>
      </p:sp>
      <p:sp>
        <p:nvSpPr>
          <p:cNvPr id="25" name="Kart"/>
          <p:cNvSpPr/>
          <p:nvPr/>
        </p:nvSpPr>
        <p:spPr>
          <a:xfrm>
            <a:off x="548640" y="3867912"/>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26" name="İkon zemini"/>
          <p:cNvSpPr/>
          <p:nvPr/>
        </p:nvSpPr>
        <p:spPr>
          <a:xfrm>
            <a:off x="731520" y="4050792"/>
            <a:ext cx="438912" cy="438912"/>
          </a:xfrm>
          <a:prstGeom prst="ellipse">
            <a:avLst/>
          </a:prstGeom>
          <a:solidFill>
            <a:schemeClr val="accent2"/>
          </a:solidFill>
          <a:ln/>
        </p:spPr>
      </p:sp>
      <p:pic>
        <p:nvPicPr>
          <p:cNvPr id="27" name="İkon FaPlaneDeparture" descr="preencoded.png">    </p:cNvPr>
          <p:cNvPicPr>
            <a:picLocks noChangeAspect="1"/>
          </p:cNvPicPr>
          <p:nvPr/>
        </p:nvPicPr>
        <p:blipFill>
          <a:blip r:embed="rId4"/>
          <a:stretch>
            <a:fillRect/>
          </a:stretch>
        </p:blipFill>
        <p:spPr>
          <a:xfrm>
            <a:off x="836859" y="4156131"/>
            <a:ext cx="228234" cy="228234"/>
          </a:xfrm>
          <a:prstGeom prst="rect">
            <a:avLst/>
          </a:prstGeom>
        </p:spPr>
      </p:pic>
      <p:sp>
        <p:nvSpPr>
          <p:cNvPr id="28" name="Text 22"/>
          <p:cNvSpPr txBox="1"/>
          <p:nvPr/>
        </p:nvSpPr>
        <p:spPr>
          <a:xfrm>
            <a:off x="1280160" y="4032504"/>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Hamburg, Almanya · 2026</a:t>
            </a:r>
            <a:endParaRPr lang="en-US" sz="1100" dirty="0"/>
          </a:p>
        </p:txBody>
      </p:sp>
      <p:sp>
        <p:nvSpPr>
          <p:cNvPr id="29" name="Text 23"/>
          <p:cNvSpPr txBox="1"/>
          <p:nvPr/>
        </p:nvSpPr>
        <p:spPr>
          <a:xfrm>
            <a:off x="1280160" y="4270248"/>
            <a:ext cx="2600858" cy="274320"/>
          </a:xfrm>
          <a:prstGeom prst="rect">
            <a:avLst/>
          </a:prstGeom>
          <a:noFill/>
          <a:ln/>
        </p:spPr>
        <p:txBody>
          <a:bodyPr wrap="square" lIns="0" tIns="0" rIns="0" bIns="0" rtlCol="0" anchor="t"/>
          <a:lstStyle/>
          <a:p>
            <a:pPr indent="0" marL="0">
              <a:buNone/>
            </a:pPr>
            <a:r>
              <a:rPr lang="en-US" sz="1400" b="1" dirty="0">
                <a:solidFill>
                  <a:schemeClr val="tx2"/>
                </a:solidFill>
              </a:rPr>
              <a:t>Finkenwerder feribot hattı 62</a:t>
            </a:r>
            <a:endParaRPr lang="en-US" sz="1400" dirty="0"/>
          </a:p>
        </p:txBody>
      </p:sp>
      <p:sp>
        <p:nvSpPr>
          <p:cNvPr id="30" name="Text 24"/>
          <p:cNvSpPr txBox="1"/>
          <p:nvPr/>
        </p:nvSpPr>
        <p:spPr>
          <a:xfrm>
            <a:off x="731520" y="4636008"/>
            <a:ext cx="3149498" cy="749808"/>
          </a:xfrm>
          <a:prstGeom prst="rect">
            <a:avLst/>
          </a:prstGeom>
          <a:noFill/>
          <a:ln/>
        </p:spPr>
        <p:txBody>
          <a:bodyPr wrap="square" lIns="0" tIns="0" rIns="0" bIns="0" rtlCol="0" anchor="t"/>
          <a:lstStyle/>
          <a:p>
            <a:pPr indent="0" marL="0">
              <a:buNone/>
            </a:pPr>
            <a:r>
              <a:rPr lang="en-US" sz="1300" dirty="0">
                <a:solidFill>
                  <a:schemeClr val="tx1"/>
                </a:solidFill>
              </a:rPr>
              <a:t>Fabrika iskelesi olan kamu feribotu hafta içi 06:45–22:15 arası ~15 dk aralıkla işliyor</a:t>
            </a:r>
            <a:endParaRPr lang="en-US" sz="1300" dirty="0"/>
          </a:p>
        </p:txBody>
      </p:sp>
      <p:sp>
        <p:nvSpPr>
          <p:cNvPr id="31" name="Text 25"/>
          <p:cNvSpPr txBox="1"/>
          <p:nvPr/>
        </p:nvSpPr>
        <p:spPr>
          <a:xfrm>
            <a:off x="731520" y="5385816"/>
            <a:ext cx="3149498" cy="502920"/>
          </a:xfrm>
          <a:prstGeom prst="rect">
            <a:avLst/>
          </a:prstGeom>
          <a:noFill/>
          <a:ln/>
        </p:spPr>
        <p:txBody>
          <a:bodyPr wrap="square" lIns="0" tIns="0" rIns="0" bIns="0" rtlCol="0" anchor="t"/>
          <a:lstStyle/>
          <a:p>
            <a:pPr indent="0" marL="0">
              <a:buNone/>
            </a:pPr>
            <a:r>
              <a:rPr lang="en-US" sz="1250" b="1" dirty="0">
                <a:solidFill>
                  <a:schemeClr val="tx2"/>
                </a:solidFill>
              </a:rPr>
              <a:t>Tarifeli kamu hattına işyeri durağı eklenebilir</a:t>
            </a:r>
            <a:endParaRPr lang="en-US" sz="1250" dirty="0"/>
          </a:p>
        </p:txBody>
      </p:sp>
      <p:sp>
        <p:nvSpPr>
          <p:cNvPr id="32" name="Kart"/>
          <p:cNvSpPr/>
          <p:nvPr/>
        </p:nvSpPr>
        <p:spPr>
          <a:xfrm>
            <a:off x="4338218" y="3867912"/>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33" name="İkon zemini"/>
          <p:cNvSpPr/>
          <p:nvPr/>
        </p:nvSpPr>
        <p:spPr>
          <a:xfrm>
            <a:off x="4521098" y="4050792"/>
            <a:ext cx="438912" cy="438912"/>
          </a:xfrm>
          <a:prstGeom prst="ellipse">
            <a:avLst/>
          </a:prstGeom>
          <a:solidFill>
            <a:schemeClr val="accent2"/>
          </a:solidFill>
          <a:ln/>
        </p:spPr>
      </p:sp>
      <p:pic>
        <p:nvPicPr>
          <p:cNvPr id="34" name="İkon FaPlaneDeparture" descr="preencoded.png">    </p:cNvPr>
          <p:cNvPicPr>
            <a:picLocks noChangeAspect="1"/>
          </p:cNvPicPr>
          <p:nvPr/>
        </p:nvPicPr>
        <p:blipFill>
          <a:blip r:embed="rId5"/>
          <a:stretch>
            <a:fillRect/>
          </a:stretch>
        </p:blipFill>
        <p:spPr>
          <a:xfrm>
            <a:off x="4626437" y="4156131"/>
            <a:ext cx="228234" cy="228234"/>
          </a:xfrm>
          <a:prstGeom prst="rect">
            <a:avLst/>
          </a:prstGeom>
        </p:spPr>
      </p:pic>
      <p:sp>
        <p:nvSpPr>
          <p:cNvPr id="35" name="Text 28"/>
          <p:cNvSpPr txBox="1"/>
          <p:nvPr/>
        </p:nvSpPr>
        <p:spPr>
          <a:xfrm>
            <a:off x="5069738" y="4032504"/>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Sacheon, Güney Kore · 2024</a:t>
            </a:r>
            <a:endParaRPr lang="en-US" sz="1100" dirty="0"/>
          </a:p>
        </p:txBody>
      </p:sp>
      <p:sp>
        <p:nvSpPr>
          <p:cNvPr id="36" name="Text 29"/>
          <p:cNvSpPr txBox="1"/>
          <p:nvPr/>
        </p:nvSpPr>
        <p:spPr>
          <a:xfrm>
            <a:off x="5069738" y="4270248"/>
            <a:ext cx="2600858" cy="274320"/>
          </a:xfrm>
          <a:prstGeom prst="rect">
            <a:avLst/>
          </a:prstGeom>
          <a:noFill/>
          <a:ln/>
        </p:spPr>
        <p:txBody>
          <a:bodyPr wrap="square" lIns="0" tIns="0" rIns="0" bIns="0" rtlCol="0" anchor="t"/>
          <a:lstStyle/>
          <a:p>
            <a:pPr indent="0" marL="0">
              <a:buNone/>
            </a:pPr>
            <a:r>
              <a:rPr lang="en-US" sz="1400" b="1" dirty="0">
                <a:solidFill>
                  <a:schemeClr val="tx2"/>
                </a:solidFill>
              </a:rPr>
              <a:t>Havacılık yakınsama kenti</a:t>
            </a:r>
            <a:endParaRPr lang="en-US" sz="1400" dirty="0"/>
          </a:p>
        </p:txBody>
      </p:sp>
      <p:sp>
        <p:nvSpPr>
          <p:cNvPr id="37" name="Text 30"/>
          <p:cNvSpPr txBox="1"/>
          <p:nvPr/>
        </p:nvSpPr>
        <p:spPr>
          <a:xfrm>
            <a:off x="4521098" y="4636008"/>
            <a:ext cx="3149498" cy="749808"/>
          </a:xfrm>
          <a:prstGeom prst="rect">
            <a:avLst/>
          </a:prstGeom>
          <a:noFill/>
          <a:ln/>
        </p:spPr>
        <p:txBody>
          <a:bodyPr wrap="square" lIns="0" tIns="0" rIns="0" bIns="0" rtlCol="0" anchor="t"/>
          <a:lstStyle/>
          <a:p>
            <a:pPr indent="0" marL="0">
              <a:buNone/>
            </a:pPr>
            <a:r>
              <a:rPr lang="en-US" sz="1300" dirty="0">
                <a:solidFill>
                  <a:schemeClr val="tx1"/>
                </a:solidFill>
              </a:rPr>
              <a:t>5.222 çalışanlı havacılık firması çevresinde 2030'a dek 257.000 yeni sakin hedefi</a:t>
            </a:r>
            <a:endParaRPr lang="en-US" sz="1300" dirty="0"/>
          </a:p>
        </p:txBody>
      </p:sp>
      <p:sp>
        <p:nvSpPr>
          <p:cNvPr id="38" name="Text 31"/>
          <p:cNvSpPr txBox="1"/>
          <p:nvPr/>
        </p:nvSpPr>
        <p:spPr>
          <a:xfrm>
            <a:off x="4521098" y="5385816"/>
            <a:ext cx="3149498" cy="502920"/>
          </a:xfrm>
          <a:prstGeom prst="rect">
            <a:avLst/>
          </a:prstGeom>
          <a:noFill/>
          <a:ln/>
        </p:spPr>
        <p:txBody>
          <a:bodyPr wrap="square" lIns="0" tIns="0" rIns="0" bIns="0" rtlCol="0" anchor="t"/>
          <a:lstStyle/>
          <a:p>
            <a:pPr indent="0" marL="0">
              <a:buNone/>
            </a:pPr>
            <a:r>
              <a:rPr lang="en-US" sz="1250" b="1" dirty="0">
                <a:solidFill>
                  <a:schemeClr val="tx2"/>
                </a:solidFill>
              </a:rPr>
              <a:t>Plan aşamasındadır; kanıtlanmış başarı sayılmamalı</a:t>
            </a:r>
            <a:endParaRPr lang="en-US" sz="1250" dirty="0"/>
          </a:p>
        </p:txBody>
      </p:sp>
      <p:sp>
        <p:nvSpPr>
          <p:cNvPr id="39" name="Kart"/>
          <p:cNvSpPr/>
          <p:nvPr/>
        </p:nvSpPr>
        <p:spPr>
          <a:xfrm>
            <a:off x="8127797" y="3867912"/>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40" name="İkon zemini"/>
          <p:cNvSpPr/>
          <p:nvPr/>
        </p:nvSpPr>
        <p:spPr>
          <a:xfrm>
            <a:off x="8310677" y="4050792"/>
            <a:ext cx="438912" cy="438912"/>
          </a:xfrm>
          <a:prstGeom prst="ellipse">
            <a:avLst/>
          </a:prstGeom>
          <a:solidFill>
            <a:schemeClr val="accent2"/>
          </a:solidFill>
          <a:ln/>
        </p:spPr>
      </p:sp>
      <p:pic>
        <p:nvPicPr>
          <p:cNvPr id="41" name="İkon FaPlaneDeparture" descr="preencoded.png">    </p:cNvPr>
          <p:cNvPicPr>
            <a:picLocks noChangeAspect="1"/>
          </p:cNvPicPr>
          <p:nvPr/>
        </p:nvPicPr>
        <p:blipFill>
          <a:blip r:embed="rId6"/>
          <a:stretch>
            <a:fillRect/>
          </a:stretch>
        </p:blipFill>
        <p:spPr>
          <a:xfrm>
            <a:off x="8416016" y="4156131"/>
            <a:ext cx="228234" cy="228234"/>
          </a:xfrm>
          <a:prstGeom prst="rect">
            <a:avLst/>
          </a:prstGeom>
        </p:spPr>
      </p:pic>
      <p:sp>
        <p:nvSpPr>
          <p:cNvPr id="42" name="Text 34"/>
          <p:cNvSpPr txBox="1"/>
          <p:nvPr/>
        </p:nvSpPr>
        <p:spPr>
          <a:xfrm>
            <a:off x="8859317" y="4032504"/>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Bengaluru, Hindistan · 2025</a:t>
            </a:r>
            <a:endParaRPr lang="en-US" sz="1100" dirty="0"/>
          </a:p>
        </p:txBody>
      </p:sp>
      <p:sp>
        <p:nvSpPr>
          <p:cNvPr id="43" name="Text 35"/>
          <p:cNvSpPr txBox="1"/>
          <p:nvPr/>
        </p:nvSpPr>
        <p:spPr>
          <a:xfrm>
            <a:off x="8859317" y="4270248"/>
            <a:ext cx="2600858" cy="274320"/>
          </a:xfrm>
          <a:prstGeom prst="rect">
            <a:avLst/>
          </a:prstGeom>
          <a:noFill/>
          <a:ln/>
        </p:spPr>
        <p:txBody>
          <a:bodyPr wrap="square" lIns="0" tIns="0" rIns="0" bIns="0" rtlCol="0" anchor="t"/>
          <a:lstStyle/>
          <a:p>
            <a:pPr indent="0" marL="0">
              <a:buNone/>
            </a:pPr>
            <a:r>
              <a:rPr lang="en-US" sz="1400" b="1" dirty="0">
                <a:solidFill>
                  <a:schemeClr val="tx2"/>
                </a:solidFill>
              </a:rPr>
              <a:t>Yellow Line metrosu</a:t>
            </a:r>
            <a:endParaRPr lang="en-US" sz="1400" dirty="0"/>
          </a:p>
        </p:txBody>
      </p:sp>
      <p:sp>
        <p:nvSpPr>
          <p:cNvPr id="44" name="Text 36"/>
          <p:cNvSpPr txBox="1"/>
          <p:nvPr/>
        </p:nvSpPr>
        <p:spPr>
          <a:xfrm>
            <a:off x="8310677" y="4636008"/>
            <a:ext cx="3149498" cy="749808"/>
          </a:xfrm>
          <a:prstGeom prst="rect">
            <a:avLst/>
          </a:prstGeom>
          <a:noFill/>
          <a:ln/>
        </p:spPr>
        <p:txBody>
          <a:bodyPr wrap="square" lIns="0" tIns="0" rIns="0" bIns="0" rtlCol="0" anchor="t"/>
          <a:lstStyle/>
          <a:p>
            <a:pPr indent="0" marL="0">
              <a:buNone/>
            </a:pPr>
            <a:r>
              <a:rPr lang="en-US" sz="1300" dirty="0">
                <a:solidFill>
                  <a:schemeClr val="tx1"/>
                </a:solidFill>
              </a:rPr>
              <a:t>Electronic City hattı (19,15 km) günde 60–80 bin yolcu taşıdı; ilk tahmin 25–30 bin idi</a:t>
            </a:r>
            <a:endParaRPr lang="en-US" sz="1300" dirty="0"/>
          </a:p>
        </p:txBody>
      </p:sp>
      <p:sp>
        <p:nvSpPr>
          <p:cNvPr id="45" name="Text 37"/>
          <p:cNvSpPr txBox="1"/>
          <p:nvPr/>
        </p:nvSpPr>
        <p:spPr>
          <a:xfrm>
            <a:off x="8310677" y="5385816"/>
            <a:ext cx="3149498" cy="502920"/>
          </a:xfrm>
          <a:prstGeom prst="rect">
            <a:avLst/>
          </a:prstGeom>
          <a:noFill/>
          <a:ln/>
        </p:spPr>
        <p:txBody>
          <a:bodyPr wrap="square" lIns="0" tIns="0" rIns="0" bIns="0" rtlCol="0" anchor="t"/>
          <a:lstStyle/>
          <a:p>
            <a:pPr indent="0" marL="0">
              <a:buNone/>
            </a:pPr>
            <a:r>
              <a:rPr lang="en-US" sz="1250" b="1" dirty="0">
                <a:solidFill>
                  <a:schemeClr val="tx2"/>
                </a:solidFill>
              </a:rPr>
              <a:t>Gecikmiş raylı sistem birikmiş talep yaratır</a:t>
            </a:r>
            <a:endParaRPr lang="en-US" sz="1250" dirty="0"/>
          </a:p>
        </p:txBody>
      </p:sp>
      <p:sp>
        <p:nvSpPr>
          <p:cNvPr id="46" name="Text 38"/>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araştırma notları (kurum, akademik ve basın kaynakları). Örnek fotoğrafları telif nedeniyle kullanılmamıştır.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DÜNYADAN UYGULAMALAR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Planlı kentler ve bilim kentleri</a:t>
            </a:r>
            <a:endParaRPr lang="en-US" sz="3600" dirty="0"/>
          </a:p>
        </p:txBody>
      </p:sp>
      <p:sp>
        <p:nvSpPr>
          <p:cNvPr id="4" name="Kart"/>
          <p:cNvSpPr/>
          <p:nvPr/>
        </p:nvSpPr>
        <p:spPr>
          <a:xfrm>
            <a:off x="548640" y="1600200"/>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31520" y="1783080"/>
            <a:ext cx="438912" cy="438912"/>
          </a:xfrm>
          <a:prstGeom prst="ellipse">
            <a:avLst/>
          </a:prstGeom>
          <a:solidFill>
            <a:schemeClr val="accent2"/>
          </a:solidFill>
          <a:ln/>
        </p:spPr>
      </p:sp>
      <p:pic>
        <p:nvPicPr>
          <p:cNvPr id="6" name="İkon FaCity" descr="preencoded.png">    </p:cNvPr>
          <p:cNvPicPr>
            <a:picLocks noChangeAspect="1"/>
          </p:cNvPicPr>
          <p:nvPr/>
        </p:nvPicPr>
        <p:blipFill>
          <a:blip r:embed="rId1"/>
          <a:stretch>
            <a:fillRect/>
          </a:stretch>
        </p:blipFill>
        <p:spPr>
          <a:xfrm>
            <a:off x="836859" y="1888419"/>
            <a:ext cx="228234" cy="228234"/>
          </a:xfrm>
          <a:prstGeom prst="rect">
            <a:avLst/>
          </a:prstGeom>
        </p:spPr>
      </p:pic>
      <p:sp>
        <p:nvSpPr>
          <p:cNvPr id="7" name="Text 4"/>
          <p:cNvSpPr txBox="1"/>
          <p:nvPr/>
        </p:nvSpPr>
        <p:spPr>
          <a:xfrm>
            <a:off x="1280160" y="1764792"/>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Tsukuba, Japonya · 1963–2005</a:t>
            </a:r>
            <a:endParaRPr lang="en-US" sz="1100" dirty="0"/>
          </a:p>
        </p:txBody>
      </p:sp>
      <p:sp>
        <p:nvSpPr>
          <p:cNvPr id="8" name="Text 5"/>
          <p:cNvSpPr txBox="1"/>
          <p:nvPr/>
        </p:nvSpPr>
        <p:spPr>
          <a:xfrm>
            <a:off x="1280160" y="2002536"/>
            <a:ext cx="2600858" cy="274320"/>
          </a:xfrm>
          <a:prstGeom prst="rect">
            <a:avLst/>
          </a:prstGeom>
          <a:noFill/>
          <a:ln/>
        </p:spPr>
        <p:txBody>
          <a:bodyPr wrap="square" lIns="0" tIns="0" rIns="0" bIns="0" rtlCol="0" anchor="t"/>
          <a:lstStyle/>
          <a:p>
            <a:pPr indent="0" marL="0">
              <a:buNone/>
            </a:pPr>
            <a:r>
              <a:rPr lang="en-US" sz="1400" b="1" dirty="0">
                <a:solidFill>
                  <a:schemeClr val="tx2"/>
                </a:solidFill>
              </a:rPr>
              <a:t>Tsukuba Bilim Kenti</a:t>
            </a:r>
            <a:endParaRPr lang="en-US" sz="1400" dirty="0"/>
          </a:p>
        </p:txBody>
      </p:sp>
      <p:sp>
        <p:nvSpPr>
          <p:cNvPr id="9" name="Text 6"/>
          <p:cNvSpPr txBox="1"/>
          <p:nvPr/>
        </p:nvSpPr>
        <p:spPr>
          <a:xfrm>
            <a:off x="731520" y="2368296"/>
            <a:ext cx="3149498" cy="749808"/>
          </a:xfrm>
          <a:prstGeom prst="rect">
            <a:avLst/>
          </a:prstGeom>
          <a:noFill/>
          <a:ln/>
        </p:spPr>
        <p:txBody>
          <a:bodyPr wrap="square" lIns="0" tIns="0" rIns="0" bIns="0" rtlCol="0" anchor="t"/>
          <a:lstStyle/>
          <a:p>
            <a:pPr indent="0" marL="0">
              <a:buNone/>
            </a:pPr>
            <a:r>
              <a:rPr lang="en-US" sz="1300" dirty="0">
                <a:solidFill>
                  <a:schemeClr val="tx1"/>
                </a:solidFill>
              </a:rPr>
              <a:t>Araca göre tasarlanan kente raylı hat 2005'te geldi; nüfus 2020'de 241.656</a:t>
            </a:r>
            <a:endParaRPr lang="en-US" sz="1300" dirty="0"/>
          </a:p>
        </p:txBody>
      </p:sp>
      <p:sp>
        <p:nvSpPr>
          <p:cNvPr id="10" name="Text 7"/>
          <p:cNvSpPr txBox="1"/>
          <p:nvPr/>
        </p:nvSpPr>
        <p:spPr>
          <a:xfrm>
            <a:off x="731520" y="3118104"/>
            <a:ext cx="3149498" cy="502920"/>
          </a:xfrm>
          <a:prstGeom prst="rect">
            <a:avLst/>
          </a:prstGeom>
          <a:noFill/>
          <a:ln/>
        </p:spPr>
        <p:txBody>
          <a:bodyPr wrap="square" lIns="0" tIns="0" rIns="0" bIns="0" rtlCol="0" anchor="t"/>
          <a:lstStyle/>
          <a:p>
            <a:pPr indent="0" marL="0">
              <a:buNone/>
            </a:pPr>
            <a:r>
              <a:rPr lang="en-US" sz="1250" b="1" dirty="0">
                <a:solidFill>
                  <a:schemeClr val="tx2"/>
                </a:solidFill>
              </a:rPr>
              <a:t>Hızlı bağlantı ve kentsel yaşam baştan kurulmalıdır</a:t>
            </a:r>
            <a:endParaRPr lang="en-US" sz="1250" dirty="0"/>
          </a:p>
        </p:txBody>
      </p:sp>
      <p:sp>
        <p:nvSpPr>
          <p:cNvPr id="11" name="Kart"/>
          <p:cNvSpPr/>
          <p:nvPr/>
        </p:nvSpPr>
        <p:spPr>
          <a:xfrm>
            <a:off x="4338218" y="1600200"/>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12" name="İkon zemini"/>
          <p:cNvSpPr/>
          <p:nvPr/>
        </p:nvSpPr>
        <p:spPr>
          <a:xfrm>
            <a:off x="4521098" y="1783080"/>
            <a:ext cx="438912" cy="438912"/>
          </a:xfrm>
          <a:prstGeom prst="ellipse">
            <a:avLst/>
          </a:prstGeom>
          <a:solidFill>
            <a:schemeClr val="accent2"/>
          </a:solidFill>
          <a:ln/>
        </p:spPr>
      </p:sp>
      <p:pic>
        <p:nvPicPr>
          <p:cNvPr id="13" name="İkon FaCity" descr="preencoded.png">    </p:cNvPr>
          <p:cNvPicPr>
            <a:picLocks noChangeAspect="1"/>
          </p:cNvPicPr>
          <p:nvPr/>
        </p:nvPicPr>
        <p:blipFill>
          <a:blip r:embed="rId2"/>
          <a:stretch>
            <a:fillRect/>
          </a:stretch>
        </p:blipFill>
        <p:spPr>
          <a:xfrm>
            <a:off x="4626437" y="1888419"/>
            <a:ext cx="228234" cy="228234"/>
          </a:xfrm>
          <a:prstGeom prst="rect">
            <a:avLst/>
          </a:prstGeom>
        </p:spPr>
      </p:pic>
      <p:sp>
        <p:nvSpPr>
          <p:cNvPr id="14" name="Text 10"/>
          <p:cNvSpPr txBox="1"/>
          <p:nvPr/>
        </p:nvSpPr>
        <p:spPr>
          <a:xfrm>
            <a:off x="5069738" y="1764792"/>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Sejong, Güney Kore · 2020–2024</a:t>
            </a:r>
            <a:endParaRPr lang="en-US" sz="1100" dirty="0"/>
          </a:p>
        </p:txBody>
      </p:sp>
      <p:sp>
        <p:nvSpPr>
          <p:cNvPr id="15" name="Text 11"/>
          <p:cNvSpPr txBox="1"/>
          <p:nvPr/>
        </p:nvSpPr>
        <p:spPr>
          <a:xfrm>
            <a:off x="5069738" y="2002536"/>
            <a:ext cx="2600858" cy="274320"/>
          </a:xfrm>
          <a:prstGeom prst="rect">
            <a:avLst/>
          </a:prstGeom>
          <a:noFill/>
          <a:ln/>
        </p:spPr>
        <p:txBody>
          <a:bodyPr wrap="square" lIns="0" tIns="0" rIns="0" bIns="0" rtlCol="0" anchor="t"/>
          <a:lstStyle/>
          <a:p>
            <a:pPr indent="0" marL="0">
              <a:buNone/>
            </a:pPr>
            <a:r>
              <a:rPr lang="en-US" sz="1400" b="1" dirty="0">
                <a:solidFill>
                  <a:schemeClr val="tx2"/>
                </a:solidFill>
              </a:rPr>
              <a:t>Sejong idari kenti</a:t>
            </a:r>
            <a:endParaRPr lang="en-US" sz="1400" dirty="0"/>
          </a:p>
        </p:txBody>
      </p:sp>
      <p:sp>
        <p:nvSpPr>
          <p:cNvPr id="16" name="Text 12"/>
          <p:cNvSpPr txBox="1"/>
          <p:nvPr/>
        </p:nvSpPr>
        <p:spPr>
          <a:xfrm>
            <a:off x="4521098" y="2368296"/>
            <a:ext cx="3149498" cy="749808"/>
          </a:xfrm>
          <a:prstGeom prst="rect">
            <a:avLst/>
          </a:prstGeom>
          <a:noFill/>
          <a:ln/>
        </p:spPr>
        <p:txBody>
          <a:bodyPr wrap="square" lIns="0" tIns="0" rIns="0" bIns="0" rtlCol="0" anchor="t"/>
          <a:lstStyle/>
          <a:p>
            <a:pPr indent="0" marL="0">
              <a:buNone/>
            </a:pPr>
            <a:r>
              <a:rPr lang="en-US" sz="1300" dirty="0">
                <a:solidFill>
                  <a:schemeClr val="tx1"/>
                </a:solidFill>
              </a:rPr>
              <a:t>Toplu taşıma hedefi %70 iken 2020'de araç %45,4, otobüs %7,3; ticari boşluk %25,7</a:t>
            </a:r>
            <a:endParaRPr lang="en-US" sz="1300" dirty="0"/>
          </a:p>
        </p:txBody>
      </p:sp>
      <p:sp>
        <p:nvSpPr>
          <p:cNvPr id="17" name="Text 13"/>
          <p:cNvSpPr txBox="1"/>
          <p:nvPr/>
        </p:nvSpPr>
        <p:spPr>
          <a:xfrm>
            <a:off x="4521098" y="3118104"/>
            <a:ext cx="3149498" cy="502920"/>
          </a:xfrm>
          <a:prstGeom prst="rect">
            <a:avLst/>
          </a:prstGeom>
          <a:noFill/>
          <a:ln/>
        </p:spPr>
        <p:txBody>
          <a:bodyPr wrap="square" lIns="0" tIns="0" rIns="0" bIns="0" rtlCol="0" anchor="t"/>
          <a:lstStyle/>
          <a:p>
            <a:pPr indent="0" marL="0">
              <a:buNone/>
            </a:pPr>
            <a:r>
              <a:rPr lang="en-US" sz="1250" b="1" dirty="0">
                <a:solidFill>
                  <a:schemeClr val="tx2"/>
                </a:solidFill>
              </a:rPr>
              <a:t>Mahalle ticareti ve fiilî kullanım planlanmalıdır</a:t>
            </a:r>
            <a:endParaRPr lang="en-US" sz="1250" dirty="0"/>
          </a:p>
        </p:txBody>
      </p:sp>
      <p:sp>
        <p:nvSpPr>
          <p:cNvPr id="18" name="Kart"/>
          <p:cNvSpPr/>
          <p:nvPr/>
        </p:nvSpPr>
        <p:spPr>
          <a:xfrm>
            <a:off x="8127797" y="1600200"/>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19" name="İkon zemini"/>
          <p:cNvSpPr/>
          <p:nvPr/>
        </p:nvSpPr>
        <p:spPr>
          <a:xfrm>
            <a:off x="8310677" y="1783080"/>
            <a:ext cx="438912" cy="438912"/>
          </a:xfrm>
          <a:prstGeom prst="ellipse">
            <a:avLst/>
          </a:prstGeom>
          <a:solidFill>
            <a:schemeClr val="accent2"/>
          </a:solidFill>
          <a:ln/>
        </p:spPr>
      </p:sp>
      <p:pic>
        <p:nvPicPr>
          <p:cNvPr id="20" name="İkon FaCity" descr="preencoded.png">    </p:cNvPr>
          <p:cNvPicPr>
            <a:picLocks noChangeAspect="1"/>
          </p:cNvPicPr>
          <p:nvPr/>
        </p:nvPicPr>
        <p:blipFill>
          <a:blip r:embed="rId3"/>
          <a:stretch>
            <a:fillRect/>
          </a:stretch>
        </p:blipFill>
        <p:spPr>
          <a:xfrm>
            <a:off x="8416016" y="1888419"/>
            <a:ext cx="228234" cy="228234"/>
          </a:xfrm>
          <a:prstGeom prst="rect">
            <a:avLst/>
          </a:prstGeom>
        </p:spPr>
      </p:pic>
      <p:sp>
        <p:nvSpPr>
          <p:cNvPr id="21" name="Text 16"/>
          <p:cNvSpPr txBox="1"/>
          <p:nvPr/>
        </p:nvSpPr>
        <p:spPr>
          <a:xfrm>
            <a:off x="8859317" y="1764792"/>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The Woodlands, ABD · 1974–2020</a:t>
            </a:r>
            <a:endParaRPr lang="en-US" sz="1100" dirty="0"/>
          </a:p>
        </p:txBody>
      </p:sp>
      <p:sp>
        <p:nvSpPr>
          <p:cNvPr id="22" name="Text 17"/>
          <p:cNvSpPr txBox="1"/>
          <p:nvPr/>
        </p:nvSpPr>
        <p:spPr>
          <a:xfrm>
            <a:off x="8859317" y="2002536"/>
            <a:ext cx="2600858" cy="274320"/>
          </a:xfrm>
          <a:prstGeom prst="rect">
            <a:avLst/>
          </a:prstGeom>
          <a:noFill/>
          <a:ln/>
        </p:spPr>
        <p:txBody>
          <a:bodyPr wrap="square" lIns="0" tIns="0" rIns="0" bIns="0" rtlCol="0" anchor="t"/>
          <a:lstStyle/>
          <a:p>
            <a:pPr indent="0" marL="0">
              <a:buNone/>
            </a:pPr>
            <a:r>
              <a:rPr lang="en-US" sz="1400" b="1" dirty="0">
                <a:solidFill>
                  <a:schemeClr val="tx2"/>
                </a:solidFill>
              </a:rPr>
              <a:t>The Woodlands</a:t>
            </a:r>
            <a:endParaRPr lang="en-US" sz="1400" dirty="0"/>
          </a:p>
        </p:txBody>
      </p:sp>
      <p:sp>
        <p:nvSpPr>
          <p:cNvPr id="23" name="Text 18"/>
          <p:cNvSpPr txBox="1"/>
          <p:nvPr/>
        </p:nvSpPr>
        <p:spPr>
          <a:xfrm>
            <a:off x="8310677" y="2368296"/>
            <a:ext cx="3149498" cy="749808"/>
          </a:xfrm>
          <a:prstGeom prst="rect">
            <a:avLst/>
          </a:prstGeom>
          <a:noFill/>
          <a:ln/>
        </p:spPr>
        <p:txBody>
          <a:bodyPr wrap="square" lIns="0" tIns="0" rIns="0" bIns="0" rtlCol="0" anchor="t"/>
          <a:lstStyle/>
          <a:p>
            <a:pPr indent="0" marL="0">
              <a:buNone/>
            </a:pPr>
            <a:r>
              <a:rPr lang="en-US" sz="1300" dirty="0">
                <a:solidFill>
                  <a:schemeClr val="tx1"/>
                </a:solidFill>
              </a:rPr>
              <a:t>114.436 kişilik kentte 151 park; tüm sakinler bir parka 10 dakika yürüme mesafesinde</a:t>
            </a:r>
            <a:endParaRPr lang="en-US" sz="1300" dirty="0"/>
          </a:p>
        </p:txBody>
      </p:sp>
      <p:sp>
        <p:nvSpPr>
          <p:cNvPr id="24" name="Text 19"/>
          <p:cNvSpPr txBox="1"/>
          <p:nvPr/>
        </p:nvSpPr>
        <p:spPr>
          <a:xfrm>
            <a:off x="8310677" y="3118104"/>
            <a:ext cx="3149498" cy="502920"/>
          </a:xfrm>
          <a:prstGeom prst="rect">
            <a:avLst/>
          </a:prstGeom>
          <a:noFill/>
          <a:ln/>
        </p:spPr>
        <p:txBody>
          <a:bodyPr wrap="square" lIns="0" tIns="0" rIns="0" bIns="0" rtlCol="0" anchor="t"/>
          <a:lstStyle/>
          <a:p>
            <a:pPr indent="0" marL="0">
              <a:buNone/>
            </a:pPr>
            <a:r>
              <a:rPr lang="en-US" sz="1250" b="1" dirty="0">
                <a:solidFill>
                  <a:schemeClr val="tx2"/>
                </a:solidFill>
              </a:rPr>
              <a:t>Park ağı yürüme mesafesi esasına göre kurulmalıdır</a:t>
            </a:r>
            <a:endParaRPr lang="en-US" sz="1250" dirty="0"/>
          </a:p>
        </p:txBody>
      </p:sp>
      <p:sp>
        <p:nvSpPr>
          <p:cNvPr id="25" name="Kart"/>
          <p:cNvSpPr/>
          <p:nvPr/>
        </p:nvSpPr>
        <p:spPr>
          <a:xfrm>
            <a:off x="548640" y="3867912"/>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26" name="İkon zemini"/>
          <p:cNvSpPr/>
          <p:nvPr/>
        </p:nvSpPr>
        <p:spPr>
          <a:xfrm>
            <a:off x="731520" y="4050792"/>
            <a:ext cx="438912" cy="438912"/>
          </a:xfrm>
          <a:prstGeom prst="ellipse">
            <a:avLst/>
          </a:prstGeom>
          <a:solidFill>
            <a:schemeClr val="accent2"/>
          </a:solidFill>
          <a:ln/>
        </p:spPr>
      </p:sp>
      <p:pic>
        <p:nvPicPr>
          <p:cNvPr id="27" name="İkon FaCity" descr="preencoded.png">    </p:cNvPr>
          <p:cNvPicPr>
            <a:picLocks noChangeAspect="1"/>
          </p:cNvPicPr>
          <p:nvPr/>
        </p:nvPicPr>
        <p:blipFill>
          <a:blip r:embed="rId4"/>
          <a:stretch>
            <a:fillRect/>
          </a:stretch>
        </p:blipFill>
        <p:spPr>
          <a:xfrm>
            <a:off x="836859" y="4156131"/>
            <a:ext cx="228234" cy="228234"/>
          </a:xfrm>
          <a:prstGeom prst="rect">
            <a:avLst/>
          </a:prstGeom>
        </p:spPr>
      </p:pic>
      <p:sp>
        <p:nvSpPr>
          <p:cNvPr id="28" name="Text 22"/>
          <p:cNvSpPr txBox="1"/>
          <p:nvPr/>
        </p:nvSpPr>
        <p:spPr>
          <a:xfrm>
            <a:off x="1280160" y="4032504"/>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Wolfsburg, Almanya · 1938–2025</a:t>
            </a:r>
            <a:endParaRPr lang="en-US" sz="1100" dirty="0"/>
          </a:p>
        </p:txBody>
      </p:sp>
      <p:sp>
        <p:nvSpPr>
          <p:cNvPr id="29" name="Text 23"/>
          <p:cNvSpPr txBox="1"/>
          <p:nvPr/>
        </p:nvSpPr>
        <p:spPr>
          <a:xfrm>
            <a:off x="1280160" y="4270248"/>
            <a:ext cx="2600858" cy="274320"/>
          </a:xfrm>
          <a:prstGeom prst="rect">
            <a:avLst/>
          </a:prstGeom>
          <a:noFill/>
          <a:ln/>
        </p:spPr>
        <p:txBody>
          <a:bodyPr wrap="square" lIns="0" tIns="0" rIns="0" bIns="0" rtlCol="0" anchor="t"/>
          <a:lstStyle/>
          <a:p>
            <a:pPr indent="0" marL="0">
              <a:buNone/>
            </a:pPr>
            <a:r>
              <a:rPr lang="en-US" sz="1400" b="1" dirty="0">
                <a:solidFill>
                  <a:schemeClr val="tx2"/>
                </a:solidFill>
              </a:rPr>
              <a:t>Wolfsburg</a:t>
            </a:r>
            <a:endParaRPr lang="en-US" sz="1400" dirty="0"/>
          </a:p>
        </p:txBody>
      </p:sp>
      <p:sp>
        <p:nvSpPr>
          <p:cNvPr id="30" name="Text 24"/>
          <p:cNvSpPr txBox="1"/>
          <p:nvPr/>
        </p:nvSpPr>
        <p:spPr>
          <a:xfrm>
            <a:off x="731520" y="4636008"/>
            <a:ext cx="3149498" cy="749808"/>
          </a:xfrm>
          <a:prstGeom prst="rect">
            <a:avLst/>
          </a:prstGeom>
          <a:noFill/>
          <a:ln/>
        </p:spPr>
        <p:txBody>
          <a:bodyPr wrap="square" lIns="0" tIns="0" rIns="0" bIns="0" rtlCol="0" anchor="t"/>
          <a:lstStyle/>
          <a:p>
            <a:pPr indent="0" marL="0">
              <a:buNone/>
            </a:pPr>
            <a:r>
              <a:rPr lang="en-US" sz="1300" dirty="0">
                <a:solidFill>
                  <a:schemeClr val="tx1"/>
                </a:solidFill>
              </a:rPr>
              <a:t>Nüfus 1973'te 131.971 ile zirveye ulaştı; 2025'te 129.813 ile durağan kaldı</a:t>
            </a:r>
            <a:endParaRPr lang="en-US" sz="1300" dirty="0"/>
          </a:p>
        </p:txBody>
      </p:sp>
      <p:sp>
        <p:nvSpPr>
          <p:cNvPr id="31" name="Text 25"/>
          <p:cNvSpPr txBox="1"/>
          <p:nvPr/>
        </p:nvSpPr>
        <p:spPr>
          <a:xfrm>
            <a:off x="731520" y="5385816"/>
            <a:ext cx="3149498" cy="502920"/>
          </a:xfrm>
          <a:prstGeom prst="rect">
            <a:avLst/>
          </a:prstGeom>
          <a:noFill/>
          <a:ln/>
        </p:spPr>
        <p:txBody>
          <a:bodyPr wrap="square" lIns="0" tIns="0" rIns="0" bIns="0" rtlCol="0" anchor="t"/>
          <a:lstStyle/>
          <a:p>
            <a:pPr indent="0" marL="0">
              <a:buNone/>
            </a:pPr>
            <a:r>
              <a:rPr lang="en-US" sz="1250" b="1" dirty="0">
                <a:solidFill>
                  <a:schemeClr val="tx2"/>
                </a:solidFill>
              </a:rPr>
              <a:t>Tek işverene bağımlılık ikinci bir istihdam odağı ister</a:t>
            </a:r>
            <a:endParaRPr lang="en-US" sz="1250" dirty="0"/>
          </a:p>
        </p:txBody>
      </p:sp>
      <p:sp>
        <p:nvSpPr>
          <p:cNvPr id="32" name="Kart"/>
          <p:cNvSpPr/>
          <p:nvPr/>
        </p:nvSpPr>
        <p:spPr>
          <a:xfrm>
            <a:off x="4338218" y="3867912"/>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33" name="İkon zemini"/>
          <p:cNvSpPr/>
          <p:nvPr/>
        </p:nvSpPr>
        <p:spPr>
          <a:xfrm>
            <a:off x="4521098" y="4050792"/>
            <a:ext cx="438912" cy="438912"/>
          </a:xfrm>
          <a:prstGeom prst="ellipse">
            <a:avLst/>
          </a:prstGeom>
          <a:solidFill>
            <a:schemeClr val="accent2"/>
          </a:solidFill>
          <a:ln/>
        </p:spPr>
      </p:sp>
      <p:pic>
        <p:nvPicPr>
          <p:cNvPr id="34" name="İkon FaCity" descr="preencoded.png">    </p:cNvPr>
          <p:cNvPicPr>
            <a:picLocks noChangeAspect="1"/>
          </p:cNvPicPr>
          <p:nvPr/>
        </p:nvPicPr>
        <p:blipFill>
          <a:blip r:embed="rId5"/>
          <a:stretch>
            <a:fillRect/>
          </a:stretch>
        </p:blipFill>
        <p:spPr>
          <a:xfrm>
            <a:off x="4626437" y="4156131"/>
            <a:ext cx="228234" cy="228234"/>
          </a:xfrm>
          <a:prstGeom prst="rect">
            <a:avLst/>
          </a:prstGeom>
        </p:spPr>
      </p:pic>
      <p:sp>
        <p:nvSpPr>
          <p:cNvPr id="35" name="Text 28"/>
          <p:cNvSpPr txBox="1"/>
          <p:nvPr/>
        </p:nvSpPr>
        <p:spPr>
          <a:xfrm>
            <a:off x="5069738" y="4032504"/>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Novosibirsk, Rusya · 1958</a:t>
            </a:r>
            <a:endParaRPr lang="en-US" sz="1100" dirty="0"/>
          </a:p>
        </p:txBody>
      </p:sp>
      <p:sp>
        <p:nvSpPr>
          <p:cNvPr id="36" name="Text 29"/>
          <p:cNvSpPr txBox="1"/>
          <p:nvPr/>
        </p:nvSpPr>
        <p:spPr>
          <a:xfrm>
            <a:off x="5069738" y="4270248"/>
            <a:ext cx="2600858" cy="274320"/>
          </a:xfrm>
          <a:prstGeom prst="rect">
            <a:avLst/>
          </a:prstGeom>
          <a:noFill/>
          <a:ln/>
        </p:spPr>
        <p:txBody>
          <a:bodyPr wrap="square" lIns="0" tIns="0" rIns="0" bIns="0" rtlCol="0" anchor="t"/>
          <a:lstStyle/>
          <a:p>
            <a:pPr indent="0" marL="0">
              <a:buNone/>
            </a:pPr>
            <a:r>
              <a:rPr lang="en-US" sz="1400" b="1" dirty="0">
                <a:solidFill>
                  <a:schemeClr val="tx2"/>
                </a:solidFill>
              </a:rPr>
              <a:t>Akademgorodok</a:t>
            </a:r>
            <a:endParaRPr lang="en-US" sz="1400" dirty="0"/>
          </a:p>
        </p:txBody>
      </p:sp>
      <p:sp>
        <p:nvSpPr>
          <p:cNvPr id="37" name="Text 30"/>
          <p:cNvSpPr txBox="1"/>
          <p:nvPr/>
        </p:nvSpPr>
        <p:spPr>
          <a:xfrm>
            <a:off x="4521098" y="4636008"/>
            <a:ext cx="3149498" cy="749808"/>
          </a:xfrm>
          <a:prstGeom prst="rect">
            <a:avLst/>
          </a:prstGeom>
          <a:noFill/>
          <a:ln/>
        </p:spPr>
        <p:txBody>
          <a:bodyPr wrap="square" lIns="0" tIns="0" rIns="0" bIns="0" rtlCol="0" anchor="t"/>
          <a:lstStyle/>
          <a:p>
            <a:pPr indent="0" marL="0">
              <a:buNone/>
            </a:pPr>
            <a:r>
              <a:rPr lang="en-US" sz="1300" dirty="0">
                <a:solidFill>
                  <a:schemeClr val="tx1"/>
                </a:solidFill>
              </a:rPr>
              <a:t>7 yılda 20 enstitü kuruldu; bilim insanları yaklaşık 40 sosyal kulüp oluşturdu</a:t>
            </a:r>
            <a:endParaRPr lang="en-US" sz="1300" dirty="0"/>
          </a:p>
        </p:txBody>
      </p:sp>
      <p:sp>
        <p:nvSpPr>
          <p:cNvPr id="38" name="Text 31"/>
          <p:cNvSpPr txBox="1"/>
          <p:nvPr/>
        </p:nvSpPr>
        <p:spPr>
          <a:xfrm>
            <a:off x="4521098" y="5385816"/>
            <a:ext cx="3149498" cy="502920"/>
          </a:xfrm>
          <a:prstGeom prst="rect">
            <a:avLst/>
          </a:prstGeom>
          <a:noFill/>
          <a:ln/>
        </p:spPr>
        <p:txBody>
          <a:bodyPr wrap="square" lIns="0" tIns="0" rIns="0" bIns="0" rtlCol="0" anchor="t"/>
          <a:lstStyle/>
          <a:p>
            <a:pPr indent="0" marL="0">
              <a:buNone/>
            </a:pPr>
            <a:r>
              <a:rPr lang="en-US" sz="1250" b="1" dirty="0">
                <a:solidFill>
                  <a:schemeClr val="tx2"/>
                </a:solidFill>
              </a:rPr>
              <a:t>Kulüp ve kültür altyapısı topluluğu kurar</a:t>
            </a:r>
            <a:endParaRPr lang="en-US" sz="1250" dirty="0"/>
          </a:p>
        </p:txBody>
      </p:sp>
      <p:sp>
        <p:nvSpPr>
          <p:cNvPr id="39" name="Text 3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araştırma notları (kurum, akademik ve basın kaynakları). Örnek fotoğrafları telif nedeniyle kullanılmamıştır.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DÜNYADAN UYGULAMALAR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Eğitim uygulamaları</a:t>
            </a:r>
            <a:endParaRPr lang="en-US" sz="3600" dirty="0"/>
          </a:p>
        </p:txBody>
      </p:sp>
      <p:sp>
        <p:nvSpPr>
          <p:cNvPr id="4" name="Kart"/>
          <p:cNvSpPr/>
          <p:nvPr/>
        </p:nvSpPr>
        <p:spPr>
          <a:xfrm>
            <a:off x="548640" y="1600200"/>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31520" y="1783080"/>
            <a:ext cx="438912" cy="438912"/>
          </a:xfrm>
          <a:prstGeom prst="ellipse">
            <a:avLst/>
          </a:prstGeom>
          <a:solidFill>
            <a:schemeClr val="accent2"/>
          </a:solidFill>
          <a:ln/>
        </p:spPr>
      </p:sp>
      <p:pic>
        <p:nvPicPr>
          <p:cNvPr id="6" name="İkon FaSchool" descr="preencoded.png">    </p:cNvPr>
          <p:cNvPicPr>
            <a:picLocks noChangeAspect="1"/>
          </p:cNvPicPr>
          <p:nvPr/>
        </p:nvPicPr>
        <p:blipFill>
          <a:blip r:embed="rId1"/>
          <a:stretch>
            <a:fillRect/>
          </a:stretch>
        </p:blipFill>
        <p:spPr>
          <a:xfrm>
            <a:off x="836859" y="1888419"/>
            <a:ext cx="228234" cy="228234"/>
          </a:xfrm>
          <a:prstGeom prst="rect">
            <a:avLst/>
          </a:prstGeom>
        </p:spPr>
      </p:pic>
      <p:sp>
        <p:nvSpPr>
          <p:cNvPr id="7" name="Text 4"/>
          <p:cNvSpPr txBox="1"/>
          <p:nvPr/>
        </p:nvSpPr>
        <p:spPr>
          <a:xfrm>
            <a:off x="1280160" y="1764792"/>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São José dos Campos, Brezilya · 2002–</a:t>
            </a:r>
            <a:endParaRPr lang="en-US" sz="1100" dirty="0"/>
          </a:p>
        </p:txBody>
      </p:sp>
      <p:sp>
        <p:nvSpPr>
          <p:cNvPr id="8" name="Text 5"/>
          <p:cNvSpPr txBox="1"/>
          <p:nvPr/>
        </p:nvSpPr>
        <p:spPr>
          <a:xfrm>
            <a:off x="1280160" y="2002536"/>
            <a:ext cx="2600858" cy="274320"/>
          </a:xfrm>
          <a:prstGeom prst="rect">
            <a:avLst/>
          </a:prstGeom>
          <a:noFill/>
          <a:ln/>
        </p:spPr>
        <p:txBody>
          <a:bodyPr wrap="square" lIns="0" tIns="0" rIns="0" bIns="0" rtlCol="0" anchor="t"/>
          <a:lstStyle/>
          <a:p>
            <a:pPr indent="0" marL="0">
              <a:buNone/>
            </a:pPr>
            <a:r>
              <a:rPr lang="en-US" sz="1400" b="1" dirty="0">
                <a:solidFill>
                  <a:schemeClr val="tx2"/>
                </a:solidFill>
              </a:rPr>
              <a:t>Colégios Embraer</a:t>
            </a:r>
            <a:endParaRPr lang="en-US" sz="1400" dirty="0"/>
          </a:p>
        </p:txBody>
      </p:sp>
      <p:sp>
        <p:nvSpPr>
          <p:cNvPr id="9" name="Text 6"/>
          <p:cNvSpPr txBox="1"/>
          <p:nvPr/>
        </p:nvSpPr>
        <p:spPr>
          <a:xfrm>
            <a:off x="731520" y="2368296"/>
            <a:ext cx="3149498" cy="749808"/>
          </a:xfrm>
          <a:prstGeom prst="rect">
            <a:avLst/>
          </a:prstGeom>
          <a:noFill/>
          <a:ln/>
        </p:spPr>
        <p:txBody>
          <a:bodyPr wrap="square" lIns="0" tIns="0" rIns="0" bIns="0" rtlCol="0" anchor="t"/>
          <a:lstStyle/>
          <a:p>
            <a:pPr indent="0" marL="0">
              <a:buNone/>
            </a:pPr>
            <a:r>
              <a:rPr lang="en-US" sz="1300" dirty="0">
                <a:solidFill>
                  <a:schemeClr val="tx1"/>
                </a:solidFill>
              </a:rPr>
              <a:t>Tam gün lise programında yılda 720 genç; %80'i tam burslu; 5.500'ü aşkın mezun</a:t>
            </a:r>
            <a:endParaRPr lang="en-US" sz="1300" dirty="0"/>
          </a:p>
        </p:txBody>
      </p:sp>
      <p:sp>
        <p:nvSpPr>
          <p:cNvPr id="10" name="Text 7"/>
          <p:cNvSpPr txBox="1"/>
          <p:nvPr/>
        </p:nvSpPr>
        <p:spPr>
          <a:xfrm>
            <a:off x="731520" y="3118104"/>
            <a:ext cx="3149498" cy="502920"/>
          </a:xfrm>
          <a:prstGeom prst="rect">
            <a:avLst/>
          </a:prstGeom>
          <a:noFill/>
          <a:ln/>
        </p:spPr>
        <p:txBody>
          <a:bodyPr wrap="square" lIns="0" tIns="0" rIns="0" bIns="0" rtlCol="0" anchor="t"/>
          <a:lstStyle/>
          <a:p>
            <a:pPr indent="0" marL="0">
              <a:buNone/>
            </a:pPr>
            <a:r>
              <a:rPr lang="en-US" sz="1250" b="1" dirty="0">
                <a:solidFill>
                  <a:schemeClr val="tx2"/>
                </a:solidFill>
              </a:rPr>
              <a:t>Sanayi destekli okul bölgeye de açık olabilir</a:t>
            </a:r>
            <a:endParaRPr lang="en-US" sz="1250" dirty="0"/>
          </a:p>
        </p:txBody>
      </p:sp>
      <p:sp>
        <p:nvSpPr>
          <p:cNvPr id="11" name="Kart"/>
          <p:cNvSpPr/>
          <p:nvPr/>
        </p:nvSpPr>
        <p:spPr>
          <a:xfrm>
            <a:off x="4338218" y="1600200"/>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12" name="İkon zemini"/>
          <p:cNvSpPr/>
          <p:nvPr/>
        </p:nvSpPr>
        <p:spPr>
          <a:xfrm>
            <a:off x="4521098" y="1783080"/>
            <a:ext cx="438912" cy="438912"/>
          </a:xfrm>
          <a:prstGeom prst="ellipse">
            <a:avLst/>
          </a:prstGeom>
          <a:solidFill>
            <a:schemeClr val="accent2"/>
          </a:solidFill>
          <a:ln/>
        </p:spPr>
      </p:sp>
      <p:pic>
        <p:nvPicPr>
          <p:cNvPr id="13" name="İkon FaSchool" descr="preencoded.png">    </p:cNvPr>
          <p:cNvPicPr>
            <a:picLocks noChangeAspect="1"/>
          </p:cNvPicPr>
          <p:nvPr/>
        </p:nvPicPr>
        <p:blipFill>
          <a:blip r:embed="rId2"/>
          <a:stretch>
            <a:fillRect/>
          </a:stretch>
        </p:blipFill>
        <p:spPr>
          <a:xfrm>
            <a:off x="4626437" y="1888419"/>
            <a:ext cx="228234" cy="228234"/>
          </a:xfrm>
          <a:prstGeom prst="rect">
            <a:avLst/>
          </a:prstGeom>
        </p:spPr>
      </p:pic>
      <p:sp>
        <p:nvSpPr>
          <p:cNvPr id="14" name="Text 10"/>
          <p:cNvSpPr txBox="1"/>
          <p:nvPr/>
        </p:nvSpPr>
        <p:spPr>
          <a:xfrm>
            <a:off x="5069738" y="1764792"/>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Everett, ABD · 2012–2017</a:t>
            </a:r>
            <a:endParaRPr lang="en-US" sz="1100" dirty="0"/>
          </a:p>
        </p:txBody>
      </p:sp>
      <p:sp>
        <p:nvSpPr>
          <p:cNvPr id="15" name="Text 11"/>
          <p:cNvSpPr txBox="1"/>
          <p:nvPr/>
        </p:nvSpPr>
        <p:spPr>
          <a:xfrm>
            <a:off x="5069738" y="2002536"/>
            <a:ext cx="2600858" cy="274320"/>
          </a:xfrm>
          <a:prstGeom prst="rect">
            <a:avLst/>
          </a:prstGeom>
          <a:noFill/>
          <a:ln/>
        </p:spPr>
        <p:txBody>
          <a:bodyPr wrap="square" lIns="0" tIns="0" rIns="0" bIns="0" rtlCol="0" anchor="t"/>
          <a:lstStyle/>
          <a:p>
            <a:pPr indent="0" marL="0">
              <a:buNone/>
            </a:pPr>
            <a:r>
              <a:rPr lang="en-US" sz="1400" b="1" dirty="0">
                <a:solidFill>
                  <a:schemeClr val="tx2"/>
                </a:solidFill>
              </a:rPr>
              <a:t>Boeing STEM ortaklıkları</a:t>
            </a:r>
            <a:endParaRPr lang="en-US" sz="1400" dirty="0"/>
          </a:p>
        </p:txBody>
      </p:sp>
      <p:sp>
        <p:nvSpPr>
          <p:cNvPr id="16" name="Text 12"/>
          <p:cNvSpPr txBox="1"/>
          <p:nvPr/>
        </p:nvSpPr>
        <p:spPr>
          <a:xfrm>
            <a:off x="4521098" y="2368296"/>
            <a:ext cx="3149498" cy="749808"/>
          </a:xfrm>
          <a:prstGeom prst="rect">
            <a:avLst/>
          </a:prstGeom>
          <a:noFill/>
          <a:ln/>
        </p:spPr>
        <p:txBody>
          <a:bodyPr wrap="square" lIns="0" tIns="0" rIns="0" bIns="0" rtlCol="0" anchor="t"/>
          <a:lstStyle/>
          <a:p>
            <a:pPr indent="0" marL="0">
              <a:buNone/>
            </a:pPr>
            <a:r>
              <a:rPr lang="en-US" sz="1300" dirty="0">
                <a:solidFill>
                  <a:schemeClr val="tx1"/>
                </a:solidFill>
              </a:rPr>
              <a:t>Üniversite kampüsüne 250.000 USD ve üretim laboratuvarı; K-12'ye 6 milyon USD</a:t>
            </a:r>
            <a:endParaRPr lang="en-US" sz="1300" dirty="0"/>
          </a:p>
        </p:txBody>
      </p:sp>
      <p:sp>
        <p:nvSpPr>
          <p:cNvPr id="17" name="Text 13"/>
          <p:cNvSpPr txBox="1"/>
          <p:nvPr/>
        </p:nvSpPr>
        <p:spPr>
          <a:xfrm>
            <a:off x="4521098" y="3118104"/>
            <a:ext cx="3149498" cy="502920"/>
          </a:xfrm>
          <a:prstGeom prst="rect">
            <a:avLst/>
          </a:prstGeom>
          <a:noFill/>
          <a:ln/>
        </p:spPr>
        <p:txBody>
          <a:bodyPr wrap="square" lIns="0" tIns="0" rIns="0" bIns="0" rtlCol="0" anchor="t"/>
          <a:lstStyle/>
          <a:p>
            <a:pPr indent="0" marL="0">
              <a:buNone/>
            </a:pPr>
            <a:r>
              <a:rPr lang="en-US" sz="1250" b="1" dirty="0">
                <a:solidFill>
                  <a:schemeClr val="tx2"/>
                </a:solidFill>
              </a:rPr>
              <a:t>Okul ortaklığı laboratuvar ve mentorlukla kurulur</a:t>
            </a:r>
            <a:endParaRPr lang="en-US" sz="1250" dirty="0"/>
          </a:p>
        </p:txBody>
      </p:sp>
      <p:sp>
        <p:nvSpPr>
          <p:cNvPr id="18" name="Kart"/>
          <p:cNvSpPr/>
          <p:nvPr/>
        </p:nvSpPr>
        <p:spPr>
          <a:xfrm>
            <a:off x="8127797" y="1600200"/>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19" name="İkon zemini"/>
          <p:cNvSpPr/>
          <p:nvPr/>
        </p:nvSpPr>
        <p:spPr>
          <a:xfrm>
            <a:off x="8310677" y="1783080"/>
            <a:ext cx="438912" cy="438912"/>
          </a:xfrm>
          <a:prstGeom prst="ellipse">
            <a:avLst/>
          </a:prstGeom>
          <a:solidFill>
            <a:schemeClr val="accent2"/>
          </a:solidFill>
          <a:ln/>
        </p:spPr>
      </p:sp>
      <p:pic>
        <p:nvPicPr>
          <p:cNvPr id="20" name="İkon FaSchool" descr="preencoded.png">    </p:cNvPr>
          <p:cNvPicPr>
            <a:picLocks noChangeAspect="1"/>
          </p:cNvPicPr>
          <p:nvPr/>
        </p:nvPicPr>
        <p:blipFill>
          <a:blip r:embed="rId3"/>
          <a:stretch>
            <a:fillRect/>
          </a:stretch>
        </p:blipFill>
        <p:spPr>
          <a:xfrm>
            <a:off x="8416016" y="1888419"/>
            <a:ext cx="228234" cy="228234"/>
          </a:xfrm>
          <a:prstGeom prst="rect">
            <a:avLst/>
          </a:prstGeom>
        </p:spPr>
      </p:pic>
      <p:sp>
        <p:nvSpPr>
          <p:cNvPr id="21" name="Text 16"/>
          <p:cNvSpPr txBox="1"/>
          <p:nvPr/>
        </p:nvSpPr>
        <p:spPr>
          <a:xfrm>
            <a:off x="8859317" y="1764792"/>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Orlando, ABD · 2015–2017</a:t>
            </a:r>
            <a:endParaRPr lang="en-US" sz="1100" dirty="0"/>
          </a:p>
        </p:txBody>
      </p:sp>
      <p:sp>
        <p:nvSpPr>
          <p:cNvPr id="22" name="Text 17"/>
          <p:cNvSpPr txBox="1"/>
          <p:nvPr/>
        </p:nvSpPr>
        <p:spPr>
          <a:xfrm>
            <a:off x="8859317" y="2002536"/>
            <a:ext cx="2600858" cy="274320"/>
          </a:xfrm>
          <a:prstGeom prst="rect">
            <a:avLst/>
          </a:prstGeom>
          <a:noFill/>
          <a:ln/>
        </p:spPr>
        <p:txBody>
          <a:bodyPr wrap="square" lIns="0" tIns="0" rIns="0" bIns="0" rtlCol="0" anchor="t"/>
          <a:lstStyle/>
          <a:p>
            <a:pPr indent="0" marL="0">
              <a:buNone/>
            </a:pPr>
            <a:r>
              <a:rPr lang="en-US" sz="1400" b="1" dirty="0">
                <a:solidFill>
                  <a:schemeClr val="tx2"/>
                </a:solidFill>
              </a:rPr>
              <a:t>Lake Nona okulları</a:t>
            </a:r>
            <a:endParaRPr lang="en-US" sz="1400" dirty="0"/>
          </a:p>
        </p:txBody>
      </p:sp>
      <p:sp>
        <p:nvSpPr>
          <p:cNvPr id="23" name="Text 18"/>
          <p:cNvSpPr txBox="1"/>
          <p:nvPr/>
        </p:nvSpPr>
        <p:spPr>
          <a:xfrm>
            <a:off x="8310677" y="2368296"/>
            <a:ext cx="3149498" cy="749808"/>
          </a:xfrm>
          <a:prstGeom prst="rect">
            <a:avLst/>
          </a:prstGeom>
          <a:noFill/>
          <a:ln/>
        </p:spPr>
        <p:txBody>
          <a:bodyPr wrap="square" lIns="0" tIns="0" rIns="0" bIns="0" rtlCol="0" anchor="t"/>
          <a:lstStyle/>
          <a:p>
            <a:pPr indent="0" marL="0">
              <a:buNone/>
            </a:pPr>
            <a:r>
              <a:rPr lang="en-US" sz="1300" dirty="0">
                <a:solidFill>
                  <a:schemeClr val="tx1"/>
                </a:solidFill>
              </a:rPr>
              <a:t>786 öğrenci kapasiteli Eagle Creek İlkokulu'nda öğrenci sayısı ~1.000'e ulaştı</a:t>
            </a:r>
            <a:endParaRPr lang="en-US" sz="1300" dirty="0"/>
          </a:p>
        </p:txBody>
      </p:sp>
      <p:sp>
        <p:nvSpPr>
          <p:cNvPr id="24" name="Text 19"/>
          <p:cNvSpPr txBox="1"/>
          <p:nvPr/>
        </p:nvSpPr>
        <p:spPr>
          <a:xfrm>
            <a:off x="8310677" y="3118104"/>
            <a:ext cx="3149498" cy="502920"/>
          </a:xfrm>
          <a:prstGeom prst="rect">
            <a:avLst/>
          </a:prstGeom>
          <a:noFill/>
          <a:ln/>
        </p:spPr>
        <p:txBody>
          <a:bodyPr wrap="square" lIns="0" tIns="0" rIns="0" bIns="0" rtlCol="0" anchor="t"/>
          <a:lstStyle/>
          <a:p>
            <a:pPr indent="0" marL="0">
              <a:buNone/>
            </a:pPr>
            <a:r>
              <a:rPr lang="en-US" sz="1250" b="1" dirty="0">
                <a:solidFill>
                  <a:schemeClr val="tx2"/>
                </a:solidFill>
              </a:rPr>
              <a:t>Okul kapasitesi modüler ve genişletilebilir olmalı</a:t>
            </a:r>
            <a:endParaRPr lang="en-US" sz="1250" dirty="0"/>
          </a:p>
        </p:txBody>
      </p:sp>
      <p:sp>
        <p:nvSpPr>
          <p:cNvPr id="25" name="Kart"/>
          <p:cNvSpPr/>
          <p:nvPr/>
        </p:nvSpPr>
        <p:spPr>
          <a:xfrm>
            <a:off x="548640" y="3867912"/>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26" name="İkon zemini"/>
          <p:cNvSpPr/>
          <p:nvPr/>
        </p:nvSpPr>
        <p:spPr>
          <a:xfrm>
            <a:off x="731520" y="4050792"/>
            <a:ext cx="438912" cy="438912"/>
          </a:xfrm>
          <a:prstGeom prst="ellipse">
            <a:avLst/>
          </a:prstGeom>
          <a:solidFill>
            <a:schemeClr val="accent2"/>
          </a:solidFill>
          <a:ln/>
        </p:spPr>
      </p:sp>
      <p:pic>
        <p:nvPicPr>
          <p:cNvPr id="27" name="İkon FaSchool" descr="preencoded.png">    </p:cNvPr>
          <p:cNvPicPr>
            <a:picLocks noChangeAspect="1"/>
          </p:cNvPicPr>
          <p:nvPr/>
        </p:nvPicPr>
        <p:blipFill>
          <a:blip r:embed="rId4"/>
          <a:stretch>
            <a:fillRect/>
          </a:stretch>
        </p:blipFill>
        <p:spPr>
          <a:xfrm>
            <a:off x="836859" y="4156131"/>
            <a:ext cx="228234" cy="228234"/>
          </a:xfrm>
          <a:prstGeom prst="rect">
            <a:avLst/>
          </a:prstGeom>
        </p:spPr>
      </p:pic>
      <p:sp>
        <p:nvSpPr>
          <p:cNvPr id="28" name="Text 22"/>
          <p:cNvSpPr txBox="1"/>
          <p:nvPr/>
        </p:nvSpPr>
        <p:spPr>
          <a:xfrm>
            <a:off x="1280160" y="4032504"/>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Sejong, Güney Kore · 2020</a:t>
            </a:r>
            <a:endParaRPr lang="en-US" sz="1100" dirty="0"/>
          </a:p>
        </p:txBody>
      </p:sp>
      <p:sp>
        <p:nvSpPr>
          <p:cNvPr id="29" name="Text 23"/>
          <p:cNvSpPr txBox="1"/>
          <p:nvPr/>
        </p:nvSpPr>
        <p:spPr>
          <a:xfrm>
            <a:off x="1280160" y="4270248"/>
            <a:ext cx="2600858" cy="274320"/>
          </a:xfrm>
          <a:prstGeom prst="rect">
            <a:avLst/>
          </a:prstGeom>
          <a:noFill/>
          <a:ln/>
        </p:spPr>
        <p:txBody>
          <a:bodyPr wrap="square" lIns="0" tIns="0" rIns="0" bIns="0" rtlCol="0" anchor="t"/>
          <a:lstStyle/>
          <a:p>
            <a:pPr indent="0" marL="0">
              <a:buNone/>
            </a:pPr>
            <a:r>
              <a:rPr lang="en-US" sz="1400" b="1" dirty="0">
                <a:solidFill>
                  <a:schemeClr val="tx2"/>
                </a:solidFill>
              </a:rPr>
              <a:t>Kamu anaokulu ve aile politikası</a:t>
            </a:r>
            <a:endParaRPr lang="en-US" sz="1400" dirty="0"/>
          </a:p>
        </p:txBody>
      </p:sp>
      <p:sp>
        <p:nvSpPr>
          <p:cNvPr id="30" name="Text 24"/>
          <p:cNvSpPr txBox="1"/>
          <p:nvPr/>
        </p:nvSpPr>
        <p:spPr>
          <a:xfrm>
            <a:off x="731520" y="4636008"/>
            <a:ext cx="3149498" cy="749808"/>
          </a:xfrm>
          <a:prstGeom prst="rect">
            <a:avLst/>
          </a:prstGeom>
          <a:noFill/>
          <a:ln/>
        </p:spPr>
        <p:txBody>
          <a:bodyPr wrap="square" lIns="0" tIns="0" rIns="0" bIns="0" rtlCol="0" anchor="t"/>
          <a:lstStyle/>
          <a:p>
            <a:pPr indent="0" marL="0">
              <a:buNone/>
            </a:pPr>
            <a:r>
              <a:rPr lang="en-US" sz="1300" dirty="0">
                <a:solidFill>
                  <a:schemeClr val="tx1"/>
                </a:solidFill>
              </a:rPr>
              <a:t>Anaokullarının %96,7'si devlet okulu; doğurganlık hızı 1,28 (Seul 0,64)</a:t>
            </a:r>
            <a:endParaRPr lang="en-US" sz="1300" dirty="0"/>
          </a:p>
        </p:txBody>
      </p:sp>
      <p:sp>
        <p:nvSpPr>
          <p:cNvPr id="31" name="Text 25"/>
          <p:cNvSpPr txBox="1"/>
          <p:nvPr/>
        </p:nvSpPr>
        <p:spPr>
          <a:xfrm>
            <a:off x="731520" y="5385816"/>
            <a:ext cx="3149498" cy="502920"/>
          </a:xfrm>
          <a:prstGeom prst="rect">
            <a:avLst/>
          </a:prstGeom>
          <a:noFill/>
          <a:ln/>
        </p:spPr>
        <p:txBody>
          <a:bodyPr wrap="square" lIns="0" tIns="0" rIns="0" bIns="0" rtlCol="0" anchor="t"/>
          <a:lstStyle/>
          <a:p>
            <a:pPr indent="0" marL="0">
              <a:buNone/>
            </a:pPr>
            <a:r>
              <a:rPr lang="en-US" sz="1250" b="1" dirty="0">
                <a:solidFill>
                  <a:schemeClr val="tx2"/>
                </a:solidFill>
              </a:rPr>
              <a:t>Erişilebilir kamu anaokulu aileleri yerleşime bağlar</a:t>
            </a:r>
            <a:endParaRPr lang="en-US" sz="1250" dirty="0"/>
          </a:p>
        </p:txBody>
      </p:sp>
      <p:sp>
        <p:nvSpPr>
          <p:cNvPr id="32" name="Kart"/>
          <p:cNvSpPr/>
          <p:nvPr/>
        </p:nvSpPr>
        <p:spPr>
          <a:xfrm>
            <a:off x="4338218" y="3867912"/>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33" name="İkon zemini"/>
          <p:cNvSpPr/>
          <p:nvPr/>
        </p:nvSpPr>
        <p:spPr>
          <a:xfrm>
            <a:off x="4521098" y="4050792"/>
            <a:ext cx="438912" cy="438912"/>
          </a:xfrm>
          <a:prstGeom prst="ellipse">
            <a:avLst/>
          </a:prstGeom>
          <a:solidFill>
            <a:schemeClr val="accent2"/>
          </a:solidFill>
          <a:ln/>
        </p:spPr>
      </p:sp>
      <p:pic>
        <p:nvPicPr>
          <p:cNvPr id="34" name="İkon FaSchool" descr="preencoded.png">    </p:cNvPr>
          <p:cNvPicPr>
            <a:picLocks noChangeAspect="1"/>
          </p:cNvPicPr>
          <p:nvPr/>
        </p:nvPicPr>
        <p:blipFill>
          <a:blip r:embed="rId5"/>
          <a:stretch>
            <a:fillRect/>
          </a:stretch>
        </p:blipFill>
        <p:spPr>
          <a:xfrm>
            <a:off x="4626437" y="4156131"/>
            <a:ext cx="228234" cy="228234"/>
          </a:xfrm>
          <a:prstGeom prst="rect">
            <a:avLst/>
          </a:prstGeom>
        </p:spPr>
      </p:pic>
      <p:sp>
        <p:nvSpPr>
          <p:cNvPr id="35" name="Text 28"/>
          <p:cNvSpPr txBox="1"/>
          <p:nvPr/>
        </p:nvSpPr>
        <p:spPr>
          <a:xfrm>
            <a:off x="5069738" y="4032504"/>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Konya, Türkiye · 2021</a:t>
            </a:r>
            <a:endParaRPr lang="en-US" sz="1100" dirty="0"/>
          </a:p>
        </p:txBody>
      </p:sp>
      <p:sp>
        <p:nvSpPr>
          <p:cNvPr id="36" name="Text 29"/>
          <p:cNvSpPr txBox="1"/>
          <p:nvPr/>
        </p:nvSpPr>
        <p:spPr>
          <a:xfrm>
            <a:off x="5069738" y="4270248"/>
            <a:ext cx="2600858" cy="274320"/>
          </a:xfrm>
          <a:prstGeom prst="rect">
            <a:avLst/>
          </a:prstGeom>
          <a:noFill/>
          <a:ln/>
        </p:spPr>
        <p:txBody>
          <a:bodyPr wrap="square" lIns="0" tIns="0" rIns="0" bIns="0" rtlCol="0" anchor="t"/>
          <a:lstStyle/>
          <a:p>
            <a:pPr indent="0" marL="0">
              <a:buNone/>
            </a:pPr>
            <a:r>
              <a:rPr lang="en-US" sz="1400" b="1" dirty="0">
                <a:solidFill>
                  <a:schemeClr val="tx2"/>
                </a:solidFill>
              </a:rPr>
              <a:t>ASELSAN Konya MTAL</a:t>
            </a:r>
            <a:endParaRPr lang="en-US" sz="1400" dirty="0"/>
          </a:p>
        </p:txBody>
      </p:sp>
      <p:sp>
        <p:nvSpPr>
          <p:cNvPr id="37" name="Text 30"/>
          <p:cNvSpPr txBox="1"/>
          <p:nvPr/>
        </p:nvSpPr>
        <p:spPr>
          <a:xfrm>
            <a:off x="4521098" y="4636008"/>
            <a:ext cx="3149498" cy="749808"/>
          </a:xfrm>
          <a:prstGeom prst="rect">
            <a:avLst/>
          </a:prstGeom>
          <a:noFill/>
          <a:ln/>
        </p:spPr>
        <p:txBody>
          <a:bodyPr wrap="square" lIns="0" tIns="0" rIns="0" bIns="0" rtlCol="0" anchor="t"/>
          <a:lstStyle/>
          <a:p>
            <a:pPr indent="0" marL="0">
              <a:buNone/>
            </a:pPr>
            <a:r>
              <a:rPr lang="en-US" sz="1300" dirty="0">
                <a:solidFill>
                  <a:schemeClr val="tx1"/>
                </a:solidFill>
              </a:rPr>
              <a:t>170 öğrenci; sınavda ilk %1'den öğrenci; atölye ve bilgisayar laboratuvarını firma donattı</a:t>
            </a:r>
            <a:endParaRPr lang="en-US" sz="1300" dirty="0"/>
          </a:p>
        </p:txBody>
      </p:sp>
      <p:sp>
        <p:nvSpPr>
          <p:cNvPr id="38" name="Text 31"/>
          <p:cNvSpPr txBox="1"/>
          <p:nvPr/>
        </p:nvSpPr>
        <p:spPr>
          <a:xfrm>
            <a:off x="4521098" y="5385816"/>
            <a:ext cx="3149498" cy="502920"/>
          </a:xfrm>
          <a:prstGeom prst="rect">
            <a:avLst/>
          </a:prstGeom>
          <a:noFill/>
          <a:ln/>
        </p:spPr>
        <p:txBody>
          <a:bodyPr wrap="square" lIns="0" tIns="0" rIns="0" bIns="0" rtlCol="0" anchor="t"/>
          <a:lstStyle/>
          <a:p>
            <a:pPr indent="0" marL="0">
              <a:buNone/>
            </a:pPr>
            <a:r>
              <a:rPr lang="en-US" sz="1250" b="1" dirty="0">
                <a:solidFill>
                  <a:schemeClr val="tx2"/>
                </a:solidFill>
              </a:rPr>
              <a:t>Firma–MEB protokolüyle staj, burs ve atölye sağlanır</a:t>
            </a:r>
            <a:endParaRPr lang="en-US" sz="1250" dirty="0"/>
          </a:p>
        </p:txBody>
      </p:sp>
      <p:sp>
        <p:nvSpPr>
          <p:cNvPr id="39" name="Text 3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araştırma notları (kurum, akademik ve basın kaynakları). Örnek fotoğrafları telif nedeniyle kullanılmamıştır.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DÜNYADAN UYGULAMALAR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Sağlık, sosyal yaşam ve göl yönetimi</a:t>
            </a:r>
            <a:endParaRPr lang="en-US" sz="3600" dirty="0"/>
          </a:p>
        </p:txBody>
      </p:sp>
      <p:sp>
        <p:nvSpPr>
          <p:cNvPr id="4" name="Kart"/>
          <p:cNvSpPr/>
          <p:nvPr/>
        </p:nvSpPr>
        <p:spPr>
          <a:xfrm>
            <a:off x="548640" y="1600200"/>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31520" y="1783080"/>
            <a:ext cx="438912" cy="438912"/>
          </a:xfrm>
          <a:prstGeom prst="ellipse">
            <a:avLst/>
          </a:prstGeom>
          <a:solidFill>
            <a:schemeClr val="accent2"/>
          </a:solidFill>
          <a:ln/>
        </p:spPr>
      </p:sp>
      <p:pic>
        <p:nvPicPr>
          <p:cNvPr id="6" name="İkon FaHeartPulse" descr="preencoded.png">    </p:cNvPr>
          <p:cNvPicPr>
            <a:picLocks noChangeAspect="1"/>
          </p:cNvPicPr>
          <p:nvPr/>
        </p:nvPicPr>
        <p:blipFill>
          <a:blip r:embed="rId1"/>
          <a:stretch>
            <a:fillRect/>
          </a:stretch>
        </p:blipFill>
        <p:spPr>
          <a:xfrm>
            <a:off x="836859" y="1888419"/>
            <a:ext cx="228234" cy="228234"/>
          </a:xfrm>
          <a:prstGeom prst="rect">
            <a:avLst/>
          </a:prstGeom>
        </p:spPr>
      </p:pic>
      <p:sp>
        <p:nvSpPr>
          <p:cNvPr id="7" name="Text 4"/>
          <p:cNvSpPr txBox="1"/>
          <p:nvPr/>
        </p:nvSpPr>
        <p:spPr>
          <a:xfrm>
            <a:off x="1280160" y="1764792"/>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Sejong, Güney Kore · 2024</a:t>
            </a:r>
            <a:endParaRPr lang="en-US" sz="1100" dirty="0"/>
          </a:p>
        </p:txBody>
      </p:sp>
      <p:sp>
        <p:nvSpPr>
          <p:cNvPr id="8" name="Text 5"/>
          <p:cNvSpPr txBox="1"/>
          <p:nvPr/>
        </p:nvSpPr>
        <p:spPr>
          <a:xfrm>
            <a:off x="1280160" y="2002536"/>
            <a:ext cx="2600858" cy="274320"/>
          </a:xfrm>
          <a:prstGeom prst="rect">
            <a:avLst/>
          </a:prstGeom>
          <a:noFill/>
          <a:ln/>
        </p:spPr>
        <p:txBody>
          <a:bodyPr wrap="square" lIns="0" tIns="0" rIns="0" bIns="0" rtlCol="0" anchor="t"/>
          <a:lstStyle/>
          <a:p>
            <a:pPr indent="0" marL="0">
              <a:buNone/>
            </a:pPr>
            <a:r>
              <a:rPr lang="en-US" sz="1400" b="1" dirty="0">
                <a:solidFill>
                  <a:schemeClr val="tx2"/>
                </a:solidFill>
              </a:rPr>
              <a:t>Tek acil tıp merkezi</a:t>
            </a:r>
            <a:endParaRPr lang="en-US" sz="1400" dirty="0"/>
          </a:p>
        </p:txBody>
      </p:sp>
      <p:sp>
        <p:nvSpPr>
          <p:cNvPr id="9" name="Text 6"/>
          <p:cNvSpPr txBox="1"/>
          <p:nvPr/>
        </p:nvSpPr>
        <p:spPr>
          <a:xfrm>
            <a:off x="731520" y="2368296"/>
            <a:ext cx="3149498" cy="749808"/>
          </a:xfrm>
          <a:prstGeom prst="rect">
            <a:avLst/>
          </a:prstGeom>
          <a:noFill/>
          <a:ln/>
        </p:spPr>
        <p:txBody>
          <a:bodyPr wrap="square" lIns="0" tIns="0" rIns="0" bIns="0" rtlCol="0" anchor="t"/>
          <a:lstStyle/>
          <a:p>
            <a:pPr indent="0" marL="0">
              <a:buNone/>
            </a:pPr>
            <a:r>
              <a:rPr lang="en-US" sz="1300" dirty="0">
                <a:solidFill>
                  <a:schemeClr val="tx1"/>
                </a:solidFill>
              </a:rPr>
              <a:t>Şehrin tek acil merkezi 1 Eylül 2024'te gece yetişkin hizmetini durdurdu</a:t>
            </a:r>
            <a:endParaRPr lang="en-US" sz="1300" dirty="0"/>
          </a:p>
        </p:txBody>
      </p:sp>
      <p:sp>
        <p:nvSpPr>
          <p:cNvPr id="10" name="Text 7"/>
          <p:cNvSpPr txBox="1"/>
          <p:nvPr/>
        </p:nvSpPr>
        <p:spPr>
          <a:xfrm>
            <a:off x="731520" y="3118104"/>
            <a:ext cx="3149498" cy="502920"/>
          </a:xfrm>
          <a:prstGeom prst="rect">
            <a:avLst/>
          </a:prstGeom>
          <a:noFill/>
          <a:ln/>
        </p:spPr>
        <p:txBody>
          <a:bodyPr wrap="square" lIns="0" tIns="0" rIns="0" bIns="0" rtlCol="0" anchor="t"/>
          <a:lstStyle/>
          <a:p>
            <a:pPr indent="0" marL="0">
              <a:buNone/>
            </a:pPr>
            <a:r>
              <a:rPr lang="en-US" sz="1250" b="1" dirty="0">
                <a:solidFill>
                  <a:schemeClr val="tx2"/>
                </a:solidFill>
              </a:rPr>
              <a:t>Acil erişim için bölgesel yedek ağ güvenceye alınmalı</a:t>
            </a:r>
            <a:endParaRPr lang="en-US" sz="1250" dirty="0"/>
          </a:p>
        </p:txBody>
      </p:sp>
      <p:sp>
        <p:nvSpPr>
          <p:cNvPr id="11" name="Kart"/>
          <p:cNvSpPr/>
          <p:nvPr/>
        </p:nvSpPr>
        <p:spPr>
          <a:xfrm>
            <a:off x="4338218" y="1600200"/>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12" name="İkon zemini"/>
          <p:cNvSpPr/>
          <p:nvPr/>
        </p:nvSpPr>
        <p:spPr>
          <a:xfrm>
            <a:off x="4521098" y="1783080"/>
            <a:ext cx="438912" cy="438912"/>
          </a:xfrm>
          <a:prstGeom prst="ellipse">
            <a:avLst/>
          </a:prstGeom>
          <a:solidFill>
            <a:schemeClr val="accent2"/>
          </a:solidFill>
          <a:ln/>
        </p:spPr>
      </p:sp>
      <p:pic>
        <p:nvPicPr>
          <p:cNvPr id="13" name="İkon FaHeartPulse" descr="preencoded.png">    </p:cNvPr>
          <p:cNvPicPr>
            <a:picLocks noChangeAspect="1"/>
          </p:cNvPicPr>
          <p:nvPr/>
        </p:nvPicPr>
        <p:blipFill>
          <a:blip r:embed="rId2"/>
          <a:stretch>
            <a:fillRect/>
          </a:stretch>
        </p:blipFill>
        <p:spPr>
          <a:xfrm>
            <a:off x="4626437" y="1888419"/>
            <a:ext cx="228234" cy="228234"/>
          </a:xfrm>
          <a:prstGeom prst="rect">
            <a:avLst/>
          </a:prstGeom>
        </p:spPr>
      </p:pic>
      <p:sp>
        <p:nvSpPr>
          <p:cNvPr id="14" name="Text 10"/>
          <p:cNvSpPr txBox="1"/>
          <p:nvPr/>
        </p:nvSpPr>
        <p:spPr>
          <a:xfrm>
            <a:off x="5069738" y="1764792"/>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Orlando, ABD · 2012</a:t>
            </a:r>
            <a:endParaRPr lang="en-US" sz="1100" dirty="0"/>
          </a:p>
        </p:txBody>
      </p:sp>
      <p:sp>
        <p:nvSpPr>
          <p:cNvPr id="15" name="Text 11"/>
          <p:cNvSpPr txBox="1"/>
          <p:nvPr/>
        </p:nvSpPr>
        <p:spPr>
          <a:xfrm>
            <a:off x="5069738" y="2002536"/>
            <a:ext cx="2600858" cy="274320"/>
          </a:xfrm>
          <a:prstGeom prst="rect">
            <a:avLst/>
          </a:prstGeom>
          <a:noFill/>
          <a:ln/>
        </p:spPr>
        <p:txBody>
          <a:bodyPr wrap="square" lIns="0" tIns="0" rIns="0" bIns="0" rtlCol="0" anchor="t"/>
          <a:lstStyle/>
          <a:p>
            <a:pPr indent="0" marL="0">
              <a:buNone/>
            </a:pPr>
            <a:r>
              <a:rPr lang="en-US" sz="1400" b="1" dirty="0">
                <a:solidFill>
                  <a:schemeClr val="tx2"/>
                </a:solidFill>
              </a:rPr>
              <a:t>Nemours Çocuk Hastanesi</a:t>
            </a:r>
            <a:endParaRPr lang="en-US" sz="1400" dirty="0"/>
          </a:p>
        </p:txBody>
      </p:sp>
      <p:sp>
        <p:nvSpPr>
          <p:cNvPr id="16" name="Text 12"/>
          <p:cNvSpPr txBox="1"/>
          <p:nvPr/>
        </p:nvSpPr>
        <p:spPr>
          <a:xfrm>
            <a:off x="4521098" y="2368296"/>
            <a:ext cx="3149498" cy="749808"/>
          </a:xfrm>
          <a:prstGeom prst="rect">
            <a:avLst/>
          </a:prstGeom>
          <a:noFill/>
          <a:ln/>
        </p:spPr>
        <p:txBody>
          <a:bodyPr wrap="square" lIns="0" tIns="0" rIns="0" bIns="0" rtlCol="0" anchor="t"/>
          <a:lstStyle/>
          <a:p>
            <a:pPr indent="0" marL="0">
              <a:buNone/>
            </a:pPr>
            <a:r>
              <a:rPr lang="en-US" sz="1300" dirty="0">
                <a:solidFill>
                  <a:schemeClr val="tx1"/>
                </a:solidFill>
              </a:rPr>
              <a:t>397 milyon USD'lik hastane 95 yatakla açıldı; birinci basamak merkezi ayrıca kuruldu</a:t>
            </a:r>
            <a:endParaRPr lang="en-US" sz="1300" dirty="0"/>
          </a:p>
        </p:txBody>
      </p:sp>
      <p:sp>
        <p:nvSpPr>
          <p:cNvPr id="17" name="Text 13"/>
          <p:cNvSpPr txBox="1"/>
          <p:nvPr/>
        </p:nvSpPr>
        <p:spPr>
          <a:xfrm>
            <a:off x="4521098" y="3118104"/>
            <a:ext cx="3149498" cy="502920"/>
          </a:xfrm>
          <a:prstGeom prst="rect">
            <a:avLst/>
          </a:prstGeom>
          <a:noFill/>
          <a:ln/>
        </p:spPr>
        <p:txBody>
          <a:bodyPr wrap="square" lIns="0" tIns="0" rIns="0" bIns="0" rtlCol="0" anchor="t"/>
          <a:lstStyle/>
          <a:p>
            <a:pPr indent="0" marL="0">
              <a:buNone/>
            </a:pPr>
            <a:r>
              <a:rPr lang="en-US" sz="1250" b="1" dirty="0">
                <a:solidFill>
                  <a:schemeClr val="tx2"/>
                </a:solidFill>
              </a:rPr>
              <a:t>Birinci basamak yerleşimde, hastane bölgede kurgulanır</a:t>
            </a:r>
            <a:endParaRPr lang="en-US" sz="1250" dirty="0"/>
          </a:p>
        </p:txBody>
      </p:sp>
      <p:sp>
        <p:nvSpPr>
          <p:cNvPr id="18" name="Kart"/>
          <p:cNvSpPr/>
          <p:nvPr/>
        </p:nvSpPr>
        <p:spPr>
          <a:xfrm>
            <a:off x="8127797" y="1600200"/>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19" name="İkon zemini"/>
          <p:cNvSpPr/>
          <p:nvPr/>
        </p:nvSpPr>
        <p:spPr>
          <a:xfrm>
            <a:off x="8310677" y="1783080"/>
            <a:ext cx="438912" cy="438912"/>
          </a:xfrm>
          <a:prstGeom prst="ellipse">
            <a:avLst/>
          </a:prstGeom>
          <a:solidFill>
            <a:schemeClr val="accent2"/>
          </a:solidFill>
          <a:ln/>
        </p:spPr>
      </p:sp>
      <p:pic>
        <p:nvPicPr>
          <p:cNvPr id="20" name="İkon FaHeartPulse" descr="preencoded.png">    </p:cNvPr>
          <p:cNvPicPr>
            <a:picLocks noChangeAspect="1"/>
          </p:cNvPicPr>
          <p:nvPr/>
        </p:nvPicPr>
        <p:blipFill>
          <a:blip r:embed="rId3"/>
          <a:stretch>
            <a:fillRect/>
          </a:stretch>
        </p:blipFill>
        <p:spPr>
          <a:xfrm>
            <a:off x="8416016" y="1888419"/>
            <a:ext cx="228234" cy="228234"/>
          </a:xfrm>
          <a:prstGeom prst="rect">
            <a:avLst/>
          </a:prstGeom>
        </p:spPr>
      </p:pic>
      <p:sp>
        <p:nvSpPr>
          <p:cNvPr id="21" name="Text 16"/>
          <p:cNvSpPr txBox="1"/>
          <p:nvPr/>
        </p:nvSpPr>
        <p:spPr>
          <a:xfrm>
            <a:off x="8859317" y="1764792"/>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Helsinki, Finlandiya · 2024</a:t>
            </a:r>
            <a:endParaRPr lang="en-US" sz="1100" dirty="0"/>
          </a:p>
        </p:txBody>
      </p:sp>
      <p:sp>
        <p:nvSpPr>
          <p:cNvPr id="22" name="Text 17"/>
          <p:cNvSpPr txBox="1"/>
          <p:nvPr/>
        </p:nvSpPr>
        <p:spPr>
          <a:xfrm>
            <a:off x="8859317" y="2002536"/>
            <a:ext cx="2600858" cy="274320"/>
          </a:xfrm>
          <a:prstGeom prst="rect">
            <a:avLst/>
          </a:prstGeom>
          <a:noFill/>
          <a:ln/>
        </p:spPr>
        <p:txBody>
          <a:bodyPr wrap="square" lIns="0" tIns="0" rIns="0" bIns="0" rtlCol="0" anchor="t"/>
          <a:lstStyle/>
          <a:p>
            <a:pPr indent="0" marL="0">
              <a:buNone/>
            </a:pPr>
            <a:r>
              <a:rPr lang="en-US" sz="1400" b="1" dirty="0">
                <a:solidFill>
                  <a:schemeClr val="tx2"/>
                </a:solidFill>
              </a:rPr>
              <a:t>Oodi Merkez Kütüphanesi</a:t>
            </a:r>
            <a:endParaRPr lang="en-US" sz="1400" dirty="0"/>
          </a:p>
        </p:txBody>
      </p:sp>
      <p:sp>
        <p:nvSpPr>
          <p:cNvPr id="23" name="Text 18"/>
          <p:cNvSpPr txBox="1"/>
          <p:nvPr/>
        </p:nvSpPr>
        <p:spPr>
          <a:xfrm>
            <a:off x="8310677" y="2368296"/>
            <a:ext cx="3149498" cy="749808"/>
          </a:xfrm>
          <a:prstGeom prst="rect">
            <a:avLst/>
          </a:prstGeom>
          <a:noFill/>
          <a:ln/>
        </p:spPr>
        <p:txBody>
          <a:bodyPr wrap="square" lIns="0" tIns="0" rIns="0" bIns="0" rtlCol="0" anchor="t"/>
          <a:lstStyle/>
          <a:p>
            <a:pPr indent="0" marL="0">
              <a:buNone/>
            </a:pPr>
            <a:r>
              <a:rPr lang="en-US" sz="1300" dirty="0">
                <a:solidFill>
                  <a:schemeClr val="tx1"/>
                </a:solidFill>
              </a:rPr>
              <a:t>Oodi ilk yılında 2.877.560 ziyaret aldı; kent kütüphaneleri 2024'te 9,2 milyon ziyaret</a:t>
            </a:r>
            <a:endParaRPr lang="en-US" sz="1300" dirty="0"/>
          </a:p>
        </p:txBody>
      </p:sp>
      <p:sp>
        <p:nvSpPr>
          <p:cNvPr id="24" name="Text 19"/>
          <p:cNvSpPr txBox="1"/>
          <p:nvPr/>
        </p:nvSpPr>
        <p:spPr>
          <a:xfrm>
            <a:off x="8310677" y="3118104"/>
            <a:ext cx="3149498" cy="502920"/>
          </a:xfrm>
          <a:prstGeom prst="rect">
            <a:avLst/>
          </a:prstGeom>
          <a:noFill/>
          <a:ln/>
        </p:spPr>
        <p:txBody>
          <a:bodyPr wrap="square" lIns="0" tIns="0" rIns="0" bIns="0" rtlCol="0" anchor="t"/>
          <a:lstStyle/>
          <a:p>
            <a:pPr indent="0" marL="0">
              <a:buNone/>
            </a:pPr>
            <a:r>
              <a:rPr lang="en-US" sz="1250" b="1" dirty="0">
                <a:solidFill>
                  <a:schemeClr val="tx2"/>
                </a:solidFill>
              </a:rPr>
              <a:t>Kütüphane mahallenin buluşma mekânı olarak tasarlanmalı</a:t>
            </a:r>
            <a:endParaRPr lang="en-US" sz="1250" dirty="0"/>
          </a:p>
        </p:txBody>
      </p:sp>
      <p:sp>
        <p:nvSpPr>
          <p:cNvPr id="25" name="Kart"/>
          <p:cNvSpPr/>
          <p:nvPr/>
        </p:nvSpPr>
        <p:spPr>
          <a:xfrm>
            <a:off x="548640" y="3867912"/>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26" name="İkon zemini"/>
          <p:cNvSpPr/>
          <p:nvPr/>
        </p:nvSpPr>
        <p:spPr>
          <a:xfrm>
            <a:off x="731520" y="4050792"/>
            <a:ext cx="438912" cy="438912"/>
          </a:xfrm>
          <a:prstGeom prst="ellipse">
            <a:avLst/>
          </a:prstGeom>
          <a:solidFill>
            <a:schemeClr val="accent2"/>
          </a:solidFill>
          <a:ln/>
        </p:spPr>
      </p:sp>
      <p:pic>
        <p:nvPicPr>
          <p:cNvPr id="27" name="İkon FaHeartPulse" descr="preencoded.png">    </p:cNvPr>
          <p:cNvPicPr>
            <a:picLocks noChangeAspect="1"/>
          </p:cNvPicPr>
          <p:nvPr/>
        </p:nvPicPr>
        <p:blipFill>
          <a:blip r:embed="rId4"/>
          <a:stretch>
            <a:fillRect/>
          </a:stretch>
        </p:blipFill>
        <p:spPr>
          <a:xfrm>
            <a:off x="836859" y="4156131"/>
            <a:ext cx="228234" cy="228234"/>
          </a:xfrm>
          <a:prstGeom prst="rect">
            <a:avLst/>
          </a:prstGeom>
        </p:spPr>
      </p:pic>
      <p:sp>
        <p:nvSpPr>
          <p:cNvPr id="28" name="Text 22"/>
          <p:cNvSpPr txBox="1"/>
          <p:nvPr/>
        </p:nvSpPr>
        <p:spPr>
          <a:xfrm>
            <a:off x="1280160" y="4032504"/>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Canberra, Avustralya · 1974</a:t>
            </a:r>
            <a:endParaRPr lang="en-US" sz="1100" dirty="0"/>
          </a:p>
        </p:txBody>
      </p:sp>
      <p:sp>
        <p:nvSpPr>
          <p:cNvPr id="29" name="Text 23"/>
          <p:cNvSpPr txBox="1"/>
          <p:nvPr/>
        </p:nvSpPr>
        <p:spPr>
          <a:xfrm>
            <a:off x="1280160" y="4270248"/>
            <a:ext cx="2600858" cy="274320"/>
          </a:xfrm>
          <a:prstGeom prst="rect">
            <a:avLst/>
          </a:prstGeom>
          <a:noFill/>
          <a:ln/>
        </p:spPr>
        <p:txBody>
          <a:bodyPr wrap="square" lIns="0" tIns="0" rIns="0" bIns="0" rtlCol="0" anchor="t"/>
          <a:lstStyle/>
          <a:p>
            <a:pPr indent="0" marL="0">
              <a:buNone/>
            </a:pPr>
            <a:r>
              <a:rPr lang="en-US" sz="1400" b="1" dirty="0">
                <a:solidFill>
                  <a:schemeClr val="tx2"/>
                </a:solidFill>
              </a:rPr>
              <a:t>Lake Ginninderra</a:t>
            </a:r>
            <a:endParaRPr lang="en-US" sz="1400" dirty="0"/>
          </a:p>
        </p:txBody>
      </p:sp>
      <p:sp>
        <p:nvSpPr>
          <p:cNvPr id="30" name="Text 24"/>
          <p:cNvSpPr txBox="1"/>
          <p:nvPr/>
        </p:nvSpPr>
        <p:spPr>
          <a:xfrm>
            <a:off x="731520" y="4636008"/>
            <a:ext cx="3149498" cy="749808"/>
          </a:xfrm>
          <a:prstGeom prst="rect">
            <a:avLst/>
          </a:prstGeom>
          <a:noFill/>
          <a:ln/>
        </p:spPr>
        <p:txBody>
          <a:bodyPr wrap="square" lIns="0" tIns="0" rIns="0" bIns="0" rtlCol="0" anchor="t"/>
          <a:lstStyle/>
          <a:p>
            <a:pPr indent="0" marL="0">
              <a:buNone/>
            </a:pPr>
            <a:r>
              <a:rPr lang="en-US" sz="1300" dirty="0">
                <a:solidFill>
                  <a:schemeClr val="tx1"/>
                </a:solidFill>
              </a:rPr>
              <a:t>105 ha'lık göl çökeltme havuzu olarak tasarlandı; girişinde arıtma sulak alanı var</a:t>
            </a:r>
            <a:endParaRPr lang="en-US" sz="1300" dirty="0"/>
          </a:p>
        </p:txBody>
      </p:sp>
      <p:sp>
        <p:nvSpPr>
          <p:cNvPr id="31" name="Text 25"/>
          <p:cNvSpPr txBox="1"/>
          <p:nvPr/>
        </p:nvSpPr>
        <p:spPr>
          <a:xfrm>
            <a:off x="731520" y="5385816"/>
            <a:ext cx="3149498" cy="502920"/>
          </a:xfrm>
          <a:prstGeom prst="rect">
            <a:avLst/>
          </a:prstGeom>
          <a:noFill/>
          <a:ln/>
        </p:spPr>
        <p:txBody>
          <a:bodyPr wrap="square" lIns="0" tIns="0" rIns="0" bIns="0" rtlCol="0" anchor="t"/>
          <a:lstStyle/>
          <a:p>
            <a:pPr indent="0" marL="0">
              <a:buNone/>
            </a:pPr>
            <a:r>
              <a:rPr lang="en-US" sz="1250" b="1" dirty="0">
                <a:solidFill>
                  <a:schemeClr val="tx2"/>
                </a:solidFill>
              </a:rPr>
              <a:t>Göl girişinde çökeltim ve arıtma bandı gerekir</a:t>
            </a:r>
            <a:endParaRPr lang="en-US" sz="1250" dirty="0"/>
          </a:p>
        </p:txBody>
      </p:sp>
      <p:sp>
        <p:nvSpPr>
          <p:cNvPr id="32" name="Kart"/>
          <p:cNvSpPr/>
          <p:nvPr/>
        </p:nvSpPr>
        <p:spPr>
          <a:xfrm>
            <a:off x="4338218" y="3867912"/>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33" name="İkon zemini"/>
          <p:cNvSpPr/>
          <p:nvPr/>
        </p:nvSpPr>
        <p:spPr>
          <a:xfrm>
            <a:off x="4521098" y="4050792"/>
            <a:ext cx="438912" cy="438912"/>
          </a:xfrm>
          <a:prstGeom prst="ellipse">
            <a:avLst/>
          </a:prstGeom>
          <a:solidFill>
            <a:schemeClr val="accent2"/>
          </a:solidFill>
          <a:ln/>
        </p:spPr>
      </p:sp>
      <p:pic>
        <p:nvPicPr>
          <p:cNvPr id="34" name="İkon FaHeartPulse" descr="preencoded.png">    </p:cNvPr>
          <p:cNvPicPr>
            <a:picLocks noChangeAspect="1"/>
          </p:cNvPicPr>
          <p:nvPr/>
        </p:nvPicPr>
        <p:blipFill>
          <a:blip r:embed="rId5"/>
          <a:stretch>
            <a:fillRect/>
          </a:stretch>
        </p:blipFill>
        <p:spPr>
          <a:xfrm>
            <a:off x="4626437" y="4156131"/>
            <a:ext cx="228234" cy="228234"/>
          </a:xfrm>
          <a:prstGeom prst="rect">
            <a:avLst/>
          </a:prstGeom>
        </p:spPr>
      </p:pic>
      <p:sp>
        <p:nvSpPr>
          <p:cNvPr id="35" name="Text 28"/>
          <p:cNvSpPr txBox="1"/>
          <p:nvPr/>
        </p:nvSpPr>
        <p:spPr>
          <a:xfrm>
            <a:off x="5069738" y="4032504"/>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Milton Keynes, Birleşik Krallık · 1970'ler</a:t>
            </a:r>
            <a:endParaRPr lang="en-US" sz="1100" dirty="0"/>
          </a:p>
        </p:txBody>
      </p:sp>
      <p:sp>
        <p:nvSpPr>
          <p:cNvPr id="36" name="Text 29"/>
          <p:cNvSpPr txBox="1"/>
          <p:nvPr/>
        </p:nvSpPr>
        <p:spPr>
          <a:xfrm>
            <a:off x="5069738" y="4270248"/>
            <a:ext cx="2600858" cy="274320"/>
          </a:xfrm>
          <a:prstGeom prst="rect">
            <a:avLst/>
          </a:prstGeom>
          <a:noFill/>
          <a:ln/>
        </p:spPr>
        <p:txBody>
          <a:bodyPr wrap="square" lIns="0" tIns="0" rIns="0" bIns="0" rtlCol="0" anchor="t"/>
          <a:lstStyle/>
          <a:p>
            <a:pPr indent="0" marL="0">
              <a:buNone/>
            </a:pPr>
            <a:r>
              <a:rPr lang="en-US" sz="1400" b="1" dirty="0">
                <a:solidFill>
                  <a:schemeClr val="tx2"/>
                </a:solidFill>
              </a:rPr>
              <a:t>Willen Lake</a:t>
            </a:r>
            <a:endParaRPr lang="en-US" sz="1400" dirty="0"/>
          </a:p>
        </p:txBody>
      </p:sp>
      <p:sp>
        <p:nvSpPr>
          <p:cNvPr id="37" name="Text 30"/>
          <p:cNvSpPr txBox="1"/>
          <p:nvPr/>
        </p:nvSpPr>
        <p:spPr>
          <a:xfrm>
            <a:off x="4521098" y="4636008"/>
            <a:ext cx="3149498" cy="749808"/>
          </a:xfrm>
          <a:prstGeom prst="rect">
            <a:avLst/>
          </a:prstGeom>
          <a:noFill/>
          <a:ln/>
        </p:spPr>
        <p:txBody>
          <a:bodyPr wrap="square" lIns="0" tIns="0" rIns="0" bIns="0" rtlCol="0" anchor="t"/>
          <a:lstStyle/>
          <a:p>
            <a:pPr indent="0" marL="0">
              <a:buNone/>
            </a:pPr>
            <a:r>
              <a:rPr lang="en-US" sz="1300" dirty="0">
                <a:solidFill>
                  <a:schemeClr val="tx1"/>
                </a:solidFill>
              </a:rPr>
              <a:t>~40 ha dengeleme gölünü bir vakıf işletiyor; yılda 1 milyonu aşkın ziyaretçi (beyan)</a:t>
            </a:r>
            <a:endParaRPr lang="en-US" sz="1300" dirty="0"/>
          </a:p>
        </p:txBody>
      </p:sp>
      <p:sp>
        <p:nvSpPr>
          <p:cNvPr id="38" name="Text 31"/>
          <p:cNvSpPr txBox="1"/>
          <p:nvPr/>
        </p:nvSpPr>
        <p:spPr>
          <a:xfrm>
            <a:off x="4521098" y="5385816"/>
            <a:ext cx="3149498" cy="502920"/>
          </a:xfrm>
          <a:prstGeom prst="rect">
            <a:avLst/>
          </a:prstGeom>
          <a:noFill/>
          <a:ln/>
        </p:spPr>
        <p:txBody>
          <a:bodyPr wrap="square" lIns="0" tIns="0" rIns="0" bIns="0" rtlCol="0" anchor="t"/>
          <a:lstStyle/>
          <a:p>
            <a:pPr indent="0" marL="0">
              <a:buNone/>
            </a:pPr>
            <a:r>
              <a:rPr lang="en-US" sz="1250" b="1" dirty="0">
                <a:solidFill>
                  <a:schemeClr val="tx2"/>
                </a:solidFill>
              </a:rPr>
              <a:t>Göl ve park işletimi bağımsız bir yapıya verilebilir</a:t>
            </a:r>
            <a:endParaRPr lang="en-US" sz="1250" dirty="0"/>
          </a:p>
        </p:txBody>
      </p:sp>
      <p:sp>
        <p:nvSpPr>
          <p:cNvPr id="39" name="Kart"/>
          <p:cNvSpPr/>
          <p:nvPr/>
        </p:nvSpPr>
        <p:spPr>
          <a:xfrm>
            <a:off x="8127797" y="3867912"/>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40" name="İkon zemini"/>
          <p:cNvSpPr/>
          <p:nvPr/>
        </p:nvSpPr>
        <p:spPr>
          <a:xfrm>
            <a:off x="8310677" y="4050792"/>
            <a:ext cx="438912" cy="438912"/>
          </a:xfrm>
          <a:prstGeom prst="ellipse">
            <a:avLst/>
          </a:prstGeom>
          <a:solidFill>
            <a:schemeClr val="accent2"/>
          </a:solidFill>
          <a:ln/>
        </p:spPr>
      </p:sp>
      <p:pic>
        <p:nvPicPr>
          <p:cNvPr id="41" name="İkon FaHeartPulse" descr="preencoded.png">    </p:cNvPr>
          <p:cNvPicPr>
            <a:picLocks noChangeAspect="1"/>
          </p:cNvPicPr>
          <p:nvPr/>
        </p:nvPicPr>
        <p:blipFill>
          <a:blip r:embed="rId6"/>
          <a:stretch>
            <a:fillRect/>
          </a:stretch>
        </p:blipFill>
        <p:spPr>
          <a:xfrm>
            <a:off x="8416016" y="4156131"/>
            <a:ext cx="228234" cy="228234"/>
          </a:xfrm>
          <a:prstGeom prst="rect">
            <a:avLst/>
          </a:prstGeom>
        </p:spPr>
      </p:pic>
      <p:sp>
        <p:nvSpPr>
          <p:cNvPr id="42" name="Text 34"/>
          <p:cNvSpPr txBox="1"/>
          <p:nvPr/>
        </p:nvSpPr>
        <p:spPr>
          <a:xfrm>
            <a:off x="8859317" y="4032504"/>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Irvine, ABD · 2025</a:t>
            </a:r>
            <a:endParaRPr lang="en-US" sz="1100" dirty="0"/>
          </a:p>
        </p:txBody>
      </p:sp>
      <p:sp>
        <p:nvSpPr>
          <p:cNvPr id="43" name="Text 35"/>
          <p:cNvSpPr txBox="1"/>
          <p:nvPr/>
        </p:nvSpPr>
        <p:spPr>
          <a:xfrm>
            <a:off x="8859317" y="4270248"/>
            <a:ext cx="2600858" cy="274320"/>
          </a:xfrm>
          <a:prstGeom prst="rect">
            <a:avLst/>
          </a:prstGeom>
          <a:noFill/>
          <a:ln/>
        </p:spPr>
        <p:txBody>
          <a:bodyPr wrap="square" lIns="0" tIns="0" rIns="0" bIns="0" rtlCol="0" anchor="t"/>
          <a:lstStyle/>
          <a:p>
            <a:pPr indent="0" marL="0">
              <a:buNone/>
            </a:pPr>
            <a:r>
              <a:rPr lang="en-US" sz="1400" b="1" dirty="0">
                <a:solidFill>
                  <a:schemeClr val="tx2"/>
                </a:solidFill>
              </a:rPr>
              <a:t>Woodbridge gölleri</a:t>
            </a:r>
            <a:endParaRPr lang="en-US" sz="1400" dirty="0"/>
          </a:p>
        </p:txBody>
      </p:sp>
      <p:sp>
        <p:nvSpPr>
          <p:cNvPr id="44" name="Text 36"/>
          <p:cNvSpPr txBox="1"/>
          <p:nvPr/>
        </p:nvSpPr>
        <p:spPr>
          <a:xfrm>
            <a:off x="8310677" y="4636008"/>
            <a:ext cx="3149498" cy="749808"/>
          </a:xfrm>
          <a:prstGeom prst="rect">
            <a:avLst/>
          </a:prstGeom>
          <a:noFill/>
          <a:ln/>
        </p:spPr>
        <p:txBody>
          <a:bodyPr wrap="square" lIns="0" tIns="0" rIns="0" bIns="0" rtlCol="0" anchor="t"/>
          <a:lstStyle/>
          <a:p>
            <a:pPr indent="0" marL="0">
              <a:buNone/>
            </a:pPr>
            <a:r>
              <a:rPr lang="en-US" sz="1300" dirty="0">
                <a:solidFill>
                  <a:schemeClr val="tx1"/>
                </a:solidFill>
              </a:rPr>
              <a:t>İki yapay gölü sakin derneği işletiyor; örnek ilanda aidat aylık 157 USD</a:t>
            </a:r>
            <a:endParaRPr lang="en-US" sz="1300" dirty="0"/>
          </a:p>
        </p:txBody>
      </p:sp>
      <p:sp>
        <p:nvSpPr>
          <p:cNvPr id="45" name="Text 37"/>
          <p:cNvSpPr txBox="1"/>
          <p:nvPr/>
        </p:nvSpPr>
        <p:spPr>
          <a:xfrm>
            <a:off x="8310677" y="5385816"/>
            <a:ext cx="3149498" cy="502920"/>
          </a:xfrm>
          <a:prstGeom prst="rect">
            <a:avLst/>
          </a:prstGeom>
          <a:noFill/>
          <a:ln/>
        </p:spPr>
        <p:txBody>
          <a:bodyPr wrap="square" lIns="0" tIns="0" rIns="0" bIns="0" rtlCol="0" anchor="t"/>
          <a:lstStyle/>
          <a:p>
            <a:pPr indent="0" marL="0">
              <a:buNone/>
            </a:pPr>
            <a:r>
              <a:rPr lang="en-US" sz="1250" b="1" dirty="0">
                <a:solidFill>
                  <a:schemeClr val="tx2"/>
                </a:solidFill>
              </a:rPr>
              <a:t>Göl bakımı sakin aidatıyla sürdürülebilir</a:t>
            </a:r>
            <a:endParaRPr lang="en-US" sz="1250" dirty="0"/>
          </a:p>
        </p:txBody>
      </p:sp>
      <p:sp>
        <p:nvSpPr>
          <p:cNvPr id="46" name="Text 38"/>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araştırma notları (kurum, akademik ve basın kaynakları). Örnek fotoğrafları telif nedeniyle kullanılmamıştır.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DÜNYADAN UYGULAMALAR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Akıllı şehir ve master plan uygulamaları</a:t>
            </a:r>
            <a:endParaRPr lang="en-US" sz="3600" dirty="0"/>
          </a:p>
        </p:txBody>
      </p:sp>
      <p:sp>
        <p:nvSpPr>
          <p:cNvPr id="4" name="Kart"/>
          <p:cNvSpPr/>
          <p:nvPr/>
        </p:nvSpPr>
        <p:spPr>
          <a:xfrm>
            <a:off x="548640" y="1600200"/>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31520" y="1783080"/>
            <a:ext cx="438912" cy="438912"/>
          </a:xfrm>
          <a:prstGeom prst="ellipse">
            <a:avLst/>
          </a:prstGeom>
          <a:solidFill>
            <a:schemeClr val="accent2"/>
          </a:solidFill>
          <a:ln/>
        </p:spPr>
      </p:sp>
      <p:pic>
        <p:nvPicPr>
          <p:cNvPr id="6" name="İkon FaMicrochip" descr="preencoded.png">    </p:cNvPr>
          <p:cNvPicPr>
            <a:picLocks noChangeAspect="1"/>
          </p:cNvPicPr>
          <p:nvPr/>
        </p:nvPicPr>
        <p:blipFill>
          <a:blip r:embed="rId1"/>
          <a:stretch>
            <a:fillRect/>
          </a:stretch>
        </p:blipFill>
        <p:spPr>
          <a:xfrm>
            <a:off x="836859" y="1888419"/>
            <a:ext cx="228234" cy="228234"/>
          </a:xfrm>
          <a:prstGeom prst="rect">
            <a:avLst/>
          </a:prstGeom>
        </p:spPr>
      </p:pic>
      <p:sp>
        <p:nvSpPr>
          <p:cNvPr id="7" name="Text 4"/>
          <p:cNvSpPr txBox="1"/>
          <p:nvPr/>
        </p:nvSpPr>
        <p:spPr>
          <a:xfrm>
            <a:off x="1280160" y="1764792"/>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Fujisawa, Japonya · 2011</a:t>
            </a:r>
            <a:endParaRPr lang="en-US" sz="1100" dirty="0"/>
          </a:p>
        </p:txBody>
      </p:sp>
      <p:sp>
        <p:nvSpPr>
          <p:cNvPr id="8" name="Text 5"/>
          <p:cNvSpPr txBox="1"/>
          <p:nvPr/>
        </p:nvSpPr>
        <p:spPr>
          <a:xfrm>
            <a:off x="1280160" y="2002536"/>
            <a:ext cx="2600858" cy="274320"/>
          </a:xfrm>
          <a:prstGeom prst="rect">
            <a:avLst/>
          </a:prstGeom>
          <a:noFill/>
          <a:ln/>
        </p:spPr>
        <p:txBody>
          <a:bodyPr wrap="square" lIns="0" tIns="0" rIns="0" bIns="0" rtlCol="0" anchor="t"/>
          <a:lstStyle/>
          <a:p>
            <a:pPr indent="0" marL="0">
              <a:buNone/>
            </a:pPr>
            <a:r>
              <a:rPr lang="en-US" sz="1400" b="1" dirty="0">
                <a:solidFill>
                  <a:schemeClr val="tx2"/>
                </a:solidFill>
              </a:rPr>
              <a:t>Fujisawa Sustainable Smart Town</a:t>
            </a:r>
            <a:endParaRPr lang="en-US" sz="1400" dirty="0"/>
          </a:p>
        </p:txBody>
      </p:sp>
      <p:sp>
        <p:nvSpPr>
          <p:cNvPr id="9" name="Text 6"/>
          <p:cNvSpPr txBox="1"/>
          <p:nvPr/>
        </p:nvSpPr>
        <p:spPr>
          <a:xfrm>
            <a:off x="731520" y="2368296"/>
            <a:ext cx="3149498" cy="749808"/>
          </a:xfrm>
          <a:prstGeom prst="rect">
            <a:avLst/>
          </a:prstGeom>
          <a:noFill/>
          <a:ln/>
        </p:spPr>
        <p:txBody>
          <a:bodyPr wrap="square" lIns="0" tIns="0" rIns="0" bIns="0" rtlCol="0" anchor="t"/>
          <a:lstStyle/>
          <a:p>
            <a:pPr indent="0" marL="0">
              <a:buNone/>
            </a:pPr>
            <a:r>
              <a:rPr lang="en-US" sz="1300" dirty="0">
                <a:solidFill>
                  <a:schemeClr val="tx1"/>
                </a:solidFill>
              </a:rPr>
              <a:t>19 ha eski fabrika arsasında 1.000 hane hedefi; 742 milyon USD; karbonda %70 azaltım</a:t>
            </a:r>
            <a:endParaRPr lang="en-US" sz="1300" dirty="0"/>
          </a:p>
        </p:txBody>
      </p:sp>
      <p:sp>
        <p:nvSpPr>
          <p:cNvPr id="10" name="Text 7"/>
          <p:cNvSpPr txBox="1"/>
          <p:nvPr/>
        </p:nvSpPr>
        <p:spPr>
          <a:xfrm>
            <a:off x="731520" y="3118104"/>
            <a:ext cx="3149498" cy="502920"/>
          </a:xfrm>
          <a:prstGeom prst="rect">
            <a:avLst/>
          </a:prstGeom>
          <a:noFill/>
          <a:ln/>
        </p:spPr>
        <p:txBody>
          <a:bodyPr wrap="square" lIns="0" tIns="0" rIns="0" bIns="0" rtlCol="0" anchor="t"/>
          <a:lstStyle/>
          <a:p>
            <a:pPr indent="0" marL="0">
              <a:buNone/>
            </a:pPr>
            <a:r>
              <a:rPr lang="en-US" sz="1250" b="1" dirty="0">
                <a:solidFill>
                  <a:schemeClr val="tx2"/>
                </a:solidFill>
              </a:rPr>
              <a:t>Hizmetler yönetim şirketi ve sakin komitesiyle yürür</a:t>
            </a:r>
            <a:endParaRPr lang="en-US" sz="1250" dirty="0"/>
          </a:p>
        </p:txBody>
      </p:sp>
      <p:sp>
        <p:nvSpPr>
          <p:cNvPr id="11" name="Kart"/>
          <p:cNvSpPr/>
          <p:nvPr/>
        </p:nvSpPr>
        <p:spPr>
          <a:xfrm>
            <a:off x="4338218" y="1600200"/>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12" name="İkon zemini"/>
          <p:cNvSpPr/>
          <p:nvPr/>
        </p:nvSpPr>
        <p:spPr>
          <a:xfrm>
            <a:off x="4521098" y="1783080"/>
            <a:ext cx="438912" cy="438912"/>
          </a:xfrm>
          <a:prstGeom prst="ellipse">
            <a:avLst/>
          </a:prstGeom>
          <a:solidFill>
            <a:schemeClr val="accent2"/>
          </a:solidFill>
          <a:ln/>
        </p:spPr>
      </p:sp>
      <p:pic>
        <p:nvPicPr>
          <p:cNvPr id="13" name="İkon FaMicrochip" descr="preencoded.png">    </p:cNvPr>
          <p:cNvPicPr>
            <a:picLocks noChangeAspect="1"/>
          </p:cNvPicPr>
          <p:nvPr/>
        </p:nvPicPr>
        <p:blipFill>
          <a:blip r:embed="rId2"/>
          <a:stretch>
            <a:fillRect/>
          </a:stretch>
        </p:blipFill>
        <p:spPr>
          <a:xfrm>
            <a:off x="4626437" y="1888419"/>
            <a:ext cx="228234" cy="228234"/>
          </a:xfrm>
          <a:prstGeom prst="rect">
            <a:avLst/>
          </a:prstGeom>
        </p:spPr>
      </p:pic>
      <p:sp>
        <p:nvSpPr>
          <p:cNvPr id="14" name="Text 10"/>
          <p:cNvSpPr txBox="1"/>
          <p:nvPr/>
        </p:nvSpPr>
        <p:spPr>
          <a:xfrm>
            <a:off x="5069738" y="1764792"/>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Kashiwa, Japonya · 2005–2016</a:t>
            </a:r>
            <a:endParaRPr lang="en-US" sz="1100" dirty="0"/>
          </a:p>
        </p:txBody>
      </p:sp>
      <p:sp>
        <p:nvSpPr>
          <p:cNvPr id="15" name="Text 11"/>
          <p:cNvSpPr txBox="1"/>
          <p:nvPr/>
        </p:nvSpPr>
        <p:spPr>
          <a:xfrm>
            <a:off x="5069738" y="2002536"/>
            <a:ext cx="2600858" cy="274320"/>
          </a:xfrm>
          <a:prstGeom prst="rect">
            <a:avLst/>
          </a:prstGeom>
          <a:noFill/>
          <a:ln/>
        </p:spPr>
        <p:txBody>
          <a:bodyPr wrap="square" lIns="0" tIns="0" rIns="0" bIns="0" rtlCol="0" anchor="t"/>
          <a:lstStyle/>
          <a:p>
            <a:pPr indent="0" marL="0">
              <a:buNone/>
            </a:pPr>
            <a:r>
              <a:rPr lang="en-US" sz="1400" b="1" dirty="0">
                <a:solidFill>
                  <a:schemeClr val="tx2"/>
                </a:solidFill>
              </a:rPr>
              <a:t>Kashiwa-no-ha Akıllı Şehri</a:t>
            </a:r>
            <a:endParaRPr lang="en-US" sz="1400" dirty="0"/>
          </a:p>
        </p:txBody>
      </p:sp>
      <p:sp>
        <p:nvSpPr>
          <p:cNvPr id="16" name="Text 12"/>
          <p:cNvSpPr txBox="1"/>
          <p:nvPr/>
        </p:nvSpPr>
        <p:spPr>
          <a:xfrm>
            <a:off x="4521098" y="2368296"/>
            <a:ext cx="3149498" cy="749808"/>
          </a:xfrm>
          <a:prstGeom prst="rect">
            <a:avLst/>
          </a:prstGeom>
          <a:noFill/>
          <a:ln/>
        </p:spPr>
        <p:txBody>
          <a:bodyPr wrap="square" lIns="0" tIns="0" rIns="0" bIns="0" rtlCol="0" anchor="t"/>
          <a:lstStyle/>
          <a:p>
            <a:pPr indent="0" marL="0">
              <a:buNone/>
            </a:pPr>
            <a:r>
              <a:rPr lang="en-US" sz="1300" dirty="0">
                <a:solidFill>
                  <a:schemeClr val="tx1"/>
                </a:solidFill>
              </a:rPr>
              <a:t>~273 ha alan 2005'te raylı istasyonla başladı; 2016'da yaklaşık 5.000 sakin</a:t>
            </a:r>
            <a:endParaRPr lang="en-US" sz="1300" dirty="0"/>
          </a:p>
        </p:txBody>
      </p:sp>
      <p:sp>
        <p:nvSpPr>
          <p:cNvPr id="17" name="Text 13"/>
          <p:cNvSpPr txBox="1"/>
          <p:nvPr/>
        </p:nvSpPr>
        <p:spPr>
          <a:xfrm>
            <a:off x="4521098" y="3118104"/>
            <a:ext cx="3149498" cy="502920"/>
          </a:xfrm>
          <a:prstGeom prst="rect">
            <a:avLst/>
          </a:prstGeom>
          <a:noFill/>
          <a:ln/>
        </p:spPr>
        <p:txBody>
          <a:bodyPr wrap="square" lIns="0" tIns="0" rIns="0" bIns="0" rtlCol="0" anchor="t"/>
          <a:lstStyle/>
          <a:p>
            <a:pPr indent="0" marL="0">
              <a:buNone/>
            </a:pPr>
            <a:r>
              <a:rPr lang="en-US" sz="1250" b="1" dirty="0">
                <a:solidFill>
                  <a:schemeClr val="tx2"/>
                </a:solidFill>
              </a:rPr>
              <a:t>Akıllı şehir bir ulaşım çıpasıyla başlatılmalıdır</a:t>
            </a:r>
            <a:endParaRPr lang="en-US" sz="1250" dirty="0"/>
          </a:p>
        </p:txBody>
      </p:sp>
      <p:sp>
        <p:nvSpPr>
          <p:cNvPr id="18" name="Kart"/>
          <p:cNvSpPr/>
          <p:nvPr/>
        </p:nvSpPr>
        <p:spPr>
          <a:xfrm>
            <a:off x="8127797" y="1600200"/>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19" name="İkon zemini"/>
          <p:cNvSpPr/>
          <p:nvPr/>
        </p:nvSpPr>
        <p:spPr>
          <a:xfrm>
            <a:off x="8310677" y="1783080"/>
            <a:ext cx="438912" cy="438912"/>
          </a:xfrm>
          <a:prstGeom prst="ellipse">
            <a:avLst/>
          </a:prstGeom>
          <a:solidFill>
            <a:schemeClr val="accent2"/>
          </a:solidFill>
          <a:ln/>
        </p:spPr>
      </p:sp>
      <p:pic>
        <p:nvPicPr>
          <p:cNvPr id="20" name="İkon FaMicrochip" descr="preencoded.png">    </p:cNvPr>
          <p:cNvPicPr>
            <a:picLocks noChangeAspect="1"/>
          </p:cNvPicPr>
          <p:nvPr/>
        </p:nvPicPr>
        <p:blipFill>
          <a:blip r:embed="rId3"/>
          <a:stretch>
            <a:fillRect/>
          </a:stretch>
        </p:blipFill>
        <p:spPr>
          <a:xfrm>
            <a:off x="8416016" y="1888419"/>
            <a:ext cx="228234" cy="228234"/>
          </a:xfrm>
          <a:prstGeom prst="rect">
            <a:avLst/>
          </a:prstGeom>
        </p:spPr>
      </p:pic>
      <p:sp>
        <p:nvSpPr>
          <p:cNvPr id="21" name="Text 16"/>
          <p:cNvSpPr txBox="1"/>
          <p:nvPr/>
        </p:nvSpPr>
        <p:spPr>
          <a:xfrm>
            <a:off x="8859317" y="1764792"/>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Susono, Japonya · 2024</a:t>
            </a:r>
            <a:endParaRPr lang="en-US" sz="1100" dirty="0"/>
          </a:p>
        </p:txBody>
      </p:sp>
      <p:sp>
        <p:nvSpPr>
          <p:cNvPr id="22" name="Text 17"/>
          <p:cNvSpPr txBox="1"/>
          <p:nvPr/>
        </p:nvSpPr>
        <p:spPr>
          <a:xfrm>
            <a:off x="8859317" y="2002536"/>
            <a:ext cx="2600858" cy="274320"/>
          </a:xfrm>
          <a:prstGeom prst="rect">
            <a:avLst/>
          </a:prstGeom>
          <a:noFill/>
          <a:ln/>
        </p:spPr>
        <p:txBody>
          <a:bodyPr wrap="square" lIns="0" tIns="0" rIns="0" bIns="0" rtlCol="0" anchor="t"/>
          <a:lstStyle/>
          <a:p>
            <a:pPr indent="0" marL="0">
              <a:buNone/>
            </a:pPr>
            <a:r>
              <a:rPr lang="en-US" sz="1400" b="1" dirty="0">
                <a:solidFill>
                  <a:schemeClr val="tx2"/>
                </a:solidFill>
              </a:rPr>
              <a:t>Toyota Woven City</a:t>
            </a:r>
            <a:endParaRPr lang="en-US" sz="1400" dirty="0"/>
          </a:p>
        </p:txBody>
      </p:sp>
      <p:sp>
        <p:nvSpPr>
          <p:cNvPr id="23" name="Text 18"/>
          <p:cNvSpPr txBox="1"/>
          <p:nvPr/>
        </p:nvSpPr>
        <p:spPr>
          <a:xfrm>
            <a:off x="8310677" y="2368296"/>
            <a:ext cx="3149498" cy="749808"/>
          </a:xfrm>
          <a:prstGeom prst="rect">
            <a:avLst/>
          </a:prstGeom>
          <a:noFill/>
          <a:ln/>
        </p:spPr>
        <p:txBody>
          <a:bodyPr wrap="square" lIns="0" tIns="0" rIns="0" bIns="0" rtlCol="0" anchor="t"/>
          <a:lstStyle/>
          <a:p>
            <a:pPr indent="0" marL="0">
              <a:buNone/>
            </a:pPr>
            <a:r>
              <a:rPr lang="en-US" sz="1300" dirty="0">
                <a:solidFill>
                  <a:schemeClr val="tx1"/>
                </a:solidFill>
              </a:rPr>
              <a:t>Faz 1 yaklaşık 50.000 m²'de ~360 sakin; tüm planda ~70,8 ha ve ~2.000 sakin</a:t>
            </a:r>
            <a:endParaRPr lang="en-US" sz="1300" dirty="0"/>
          </a:p>
        </p:txBody>
      </p:sp>
      <p:sp>
        <p:nvSpPr>
          <p:cNvPr id="24" name="Text 19"/>
          <p:cNvSpPr txBox="1"/>
          <p:nvPr/>
        </p:nvSpPr>
        <p:spPr>
          <a:xfrm>
            <a:off x="8310677" y="3118104"/>
            <a:ext cx="3149498" cy="502920"/>
          </a:xfrm>
          <a:prstGeom prst="rect">
            <a:avLst/>
          </a:prstGeom>
          <a:noFill/>
          <a:ln/>
        </p:spPr>
        <p:txBody>
          <a:bodyPr wrap="square" lIns="0" tIns="0" rIns="0" bIns="0" rtlCol="0" anchor="t"/>
          <a:lstStyle/>
          <a:p>
            <a:pPr indent="0" marL="0">
              <a:buNone/>
            </a:pPr>
            <a:r>
              <a:rPr lang="en-US" sz="1250" b="1" dirty="0">
                <a:solidFill>
                  <a:schemeClr val="tx2"/>
                </a:solidFill>
              </a:rPr>
              <a:t>Aşamalı açılış ilk sakinlerle test edilmelidir</a:t>
            </a:r>
            <a:endParaRPr lang="en-US" sz="1250" dirty="0"/>
          </a:p>
        </p:txBody>
      </p:sp>
      <p:sp>
        <p:nvSpPr>
          <p:cNvPr id="25" name="Kart"/>
          <p:cNvSpPr/>
          <p:nvPr/>
        </p:nvSpPr>
        <p:spPr>
          <a:xfrm>
            <a:off x="548640" y="3867912"/>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26" name="İkon zemini"/>
          <p:cNvSpPr/>
          <p:nvPr/>
        </p:nvSpPr>
        <p:spPr>
          <a:xfrm>
            <a:off x="731520" y="4050792"/>
            <a:ext cx="438912" cy="438912"/>
          </a:xfrm>
          <a:prstGeom prst="ellipse">
            <a:avLst/>
          </a:prstGeom>
          <a:solidFill>
            <a:schemeClr val="accent2"/>
          </a:solidFill>
          <a:ln/>
        </p:spPr>
      </p:sp>
      <p:pic>
        <p:nvPicPr>
          <p:cNvPr id="27" name="İkon FaMicrochip" descr="preencoded.png">    </p:cNvPr>
          <p:cNvPicPr>
            <a:picLocks noChangeAspect="1"/>
          </p:cNvPicPr>
          <p:nvPr/>
        </p:nvPicPr>
        <p:blipFill>
          <a:blip r:embed="rId4"/>
          <a:stretch>
            <a:fillRect/>
          </a:stretch>
        </p:blipFill>
        <p:spPr>
          <a:xfrm>
            <a:off x="836859" y="4156131"/>
            <a:ext cx="228234" cy="228234"/>
          </a:xfrm>
          <a:prstGeom prst="rect">
            <a:avLst/>
          </a:prstGeom>
        </p:spPr>
      </p:pic>
      <p:sp>
        <p:nvSpPr>
          <p:cNvPr id="28" name="Text 22"/>
          <p:cNvSpPr txBox="1"/>
          <p:nvPr/>
        </p:nvSpPr>
        <p:spPr>
          <a:xfrm>
            <a:off x="1280160" y="4032504"/>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Incheon, Güney Kore · ~2020</a:t>
            </a:r>
            <a:endParaRPr lang="en-US" sz="1100" dirty="0"/>
          </a:p>
        </p:txBody>
      </p:sp>
      <p:sp>
        <p:nvSpPr>
          <p:cNvPr id="29" name="Text 23"/>
          <p:cNvSpPr txBox="1"/>
          <p:nvPr/>
        </p:nvSpPr>
        <p:spPr>
          <a:xfrm>
            <a:off x="1280160" y="4270248"/>
            <a:ext cx="2600858" cy="274320"/>
          </a:xfrm>
          <a:prstGeom prst="rect">
            <a:avLst/>
          </a:prstGeom>
          <a:noFill/>
          <a:ln/>
        </p:spPr>
        <p:txBody>
          <a:bodyPr wrap="square" lIns="0" tIns="0" rIns="0" bIns="0" rtlCol="0" anchor="t"/>
          <a:lstStyle/>
          <a:p>
            <a:pPr indent="0" marL="0">
              <a:buNone/>
            </a:pPr>
            <a:r>
              <a:rPr lang="en-US" sz="1400" b="1" dirty="0">
                <a:solidFill>
                  <a:schemeClr val="tx2"/>
                </a:solidFill>
              </a:rPr>
              <a:t>Songdo Uluslararası İş Bölgesi</a:t>
            </a:r>
            <a:endParaRPr lang="en-US" sz="1400" dirty="0"/>
          </a:p>
        </p:txBody>
      </p:sp>
      <p:sp>
        <p:nvSpPr>
          <p:cNvPr id="30" name="Text 24"/>
          <p:cNvSpPr txBox="1"/>
          <p:nvPr/>
        </p:nvSpPr>
        <p:spPr>
          <a:xfrm>
            <a:off x="731520" y="4636008"/>
            <a:ext cx="3149498" cy="749808"/>
          </a:xfrm>
          <a:prstGeom prst="rect">
            <a:avLst/>
          </a:prstGeom>
          <a:noFill/>
          <a:ln/>
        </p:spPr>
        <p:txBody>
          <a:bodyPr wrap="square" lIns="0" tIns="0" rIns="0" bIns="0" rtlCol="0" anchor="t"/>
          <a:lstStyle/>
          <a:p>
            <a:pPr indent="0" marL="0">
              <a:buNone/>
            </a:pPr>
            <a:r>
              <a:rPr lang="en-US" sz="1300" dirty="0">
                <a:solidFill>
                  <a:schemeClr val="tx1"/>
                </a:solidFill>
              </a:rPr>
              <a:t>Hedef nüfus 256.611; JLL'ye göre ~106.000 sakin; Seul'e 60 dakikayı aşan ulaşım</a:t>
            </a:r>
            <a:endParaRPr lang="en-US" sz="1300" dirty="0"/>
          </a:p>
        </p:txBody>
      </p:sp>
      <p:sp>
        <p:nvSpPr>
          <p:cNvPr id="31" name="Text 25"/>
          <p:cNvSpPr txBox="1"/>
          <p:nvPr/>
        </p:nvSpPr>
        <p:spPr>
          <a:xfrm>
            <a:off x="731520" y="5385816"/>
            <a:ext cx="3149498" cy="502920"/>
          </a:xfrm>
          <a:prstGeom prst="rect">
            <a:avLst/>
          </a:prstGeom>
          <a:noFill/>
          <a:ln/>
        </p:spPr>
        <p:txBody>
          <a:bodyPr wrap="square" lIns="0" tIns="0" rIns="0" bIns="0" rtlCol="0" anchor="t"/>
          <a:lstStyle/>
          <a:p>
            <a:pPr indent="0" marL="0">
              <a:buNone/>
            </a:pPr>
            <a:r>
              <a:rPr lang="en-US" sz="1250" b="1" dirty="0">
                <a:solidFill>
                  <a:schemeClr val="tx2"/>
                </a:solidFill>
              </a:rPr>
              <a:t>İş-konut dengesi ve ulaşım olmadan doluluk gecikir</a:t>
            </a:r>
            <a:endParaRPr lang="en-US" sz="1250" dirty="0"/>
          </a:p>
        </p:txBody>
      </p:sp>
      <p:sp>
        <p:nvSpPr>
          <p:cNvPr id="32" name="Kart"/>
          <p:cNvSpPr/>
          <p:nvPr/>
        </p:nvSpPr>
        <p:spPr>
          <a:xfrm>
            <a:off x="4338218" y="3867912"/>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33" name="İkon zemini"/>
          <p:cNvSpPr/>
          <p:nvPr/>
        </p:nvSpPr>
        <p:spPr>
          <a:xfrm>
            <a:off x="4521098" y="4050792"/>
            <a:ext cx="438912" cy="438912"/>
          </a:xfrm>
          <a:prstGeom prst="ellipse">
            <a:avLst/>
          </a:prstGeom>
          <a:solidFill>
            <a:schemeClr val="accent2"/>
          </a:solidFill>
          <a:ln/>
        </p:spPr>
      </p:sp>
      <p:pic>
        <p:nvPicPr>
          <p:cNvPr id="34" name="İkon FaMicrochip" descr="preencoded.png">    </p:cNvPr>
          <p:cNvPicPr>
            <a:picLocks noChangeAspect="1"/>
          </p:cNvPicPr>
          <p:nvPr/>
        </p:nvPicPr>
        <p:blipFill>
          <a:blip r:embed="rId5"/>
          <a:stretch>
            <a:fillRect/>
          </a:stretch>
        </p:blipFill>
        <p:spPr>
          <a:xfrm>
            <a:off x="4626437" y="4156131"/>
            <a:ext cx="228234" cy="228234"/>
          </a:xfrm>
          <a:prstGeom prst="rect">
            <a:avLst/>
          </a:prstGeom>
        </p:spPr>
      </p:pic>
      <p:sp>
        <p:nvSpPr>
          <p:cNvPr id="35" name="Text 28"/>
          <p:cNvSpPr txBox="1"/>
          <p:nvPr/>
        </p:nvSpPr>
        <p:spPr>
          <a:xfrm>
            <a:off x="5069738" y="4032504"/>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Abu Dabi, BAE · 2023</a:t>
            </a:r>
            <a:endParaRPr lang="en-US" sz="1100" dirty="0"/>
          </a:p>
        </p:txBody>
      </p:sp>
      <p:sp>
        <p:nvSpPr>
          <p:cNvPr id="36" name="Text 29"/>
          <p:cNvSpPr txBox="1"/>
          <p:nvPr/>
        </p:nvSpPr>
        <p:spPr>
          <a:xfrm>
            <a:off x="5069738" y="4270248"/>
            <a:ext cx="2600858" cy="274320"/>
          </a:xfrm>
          <a:prstGeom prst="rect">
            <a:avLst/>
          </a:prstGeom>
          <a:noFill/>
          <a:ln/>
        </p:spPr>
        <p:txBody>
          <a:bodyPr wrap="square" lIns="0" tIns="0" rIns="0" bIns="0" rtlCol="0" anchor="t"/>
          <a:lstStyle/>
          <a:p>
            <a:pPr indent="0" marL="0">
              <a:buNone/>
            </a:pPr>
            <a:r>
              <a:rPr lang="en-US" sz="1400" b="1" dirty="0">
                <a:solidFill>
                  <a:schemeClr val="tx2"/>
                </a:solidFill>
              </a:rPr>
              <a:t>Masdar City</a:t>
            </a:r>
            <a:endParaRPr lang="en-US" sz="1400" dirty="0"/>
          </a:p>
        </p:txBody>
      </p:sp>
      <p:sp>
        <p:nvSpPr>
          <p:cNvPr id="37" name="Text 30"/>
          <p:cNvSpPr txBox="1"/>
          <p:nvPr/>
        </p:nvSpPr>
        <p:spPr>
          <a:xfrm>
            <a:off x="4521098" y="4636008"/>
            <a:ext cx="3149498" cy="749808"/>
          </a:xfrm>
          <a:prstGeom prst="rect">
            <a:avLst/>
          </a:prstGeom>
          <a:noFill/>
          <a:ln/>
        </p:spPr>
        <p:txBody>
          <a:bodyPr wrap="square" lIns="0" tIns="0" rIns="0" bIns="0" rtlCol="0" anchor="t"/>
          <a:lstStyle/>
          <a:p>
            <a:pPr indent="0" marL="0">
              <a:buNone/>
            </a:pPr>
            <a:r>
              <a:rPr lang="en-US" sz="1300" dirty="0">
                <a:solidFill>
                  <a:schemeClr val="tx1"/>
                </a:solidFill>
              </a:rPr>
              <a:t>Başlangıçtaki 50.000 sakin hedefine karşı ~5.000 sakin; 2030 hedefi 40.000</a:t>
            </a:r>
            <a:endParaRPr lang="en-US" sz="1300" dirty="0"/>
          </a:p>
        </p:txBody>
      </p:sp>
      <p:sp>
        <p:nvSpPr>
          <p:cNvPr id="38" name="Text 31"/>
          <p:cNvSpPr txBox="1"/>
          <p:nvPr/>
        </p:nvSpPr>
        <p:spPr>
          <a:xfrm>
            <a:off x="4521098" y="5385816"/>
            <a:ext cx="3149498" cy="502920"/>
          </a:xfrm>
          <a:prstGeom prst="rect">
            <a:avLst/>
          </a:prstGeom>
          <a:noFill/>
          <a:ln/>
        </p:spPr>
        <p:txBody>
          <a:bodyPr wrap="square" lIns="0" tIns="0" rIns="0" bIns="0" rtlCol="0" anchor="t"/>
          <a:lstStyle/>
          <a:p>
            <a:pPr indent="0" marL="0">
              <a:buNone/>
            </a:pPr>
            <a:r>
              <a:rPr lang="en-US" sz="1250" b="1" dirty="0">
                <a:solidFill>
                  <a:schemeClr val="tx2"/>
                </a:solidFill>
              </a:rPr>
              <a:t>Gerçekçi nüfus hedefi ve fazlama gerekir</a:t>
            </a:r>
            <a:endParaRPr lang="en-US" sz="1250" dirty="0"/>
          </a:p>
        </p:txBody>
      </p:sp>
      <p:sp>
        <p:nvSpPr>
          <p:cNvPr id="39" name="Kart"/>
          <p:cNvSpPr/>
          <p:nvPr/>
        </p:nvSpPr>
        <p:spPr>
          <a:xfrm>
            <a:off x="8127797" y="3867912"/>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40" name="İkon zemini"/>
          <p:cNvSpPr/>
          <p:nvPr/>
        </p:nvSpPr>
        <p:spPr>
          <a:xfrm>
            <a:off x="8310677" y="4050792"/>
            <a:ext cx="438912" cy="438912"/>
          </a:xfrm>
          <a:prstGeom prst="ellipse">
            <a:avLst/>
          </a:prstGeom>
          <a:solidFill>
            <a:schemeClr val="accent2"/>
          </a:solidFill>
          <a:ln/>
        </p:spPr>
      </p:sp>
      <p:pic>
        <p:nvPicPr>
          <p:cNvPr id="41" name="İkon FaMicrochip" descr="preencoded.png">    </p:cNvPr>
          <p:cNvPicPr>
            <a:picLocks noChangeAspect="1"/>
          </p:cNvPicPr>
          <p:nvPr/>
        </p:nvPicPr>
        <p:blipFill>
          <a:blip r:embed="rId6"/>
          <a:stretch>
            <a:fillRect/>
          </a:stretch>
        </p:blipFill>
        <p:spPr>
          <a:xfrm>
            <a:off x="8416016" y="4156131"/>
            <a:ext cx="228234" cy="228234"/>
          </a:xfrm>
          <a:prstGeom prst="rect">
            <a:avLst/>
          </a:prstGeom>
        </p:spPr>
      </p:pic>
      <p:sp>
        <p:nvSpPr>
          <p:cNvPr id="42" name="Text 34"/>
          <p:cNvSpPr txBox="1"/>
          <p:nvPr/>
        </p:nvSpPr>
        <p:spPr>
          <a:xfrm>
            <a:off x="8859317" y="4032504"/>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Stokholm, İsveç · 2008</a:t>
            </a:r>
            <a:endParaRPr lang="en-US" sz="1100" dirty="0"/>
          </a:p>
        </p:txBody>
      </p:sp>
      <p:sp>
        <p:nvSpPr>
          <p:cNvPr id="43" name="Text 35"/>
          <p:cNvSpPr txBox="1"/>
          <p:nvPr/>
        </p:nvSpPr>
        <p:spPr>
          <a:xfrm>
            <a:off x="8859317" y="4270248"/>
            <a:ext cx="2600858" cy="274320"/>
          </a:xfrm>
          <a:prstGeom prst="rect">
            <a:avLst/>
          </a:prstGeom>
          <a:noFill/>
          <a:ln/>
        </p:spPr>
        <p:txBody>
          <a:bodyPr wrap="square" lIns="0" tIns="0" rIns="0" bIns="0" rtlCol="0" anchor="t"/>
          <a:lstStyle/>
          <a:p>
            <a:pPr indent="0" marL="0">
              <a:buNone/>
            </a:pPr>
            <a:r>
              <a:rPr lang="en-US" sz="1400" b="1" dirty="0">
                <a:solidFill>
                  <a:schemeClr val="tx2"/>
                </a:solidFill>
              </a:rPr>
              <a:t>Hammarby Sjöstad</a:t>
            </a:r>
            <a:endParaRPr lang="en-US" sz="1400" dirty="0"/>
          </a:p>
        </p:txBody>
      </p:sp>
      <p:sp>
        <p:nvSpPr>
          <p:cNvPr id="44" name="Text 36"/>
          <p:cNvSpPr txBox="1"/>
          <p:nvPr/>
        </p:nvSpPr>
        <p:spPr>
          <a:xfrm>
            <a:off x="8310677" y="4636008"/>
            <a:ext cx="3149498" cy="749808"/>
          </a:xfrm>
          <a:prstGeom prst="rect">
            <a:avLst/>
          </a:prstGeom>
          <a:noFill/>
          <a:ln/>
        </p:spPr>
        <p:txBody>
          <a:bodyPr wrap="square" lIns="0" tIns="0" rIns="0" bIns="0" rtlCol="0" anchor="t"/>
          <a:lstStyle/>
          <a:p>
            <a:pPr indent="0" marL="0">
              <a:buNone/>
            </a:pPr>
            <a:r>
              <a:rPr lang="en-US" sz="1300" dirty="0">
                <a:solidFill>
                  <a:schemeClr val="tx1"/>
                </a:solidFill>
              </a:rPr>
              <a:t>Bina kaynaklı sera gazı 1990 tabanının %40–46 altında; enerji hedefleri tutmadı</a:t>
            </a:r>
            <a:endParaRPr lang="en-US" sz="1300" dirty="0"/>
          </a:p>
        </p:txBody>
      </p:sp>
      <p:sp>
        <p:nvSpPr>
          <p:cNvPr id="45" name="Text 37"/>
          <p:cNvSpPr txBox="1"/>
          <p:nvPr/>
        </p:nvSpPr>
        <p:spPr>
          <a:xfrm>
            <a:off x="8310677" y="5385816"/>
            <a:ext cx="3149498" cy="502920"/>
          </a:xfrm>
          <a:prstGeom prst="rect">
            <a:avLst/>
          </a:prstGeom>
          <a:noFill/>
          <a:ln/>
        </p:spPr>
        <p:txBody>
          <a:bodyPr wrap="square" lIns="0" tIns="0" rIns="0" bIns="0" rtlCol="0" anchor="t"/>
          <a:lstStyle/>
          <a:p>
            <a:pPr indent="0" marL="0">
              <a:buNone/>
            </a:pPr>
            <a:r>
              <a:rPr lang="en-US" sz="1250" b="1" dirty="0">
                <a:solidFill>
                  <a:schemeClr val="tx2"/>
                </a:solidFill>
              </a:rPr>
              <a:t>İzlenemeyen sürdürülebilirlik hedefi konmamalıdır</a:t>
            </a:r>
            <a:endParaRPr lang="en-US" sz="1250" dirty="0"/>
          </a:p>
        </p:txBody>
      </p:sp>
      <p:sp>
        <p:nvSpPr>
          <p:cNvPr id="46" name="Text 38"/>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araştırma notları (kurum, akademik ve basın kaynakları). Örnek fotoğrafları telif nedeniyle kullanılmamıştır.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DÜNYADAN UYGULAMALAR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Türkiye'den uygulamalar</a:t>
            </a:r>
            <a:endParaRPr lang="en-US" sz="3600" dirty="0"/>
          </a:p>
        </p:txBody>
      </p:sp>
      <p:sp>
        <p:nvSpPr>
          <p:cNvPr id="4" name="Kart"/>
          <p:cNvSpPr/>
          <p:nvPr/>
        </p:nvSpPr>
        <p:spPr>
          <a:xfrm>
            <a:off x="548640" y="1600200"/>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31520" y="1783080"/>
            <a:ext cx="438912" cy="438912"/>
          </a:xfrm>
          <a:prstGeom prst="ellipse">
            <a:avLst/>
          </a:prstGeom>
          <a:solidFill>
            <a:schemeClr val="accent1"/>
          </a:solidFill>
          <a:ln/>
        </p:spPr>
      </p:sp>
      <p:pic>
        <p:nvPicPr>
          <p:cNvPr id="6" name="İkon FaLocationDot" descr="preencoded.png">    </p:cNvPr>
          <p:cNvPicPr>
            <a:picLocks noChangeAspect="1"/>
          </p:cNvPicPr>
          <p:nvPr/>
        </p:nvPicPr>
        <p:blipFill>
          <a:blip r:embed="rId1"/>
          <a:stretch>
            <a:fillRect/>
          </a:stretch>
        </p:blipFill>
        <p:spPr>
          <a:xfrm>
            <a:off x="836859" y="1888419"/>
            <a:ext cx="228234" cy="228234"/>
          </a:xfrm>
          <a:prstGeom prst="rect">
            <a:avLst/>
          </a:prstGeom>
        </p:spPr>
      </p:pic>
      <p:sp>
        <p:nvSpPr>
          <p:cNvPr id="7" name="Text 4"/>
          <p:cNvSpPr txBox="1"/>
          <p:nvPr/>
        </p:nvSpPr>
        <p:spPr>
          <a:xfrm>
            <a:off x="1280160" y="1764792"/>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Ankara, Türkiye · 1983–1997</a:t>
            </a:r>
            <a:endParaRPr lang="en-US" sz="1100" dirty="0"/>
          </a:p>
        </p:txBody>
      </p:sp>
      <p:sp>
        <p:nvSpPr>
          <p:cNvPr id="8" name="Text 5"/>
          <p:cNvSpPr txBox="1"/>
          <p:nvPr/>
        </p:nvSpPr>
        <p:spPr>
          <a:xfrm>
            <a:off x="1280160" y="2002536"/>
            <a:ext cx="2600858" cy="274320"/>
          </a:xfrm>
          <a:prstGeom prst="rect">
            <a:avLst/>
          </a:prstGeom>
          <a:noFill/>
          <a:ln/>
        </p:spPr>
        <p:txBody>
          <a:bodyPr wrap="square" lIns="0" tIns="0" rIns="0" bIns="0" rtlCol="0" anchor="t"/>
          <a:lstStyle/>
          <a:p>
            <a:pPr indent="0" marL="0">
              <a:buNone/>
            </a:pPr>
            <a:r>
              <a:rPr lang="en-US" sz="1400" b="1" dirty="0">
                <a:solidFill>
                  <a:schemeClr val="tx2"/>
                </a:solidFill>
              </a:rPr>
              <a:t>Batıkent</a:t>
            </a:r>
            <a:endParaRPr lang="en-US" sz="1400" dirty="0"/>
          </a:p>
        </p:txBody>
      </p:sp>
      <p:sp>
        <p:nvSpPr>
          <p:cNvPr id="9" name="Text 6"/>
          <p:cNvSpPr txBox="1"/>
          <p:nvPr/>
        </p:nvSpPr>
        <p:spPr>
          <a:xfrm>
            <a:off x="731520" y="2368296"/>
            <a:ext cx="3149498" cy="749808"/>
          </a:xfrm>
          <a:prstGeom prst="rect">
            <a:avLst/>
          </a:prstGeom>
          <a:noFill/>
          <a:ln/>
        </p:spPr>
        <p:txBody>
          <a:bodyPr wrap="square" lIns="0" tIns="0" rIns="0" bIns="0" rtlCol="0" anchor="t"/>
          <a:lstStyle/>
          <a:p>
            <a:pPr indent="0" marL="0">
              <a:buNone/>
            </a:pPr>
            <a:r>
              <a:rPr lang="en-US" sz="1300" dirty="0">
                <a:solidFill>
                  <a:schemeClr val="tx1"/>
                </a:solidFill>
              </a:rPr>
              <a:t>516 konutla başlayan yerleşim 50.000 konuta ulaştı; metro 1997'de geldi</a:t>
            </a:r>
            <a:endParaRPr lang="en-US" sz="1300" dirty="0"/>
          </a:p>
        </p:txBody>
      </p:sp>
      <p:sp>
        <p:nvSpPr>
          <p:cNvPr id="10" name="Text 7"/>
          <p:cNvSpPr txBox="1"/>
          <p:nvPr/>
        </p:nvSpPr>
        <p:spPr>
          <a:xfrm>
            <a:off x="731520" y="3118104"/>
            <a:ext cx="3149498" cy="502920"/>
          </a:xfrm>
          <a:prstGeom prst="rect">
            <a:avLst/>
          </a:prstGeom>
          <a:noFill/>
          <a:ln/>
        </p:spPr>
        <p:txBody>
          <a:bodyPr wrap="square" lIns="0" tIns="0" rIns="0" bIns="0" rtlCol="0" anchor="t"/>
          <a:lstStyle/>
          <a:p>
            <a:pPr indent="0" marL="0">
              <a:buNone/>
            </a:pPr>
            <a:r>
              <a:rPr lang="en-US" sz="1250" b="1" dirty="0">
                <a:solidFill>
                  <a:schemeClr val="tx2"/>
                </a:solidFill>
              </a:rPr>
              <a:t>Raylı bağlantı yerleşimle eşzamanlı planlanmalıdır</a:t>
            </a:r>
            <a:endParaRPr lang="en-US" sz="1250" dirty="0"/>
          </a:p>
        </p:txBody>
      </p:sp>
      <p:sp>
        <p:nvSpPr>
          <p:cNvPr id="11" name="Kart"/>
          <p:cNvSpPr/>
          <p:nvPr/>
        </p:nvSpPr>
        <p:spPr>
          <a:xfrm>
            <a:off x="4338218" y="1600200"/>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12" name="İkon zemini"/>
          <p:cNvSpPr/>
          <p:nvPr/>
        </p:nvSpPr>
        <p:spPr>
          <a:xfrm>
            <a:off x="4521098" y="1783080"/>
            <a:ext cx="438912" cy="438912"/>
          </a:xfrm>
          <a:prstGeom prst="ellipse">
            <a:avLst/>
          </a:prstGeom>
          <a:solidFill>
            <a:schemeClr val="accent1"/>
          </a:solidFill>
          <a:ln/>
        </p:spPr>
      </p:sp>
      <p:pic>
        <p:nvPicPr>
          <p:cNvPr id="13" name="İkon FaLocationDot" descr="preencoded.png">    </p:cNvPr>
          <p:cNvPicPr>
            <a:picLocks noChangeAspect="1"/>
          </p:cNvPicPr>
          <p:nvPr/>
        </p:nvPicPr>
        <p:blipFill>
          <a:blip r:embed="rId2"/>
          <a:stretch>
            <a:fillRect/>
          </a:stretch>
        </p:blipFill>
        <p:spPr>
          <a:xfrm>
            <a:off x="4626437" y="1888419"/>
            <a:ext cx="228234" cy="228234"/>
          </a:xfrm>
          <a:prstGeom prst="rect">
            <a:avLst/>
          </a:prstGeom>
        </p:spPr>
      </p:pic>
      <p:sp>
        <p:nvSpPr>
          <p:cNvPr id="14" name="Text 10"/>
          <p:cNvSpPr txBox="1"/>
          <p:nvPr/>
        </p:nvSpPr>
        <p:spPr>
          <a:xfrm>
            <a:off x="5069738" y="1764792"/>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Ereğli, Türkiye · 1962–1965</a:t>
            </a:r>
            <a:endParaRPr lang="en-US" sz="1100" dirty="0"/>
          </a:p>
        </p:txBody>
      </p:sp>
      <p:sp>
        <p:nvSpPr>
          <p:cNvPr id="15" name="Text 11"/>
          <p:cNvSpPr txBox="1"/>
          <p:nvPr/>
        </p:nvSpPr>
        <p:spPr>
          <a:xfrm>
            <a:off x="5069738" y="2002536"/>
            <a:ext cx="2600858" cy="274320"/>
          </a:xfrm>
          <a:prstGeom prst="rect">
            <a:avLst/>
          </a:prstGeom>
          <a:noFill/>
          <a:ln/>
        </p:spPr>
        <p:txBody>
          <a:bodyPr wrap="square" lIns="0" tIns="0" rIns="0" bIns="0" rtlCol="0" anchor="t"/>
          <a:lstStyle/>
          <a:p>
            <a:pPr indent="0" marL="0">
              <a:buNone/>
            </a:pPr>
            <a:r>
              <a:rPr lang="en-US" sz="1400" b="1" dirty="0">
                <a:solidFill>
                  <a:schemeClr val="tx2"/>
                </a:solidFill>
              </a:rPr>
              <a:t>Erdemir lojmanları</a:t>
            </a:r>
            <a:endParaRPr lang="en-US" sz="1400" dirty="0"/>
          </a:p>
        </p:txBody>
      </p:sp>
      <p:sp>
        <p:nvSpPr>
          <p:cNvPr id="16" name="Text 12"/>
          <p:cNvSpPr txBox="1"/>
          <p:nvPr/>
        </p:nvSpPr>
        <p:spPr>
          <a:xfrm>
            <a:off x="4521098" y="2368296"/>
            <a:ext cx="3149498" cy="749808"/>
          </a:xfrm>
          <a:prstGeom prst="rect">
            <a:avLst/>
          </a:prstGeom>
          <a:noFill/>
          <a:ln/>
        </p:spPr>
        <p:txBody>
          <a:bodyPr wrap="square" lIns="0" tIns="0" rIns="0" bIns="0" rtlCol="0" anchor="t"/>
          <a:lstStyle/>
          <a:p>
            <a:pPr indent="0" marL="0">
              <a:buNone/>
            </a:pPr>
            <a:r>
              <a:rPr lang="en-US" sz="1300" dirty="0">
                <a:solidFill>
                  <a:schemeClr val="tx1"/>
                </a:solidFill>
              </a:rPr>
              <a:t>Ulusal yarışmayla tasarlanan ilk prefabrik konut adaları; 2019'dan itibaren satıldı</a:t>
            </a:r>
            <a:endParaRPr lang="en-US" sz="1300" dirty="0"/>
          </a:p>
        </p:txBody>
      </p:sp>
      <p:sp>
        <p:nvSpPr>
          <p:cNvPr id="17" name="Text 13"/>
          <p:cNvSpPr txBox="1"/>
          <p:nvPr/>
        </p:nvSpPr>
        <p:spPr>
          <a:xfrm>
            <a:off x="4521098" y="3118104"/>
            <a:ext cx="3149498" cy="502920"/>
          </a:xfrm>
          <a:prstGeom prst="rect">
            <a:avLst/>
          </a:prstGeom>
          <a:noFill/>
          <a:ln/>
        </p:spPr>
        <p:txBody>
          <a:bodyPr wrap="square" lIns="0" tIns="0" rIns="0" bIns="0" rtlCol="0" anchor="t"/>
          <a:lstStyle/>
          <a:p>
            <a:pPr indent="0" marL="0">
              <a:buNone/>
            </a:pPr>
            <a:r>
              <a:rPr lang="en-US" sz="1250" b="1" dirty="0">
                <a:solidFill>
                  <a:schemeClr val="tx2"/>
                </a:solidFill>
              </a:rPr>
              <a:t>İşverene bağlı konut stoku politikayla kaybolabilir</a:t>
            </a:r>
            <a:endParaRPr lang="en-US" sz="1250" dirty="0"/>
          </a:p>
        </p:txBody>
      </p:sp>
      <p:sp>
        <p:nvSpPr>
          <p:cNvPr id="18" name="Kart"/>
          <p:cNvSpPr/>
          <p:nvPr/>
        </p:nvSpPr>
        <p:spPr>
          <a:xfrm>
            <a:off x="8127797" y="1600200"/>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19" name="İkon zemini"/>
          <p:cNvSpPr/>
          <p:nvPr/>
        </p:nvSpPr>
        <p:spPr>
          <a:xfrm>
            <a:off x="8310677" y="1783080"/>
            <a:ext cx="438912" cy="438912"/>
          </a:xfrm>
          <a:prstGeom prst="ellipse">
            <a:avLst/>
          </a:prstGeom>
          <a:solidFill>
            <a:schemeClr val="accent1"/>
          </a:solidFill>
          <a:ln/>
        </p:spPr>
      </p:sp>
      <p:pic>
        <p:nvPicPr>
          <p:cNvPr id="20" name="İkon FaLocationDot" descr="preencoded.png">    </p:cNvPr>
          <p:cNvPicPr>
            <a:picLocks noChangeAspect="1"/>
          </p:cNvPicPr>
          <p:nvPr/>
        </p:nvPicPr>
        <p:blipFill>
          <a:blip r:embed="rId3"/>
          <a:stretch>
            <a:fillRect/>
          </a:stretch>
        </p:blipFill>
        <p:spPr>
          <a:xfrm>
            <a:off x="8416016" y="1888419"/>
            <a:ext cx="228234" cy="228234"/>
          </a:xfrm>
          <a:prstGeom prst="rect">
            <a:avLst/>
          </a:prstGeom>
        </p:spPr>
      </p:pic>
      <p:sp>
        <p:nvSpPr>
          <p:cNvPr id="21" name="Text 16"/>
          <p:cNvSpPr txBox="1"/>
          <p:nvPr/>
        </p:nvSpPr>
        <p:spPr>
          <a:xfrm>
            <a:off x="8859317" y="1764792"/>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Kırıkkale, Türkiye · 1935–2023</a:t>
            </a:r>
            <a:endParaRPr lang="en-US" sz="1100" dirty="0"/>
          </a:p>
        </p:txBody>
      </p:sp>
      <p:sp>
        <p:nvSpPr>
          <p:cNvPr id="22" name="Text 17"/>
          <p:cNvSpPr txBox="1"/>
          <p:nvPr/>
        </p:nvSpPr>
        <p:spPr>
          <a:xfrm>
            <a:off x="8859317" y="2002536"/>
            <a:ext cx="2600858" cy="274320"/>
          </a:xfrm>
          <a:prstGeom prst="rect">
            <a:avLst/>
          </a:prstGeom>
          <a:noFill/>
          <a:ln/>
        </p:spPr>
        <p:txBody>
          <a:bodyPr wrap="square" lIns="0" tIns="0" rIns="0" bIns="0" rtlCol="0" anchor="t"/>
          <a:lstStyle/>
          <a:p>
            <a:pPr indent="0" marL="0">
              <a:buNone/>
            </a:pPr>
            <a:r>
              <a:rPr lang="en-US" sz="1400" b="1" dirty="0">
                <a:solidFill>
                  <a:schemeClr val="tx2"/>
                </a:solidFill>
              </a:rPr>
              <a:t>Kırıkkale sanayi kenti</a:t>
            </a:r>
            <a:endParaRPr lang="en-US" sz="1400" dirty="0"/>
          </a:p>
        </p:txBody>
      </p:sp>
      <p:sp>
        <p:nvSpPr>
          <p:cNvPr id="23" name="Text 18"/>
          <p:cNvSpPr txBox="1"/>
          <p:nvPr/>
        </p:nvSpPr>
        <p:spPr>
          <a:xfrm>
            <a:off x="8310677" y="2368296"/>
            <a:ext cx="3149498" cy="749808"/>
          </a:xfrm>
          <a:prstGeom prst="rect">
            <a:avLst/>
          </a:prstGeom>
          <a:noFill/>
          <a:ln/>
        </p:spPr>
        <p:txBody>
          <a:bodyPr wrap="square" lIns="0" tIns="0" rIns="0" bIns="0" rtlCol="0" anchor="t"/>
          <a:lstStyle/>
          <a:p>
            <a:pPr indent="0" marL="0">
              <a:buNone/>
            </a:pPr>
            <a:r>
              <a:rPr lang="en-US" sz="1300" dirty="0">
                <a:solidFill>
                  <a:schemeClr val="tx1"/>
                </a:solidFill>
              </a:rPr>
              <a:t>Nüfus 1935'te 4.599 iken 2023'te 283.053; ekonomi zamanla hizmetlere kaydı</a:t>
            </a:r>
            <a:endParaRPr lang="en-US" sz="1300" dirty="0"/>
          </a:p>
        </p:txBody>
      </p:sp>
      <p:sp>
        <p:nvSpPr>
          <p:cNvPr id="24" name="Text 19"/>
          <p:cNvSpPr txBox="1"/>
          <p:nvPr/>
        </p:nvSpPr>
        <p:spPr>
          <a:xfrm>
            <a:off x="8310677" y="3118104"/>
            <a:ext cx="3149498" cy="502920"/>
          </a:xfrm>
          <a:prstGeom prst="rect">
            <a:avLst/>
          </a:prstGeom>
          <a:noFill/>
          <a:ln/>
        </p:spPr>
        <p:txBody>
          <a:bodyPr wrap="square" lIns="0" tIns="0" rIns="0" bIns="0" rtlCol="0" anchor="t"/>
          <a:lstStyle/>
          <a:p>
            <a:pPr indent="0" marL="0">
              <a:buNone/>
            </a:pPr>
            <a:r>
              <a:rPr lang="en-US" sz="1250" b="1" dirty="0">
                <a:solidFill>
                  <a:schemeClr val="tx2"/>
                </a:solidFill>
              </a:rPr>
              <a:t>İkinci bir kent işlevi dayanıklılık sağlar</a:t>
            </a:r>
            <a:endParaRPr lang="en-US" sz="1250" dirty="0"/>
          </a:p>
        </p:txBody>
      </p:sp>
      <p:sp>
        <p:nvSpPr>
          <p:cNvPr id="25" name="Kart"/>
          <p:cNvSpPr/>
          <p:nvPr/>
        </p:nvSpPr>
        <p:spPr>
          <a:xfrm>
            <a:off x="548640" y="3867912"/>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26" name="İkon zemini"/>
          <p:cNvSpPr/>
          <p:nvPr/>
        </p:nvSpPr>
        <p:spPr>
          <a:xfrm>
            <a:off x="731520" y="4050792"/>
            <a:ext cx="438912" cy="438912"/>
          </a:xfrm>
          <a:prstGeom prst="ellipse">
            <a:avLst/>
          </a:prstGeom>
          <a:solidFill>
            <a:schemeClr val="accent1"/>
          </a:solidFill>
          <a:ln/>
        </p:spPr>
      </p:sp>
      <p:pic>
        <p:nvPicPr>
          <p:cNvPr id="27" name="İkon FaLocationDot" descr="preencoded.png">    </p:cNvPr>
          <p:cNvPicPr>
            <a:picLocks noChangeAspect="1"/>
          </p:cNvPicPr>
          <p:nvPr/>
        </p:nvPicPr>
        <p:blipFill>
          <a:blip r:embed="rId4"/>
          <a:stretch>
            <a:fillRect/>
          </a:stretch>
        </p:blipFill>
        <p:spPr>
          <a:xfrm>
            <a:off x="836859" y="4156131"/>
            <a:ext cx="228234" cy="228234"/>
          </a:xfrm>
          <a:prstGeom prst="rect">
            <a:avLst/>
          </a:prstGeom>
        </p:spPr>
      </p:pic>
      <p:sp>
        <p:nvSpPr>
          <p:cNvPr id="28" name="Text 22"/>
          <p:cNvSpPr txBox="1"/>
          <p:nvPr/>
        </p:nvSpPr>
        <p:spPr>
          <a:xfrm>
            <a:off x="1280160" y="4032504"/>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Eskişehir, Türkiye · 2008</a:t>
            </a:r>
            <a:endParaRPr lang="en-US" sz="1100" dirty="0"/>
          </a:p>
        </p:txBody>
      </p:sp>
      <p:sp>
        <p:nvSpPr>
          <p:cNvPr id="29" name="Text 23"/>
          <p:cNvSpPr txBox="1"/>
          <p:nvPr/>
        </p:nvSpPr>
        <p:spPr>
          <a:xfrm>
            <a:off x="1280160" y="4270248"/>
            <a:ext cx="2600858" cy="274320"/>
          </a:xfrm>
          <a:prstGeom prst="rect">
            <a:avLst/>
          </a:prstGeom>
          <a:noFill/>
          <a:ln/>
        </p:spPr>
        <p:txBody>
          <a:bodyPr wrap="square" lIns="0" tIns="0" rIns="0" bIns="0" rtlCol="0" anchor="t"/>
          <a:lstStyle/>
          <a:p>
            <a:pPr indent="0" marL="0">
              <a:buNone/>
            </a:pPr>
            <a:r>
              <a:rPr lang="en-US" sz="1400" b="1" dirty="0">
                <a:solidFill>
                  <a:schemeClr val="tx2"/>
                </a:solidFill>
              </a:rPr>
              <a:t>Sazova Bilim Kültür ve Sanat Parkı</a:t>
            </a:r>
            <a:endParaRPr lang="en-US" sz="1400" dirty="0"/>
          </a:p>
        </p:txBody>
      </p:sp>
      <p:sp>
        <p:nvSpPr>
          <p:cNvPr id="30" name="Text 24"/>
          <p:cNvSpPr txBox="1"/>
          <p:nvPr/>
        </p:nvSpPr>
        <p:spPr>
          <a:xfrm>
            <a:off x="731520" y="4636008"/>
            <a:ext cx="3149498" cy="749808"/>
          </a:xfrm>
          <a:prstGeom prst="rect">
            <a:avLst/>
          </a:prstGeom>
          <a:noFill/>
          <a:ln/>
        </p:spPr>
        <p:txBody>
          <a:bodyPr wrap="square" lIns="0" tIns="0" rIns="0" bIns="0" rtlCol="0" anchor="t"/>
          <a:lstStyle/>
          <a:p>
            <a:pPr indent="0" marL="0">
              <a:buNone/>
            </a:pPr>
            <a:r>
              <a:rPr lang="en-US" sz="1300" dirty="0">
                <a:solidFill>
                  <a:schemeClr val="tx1"/>
                </a:solidFill>
              </a:rPr>
              <a:t>~400 dönümlük parkta ~2,5 ha gölet; hafta sonu 5–6 bin ziyaretçi</a:t>
            </a:r>
            <a:endParaRPr lang="en-US" sz="1300" dirty="0"/>
          </a:p>
        </p:txBody>
      </p:sp>
      <p:sp>
        <p:nvSpPr>
          <p:cNvPr id="31" name="Text 25"/>
          <p:cNvSpPr txBox="1"/>
          <p:nvPr/>
        </p:nvSpPr>
        <p:spPr>
          <a:xfrm>
            <a:off x="731520" y="5385816"/>
            <a:ext cx="3149498" cy="502920"/>
          </a:xfrm>
          <a:prstGeom prst="rect">
            <a:avLst/>
          </a:prstGeom>
          <a:noFill/>
          <a:ln/>
        </p:spPr>
        <p:txBody>
          <a:bodyPr wrap="square" lIns="0" tIns="0" rIns="0" bIns="0" rtlCol="0" anchor="t"/>
          <a:lstStyle/>
          <a:p>
            <a:pPr indent="0" marL="0">
              <a:buNone/>
            </a:pPr>
            <a:r>
              <a:rPr lang="en-US" sz="1250" b="1" dirty="0">
                <a:solidFill>
                  <a:schemeClr val="tx2"/>
                </a:solidFill>
              </a:rPr>
              <a:t>Küçük gölet bilim ve çocuk programıyla canlanır</a:t>
            </a:r>
            <a:endParaRPr lang="en-US" sz="1250" dirty="0"/>
          </a:p>
        </p:txBody>
      </p:sp>
      <p:sp>
        <p:nvSpPr>
          <p:cNvPr id="32" name="Kart"/>
          <p:cNvSpPr/>
          <p:nvPr/>
        </p:nvSpPr>
        <p:spPr>
          <a:xfrm>
            <a:off x="4338218" y="3867912"/>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33" name="İkon zemini"/>
          <p:cNvSpPr/>
          <p:nvPr/>
        </p:nvSpPr>
        <p:spPr>
          <a:xfrm>
            <a:off x="4521098" y="4050792"/>
            <a:ext cx="438912" cy="438912"/>
          </a:xfrm>
          <a:prstGeom prst="ellipse">
            <a:avLst/>
          </a:prstGeom>
          <a:solidFill>
            <a:schemeClr val="accent1"/>
          </a:solidFill>
          <a:ln/>
        </p:spPr>
      </p:sp>
      <p:pic>
        <p:nvPicPr>
          <p:cNvPr id="34" name="İkon FaLocationDot" descr="preencoded.png">    </p:cNvPr>
          <p:cNvPicPr>
            <a:picLocks noChangeAspect="1"/>
          </p:cNvPicPr>
          <p:nvPr/>
        </p:nvPicPr>
        <p:blipFill>
          <a:blip r:embed="rId5"/>
          <a:stretch>
            <a:fillRect/>
          </a:stretch>
        </p:blipFill>
        <p:spPr>
          <a:xfrm>
            <a:off x="4626437" y="4156131"/>
            <a:ext cx="228234" cy="228234"/>
          </a:xfrm>
          <a:prstGeom prst="rect">
            <a:avLst/>
          </a:prstGeom>
        </p:spPr>
      </p:pic>
      <p:sp>
        <p:nvSpPr>
          <p:cNvPr id="35" name="Text 28"/>
          <p:cNvSpPr txBox="1"/>
          <p:nvPr/>
        </p:nvSpPr>
        <p:spPr>
          <a:xfrm>
            <a:off x="5069738" y="4032504"/>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Ankara, Türkiye · 2021</a:t>
            </a:r>
            <a:endParaRPr lang="en-US" sz="1100" dirty="0"/>
          </a:p>
        </p:txBody>
      </p:sp>
      <p:sp>
        <p:nvSpPr>
          <p:cNvPr id="36" name="Text 29"/>
          <p:cNvSpPr txBox="1"/>
          <p:nvPr/>
        </p:nvSpPr>
        <p:spPr>
          <a:xfrm>
            <a:off x="5069738" y="4270248"/>
            <a:ext cx="2600858" cy="274320"/>
          </a:xfrm>
          <a:prstGeom prst="rect">
            <a:avLst/>
          </a:prstGeom>
          <a:noFill/>
          <a:ln/>
        </p:spPr>
        <p:txBody>
          <a:bodyPr wrap="square" lIns="0" tIns="0" rIns="0" bIns="0" rtlCol="0" anchor="t"/>
          <a:lstStyle/>
          <a:p>
            <a:pPr indent="0" marL="0">
              <a:buNone/>
            </a:pPr>
            <a:r>
              <a:rPr lang="en-US" sz="1400" b="1" dirty="0">
                <a:solidFill>
                  <a:schemeClr val="tx2"/>
                </a:solidFill>
              </a:rPr>
              <a:t>AKM Millet Bahçesi</a:t>
            </a:r>
            <a:endParaRPr lang="en-US" sz="1400" dirty="0"/>
          </a:p>
        </p:txBody>
      </p:sp>
      <p:sp>
        <p:nvSpPr>
          <p:cNvPr id="37" name="Text 30"/>
          <p:cNvSpPr txBox="1"/>
          <p:nvPr/>
        </p:nvSpPr>
        <p:spPr>
          <a:xfrm>
            <a:off x="4521098" y="4636008"/>
            <a:ext cx="3149498" cy="749808"/>
          </a:xfrm>
          <a:prstGeom prst="rect">
            <a:avLst/>
          </a:prstGeom>
          <a:noFill/>
          <a:ln/>
        </p:spPr>
        <p:txBody>
          <a:bodyPr wrap="square" lIns="0" tIns="0" rIns="0" bIns="0" rtlCol="0" anchor="t"/>
          <a:lstStyle/>
          <a:p>
            <a:pPr indent="0" marL="0">
              <a:buNone/>
            </a:pPr>
            <a:r>
              <a:rPr lang="en-US" sz="1300" dirty="0">
                <a:solidFill>
                  <a:schemeClr val="tx1"/>
                </a:solidFill>
              </a:rPr>
              <a:t>~70 ha'lık bahçe açılışından sonraki 4 günde 200 bin ziyaretçi ağırladı</a:t>
            </a:r>
            <a:endParaRPr lang="en-US" sz="1300" dirty="0"/>
          </a:p>
        </p:txBody>
      </p:sp>
      <p:sp>
        <p:nvSpPr>
          <p:cNvPr id="38" name="Text 31"/>
          <p:cNvSpPr txBox="1"/>
          <p:nvPr/>
        </p:nvSpPr>
        <p:spPr>
          <a:xfrm>
            <a:off x="4521098" y="5385816"/>
            <a:ext cx="3149498" cy="502920"/>
          </a:xfrm>
          <a:prstGeom prst="rect">
            <a:avLst/>
          </a:prstGeom>
          <a:noFill/>
          <a:ln/>
        </p:spPr>
        <p:txBody>
          <a:bodyPr wrap="square" lIns="0" tIns="0" rIns="0" bIns="0" rtlCol="0" anchor="t"/>
          <a:lstStyle/>
          <a:p>
            <a:pPr indent="0" marL="0">
              <a:buNone/>
            </a:pPr>
            <a:r>
              <a:rPr lang="en-US" sz="1250" b="1" dirty="0">
                <a:solidFill>
                  <a:schemeClr val="tx2"/>
                </a:solidFill>
              </a:rPr>
              <a:t>Ankara'da ücretsiz büyük park talebi yüksektir</a:t>
            </a:r>
            <a:endParaRPr lang="en-US" sz="1250" dirty="0"/>
          </a:p>
        </p:txBody>
      </p:sp>
      <p:sp>
        <p:nvSpPr>
          <p:cNvPr id="39" name="Kart"/>
          <p:cNvSpPr/>
          <p:nvPr/>
        </p:nvSpPr>
        <p:spPr>
          <a:xfrm>
            <a:off x="8127797" y="3867912"/>
            <a:ext cx="3515258" cy="2084832"/>
          </a:xfrm>
          <a:prstGeom prst="roundRect">
            <a:avLst>
              <a:gd name="adj" fmla="val 3509"/>
            </a:avLst>
          </a:prstGeom>
          <a:solidFill>
            <a:schemeClr val="bg1"/>
          </a:solidFill>
          <a:ln/>
          <a:effectLst>
            <a:outerShdw sx="100000" sy="100000" kx="0" ky="0" algn="bl" rotWithShape="0" blurRad="76200" dist="19050" dir="5400000">
              <a:srgbClr val="000000">
                <a:alpha val="12000"/>
              </a:srgbClr>
            </a:outerShdw>
          </a:effectLst>
        </p:spPr>
      </p:sp>
      <p:sp>
        <p:nvSpPr>
          <p:cNvPr id="40" name="İkon zemini"/>
          <p:cNvSpPr/>
          <p:nvPr/>
        </p:nvSpPr>
        <p:spPr>
          <a:xfrm>
            <a:off x="8310677" y="4050792"/>
            <a:ext cx="438912" cy="438912"/>
          </a:xfrm>
          <a:prstGeom prst="ellipse">
            <a:avLst/>
          </a:prstGeom>
          <a:solidFill>
            <a:schemeClr val="accent1"/>
          </a:solidFill>
          <a:ln/>
        </p:spPr>
      </p:sp>
      <p:pic>
        <p:nvPicPr>
          <p:cNvPr id="41" name="İkon FaLocationDot" descr="preencoded.png">    </p:cNvPr>
          <p:cNvPicPr>
            <a:picLocks noChangeAspect="1"/>
          </p:cNvPicPr>
          <p:nvPr/>
        </p:nvPicPr>
        <p:blipFill>
          <a:blip r:embed="rId6"/>
          <a:stretch>
            <a:fillRect/>
          </a:stretch>
        </p:blipFill>
        <p:spPr>
          <a:xfrm>
            <a:off x="8416016" y="4156131"/>
            <a:ext cx="228234" cy="228234"/>
          </a:xfrm>
          <a:prstGeom prst="rect">
            <a:avLst/>
          </a:prstGeom>
        </p:spPr>
      </p:pic>
      <p:sp>
        <p:nvSpPr>
          <p:cNvPr id="42" name="Text 34"/>
          <p:cNvSpPr txBox="1"/>
          <p:nvPr/>
        </p:nvSpPr>
        <p:spPr>
          <a:xfrm>
            <a:off x="8859317" y="4032504"/>
            <a:ext cx="2600858" cy="237744"/>
          </a:xfrm>
          <a:prstGeom prst="rect">
            <a:avLst/>
          </a:prstGeom>
          <a:noFill/>
          <a:ln/>
        </p:spPr>
        <p:txBody>
          <a:bodyPr wrap="square" lIns="0" tIns="0" rIns="0" bIns="0" rtlCol="0" anchor="t"/>
          <a:lstStyle/>
          <a:p>
            <a:pPr indent="0" marL="0">
              <a:buNone/>
            </a:pPr>
            <a:r>
              <a:rPr lang="en-US" sz="1100" b="1" dirty="0">
                <a:solidFill>
                  <a:schemeClr val="accent1"/>
                </a:solidFill>
              </a:rPr>
              <a:t>Gölbaşı, Ankara · 2011</a:t>
            </a:r>
            <a:endParaRPr lang="en-US" sz="1100" dirty="0"/>
          </a:p>
        </p:txBody>
      </p:sp>
      <p:sp>
        <p:nvSpPr>
          <p:cNvPr id="43" name="Text 35"/>
          <p:cNvSpPr txBox="1"/>
          <p:nvPr/>
        </p:nvSpPr>
        <p:spPr>
          <a:xfrm>
            <a:off x="8859317" y="4270248"/>
            <a:ext cx="2600858" cy="274320"/>
          </a:xfrm>
          <a:prstGeom prst="rect">
            <a:avLst/>
          </a:prstGeom>
          <a:noFill/>
          <a:ln/>
        </p:spPr>
        <p:txBody>
          <a:bodyPr wrap="square" lIns="0" tIns="0" rIns="0" bIns="0" rtlCol="0" anchor="t"/>
          <a:lstStyle/>
          <a:p>
            <a:pPr indent="0" marL="0">
              <a:buNone/>
            </a:pPr>
            <a:r>
              <a:rPr lang="en-US" sz="1400" b="1" dirty="0">
                <a:solidFill>
                  <a:schemeClr val="tx2"/>
                </a:solidFill>
              </a:rPr>
              <a:t>Mogan Gölü</a:t>
            </a:r>
            <a:endParaRPr lang="en-US" sz="1400" dirty="0"/>
          </a:p>
        </p:txBody>
      </p:sp>
      <p:sp>
        <p:nvSpPr>
          <p:cNvPr id="44" name="Text 36"/>
          <p:cNvSpPr txBox="1"/>
          <p:nvPr/>
        </p:nvSpPr>
        <p:spPr>
          <a:xfrm>
            <a:off x="8310677" y="4636008"/>
            <a:ext cx="3149498" cy="749808"/>
          </a:xfrm>
          <a:prstGeom prst="rect">
            <a:avLst/>
          </a:prstGeom>
          <a:noFill/>
          <a:ln/>
        </p:spPr>
        <p:txBody>
          <a:bodyPr wrap="square" lIns="0" tIns="0" rIns="0" bIns="0" rtlCol="0" anchor="t"/>
          <a:lstStyle/>
          <a:p>
            <a:pPr indent="0" marL="0">
              <a:buNone/>
            </a:pPr>
            <a:r>
              <a:rPr lang="en-US" sz="1300" dirty="0">
                <a:solidFill>
                  <a:schemeClr val="tx1"/>
                </a:solidFill>
              </a:rPr>
              <a:t>2011 tezinde atıksu ve tarımsal akış nedeniyle azot ve fosfor sınırları aşıldı</a:t>
            </a:r>
            <a:endParaRPr lang="en-US" sz="1300" dirty="0"/>
          </a:p>
        </p:txBody>
      </p:sp>
      <p:sp>
        <p:nvSpPr>
          <p:cNvPr id="45" name="Text 37"/>
          <p:cNvSpPr txBox="1"/>
          <p:nvPr/>
        </p:nvSpPr>
        <p:spPr>
          <a:xfrm>
            <a:off x="8310677" y="5385816"/>
            <a:ext cx="3149498" cy="502920"/>
          </a:xfrm>
          <a:prstGeom prst="rect">
            <a:avLst/>
          </a:prstGeom>
          <a:noFill/>
          <a:ln/>
        </p:spPr>
        <p:txBody>
          <a:bodyPr wrap="square" lIns="0" tIns="0" rIns="0" bIns="0" rtlCol="0" anchor="t"/>
          <a:lstStyle/>
          <a:p>
            <a:pPr indent="0" marL="0">
              <a:buNone/>
            </a:pPr>
            <a:r>
              <a:rPr lang="en-US" sz="1250" b="1" dirty="0">
                <a:solidFill>
                  <a:schemeClr val="tx2"/>
                </a:solidFill>
              </a:rPr>
              <a:t>Gölde nütrient kontrolü baştan tasarlanmalıdır</a:t>
            </a:r>
            <a:endParaRPr lang="en-US" sz="1250" dirty="0"/>
          </a:p>
        </p:txBody>
      </p:sp>
      <p:sp>
        <p:nvSpPr>
          <p:cNvPr id="46" name="Text 38"/>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araştırma notları (kurum, akademik ve basın kaynakları). Örnek fotoğrafları telif nedeniyle kullanılmamıştır.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ALAN PROGRAMI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Önerilen alan programı: 2.500 konut</a:t>
            </a:r>
            <a:endParaRPr lang="en-US" sz="3600" dirty="0"/>
          </a:p>
        </p:txBody>
      </p:sp>
      <p:graphicFrame>
        <p:nvGraphicFramePr>
          <p:cNvPr id="4" name="Chart 0" descr=""/>
          <p:cNvGraphicFramePr/>
          <p:nvPr/>
        </p:nvGraphicFramePr>
        <p:xfrm>
          <a:off x="548640" y="1600200"/>
          <a:ext cx="6035040" cy="4389120"/>
        </p:xfrm>
        <a:graphic xmlns:a="http://schemas.openxmlformats.org/drawingml/2006/main">
          <a:graphicData uri="http://schemas.openxmlformats.org/drawingml/2006/chart">
            <c:chart xmlns:c="http://schemas.openxmlformats.org/drawingml/2006/chart" r:id="rId1"/>
          </a:graphicData>
        </a:graphic>
      </p:graphicFrame>
      <p:sp>
        <p:nvSpPr>
          <p:cNvPr id="5" name="Gösterge"/>
          <p:cNvSpPr/>
          <p:nvPr/>
        </p:nvSpPr>
        <p:spPr>
          <a:xfrm>
            <a:off x="6903720" y="1600200"/>
            <a:ext cx="2286000" cy="1078992"/>
          </a:xfrm>
          <a:prstGeom prst="roundRect">
            <a:avLst>
              <a:gd name="adj" fmla="val 6780"/>
            </a:avLst>
          </a:prstGeom>
          <a:solidFill>
            <a:schemeClr val="bg1"/>
          </a:solidFill>
          <a:ln/>
          <a:effectLst>
            <a:outerShdw sx="100000" sy="100000" kx="0" ky="0" algn="bl" rotWithShape="0" blurRad="76200" dist="19050" dir="5400000">
              <a:srgbClr val="000000">
                <a:alpha val="12000"/>
              </a:srgbClr>
            </a:outerShdw>
          </a:effectLst>
        </p:spPr>
      </p:sp>
      <p:sp>
        <p:nvSpPr>
          <p:cNvPr id="6" name="Text 3"/>
          <p:cNvSpPr txBox="1"/>
          <p:nvPr/>
        </p:nvSpPr>
        <p:spPr>
          <a:xfrm>
            <a:off x="7086600" y="1728216"/>
            <a:ext cx="1920240" cy="539496"/>
          </a:xfrm>
          <a:prstGeom prst="rect">
            <a:avLst/>
          </a:prstGeom>
          <a:noFill/>
          <a:ln/>
        </p:spPr>
        <p:txBody>
          <a:bodyPr wrap="square" lIns="0" tIns="0" rIns="0" bIns="0" rtlCol="0" anchor="b"/>
          <a:lstStyle/>
          <a:p>
            <a:pPr indent="0" marL="0">
              <a:buNone/>
            </a:pPr>
            <a:r>
              <a:rPr lang="en-US" sz="2600" b="1" dirty="0">
                <a:solidFill>
                  <a:schemeClr val="tx2"/>
                </a:solidFill>
                <a:latin typeface="Cambria" pitchFamily="34" charset="0"/>
                <a:ea typeface="Cambria" pitchFamily="34" charset="-122"/>
                <a:cs typeface="Cambria" pitchFamily="34" charset="-120"/>
              </a:rPr>
              <a:t>13,1 ha</a:t>
            </a:r>
            <a:endParaRPr lang="en-US" sz="2600" dirty="0"/>
          </a:p>
        </p:txBody>
      </p:sp>
      <p:sp>
        <p:nvSpPr>
          <p:cNvPr id="7" name="Text 4"/>
          <p:cNvSpPr txBox="1"/>
          <p:nvPr/>
        </p:nvSpPr>
        <p:spPr>
          <a:xfrm>
            <a:off x="7086600" y="2286000"/>
            <a:ext cx="1920240" cy="301752"/>
          </a:xfrm>
          <a:prstGeom prst="rect">
            <a:avLst/>
          </a:prstGeom>
          <a:noFill/>
          <a:ln/>
        </p:spPr>
        <p:txBody>
          <a:bodyPr wrap="square" lIns="0" tIns="0" rIns="0" bIns="0" rtlCol="0" anchor="t"/>
          <a:lstStyle/>
          <a:p>
            <a:pPr indent="0" marL="0">
              <a:buNone/>
            </a:pPr>
            <a:r>
              <a:rPr lang="en-US" sz="1300" dirty="0">
                <a:solidFill>
                  <a:schemeClr val="tx1"/>
                </a:solidFill>
              </a:rPr>
              <a:t>net konut alanı</a:t>
            </a:r>
            <a:endParaRPr lang="en-US" sz="1300" dirty="0"/>
          </a:p>
        </p:txBody>
      </p:sp>
      <p:sp>
        <p:nvSpPr>
          <p:cNvPr id="8" name="Gösterge"/>
          <p:cNvSpPr/>
          <p:nvPr/>
        </p:nvSpPr>
        <p:spPr>
          <a:xfrm>
            <a:off x="9372600" y="1600200"/>
            <a:ext cx="2286000" cy="1078992"/>
          </a:xfrm>
          <a:prstGeom prst="roundRect">
            <a:avLst>
              <a:gd name="adj" fmla="val 6780"/>
            </a:avLst>
          </a:prstGeom>
          <a:solidFill>
            <a:schemeClr val="bg1"/>
          </a:solidFill>
          <a:ln/>
          <a:effectLst>
            <a:outerShdw sx="100000" sy="100000" kx="0" ky="0" algn="bl" rotWithShape="0" blurRad="76200" dist="19050" dir="5400000">
              <a:srgbClr val="000000">
                <a:alpha val="12000"/>
              </a:srgbClr>
            </a:outerShdw>
          </a:effectLst>
        </p:spPr>
      </p:sp>
      <p:sp>
        <p:nvSpPr>
          <p:cNvPr id="9" name="Text 6"/>
          <p:cNvSpPr txBox="1"/>
          <p:nvPr/>
        </p:nvSpPr>
        <p:spPr>
          <a:xfrm>
            <a:off x="9555480" y="1728216"/>
            <a:ext cx="1920240" cy="539496"/>
          </a:xfrm>
          <a:prstGeom prst="rect">
            <a:avLst/>
          </a:prstGeom>
          <a:noFill/>
          <a:ln/>
        </p:spPr>
        <p:txBody>
          <a:bodyPr wrap="square" lIns="0" tIns="0" rIns="0" bIns="0" rtlCol="0" anchor="b"/>
          <a:lstStyle/>
          <a:p>
            <a:pPr indent="0" marL="0">
              <a:buNone/>
            </a:pPr>
            <a:r>
              <a:rPr lang="en-US" sz="2600" b="1" dirty="0">
                <a:solidFill>
                  <a:schemeClr val="tx2"/>
                </a:solidFill>
                <a:latin typeface="Cambria" pitchFamily="34" charset="0"/>
                <a:ea typeface="Cambria" pitchFamily="34" charset="-122"/>
                <a:cs typeface="Cambria" pitchFamily="34" charset="-120"/>
              </a:rPr>
              <a:t>2,29</a:t>
            </a:r>
            <a:endParaRPr lang="en-US" sz="2600" dirty="0"/>
          </a:p>
        </p:txBody>
      </p:sp>
      <p:sp>
        <p:nvSpPr>
          <p:cNvPr id="10" name="Text 7"/>
          <p:cNvSpPr txBox="1"/>
          <p:nvPr/>
        </p:nvSpPr>
        <p:spPr>
          <a:xfrm>
            <a:off x="9555480" y="2286000"/>
            <a:ext cx="1920240" cy="301752"/>
          </a:xfrm>
          <a:prstGeom prst="rect">
            <a:avLst/>
          </a:prstGeom>
          <a:noFill/>
          <a:ln/>
        </p:spPr>
        <p:txBody>
          <a:bodyPr wrap="square" lIns="0" tIns="0" rIns="0" bIns="0" rtlCol="0" anchor="t"/>
          <a:lstStyle/>
          <a:p>
            <a:pPr indent="0" marL="0">
              <a:buNone/>
            </a:pPr>
            <a:r>
              <a:rPr lang="en-US" sz="1300" dirty="0">
                <a:solidFill>
                  <a:schemeClr val="tx1"/>
                </a:solidFill>
              </a:rPr>
              <a:t>net emsal</a:t>
            </a:r>
            <a:endParaRPr lang="en-US" sz="1300" dirty="0"/>
          </a:p>
        </p:txBody>
      </p:sp>
      <p:sp>
        <p:nvSpPr>
          <p:cNvPr id="11" name="Gösterge"/>
          <p:cNvSpPr/>
          <p:nvPr/>
        </p:nvSpPr>
        <p:spPr>
          <a:xfrm>
            <a:off x="6903720" y="2834640"/>
            <a:ext cx="2286000" cy="1078992"/>
          </a:xfrm>
          <a:prstGeom prst="roundRect">
            <a:avLst>
              <a:gd name="adj" fmla="val 6780"/>
            </a:avLst>
          </a:prstGeom>
          <a:solidFill>
            <a:schemeClr val="bg1"/>
          </a:solidFill>
          <a:ln/>
          <a:effectLst>
            <a:outerShdw sx="100000" sy="100000" kx="0" ky="0" algn="bl" rotWithShape="0" blurRad="76200" dist="19050" dir="5400000">
              <a:srgbClr val="000000">
                <a:alpha val="12000"/>
              </a:srgbClr>
            </a:outerShdw>
          </a:effectLst>
        </p:spPr>
      </p:sp>
      <p:sp>
        <p:nvSpPr>
          <p:cNvPr id="12" name="Text 9"/>
          <p:cNvSpPr txBox="1"/>
          <p:nvPr/>
        </p:nvSpPr>
        <p:spPr>
          <a:xfrm>
            <a:off x="7086600" y="2962656"/>
            <a:ext cx="1920240" cy="539496"/>
          </a:xfrm>
          <a:prstGeom prst="rect">
            <a:avLst/>
          </a:prstGeom>
          <a:noFill/>
          <a:ln/>
        </p:spPr>
        <p:txBody>
          <a:bodyPr wrap="square" lIns="0" tIns="0" rIns="0" bIns="0" rtlCol="0" anchor="b"/>
          <a:lstStyle/>
          <a:p>
            <a:pPr indent="0" marL="0">
              <a:buNone/>
            </a:pPr>
            <a:r>
              <a:rPr lang="en-US" sz="2600" b="1" dirty="0">
                <a:solidFill>
                  <a:schemeClr val="tx2"/>
                </a:solidFill>
                <a:latin typeface="Cambria" pitchFamily="34" charset="0"/>
                <a:ea typeface="Cambria" pitchFamily="34" charset="-122"/>
                <a:cs typeface="Cambria" pitchFamily="34" charset="-120"/>
              </a:rPr>
              <a:t>49</a:t>
            </a:r>
            <a:endParaRPr lang="en-US" sz="2600" dirty="0"/>
          </a:p>
        </p:txBody>
      </p:sp>
      <p:sp>
        <p:nvSpPr>
          <p:cNvPr id="13" name="Text 10"/>
          <p:cNvSpPr txBox="1"/>
          <p:nvPr/>
        </p:nvSpPr>
        <p:spPr>
          <a:xfrm>
            <a:off x="7086600" y="3520440"/>
            <a:ext cx="1920240" cy="301752"/>
          </a:xfrm>
          <a:prstGeom prst="rect">
            <a:avLst/>
          </a:prstGeom>
          <a:noFill/>
          <a:ln/>
        </p:spPr>
        <p:txBody>
          <a:bodyPr wrap="square" lIns="0" tIns="0" rIns="0" bIns="0" rtlCol="0" anchor="t"/>
          <a:lstStyle/>
          <a:p>
            <a:pPr indent="0" marL="0">
              <a:buNone/>
            </a:pPr>
            <a:r>
              <a:rPr lang="en-US" sz="1300" dirty="0">
                <a:solidFill>
                  <a:schemeClr val="tx1"/>
                </a:solidFill>
              </a:rPr>
              <a:t>konut/ha (brüt)</a:t>
            </a:r>
            <a:endParaRPr lang="en-US" sz="1300" dirty="0"/>
          </a:p>
        </p:txBody>
      </p:sp>
      <p:sp>
        <p:nvSpPr>
          <p:cNvPr id="14" name="Gösterge"/>
          <p:cNvSpPr/>
          <p:nvPr/>
        </p:nvSpPr>
        <p:spPr>
          <a:xfrm>
            <a:off x="9372600" y="2834640"/>
            <a:ext cx="2286000" cy="1078992"/>
          </a:xfrm>
          <a:prstGeom prst="roundRect">
            <a:avLst>
              <a:gd name="adj" fmla="val 6780"/>
            </a:avLst>
          </a:prstGeom>
          <a:solidFill>
            <a:schemeClr val="bg1"/>
          </a:solidFill>
          <a:ln/>
          <a:effectLst>
            <a:outerShdw sx="100000" sy="100000" kx="0" ky="0" algn="bl" rotWithShape="0" blurRad="76200" dist="19050" dir="5400000">
              <a:srgbClr val="000000">
                <a:alpha val="12000"/>
              </a:srgbClr>
            </a:outerShdw>
          </a:effectLst>
        </p:spPr>
      </p:sp>
      <p:sp>
        <p:nvSpPr>
          <p:cNvPr id="15" name="Text 12"/>
          <p:cNvSpPr txBox="1"/>
          <p:nvPr/>
        </p:nvSpPr>
        <p:spPr>
          <a:xfrm>
            <a:off x="9555480" y="2962656"/>
            <a:ext cx="1920240" cy="539496"/>
          </a:xfrm>
          <a:prstGeom prst="rect">
            <a:avLst/>
          </a:prstGeom>
          <a:noFill/>
          <a:ln/>
        </p:spPr>
        <p:txBody>
          <a:bodyPr wrap="square" lIns="0" tIns="0" rIns="0" bIns="0" rtlCol="0" anchor="b"/>
          <a:lstStyle/>
          <a:p>
            <a:pPr indent="0" marL="0">
              <a:buNone/>
            </a:pPr>
            <a:r>
              <a:rPr lang="en-US" sz="2600" b="1" dirty="0">
                <a:solidFill>
                  <a:schemeClr val="tx2"/>
                </a:solidFill>
                <a:latin typeface="Cambria" pitchFamily="34" charset="0"/>
                <a:ea typeface="Cambria" pitchFamily="34" charset="-122"/>
                <a:cs typeface="Cambria" pitchFamily="34" charset="-120"/>
              </a:rPr>
              <a:t>24,7 m²</a:t>
            </a:r>
            <a:endParaRPr lang="en-US" sz="2600" dirty="0"/>
          </a:p>
        </p:txBody>
      </p:sp>
      <p:sp>
        <p:nvSpPr>
          <p:cNvPr id="16" name="Text 13"/>
          <p:cNvSpPr txBox="1"/>
          <p:nvPr/>
        </p:nvSpPr>
        <p:spPr>
          <a:xfrm>
            <a:off x="9555480" y="3520440"/>
            <a:ext cx="1920240" cy="301752"/>
          </a:xfrm>
          <a:prstGeom prst="rect">
            <a:avLst/>
          </a:prstGeom>
          <a:noFill/>
          <a:ln/>
        </p:spPr>
        <p:txBody>
          <a:bodyPr wrap="square" lIns="0" tIns="0" rIns="0" bIns="0" rtlCol="0" anchor="t"/>
          <a:lstStyle/>
          <a:p>
            <a:pPr indent="0" marL="0">
              <a:buNone/>
            </a:pPr>
            <a:r>
              <a:rPr lang="en-US" sz="1300" dirty="0">
                <a:solidFill>
                  <a:schemeClr val="tx1"/>
                </a:solidFill>
              </a:rPr>
              <a:t>kişi başı yeşil alan</a:t>
            </a:r>
            <a:endParaRPr lang="en-US" sz="13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903720" y="4206240"/>
          <a:ext cx="4736592" cy="914400"/>
        </p:xfrm>
        <a:graphic>
          <a:graphicData uri="http://schemas.openxmlformats.org/drawingml/2006/table">
            <a:tbl>
              <a:tblPr/>
              <a:tblGrid>
                <a:gridCol w="1993392"/>
                <a:gridCol w="914400"/>
                <a:gridCol w="914400"/>
                <a:gridCol w="914400"/>
              </a:tblGrid>
              <a:tr h="384048">
                <a:tc>
                  <a:txBody>
                    <a:bodyPr/>
                    <a:lstStyle/>
                    <a:p>
                      <a:pPr algn="l" indent="0" marL="0">
                        <a:buNone/>
                      </a:pPr>
                      <a:r>
                        <a:rPr lang="en-US" sz="1400" b="1" dirty="0">
                          <a:solidFill>
                            <a:srgbClr val="FFFFFF"/>
                          </a:solidFill>
                        </a:rPr>
                        <a:t>Senaryo</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400" b="1" dirty="0">
                          <a:solidFill>
                            <a:srgbClr val="FFFFFF"/>
                          </a:solidFill>
                        </a:rPr>
                        <a:t>2.000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400" b="1" dirty="0">
                          <a:solidFill>
                            <a:srgbClr val="FFFFFF"/>
                          </a:solidFill>
                        </a:rPr>
                        <a:t>2.500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9A5418"/>
                    </a:solidFill>
                  </a:tcPr>
                </a:tc>
                <a:tc>
                  <a:txBody>
                    <a:bodyPr/>
                    <a:lstStyle/>
                    <a:p>
                      <a:pPr algn="r" indent="0" marL="0">
                        <a:buNone/>
                      </a:pPr>
                      <a:r>
                        <a:rPr lang="en-US" sz="1400" b="1" dirty="0">
                          <a:solidFill>
                            <a:srgbClr val="FFFFFF"/>
                          </a:solidFill>
                        </a:rPr>
                        <a:t>3.000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384048">
                <a:tc>
                  <a:txBody>
                    <a:bodyPr/>
                    <a:lstStyle/>
                    <a:p>
                      <a:pPr algn="l" indent="0" marL="0">
                        <a:buNone/>
                      </a:pPr>
                      <a:r>
                        <a:rPr lang="en-US" sz="1400" b="1" dirty="0">
                          <a:solidFill>
                            <a:srgbClr val="1B2430"/>
                          </a:solidFill>
                        </a:rPr>
                        <a:t>Nüfus</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6.000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B2430"/>
                          </a:solidFill>
                        </a:rPr>
                        <a:t>7.500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dirty="0">
                          <a:solidFill>
                            <a:srgbClr val="1B2430"/>
                          </a:solidFill>
                        </a:rPr>
                        <a:t>9.000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1B2430"/>
                          </a:solidFill>
                        </a:rPr>
                        <a:t>Net emsal</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1,60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B2430"/>
                          </a:solidFill>
                        </a:rPr>
                        <a:t>2,29</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dirty="0">
                          <a:solidFill>
                            <a:srgbClr val="1B2430"/>
                          </a:solidFill>
                        </a:rPr>
                        <a:t>3,21</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1B2430"/>
                          </a:solidFill>
                        </a:rPr>
                        <a:t>Kişi başı yeşil (m²)</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30,3</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B2430"/>
                          </a:solidFill>
                        </a:rPr>
                        <a:t>24,7</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dirty="0">
                          <a:solidFill>
                            <a:srgbClr val="1B2430"/>
                          </a:solidFill>
                        </a:rPr>
                        <a:t>20,9</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18" name="Text 14"/>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Varsayımlar: hane 3,0 kişi; konut başına 120 m² brüt inşaat; donatılar MPYY Ek-2. Karşılaştırma: TAI Ankara Lodgings brüt ~37,5 konut/ha.</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PROGRAM · SENARYOLAR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Alan programı senaryoları</a:t>
            </a:r>
            <a:endParaRPr lang="en-US" sz="36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773604"/>
                <a:gridCol w="2773604"/>
                <a:gridCol w="2773604"/>
                <a:gridCol w="2773604"/>
              </a:tblGrid>
              <a:tr h="457200">
                <a:tc>
                  <a:txBody>
                    <a:bodyPr/>
                    <a:lstStyle/>
                    <a:p>
                      <a:pPr indent="0" marL="0">
                        <a:buNone/>
                      </a:pPr>
                      <a:r>
                        <a:rPr lang="en-US" sz="1300" b="1" dirty="0">
                          <a:solidFill>
                            <a:srgbClr val="FFFFFF"/>
                          </a:solidFill>
                        </a:rPr>
                        <a:t>Gösterge</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2.000 konut</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2.500 konut</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3.000 konut</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457200">
                <a:tc>
                  <a:txBody>
                    <a:bodyPr/>
                    <a:lstStyle/>
                    <a:p>
                      <a:pPr indent="0" marL="0">
                        <a:buNone/>
                      </a:pPr>
                      <a:r>
                        <a:rPr lang="en-US" sz="1300" b="1" dirty="0">
                          <a:solidFill>
                            <a:srgbClr val="1B2430"/>
                          </a:solidFill>
                        </a:rPr>
                        <a:t>Nüfus (kişi)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6.000</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7.500</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9.000</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Net konut alanı (ha)</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15,0</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13,1</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11,2</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Konut inşaat alanı (m²)</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240.000</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300.000</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360.000</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Net konut adasında emsal</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1,60</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2,29</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3,21</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Net yoğunluk (konut/ha)</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133</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191</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268</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Brüt yoğunluk (konut/ha)</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39</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49</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59</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Kişi başı yeşil alan (m²)</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30,3</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24,7</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20,9</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Koordinatör hesabı, alan programı (23.10.2026); hane 3,0 kişi ve konut başına brüt 120 m² varsayımı; 10 ha korunan yamaç.</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PROGRAM · DONATI STANDARTLARI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MPYY Ek-2 donatı standartları</a:t>
            </a:r>
            <a:endParaRPr lang="en-US" sz="36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773604"/>
                <a:gridCol w="2773604"/>
                <a:gridCol w="2773604"/>
                <a:gridCol w="2773604"/>
              </a:tblGrid>
              <a:tr h="457200">
                <a:tc>
                  <a:txBody>
                    <a:bodyPr/>
                    <a:lstStyle/>
                    <a:p>
                      <a:pPr indent="0" marL="0">
                        <a:buNone/>
                      </a:pPr>
                      <a:r>
                        <a:rPr lang="en-US" sz="1300" b="1" dirty="0">
                          <a:solidFill>
                            <a:srgbClr val="FFFFFF"/>
                          </a:solidFill>
                        </a:rPr>
                        <a:t>Donatı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m²/kişi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Asgari birim alan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Uydukent</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457200">
                <a:tc>
                  <a:txBody>
                    <a:bodyPr/>
                    <a:lstStyle/>
                    <a:p>
                      <a:pPr indent="0" marL="0">
                        <a:buNone/>
                      </a:pPr>
                      <a:r>
                        <a:rPr lang="en-US" sz="1300" b="1" dirty="0">
                          <a:solidFill>
                            <a:srgbClr val="1B2430"/>
                          </a:solidFill>
                        </a:rPr>
                        <a:t>Eğitim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6,5</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İlkokul 5.000–8.000 m²</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4,88 ha</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Sağlık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1,5</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ASM 750–2.000 m²</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1,12 ha</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Sosyal ve kültürel</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1,0</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0,75 ha</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İbadet</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0,5</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Küçük 1.000 m², orta 2.500 m²</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0,38 ha</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Teknik altyapı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1,25</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Yol ve otopark hariç</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0,94 ha</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Açık ve yeşil alan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10,0</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Park, meydan, semt spor alanı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24,7 m²/kişi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Yürüme mesafesi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İlkokul ~500 m, ortaokul ~1.000 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En uzak konut ~500 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MPYY Ek-2 (RG 17.05.2017, sayı 30069), 75.001–150.000 kademesi (ihtiyatlı seçim); MPYY md. 12; alan programı hesabı.</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BÖLGELEME</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Bölgeleme: göl merkezli mekânsal kurgu</a:t>
            </a:r>
            <a:endParaRPr lang="en-US" sz="3600" dirty="0"/>
          </a:p>
        </p:txBody>
      </p:sp>
      <p:sp>
        <p:nvSpPr>
          <p:cNvPr id="4" name="Kart"/>
          <p:cNvSpPr/>
          <p:nvPr/>
        </p:nvSpPr>
        <p:spPr>
          <a:xfrm>
            <a:off x="548640" y="1600200"/>
            <a:ext cx="7215033" cy="4434840"/>
          </a:xfrm>
          <a:prstGeom prst="roundRect">
            <a:avLst>
              <a:gd name="adj" fmla="val 1649"/>
            </a:avLst>
          </a:prstGeom>
          <a:solidFill>
            <a:schemeClr val="bg1"/>
          </a:solidFill>
          <a:ln/>
          <a:effectLst>
            <a:outerShdw sx="100000" sy="100000" kx="0" ky="0" algn="bl" rotWithShape="0" blurRad="76200" dist="19050" dir="5400000">
              <a:srgbClr val="000000">
                <a:alpha val="12000"/>
              </a:srgbClr>
            </a:outerShdw>
          </a:effectLst>
        </p:spPr>
      </p:sp>
      <p:pic>
        <p:nvPicPr>
          <p:cNvPr id="5" name="Bölgeleme şeması" descr="/home/user/sunum/araclar/sunum/assets/bolgeleme.png">    </p:cNvPr>
          <p:cNvPicPr>
            <a:picLocks noChangeAspect="1"/>
          </p:cNvPicPr>
          <p:nvPr/>
        </p:nvPicPr>
        <p:blipFill>
          <a:blip r:embed="rId1"/>
          <a:stretch>
            <a:fillRect/>
          </a:stretch>
        </p:blipFill>
        <p:spPr>
          <a:xfrm>
            <a:off x="548640" y="1600200"/>
            <a:ext cx="7215033" cy="4434840"/>
          </a:xfrm>
          <a:prstGeom prst="rect">
            <a:avLst/>
          </a:prstGeom>
        </p:spPr>
      </p:pic>
      <p:sp>
        <p:nvSpPr>
          <p:cNvPr id="6" name="İkon zemini"/>
          <p:cNvSpPr/>
          <p:nvPr/>
        </p:nvSpPr>
        <p:spPr>
          <a:xfrm>
            <a:off x="8083713" y="1691640"/>
            <a:ext cx="548640" cy="548640"/>
          </a:xfrm>
          <a:prstGeom prst="ellipse">
            <a:avLst/>
          </a:prstGeom>
          <a:solidFill>
            <a:schemeClr val="tx2"/>
          </a:solidFill>
          <a:ln/>
        </p:spPr>
      </p:sp>
      <p:pic>
        <p:nvPicPr>
          <p:cNvPr id="7" name="İkon FaHouse" descr="preencoded.png">    </p:cNvPr>
          <p:cNvPicPr>
            <a:picLocks noChangeAspect="1"/>
          </p:cNvPicPr>
          <p:nvPr/>
        </p:nvPicPr>
        <p:blipFill>
          <a:blip r:embed="rId2"/>
          <a:stretch>
            <a:fillRect/>
          </a:stretch>
        </p:blipFill>
        <p:spPr>
          <a:xfrm>
            <a:off x="8215386" y="1823314"/>
            <a:ext cx="285293" cy="285293"/>
          </a:xfrm>
          <a:prstGeom prst="rect">
            <a:avLst/>
          </a:prstGeom>
        </p:spPr>
      </p:pic>
      <p:sp>
        <p:nvSpPr>
          <p:cNvPr id="8" name="Text 4"/>
          <p:cNvSpPr txBox="1"/>
          <p:nvPr/>
        </p:nvSpPr>
        <p:spPr>
          <a:xfrm>
            <a:off x="8769513" y="1673352"/>
            <a:ext cx="2873543" cy="960120"/>
          </a:xfrm>
          <a:prstGeom prst="rect">
            <a:avLst/>
          </a:prstGeom>
          <a:noFill/>
          <a:ln/>
        </p:spPr>
        <p:txBody>
          <a:bodyPr wrap="square" lIns="0" tIns="0" rIns="0" bIns="0" rtlCol="0" anchor="t"/>
          <a:lstStyle/>
          <a:p>
            <a:pPr indent="0" marL="0">
              <a:buNone/>
            </a:pPr>
            <a:r>
              <a:rPr lang="en-US" sz="1500" dirty="0">
                <a:solidFill>
                  <a:schemeClr val="tx1"/>
                </a:solidFill>
              </a:rPr>
              <a:t>Dört mahalle, manzaraya yönelik platolarda konumlandırılmaktadır</a:t>
            </a:r>
            <a:endParaRPr lang="en-US" sz="1500" dirty="0"/>
          </a:p>
        </p:txBody>
      </p:sp>
      <p:sp>
        <p:nvSpPr>
          <p:cNvPr id="9" name="İkon zemini"/>
          <p:cNvSpPr/>
          <p:nvPr/>
        </p:nvSpPr>
        <p:spPr>
          <a:xfrm>
            <a:off x="8083713" y="2788920"/>
            <a:ext cx="548640" cy="548640"/>
          </a:xfrm>
          <a:prstGeom prst="ellipse">
            <a:avLst/>
          </a:prstGeom>
          <a:solidFill>
            <a:schemeClr val="tx2"/>
          </a:solidFill>
          <a:ln/>
        </p:spPr>
      </p:sp>
      <p:pic>
        <p:nvPicPr>
          <p:cNvPr id="10" name="İkon FaSchool" descr="preencoded.png">    </p:cNvPr>
          <p:cNvPicPr>
            <a:picLocks noChangeAspect="1"/>
          </p:cNvPicPr>
          <p:nvPr/>
        </p:nvPicPr>
        <p:blipFill>
          <a:blip r:embed="rId3"/>
          <a:stretch>
            <a:fillRect/>
          </a:stretch>
        </p:blipFill>
        <p:spPr>
          <a:xfrm>
            <a:off x="8215386" y="2920594"/>
            <a:ext cx="285293" cy="285293"/>
          </a:xfrm>
          <a:prstGeom prst="rect">
            <a:avLst/>
          </a:prstGeom>
        </p:spPr>
      </p:pic>
      <p:sp>
        <p:nvSpPr>
          <p:cNvPr id="11" name="Text 6"/>
          <p:cNvSpPr txBox="1"/>
          <p:nvPr/>
        </p:nvSpPr>
        <p:spPr>
          <a:xfrm>
            <a:off x="8769513" y="2770632"/>
            <a:ext cx="2873543" cy="960120"/>
          </a:xfrm>
          <a:prstGeom prst="rect">
            <a:avLst/>
          </a:prstGeom>
          <a:noFill/>
          <a:ln/>
        </p:spPr>
        <p:txBody>
          <a:bodyPr wrap="square" lIns="0" tIns="0" rIns="0" bIns="0" rtlCol="0" anchor="t"/>
          <a:lstStyle/>
          <a:p>
            <a:pPr indent="0" marL="0">
              <a:buNone/>
            </a:pPr>
            <a:r>
              <a:rPr lang="en-US" sz="1500" dirty="0">
                <a:solidFill>
                  <a:schemeClr val="tx1"/>
                </a:solidFill>
              </a:rPr>
              <a:t>İki okul kampüsü göl parkının batısındadır; en uzak konuta mesafe ~500 m'dir</a:t>
            </a:r>
            <a:endParaRPr lang="en-US" sz="1500" dirty="0"/>
          </a:p>
        </p:txBody>
      </p:sp>
      <p:sp>
        <p:nvSpPr>
          <p:cNvPr id="12" name="İkon zemini"/>
          <p:cNvSpPr/>
          <p:nvPr/>
        </p:nvSpPr>
        <p:spPr>
          <a:xfrm>
            <a:off x="8083713" y="3886200"/>
            <a:ext cx="548640" cy="548640"/>
          </a:xfrm>
          <a:prstGeom prst="ellipse">
            <a:avLst/>
          </a:prstGeom>
          <a:solidFill>
            <a:schemeClr val="tx2"/>
          </a:solidFill>
          <a:ln/>
        </p:spPr>
      </p:sp>
      <p:pic>
        <p:nvPicPr>
          <p:cNvPr id="13" name="İkon FaBus" descr="preencoded.png">    </p:cNvPr>
          <p:cNvPicPr>
            <a:picLocks noChangeAspect="1"/>
          </p:cNvPicPr>
          <p:nvPr/>
        </p:nvPicPr>
        <p:blipFill>
          <a:blip r:embed="rId4"/>
          <a:stretch>
            <a:fillRect/>
          </a:stretch>
        </p:blipFill>
        <p:spPr>
          <a:xfrm>
            <a:off x="8215386" y="4017874"/>
            <a:ext cx="285293" cy="285293"/>
          </a:xfrm>
          <a:prstGeom prst="rect">
            <a:avLst/>
          </a:prstGeom>
        </p:spPr>
      </p:pic>
      <p:sp>
        <p:nvSpPr>
          <p:cNvPr id="14" name="Text 8"/>
          <p:cNvSpPr txBox="1"/>
          <p:nvPr/>
        </p:nvSpPr>
        <p:spPr>
          <a:xfrm>
            <a:off x="8769513" y="3867912"/>
            <a:ext cx="2873543" cy="960120"/>
          </a:xfrm>
          <a:prstGeom prst="rect">
            <a:avLst/>
          </a:prstGeom>
          <a:noFill/>
          <a:ln/>
        </p:spPr>
        <p:txBody>
          <a:bodyPr wrap="square" lIns="0" tIns="0" rIns="0" bIns="0" rtlCol="0" anchor="t"/>
          <a:lstStyle/>
          <a:p>
            <a:pPr indent="0" marL="0">
              <a:buNone/>
            </a:pPr>
            <a:r>
              <a:rPr lang="en-US" sz="1500" dirty="0">
                <a:solidFill>
                  <a:schemeClr val="tx1"/>
                </a:solidFill>
              </a:rPr>
              <a:t>Servis ve aktarma istasyonu ana girişte yer almaktadır</a:t>
            </a:r>
            <a:endParaRPr lang="en-US" sz="1500" dirty="0"/>
          </a:p>
        </p:txBody>
      </p:sp>
      <p:sp>
        <p:nvSpPr>
          <p:cNvPr id="15" name="İkon zemini"/>
          <p:cNvSpPr/>
          <p:nvPr/>
        </p:nvSpPr>
        <p:spPr>
          <a:xfrm>
            <a:off x="8083713" y="4983480"/>
            <a:ext cx="548640" cy="548640"/>
          </a:xfrm>
          <a:prstGeom prst="ellipse">
            <a:avLst/>
          </a:prstGeom>
          <a:solidFill>
            <a:schemeClr val="tx2"/>
          </a:solidFill>
          <a:ln/>
        </p:spPr>
      </p:sp>
      <p:pic>
        <p:nvPicPr>
          <p:cNvPr id="16" name="İkon FaTree" descr="preencoded.png">    </p:cNvPr>
          <p:cNvPicPr>
            <a:picLocks noChangeAspect="1"/>
          </p:cNvPicPr>
          <p:nvPr/>
        </p:nvPicPr>
        <p:blipFill>
          <a:blip r:embed="rId5"/>
          <a:stretch>
            <a:fillRect/>
          </a:stretch>
        </p:blipFill>
        <p:spPr>
          <a:xfrm>
            <a:off x="8215386" y="5115154"/>
            <a:ext cx="285293" cy="285293"/>
          </a:xfrm>
          <a:prstGeom prst="rect">
            <a:avLst/>
          </a:prstGeom>
        </p:spPr>
      </p:pic>
      <p:sp>
        <p:nvSpPr>
          <p:cNvPr id="17" name="Text 10"/>
          <p:cNvSpPr txBox="1"/>
          <p:nvPr/>
        </p:nvSpPr>
        <p:spPr>
          <a:xfrm>
            <a:off x="8769513" y="4965192"/>
            <a:ext cx="2873543" cy="960120"/>
          </a:xfrm>
          <a:prstGeom prst="rect">
            <a:avLst/>
          </a:prstGeom>
          <a:noFill/>
          <a:ln/>
        </p:spPr>
        <p:txBody>
          <a:bodyPr wrap="square" lIns="0" tIns="0" rIns="0" bIns="0" rtlCol="0" anchor="t"/>
          <a:lstStyle/>
          <a:p>
            <a:pPr indent="0" marL="0">
              <a:buNone/>
            </a:pPr>
            <a:r>
              <a:rPr lang="en-US" sz="1500" dirty="0">
                <a:solidFill>
                  <a:schemeClr val="tx1"/>
                </a:solidFill>
              </a:rPr>
              <a:t>Korunan yamaçlar, yürüyüş parkurları ve seyir noktalarıyla yeşil kuşak oluşturmaktadır</a:t>
            </a:r>
            <a:endParaRPr lang="en-US" sz="1500" dirty="0"/>
          </a:p>
        </p:txBody>
      </p:sp>
      <p:sp>
        <p:nvSpPr>
          <p:cNvPr id="18" name="Text 11"/>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Şematiktir. Ölçeklidir; parsel sınırı ve yön temsilidir. Sınır ve topoğrafik harita gelince yeniden çizilecek.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Kahramankazan Uydukent: genel görünüm" descr="/home/user/sunum/araclar/sunum/assets/kavram_genel.jpg">    </p:cNvPr>
          <p:cNvPicPr>
            <a:picLocks noChangeAspect="1"/>
          </p:cNvPicPr>
          <p:nvPr/>
        </p:nvPicPr>
        <p:blipFill>
          <a:blip r:embed="rId1"/>
          <a:stretch>
            <a:fillRect/>
          </a:stretch>
        </p:blipFill>
        <p:spPr>
          <a:xfrm>
            <a:off x="0" y="0"/>
            <a:ext cx="12191695" cy="6858000"/>
          </a:xfrm>
          <a:prstGeom prst="rect">
            <a:avLst/>
          </a:prstGeom>
        </p:spPr>
      </p:pic>
      <p:sp>
        <p:nvSpPr>
          <p:cNvPr id="3" name="Başlık paneli"/>
          <p:cNvSpPr/>
          <p:nvPr/>
        </p:nvSpPr>
        <p:spPr>
          <a:xfrm>
            <a:off x="457200" y="4846320"/>
            <a:ext cx="7772400" cy="1600200"/>
          </a:xfrm>
          <a:prstGeom prst="roundRect">
            <a:avLst>
              <a:gd name="adj" fmla="val 4571"/>
            </a:avLst>
          </a:prstGeom>
          <a:solidFill>
            <a:schemeClr val="tx2">
              <a:alpha val="90000"/>
            </a:schemeClr>
          </a:solidFill>
          <a:ln/>
        </p:spPr>
      </p:sp>
      <p:sp>
        <p:nvSpPr>
          <p:cNvPr id="4" name="Text 0"/>
          <p:cNvSpPr/>
          <p:nvPr>
            <p:ph idx="100" type="body" hasCustomPrompt="1"/>
          </p:nvPr>
        </p:nvSpPr>
        <p:spPr>
          <a:xfrm>
            <a:off x="731520" y="5074920"/>
            <a:ext cx="7132320"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KAVRAMSAL GÖRÜNÜM · KUŞBAKIŞI</a:t>
            </a:r>
            <a:endParaRPr lang="en-US" sz="1200" dirty="0"/>
          </a:p>
        </p:txBody>
      </p:sp>
      <p:sp>
        <p:nvSpPr>
          <p:cNvPr id="5" name="Text 0"/>
          <p:cNvSpPr/>
          <p:nvPr>
            <p:ph idx="101" type="title" hasCustomPrompt="1"/>
          </p:nvPr>
        </p:nvSpPr>
        <p:spPr>
          <a:xfrm>
            <a:off x="731520" y="5349240"/>
            <a:ext cx="7223760" cy="548640"/>
          </a:xfrm>
          <a:prstGeom prst="rect">
            <a:avLst/>
          </a:prstGeom>
          <a:noFill/>
          <a:ln/>
        </p:spPr>
        <p:txBody>
          <a:bodyPr wrap="square" lIns="0" tIns="0" rIns="0" bIns="0" rtlCol="0" anchor="t"/>
          <a:lstStyle/>
          <a:p>
            <a:pPr algn="l" indent="0" marL="0">
              <a:buNone/>
            </a:pPr>
            <a:r>
              <a:rPr lang="en-US" sz="2600" b="1" dirty="0">
                <a:solidFill>
                  <a:schemeClr val="bg1"/>
                </a:solidFill>
              </a:rPr>
              <a:t>Kahramankazan Uydukent: genel görünüm</a:t>
            </a:r>
            <a:endParaRPr lang="en-US" sz="2600" dirty="0"/>
          </a:p>
        </p:txBody>
      </p:sp>
      <p:sp>
        <p:nvSpPr>
          <p:cNvPr id="6" name="Text 3"/>
          <p:cNvSpPr txBox="1"/>
          <p:nvPr/>
        </p:nvSpPr>
        <p:spPr>
          <a:xfrm>
            <a:off x="731520" y="5943600"/>
            <a:ext cx="7315200" cy="320040"/>
          </a:xfrm>
          <a:prstGeom prst="rect">
            <a:avLst/>
          </a:prstGeom>
          <a:noFill/>
          <a:ln/>
        </p:spPr>
        <p:txBody>
          <a:bodyPr wrap="square" lIns="0" tIns="0" rIns="0" bIns="0" rtlCol="0" anchor="t"/>
          <a:lstStyle/>
          <a:p>
            <a:pPr indent="0" marL="0">
              <a:buNone/>
            </a:pPr>
            <a:r>
              <a:rPr lang="en-US" sz="1200" dirty="0">
                <a:solidFill>
                  <a:schemeClr val="bg2"/>
                </a:solidFill>
              </a:rPr>
              <a:t>Temsilî kavram görseli; bölgeleme şemasına dayanır, mimari tasarım değildir.</a:t>
            </a:r>
            <a:endParaRPr lang="en-US" sz="12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1"/>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Avlulu konut adaları" descr="/home/user/sunum/araclar/sunum/assets/kavram_konut.jpg">    </p:cNvPr>
          <p:cNvPicPr>
            <a:picLocks noChangeAspect="1"/>
          </p:cNvPicPr>
          <p:nvPr/>
        </p:nvPicPr>
        <p:blipFill>
          <a:blip r:embed="rId1"/>
          <a:stretch>
            <a:fillRect/>
          </a:stretch>
        </p:blipFill>
        <p:spPr>
          <a:xfrm>
            <a:off x="0" y="0"/>
            <a:ext cx="12191695" cy="6858000"/>
          </a:xfrm>
          <a:prstGeom prst="rect">
            <a:avLst/>
          </a:prstGeom>
        </p:spPr>
      </p:pic>
      <p:sp>
        <p:nvSpPr>
          <p:cNvPr id="3" name="Başlık paneli"/>
          <p:cNvSpPr/>
          <p:nvPr/>
        </p:nvSpPr>
        <p:spPr>
          <a:xfrm>
            <a:off x="457200" y="4846320"/>
            <a:ext cx="7772400" cy="1600200"/>
          </a:xfrm>
          <a:prstGeom prst="roundRect">
            <a:avLst>
              <a:gd name="adj" fmla="val 4571"/>
            </a:avLst>
          </a:prstGeom>
          <a:solidFill>
            <a:schemeClr val="tx2">
              <a:alpha val="90000"/>
            </a:schemeClr>
          </a:solidFill>
          <a:ln/>
        </p:spPr>
      </p:sp>
      <p:sp>
        <p:nvSpPr>
          <p:cNvPr id="4" name="Text 0"/>
          <p:cNvSpPr/>
          <p:nvPr>
            <p:ph idx="100" type="body" hasCustomPrompt="1"/>
          </p:nvPr>
        </p:nvSpPr>
        <p:spPr>
          <a:xfrm>
            <a:off x="731520" y="5074920"/>
            <a:ext cx="7132320"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KAVRAMSAL GÖRÜNÜM · KONUT</a:t>
            </a:r>
            <a:endParaRPr lang="en-US" sz="1200" dirty="0"/>
          </a:p>
        </p:txBody>
      </p:sp>
      <p:sp>
        <p:nvSpPr>
          <p:cNvPr id="5" name="Text 0"/>
          <p:cNvSpPr/>
          <p:nvPr>
            <p:ph idx="101" type="title" hasCustomPrompt="1"/>
          </p:nvPr>
        </p:nvSpPr>
        <p:spPr>
          <a:xfrm>
            <a:off x="731520" y="5349240"/>
            <a:ext cx="7223760" cy="548640"/>
          </a:xfrm>
          <a:prstGeom prst="rect">
            <a:avLst/>
          </a:prstGeom>
          <a:noFill/>
          <a:ln/>
        </p:spPr>
        <p:txBody>
          <a:bodyPr wrap="square" lIns="0" tIns="0" rIns="0" bIns="0" rtlCol="0" anchor="t"/>
          <a:lstStyle/>
          <a:p>
            <a:pPr algn="l" indent="0" marL="0">
              <a:buNone/>
            </a:pPr>
            <a:r>
              <a:rPr lang="en-US" sz="2600" b="1" dirty="0">
                <a:solidFill>
                  <a:schemeClr val="bg1"/>
                </a:solidFill>
              </a:rPr>
              <a:t>Avlulu konut adaları</a:t>
            </a:r>
            <a:endParaRPr lang="en-US" sz="2600" dirty="0"/>
          </a:p>
        </p:txBody>
      </p:sp>
      <p:sp>
        <p:nvSpPr>
          <p:cNvPr id="6" name="Text 3"/>
          <p:cNvSpPr txBox="1"/>
          <p:nvPr/>
        </p:nvSpPr>
        <p:spPr>
          <a:xfrm>
            <a:off x="731520" y="5943600"/>
            <a:ext cx="7315200" cy="320040"/>
          </a:xfrm>
          <a:prstGeom prst="rect">
            <a:avLst/>
          </a:prstGeom>
          <a:noFill/>
          <a:ln/>
        </p:spPr>
        <p:txBody>
          <a:bodyPr wrap="square" lIns="0" tIns="0" rIns="0" bIns="0" rtlCol="0" anchor="t"/>
          <a:lstStyle/>
          <a:p>
            <a:pPr indent="0" marL="0">
              <a:buNone/>
            </a:pPr>
            <a:r>
              <a:rPr lang="en-US" sz="1200" dirty="0">
                <a:solidFill>
                  <a:schemeClr val="bg2"/>
                </a:solidFill>
              </a:rPr>
              <a:t>Temsilî kavram görseli; 5–8 katlı avlulu adalar, çatılarda güneş panelleri.</a:t>
            </a:r>
            <a:endParaRPr lang="en-US" sz="12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1"/>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EĞİTİM</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Eğitim: yürüme mesafesinde okul kampüsleri</a:t>
            </a:r>
            <a:endParaRPr lang="en-US" sz="3600" dirty="0"/>
          </a:p>
        </p:txBody>
      </p:sp>
      <p:sp>
        <p:nvSpPr>
          <p:cNvPr id="4" name="Gösterge"/>
          <p:cNvSpPr/>
          <p:nvPr/>
        </p:nvSpPr>
        <p:spPr>
          <a:xfrm>
            <a:off x="548640" y="1600200"/>
            <a:ext cx="2057400" cy="1097280"/>
          </a:xfrm>
          <a:prstGeom prst="roundRect">
            <a:avLst>
              <a:gd name="adj" fmla="val 6667"/>
            </a:avLst>
          </a:prstGeom>
          <a:solidFill>
            <a:schemeClr val="bg1"/>
          </a:solidFill>
          <a:ln/>
          <a:effectLst>
            <a:outerShdw sx="100000" sy="100000" kx="0" ky="0" algn="bl" rotWithShape="0" blurRad="76200" dist="19050" dir="5400000">
              <a:srgbClr val="000000">
                <a:alpha val="12000"/>
              </a:srgbClr>
            </a:outerShdw>
          </a:effectLst>
        </p:spPr>
      </p:sp>
      <p:sp>
        <p:nvSpPr>
          <p:cNvPr id="5" name="Text 3"/>
          <p:cNvSpPr txBox="1"/>
          <p:nvPr/>
        </p:nvSpPr>
        <p:spPr>
          <a:xfrm>
            <a:off x="731520" y="1728216"/>
            <a:ext cx="1691640" cy="548640"/>
          </a:xfrm>
          <a:prstGeom prst="rect">
            <a:avLst/>
          </a:prstGeom>
          <a:noFill/>
          <a:ln/>
        </p:spPr>
        <p:txBody>
          <a:bodyPr wrap="square" lIns="0" tIns="0" rIns="0" bIns="0" rtlCol="0" anchor="b"/>
          <a:lstStyle/>
          <a:p>
            <a:pPr indent="0" marL="0">
              <a:buNone/>
            </a:pPr>
            <a:r>
              <a:rPr lang="en-US" sz="3000" b="1" dirty="0">
                <a:solidFill>
                  <a:schemeClr val="tx2"/>
                </a:solidFill>
                <a:latin typeface="Cambria" pitchFamily="34" charset="0"/>
                <a:ea typeface="Cambria" pitchFamily="34" charset="-122"/>
                <a:cs typeface="Cambria" pitchFamily="34" charset="-120"/>
              </a:rPr>
              <a:t>~1.540</a:t>
            </a:r>
            <a:endParaRPr lang="en-US" sz="3000" dirty="0"/>
          </a:p>
        </p:txBody>
      </p:sp>
      <p:sp>
        <p:nvSpPr>
          <p:cNvPr id="6" name="Text 4"/>
          <p:cNvSpPr txBox="1"/>
          <p:nvPr/>
        </p:nvSpPr>
        <p:spPr>
          <a:xfrm>
            <a:off x="731520" y="2295144"/>
            <a:ext cx="1691640" cy="310896"/>
          </a:xfrm>
          <a:prstGeom prst="rect">
            <a:avLst/>
          </a:prstGeom>
          <a:noFill/>
          <a:ln/>
        </p:spPr>
        <p:txBody>
          <a:bodyPr wrap="square" lIns="0" tIns="0" rIns="0" bIns="0" rtlCol="0" anchor="t"/>
          <a:lstStyle/>
          <a:p>
            <a:pPr indent="0" marL="0">
              <a:buNone/>
            </a:pPr>
            <a:r>
              <a:rPr lang="en-US" sz="1300" dirty="0">
                <a:solidFill>
                  <a:schemeClr val="tx1"/>
                </a:solidFill>
              </a:rPr>
              <a:t>öğrenci (tahmin)</a:t>
            </a:r>
            <a:endParaRPr lang="en-US" sz="1300" dirty="0"/>
          </a:p>
        </p:txBody>
      </p:sp>
      <p:sp>
        <p:nvSpPr>
          <p:cNvPr id="7" name="Gösterge"/>
          <p:cNvSpPr/>
          <p:nvPr/>
        </p:nvSpPr>
        <p:spPr>
          <a:xfrm>
            <a:off x="2788920" y="1600200"/>
            <a:ext cx="2057400" cy="1097280"/>
          </a:xfrm>
          <a:prstGeom prst="roundRect">
            <a:avLst>
              <a:gd name="adj" fmla="val 6667"/>
            </a:avLst>
          </a:prstGeom>
          <a:solidFill>
            <a:schemeClr val="bg1"/>
          </a:solidFill>
          <a:ln/>
          <a:effectLst>
            <a:outerShdw sx="100000" sy="100000" kx="0" ky="0" algn="bl" rotWithShape="0" blurRad="76200" dist="19050" dir="5400000">
              <a:srgbClr val="000000">
                <a:alpha val="12000"/>
              </a:srgbClr>
            </a:outerShdw>
          </a:effectLst>
        </p:spPr>
      </p:sp>
      <p:sp>
        <p:nvSpPr>
          <p:cNvPr id="8" name="Text 6"/>
          <p:cNvSpPr txBox="1"/>
          <p:nvPr/>
        </p:nvSpPr>
        <p:spPr>
          <a:xfrm>
            <a:off x="2971800" y="1728216"/>
            <a:ext cx="1691640" cy="548640"/>
          </a:xfrm>
          <a:prstGeom prst="rect">
            <a:avLst/>
          </a:prstGeom>
          <a:noFill/>
          <a:ln/>
        </p:spPr>
        <p:txBody>
          <a:bodyPr wrap="square" lIns="0" tIns="0" rIns="0" bIns="0" rtlCol="0" anchor="b"/>
          <a:lstStyle/>
          <a:p>
            <a:pPr indent="0" marL="0">
              <a:buNone/>
            </a:pPr>
            <a:r>
              <a:rPr lang="en-US" sz="3000" b="1" dirty="0">
                <a:solidFill>
                  <a:schemeClr val="tx2"/>
                </a:solidFill>
                <a:latin typeface="Cambria" pitchFamily="34" charset="0"/>
                <a:ea typeface="Cambria" pitchFamily="34" charset="-122"/>
                <a:cs typeface="Cambria" pitchFamily="34" charset="-120"/>
              </a:rPr>
              <a:t>~57</a:t>
            </a:r>
            <a:endParaRPr lang="en-US" sz="3000" dirty="0"/>
          </a:p>
        </p:txBody>
      </p:sp>
      <p:sp>
        <p:nvSpPr>
          <p:cNvPr id="9" name="Text 7"/>
          <p:cNvSpPr txBox="1"/>
          <p:nvPr/>
        </p:nvSpPr>
        <p:spPr>
          <a:xfrm>
            <a:off x="2971800" y="2295144"/>
            <a:ext cx="1691640" cy="310896"/>
          </a:xfrm>
          <a:prstGeom prst="rect">
            <a:avLst/>
          </a:prstGeom>
          <a:noFill/>
          <a:ln/>
        </p:spPr>
        <p:txBody>
          <a:bodyPr wrap="square" lIns="0" tIns="0" rIns="0" bIns="0" rtlCol="0" anchor="t"/>
          <a:lstStyle/>
          <a:p>
            <a:pPr indent="0" marL="0">
              <a:buNone/>
            </a:pPr>
            <a:r>
              <a:rPr lang="en-US" sz="1300" dirty="0">
                <a:solidFill>
                  <a:schemeClr val="tx1"/>
                </a:solidFill>
              </a:rPr>
              <a:t>derslik</a:t>
            </a:r>
            <a:endParaRPr lang="en-US" sz="1300" dirty="0"/>
          </a:p>
        </p:txBody>
      </p:sp>
      <p:graphicFrame>
        <p:nvGraphicFramePr>
          <p:cNvPr id="10" name="Chart 0" descr=""/>
          <p:cNvGraphicFramePr/>
          <p:nvPr/>
        </p:nvGraphicFramePr>
        <p:xfrm>
          <a:off x="548640" y="2880360"/>
          <a:ext cx="4297680" cy="3108960"/>
        </p:xfrm>
        <a:graphic xmlns:a="http://schemas.openxmlformats.org/drawingml/2006/main">
          <a:graphicData uri="http://schemas.openxmlformats.org/drawingml/2006/chart">
            <c:chart xmlns:c="http://schemas.openxmlformats.org/drawingml/2006/chart" r:id="rId1"/>
          </a:graphicData>
        </a:graphic>
      </p:graphicFrame>
      <p:sp>
        <p:nvSpPr>
          <p:cNvPr id="11" name="Kart"/>
          <p:cNvSpPr/>
          <p:nvPr/>
        </p:nvSpPr>
        <p:spPr>
          <a:xfrm>
            <a:off x="5166360" y="1600200"/>
            <a:ext cx="3101188" cy="2468880"/>
          </a:xfrm>
          <a:prstGeom prst="roundRect">
            <a:avLst>
              <a:gd name="adj" fmla="val 2963"/>
            </a:avLst>
          </a:prstGeom>
          <a:solidFill>
            <a:schemeClr val="bg1"/>
          </a:solidFill>
          <a:ln/>
          <a:effectLst>
            <a:outerShdw sx="100000" sy="100000" kx="0" ky="0" algn="bl" rotWithShape="0" blurRad="76200" dist="19050" dir="5400000">
              <a:srgbClr val="000000">
                <a:alpha val="12000"/>
              </a:srgbClr>
            </a:outerShdw>
          </a:effectLst>
        </p:spPr>
      </p:sp>
      <p:sp>
        <p:nvSpPr>
          <p:cNvPr id="12" name="İkon zemini"/>
          <p:cNvSpPr/>
          <p:nvPr/>
        </p:nvSpPr>
        <p:spPr>
          <a:xfrm>
            <a:off x="5394960" y="1828800"/>
            <a:ext cx="548640" cy="548640"/>
          </a:xfrm>
          <a:prstGeom prst="ellipse">
            <a:avLst/>
          </a:prstGeom>
          <a:solidFill>
            <a:schemeClr val="tx2"/>
          </a:solidFill>
          <a:ln/>
        </p:spPr>
      </p:sp>
      <p:pic>
        <p:nvPicPr>
          <p:cNvPr id="13" name="İkon FaSchool" descr="preencoded.png">    </p:cNvPr>
          <p:cNvPicPr>
            <a:picLocks noChangeAspect="1"/>
          </p:cNvPicPr>
          <p:nvPr/>
        </p:nvPicPr>
        <p:blipFill>
          <a:blip r:embed="rId2"/>
          <a:stretch>
            <a:fillRect/>
          </a:stretch>
        </p:blipFill>
        <p:spPr>
          <a:xfrm>
            <a:off x="5526634" y="1960474"/>
            <a:ext cx="285293" cy="285293"/>
          </a:xfrm>
          <a:prstGeom prst="rect">
            <a:avLst/>
          </a:prstGeom>
        </p:spPr>
      </p:pic>
      <p:sp>
        <p:nvSpPr>
          <p:cNvPr id="14" name="Text 10"/>
          <p:cNvSpPr txBox="1"/>
          <p:nvPr/>
        </p:nvSpPr>
        <p:spPr>
          <a:xfrm>
            <a:off x="6080760" y="1828800"/>
            <a:ext cx="2003908" cy="320040"/>
          </a:xfrm>
          <a:prstGeom prst="rect">
            <a:avLst/>
          </a:prstGeom>
          <a:noFill/>
          <a:ln/>
        </p:spPr>
        <p:txBody>
          <a:bodyPr wrap="square" lIns="0" tIns="0" rIns="0" bIns="0" rtlCol="0" anchor="t"/>
          <a:lstStyle/>
          <a:p>
            <a:pPr indent="0" marL="0">
              <a:buNone/>
            </a:pPr>
            <a:r>
              <a:rPr lang="en-US" sz="1700" b="1" dirty="0">
                <a:solidFill>
                  <a:schemeClr val="tx2"/>
                </a:solidFill>
              </a:rPr>
              <a:t>Devlet okul kampüsü</a:t>
            </a:r>
            <a:endParaRPr lang="en-US" sz="1700" dirty="0"/>
          </a:p>
        </p:txBody>
      </p:sp>
      <p:sp>
        <p:nvSpPr>
          <p:cNvPr id="15" name="Text 11"/>
          <p:cNvSpPr txBox="1"/>
          <p:nvPr/>
        </p:nvSpPr>
        <p:spPr>
          <a:xfrm>
            <a:off x="6080760" y="2148840"/>
            <a:ext cx="2003908" cy="274320"/>
          </a:xfrm>
          <a:prstGeom prst="rect">
            <a:avLst/>
          </a:prstGeom>
          <a:noFill/>
          <a:ln/>
        </p:spPr>
        <p:txBody>
          <a:bodyPr wrap="square" lIns="0" tIns="0" rIns="0" bIns="0" rtlCol="0" anchor="t"/>
          <a:lstStyle/>
          <a:p>
            <a:pPr indent="0" marL="0">
              <a:buNone/>
            </a:pPr>
            <a:r>
              <a:rPr lang="en-US" sz="1300" b="1" dirty="0">
                <a:solidFill>
                  <a:schemeClr val="accent1"/>
                </a:solidFill>
              </a:rPr>
              <a:t>2,2 ha · ~32 derslik</a:t>
            </a:r>
            <a:endParaRPr lang="en-US" sz="1300" dirty="0"/>
          </a:p>
        </p:txBody>
      </p:sp>
      <p:sp>
        <p:nvSpPr>
          <p:cNvPr id="16" name="Text 12"/>
          <p:cNvSpPr txBox="1"/>
          <p:nvPr/>
        </p:nvSpPr>
        <p:spPr>
          <a:xfrm>
            <a:off x="5394960" y="2606040"/>
            <a:ext cx="2643988" cy="1371600"/>
          </a:xfrm>
          <a:prstGeom prst="rect">
            <a:avLst/>
          </a:prstGeom>
          <a:noFill/>
          <a:ln/>
        </p:spPr>
        <p:txBody>
          <a:bodyPr wrap="square" lIns="0" tIns="0" rIns="0" bIns="0" rtlCol="0" anchor="t"/>
          <a:lstStyle/>
          <a:p>
            <a:pPr indent="0" marL="0">
              <a:buNone/>
            </a:pPr>
            <a:r>
              <a:rPr lang="en-US" sz="1500" dirty="0">
                <a:solidFill>
                  <a:schemeClr val="tx1"/>
                </a:solidFill>
              </a:rPr>
              <a:t>Anaokulu, ilkokul ve ortaokul bir arada, MEB normlarında planlanmaktadır. Spor salonu ve kütüphanenin akşamları mahalleye açılması öngörülmektedir.</a:t>
            </a:r>
            <a:endParaRPr lang="en-US" sz="1500" dirty="0"/>
          </a:p>
        </p:txBody>
      </p:sp>
      <p:sp>
        <p:nvSpPr>
          <p:cNvPr id="17" name="Kart"/>
          <p:cNvSpPr/>
          <p:nvPr/>
        </p:nvSpPr>
        <p:spPr>
          <a:xfrm>
            <a:off x="8541868" y="1600200"/>
            <a:ext cx="3101188" cy="2468880"/>
          </a:xfrm>
          <a:prstGeom prst="roundRect">
            <a:avLst>
              <a:gd name="adj" fmla="val 2963"/>
            </a:avLst>
          </a:prstGeom>
          <a:solidFill>
            <a:schemeClr val="bg1"/>
          </a:solidFill>
          <a:ln/>
          <a:effectLst>
            <a:outerShdw sx="100000" sy="100000" kx="0" ky="0" algn="bl" rotWithShape="0" blurRad="76200" dist="19050" dir="5400000">
              <a:srgbClr val="000000">
                <a:alpha val="12000"/>
              </a:srgbClr>
            </a:outerShdw>
          </a:effectLst>
        </p:spPr>
      </p:sp>
      <p:sp>
        <p:nvSpPr>
          <p:cNvPr id="18" name="İkon zemini"/>
          <p:cNvSpPr/>
          <p:nvPr/>
        </p:nvSpPr>
        <p:spPr>
          <a:xfrm>
            <a:off x="8770468" y="1828800"/>
            <a:ext cx="548640" cy="548640"/>
          </a:xfrm>
          <a:prstGeom prst="ellipse">
            <a:avLst/>
          </a:prstGeom>
          <a:solidFill>
            <a:schemeClr val="tx2"/>
          </a:solidFill>
          <a:ln/>
        </p:spPr>
      </p:sp>
      <p:pic>
        <p:nvPicPr>
          <p:cNvPr id="19" name="İkon FaUserGraduate" descr="preencoded.png">    </p:cNvPr>
          <p:cNvPicPr>
            <a:picLocks noChangeAspect="1"/>
          </p:cNvPicPr>
          <p:nvPr/>
        </p:nvPicPr>
        <p:blipFill>
          <a:blip r:embed="rId3"/>
          <a:stretch>
            <a:fillRect/>
          </a:stretch>
        </p:blipFill>
        <p:spPr>
          <a:xfrm>
            <a:off x="8902141" y="1960474"/>
            <a:ext cx="285293" cy="285293"/>
          </a:xfrm>
          <a:prstGeom prst="rect">
            <a:avLst/>
          </a:prstGeom>
        </p:spPr>
      </p:pic>
      <p:sp>
        <p:nvSpPr>
          <p:cNvPr id="20" name="Text 15"/>
          <p:cNvSpPr txBox="1"/>
          <p:nvPr/>
        </p:nvSpPr>
        <p:spPr>
          <a:xfrm>
            <a:off x="9456268" y="1828800"/>
            <a:ext cx="2003908" cy="320040"/>
          </a:xfrm>
          <a:prstGeom prst="rect">
            <a:avLst/>
          </a:prstGeom>
          <a:noFill/>
          <a:ln/>
        </p:spPr>
        <p:txBody>
          <a:bodyPr wrap="square" lIns="0" tIns="0" rIns="0" bIns="0" rtlCol="0" anchor="t"/>
          <a:lstStyle/>
          <a:p>
            <a:pPr indent="0" marL="0">
              <a:buNone/>
            </a:pPr>
            <a:r>
              <a:rPr lang="en-US" sz="1700" b="1" dirty="0">
                <a:solidFill>
                  <a:schemeClr val="tx2"/>
                </a:solidFill>
              </a:rPr>
              <a:t>Özel okul kampüsü</a:t>
            </a:r>
            <a:endParaRPr lang="en-US" sz="1700" dirty="0"/>
          </a:p>
        </p:txBody>
      </p:sp>
      <p:sp>
        <p:nvSpPr>
          <p:cNvPr id="21" name="Text 16"/>
          <p:cNvSpPr txBox="1"/>
          <p:nvPr/>
        </p:nvSpPr>
        <p:spPr>
          <a:xfrm>
            <a:off x="9456268" y="2148840"/>
            <a:ext cx="2003908" cy="274320"/>
          </a:xfrm>
          <a:prstGeom prst="rect">
            <a:avLst/>
          </a:prstGeom>
          <a:noFill/>
          <a:ln/>
        </p:spPr>
        <p:txBody>
          <a:bodyPr wrap="square" lIns="0" tIns="0" rIns="0" bIns="0" rtlCol="0" anchor="t"/>
          <a:lstStyle/>
          <a:p>
            <a:pPr indent="0" marL="0">
              <a:buNone/>
            </a:pPr>
            <a:r>
              <a:rPr lang="en-US" sz="1300" b="1" dirty="0">
                <a:solidFill>
                  <a:schemeClr val="accent1"/>
                </a:solidFill>
              </a:rPr>
              <a:t>2,4 ha · ~25 derslik</a:t>
            </a:r>
            <a:endParaRPr lang="en-US" sz="1300" dirty="0"/>
          </a:p>
        </p:txBody>
      </p:sp>
      <p:sp>
        <p:nvSpPr>
          <p:cNvPr id="22" name="Text 17"/>
          <p:cNvSpPr txBox="1"/>
          <p:nvPr/>
        </p:nvSpPr>
        <p:spPr>
          <a:xfrm>
            <a:off x="8770468" y="2606040"/>
            <a:ext cx="2643988" cy="1371600"/>
          </a:xfrm>
          <a:prstGeom prst="rect">
            <a:avLst/>
          </a:prstGeom>
          <a:noFill/>
          <a:ln/>
        </p:spPr>
        <p:txBody>
          <a:bodyPr wrap="square" lIns="0" tIns="0" rIns="0" bIns="0" rtlCol="0" anchor="t"/>
          <a:lstStyle/>
          <a:p>
            <a:pPr indent="0" marL="0">
              <a:buNone/>
            </a:pPr>
            <a:r>
              <a:rPr lang="en-US" sz="1500" dirty="0">
                <a:solidFill>
                  <a:schemeClr val="tx1"/>
                </a:solidFill>
              </a:rPr>
              <a:t>İki dilli, anaokulundan liseye kesintisiz eğitim; güçlü akademik program ve nitelikli öğretmen kadrosu.</a:t>
            </a:r>
            <a:endParaRPr lang="en-US" sz="1500" dirty="0"/>
          </a:p>
        </p:txBody>
      </p:sp>
      <p:sp>
        <p:nvSpPr>
          <p:cNvPr id="23" name="Kart"/>
          <p:cNvSpPr/>
          <p:nvPr/>
        </p:nvSpPr>
        <p:spPr>
          <a:xfrm>
            <a:off x="5166360" y="4297680"/>
            <a:ext cx="6476695" cy="1691640"/>
          </a:xfrm>
          <a:prstGeom prst="roundRect">
            <a:avLst>
              <a:gd name="adj" fmla="val 4324"/>
            </a:avLst>
          </a:prstGeom>
          <a:solidFill>
            <a:schemeClr val="bg1"/>
          </a:solidFill>
          <a:ln/>
          <a:effectLst>
            <a:outerShdw sx="100000" sy="100000" kx="0" ky="0" algn="bl" rotWithShape="0" blurRad="76200" dist="19050" dir="5400000">
              <a:srgbClr val="000000">
                <a:alpha val="12000"/>
              </a:srgbClr>
            </a:outerShdw>
          </a:effectLst>
        </p:spPr>
      </p:sp>
      <p:sp>
        <p:nvSpPr>
          <p:cNvPr id="24" name="Text 19"/>
          <p:cNvSpPr txBox="1"/>
          <p:nvPr/>
        </p:nvSpPr>
        <p:spPr>
          <a:xfrm>
            <a:off x="5394960" y="4453128"/>
            <a:ext cx="6019495" cy="1417320"/>
          </a:xfrm>
          <a:prstGeom prst="rect">
            <a:avLst/>
          </a:prstGeom>
          <a:noFill/>
          <a:ln/>
        </p:spPr>
        <p:txBody>
          <a:bodyPr wrap="square" lIns="0" tIns="0" rIns="0" bIns="0" rtlCol="0" anchor="t"/>
          <a:lstStyle/>
          <a:p>
            <a:pPr indent="0" marL="0">
              <a:spcAft>
                <a:spcPts val="800"/>
              </a:spcAft>
              <a:buNone/>
            </a:pPr>
            <a:r>
              <a:rPr lang="en-US" sz="1500" b="1" dirty="0">
                <a:solidFill>
                  <a:schemeClr val="tx2"/>
                </a:solidFill>
              </a:rPr>
              <a:t>Destekleyici unsurlar: </a:t>
            </a:r>
            <a:pPr indent="0" marL="0">
              <a:spcAft>
                <a:spcPts val="800"/>
              </a:spcAft>
              <a:buNone/>
            </a:pPr>
            <a:r>
              <a:rPr lang="en-US" sz="1500" dirty="0">
                <a:solidFill>
                  <a:schemeClr val="tx1"/>
                </a:solidFill>
              </a:rPr>
              <a:t>kreşler zemin katlarda ve mahalle merkezinde; her okulda Deneyap ve makerspace atölyesi; ilçedeki meslek yüksekokuluyla staj ve sürekli eğitim.</a:t>
            </a:r>
            <a:endParaRPr lang="en-US" sz="1500" dirty="0"/>
          </a:p>
          <a:p>
            <a:pPr indent="0" marL="0">
              <a:spcAft>
                <a:spcPts val="800"/>
              </a:spcAft>
              <a:buNone/>
            </a:pPr>
            <a:r>
              <a:rPr lang="en-US" sz="1500" b="1" dirty="0">
                <a:solidFill>
                  <a:schemeClr val="tx2"/>
                </a:solidFill>
              </a:rPr>
              <a:t>Sorumlu kurumlar ve takvim: </a:t>
            </a:r>
            <a:pPr indent="0" marL="0">
              <a:spcAft>
                <a:spcPts val="800"/>
              </a:spcAft>
              <a:buNone/>
            </a:pPr>
            <a:r>
              <a:rPr lang="en-US" sz="1500" dirty="0">
                <a:solidFill>
                  <a:schemeClr val="tx1"/>
                </a:solidFill>
              </a:rPr>
              <a:t>MEB, özel okul yatırımcıları ve sanayi kuruluşları; kreş ve modüler sınıfların ilk günden hizmete girmesi.</a:t>
            </a:r>
            <a:endParaRPr lang="en-US" sz="1500" dirty="0"/>
          </a:p>
        </p:txBody>
      </p:sp>
      <p:sp>
        <p:nvSpPr>
          <p:cNvPr id="25" name="Text 20"/>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1.000 kişi başına öğrenci (genç aile varsayımı): kreş-anaokulu 45, ilkokul 60, ortaokul 55, lise 45. Derslik başına 30 öğrenci (anaokulunda 20).</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kul kampüsleri" descr="/home/user/sunum/araclar/sunum/assets/kavram_okul.jpg">    </p:cNvPr>
          <p:cNvPicPr>
            <a:picLocks noChangeAspect="1"/>
          </p:cNvPicPr>
          <p:nvPr/>
        </p:nvPicPr>
        <p:blipFill>
          <a:blip r:embed="rId1"/>
          <a:stretch>
            <a:fillRect/>
          </a:stretch>
        </p:blipFill>
        <p:spPr>
          <a:xfrm>
            <a:off x="0" y="0"/>
            <a:ext cx="12191695" cy="6858000"/>
          </a:xfrm>
          <a:prstGeom prst="rect">
            <a:avLst/>
          </a:prstGeom>
        </p:spPr>
      </p:pic>
      <p:sp>
        <p:nvSpPr>
          <p:cNvPr id="3" name="Başlık paneli"/>
          <p:cNvSpPr/>
          <p:nvPr/>
        </p:nvSpPr>
        <p:spPr>
          <a:xfrm>
            <a:off x="457200" y="4846320"/>
            <a:ext cx="7772400" cy="1600200"/>
          </a:xfrm>
          <a:prstGeom prst="roundRect">
            <a:avLst>
              <a:gd name="adj" fmla="val 4571"/>
            </a:avLst>
          </a:prstGeom>
          <a:solidFill>
            <a:schemeClr val="tx2">
              <a:alpha val="90000"/>
            </a:schemeClr>
          </a:solidFill>
          <a:ln/>
        </p:spPr>
      </p:sp>
      <p:sp>
        <p:nvSpPr>
          <p:cNvPr id="4" name="Text 0"/>
          <p:cNvSpPr/>
          <p:nvPr>
            <p:ph idx="100" type="body" hasCustomPrompt="1"/>
          </p:nvPr>
        </p:nvSpPr>
        <p:spPr>
          <a:xfrm>
            <a:off x="731520" y="5074920"/>
            <a:ext cx="7132320"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KAVRAMSAL GÖRÜNÜM · EĞİTİM</a:t>
            </a:r>
            <a:endParaRPr lang="en-US" sz="1200" dirty="0"/>
          </a:p>
        </p:txBody>
      </p:sp>
      <p:sp>
        <p:nvSpPr>
          <p:cNvPr id="5" name="Text 0"/>
          <p:cNvSpPr/>
          <p:nvPr>
            <p:ph idx="101" type="title" hasCustomPrompt="1"/>
          </p:nvPr>
        </p:nvSpPr>
        <p:spPr>
          <a:xfrm>
            <a:off x="731520" y="5349240"/>
            <a:ext cx="7223760" cy="548640"/>
          </a:xfrm>
          <a:prstGeom prst="rect">
            <a:avLst/>
          </a:prstGeom>
          <a:noFill/>
          <a:ln/>
        </p:spPr>
        <p:txBody>
          <a:bodyPr wrap="square" lIns="0" tIns="0" rIns="0" bIns="0" rtlCol="0" anchor="t"/>
          <a:lstStyle/>
          <a:p>
            <a:pPr algn="l" indent="0" marL="0">
              <a:buNone/>
            </a:pPr>
            <a:r>
              <a:rPr lang="en-US" sz="2600" b="1" dirty="0">
                <a:solidFill>
                  <a:schemeClr val="bg1"/>
                </a:solidFill>
              </a:rPr>
              <a:t>Okul kampüsleri</a:t>
            </a:r>
            <a:endParaRPr lang="en-US" sz="2600" dirty="0"/>
          </a:p>
        </p:txBody>
      </p:sp>
      <p:sp>
        <p:nvSpPr>
          <p:cNvPr id="6" name="Text 3"/>
          <p:cNvSpPr txBox="1"/>
          <p:nvPr/>
        </p:nvSpPr>
        <p:spPr>
          <a:xfrm>
            <a:off x="731520" y="5943600"/>
            <a:ext cx="7315200" cy="320040"/>
          </a:xfrm>
          <a:prstGeom prst="rect">
            <a:avLst/>
          </a:prstGeom>
          <a:noFill/>
          <a:ln/>
        </p:spPr>
        <p:txBody>
          <a:bodyPr wrap="square" lIns="0" tIns="0" rIns="0" bIns="0" rtlCol="0" anchor="t"/>
          <a:lstStyle/>
          <a:p>
            <a:pPr indent="0" marL="0">
              <a:buNone/>
            </a:pPr>
            <a:r>
              <a:rPr lang="en-US" sz="1200" dirty="0">
                <a:solidFill>
                  <a:schemeClr val="bg2"/>
                </a:solidFill>
              </a:rPr>
              <a:t>Temsilî kavram görseli; özel okul (ön planda) ve devlet okul kampüsü, spor sahaları.</a:t>
            </a:r>
            <a:endParaRPr lang="en-US" sz="12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1"/>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EĞİTİM · NORMLAR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Okul normları: MEB ve MPYY</a:t>
            </a:r>
            <a:endParaRPr lang="en-US" sz="3600" dirty="0"/>
          </a:p>
        </p:txBody>
      </p:sp>
      <p:sp>
        <p:nvSpPr>
          <p:cNvPr id="4" name="Kart"/>
          <p:cNvSpPr/>
          <p:nvPr/>
        </p:nvSpPr>
        <p:spPr>
          <a:xfrm>
            <a:off x="548640" y="1600200"/>
            <a:ext cx="5410048" cy="4343400"/>
          </a:xfrm>
          <a:prstGeom prst="roundRect">
            <a:avLst>
              <a:gd name="adj" fmla="val 1684"/>
            </a:avLst>
          </a:prstGeom>
          <a:solidFill>
            <a:schemeClr val="bg1"/>
          </a:solidFill>
          <a:ln/>
          <a:effectLst>
            <a:outerShdw sx="100000" sy="100000" kx="0" ky="0" algn="bl" rotWithShape="0" blurRad="76200" dist="19050" dir="5400000">
              <a:srgbClr val="000000">
                <a:alpha val="12000"/>
              </a:srgbClr>
            </a:outerShdw>
          </a:effectLst>
        </p:spPr>
      </p:sp>
      <p:sp>
        <p:nvSpPr>
          <p:cNvPr id="5" name="Text 3"/>
          <p:cNvSpPr txBox="1"/>
          <p:nvPr/>
        </p:nvSpPr>
        <p:spPr>
          <a:xfrm>
            <a:off x="822960" y="1828800"/>
            <a:ext cx="4861408" cy="411480"/>
          </a:xfrm>
          <a:prstGeom prst="rect">
            <a:avLst/>
          </a:prstGeom>
          <a:noFill/>
          <a:ln/>
        </p:spPr>
        <p:txBody>
          <a:bodyPr wrap="square" lIns="0" tIns="0" rIns="0" bIns="0" rtlCol="0" anchor="t"/>
          <a:lstStyle/>
          <a:p>
            <a:pPr indent="0" marL="0">
              <a:buNone/>
            </a:pPr>
            <a:r>
              <a:rPr lang="en-US" sz="1800" b="1" dirty="0">
                <a:solidFill>
                  <a:schemeClr val="tx2"/>
                </a:solidFill>
              </a:rPr>
              <a:t>MEB Eğitim Yapıları Kılavuzu (2015)</a:t>
            </a:r>
            <a:endParaRPr lang="en-US" sz="1800" dirty="0"/>
          </a:p>
        </p:txBody>
      </p:sp>
      <p:sp>
        <p:nvSpPr>
          <p:cNvPr id="6" name="Text 4"/>
          <p:cNvSpPr txBox="1"/>
          <p:nvPr/>
        </p:nvSpPr>
        <p:spPr>
          <a:xfrm>
            <a:off x="822960" y="2377440"/>
            <a:ext cx="4861408" cy="34290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Öğrenci başına en az 15 m² açık ve kapalı alan; gelişmiş ülkelerde 25–30 m²</a:t>
            </a:r>
            <a:endParaRPr lang="en-US" sz="1500" dirty="0"/>
          </a:p>
          <a:p>
            <a:pPr marL="342900" indent="-342900">
              <a:spcAft>
                <a:spcPts val="600"/>
              </a:spcAft>
              <a:buSzPct val="100000"/>
              <a:buChar char="•"/>
            </a:pPr>
            <a:r>
              <a:rPr lang="en-US" sz="1500" dirty="0">
                <a:solidFill>
                  <a:schemeClr val="tx1"/>
                </a:solidFill>
              </a:rPr>
              <a:t>Bina taban alanı arsanın en fazla %35'i; arsa koşuluna göre %50'ye kadar</a:t>
            </a:r>
            <a:endParaRPr lang="en-US" sz="1500" dirty="0"/>
          </a:p>
          <a:p>
            <a:pPr marL="342900" indent="-342900">
              <a:spcAft>
                <a:spcPts val="600"/>
              </a:spcAft>
              <a:buSzPct val="100000"/>
              <a:buChar char="•"/>
            </a:pPr>
            <a:r>
              <a:rPr lang="en-US" sz="1500" dirty="0">
                <a:solidFill>
                  <a:schemeClr val="tx1"/>
                </a:solidFill>
              </a:rPr>
              <a:t>Derslikler 30 öğrenciye göre; anasınıfları en az 20, en çok 25 kişilik planlanır</a:t>
            </a:r>
            <a:endParaRPr lang="en-US" sz="1500" dirty="0"/>
          </a:p>
          <a:p>
            <a:pPr marL="342900" indent="-342900">
              <a:spcAft>
                <a:spcPts val="600"/>
              </a:spcAft>
              <a:buSzPct val="100000"/>
              <a:buChar char="•"/>
            </a:pPr>
            <a:r>
              <a:rPr lang="en-US" sz="1500" dirty="0">
                <a:solidFill>
                  <a:schemeClr val="tx1"/>
                </a:solidFill>
              </a:rPr>
              <a:t>Derslikte kişi başı brüt alan: ilkokulda 1,60 m², ortaokul ve lisede 1,85 m²</a:t>
            </a:r>
            <a:endParaRPr lang="en-US" sz="1500" dirty="0"/>
          </a:p>
          <a:p>
            <a:pPr marL="342900" indent="-342900">
              <a:spcAft>
                <a:spcPts val="600"/>
              </a:spcAft>
              <a:buSzPct val="100000"/>
              <a:buChar char="•"/>
            </a:pPr>
            <a:r>
              <a:rPr lang="en-US" sz="1500" dirty="0">
                <a:solidFill>
                  <a:schemeClr val="tx1"/>
                </a:solidFill>
              </a:rPr>
              <a:t>Okul bahçesinde en az bir basketbol-voleybol sahası; her 300 öğrenci için ek 2 pota</a:t>
            </a:r>
            <a:endParaRPr lang="en-US" sz="1500" dirty="0"/>
          </a:p>
        </p:txBody>
      </p:sp>
      <p:sp>
        <p:nvSpPr>
          <p:cNvPr id="7" name="Kart"/>
          <p:cNvSpPr/>
          <p:nvPr/>
        </p:nvSpPr>
        <p:spPr>
          <a:xfrm>
            <a:off x="6233008" y="1600200"/>
            <a:ext cx="5410048" cy="4343400"/>
          </a:xfrm>
          <a:prstGeom prst="roundRect">
            <a:avLst>
              <a:gd name="adj" fmla="val 1684"/>
            </a:avLst>
          </a:prstGeom>
          <a:solidFill>
            <a:schemeClr val="bg1"/>
          </a:solidFill>
          <a:ln/>
          <a:effectLst>
            <a:outerShdw sx="100000" sy="100000" kx="0" ky="0" algn="bl" rotWithShape="0" blurRad="76200" dist="19050" dir="5400000">
              <a:srgbClr val="000000">
                <a:alpha val="12000"/>
              </a:srgbClr>
            </a:outerShdw>
          </a:effectLst>
        </p:spPr>
      </p:sp>
      <p:sp>
        <p:nvSpPr>
          <p:cNvPr id="8" name="Text 6"/>
          <p:cNvSpPr txBox="1"/>
          <p:nvPr/>
        </p:nvSpPr>
        <p:spPr>
          <a:xfrm>
            <a:off x="6507328" y="1828800"/>
            <a:ext cx="4861408" cy="411480"/>
          </a:xfrm>
          <a:prstGeom prst="rect">
            <a:avLst/>
          </a:prstGeom>
          <a:noFill/>
          <a:ln/>
        </p:spPr>
        <p:txBody>
          <a:bodyPr wrap="square" lIns="0" tIns="0" rIns="0" bIns="0" rtlCol="0" anchor="t"/>
          <a:lstStyle/>
          <a:p>
            <a:pPr indent="0" marL="0">
              <a:buNone/>
            </a:pPr>
            <a:r>
              <a:rPr lang="en-US" sz="1800" b="1" dirty="0">
                <a:solidFill>
                  <a:schemeClr val="accent1"/>
                </a:solidFill>
              </a:rPr>
              <a:t>Yer seçimi ve erişim</a:t>
            </a:r>
            <a:endParaRPr lang="en-US" sz="1800" dirty="0"/>
          </a:p>
        </p:txBody>
      </p:sp>
      <p:sp>
        <p:nvSpPr>
          <p:cNvPr id="9" name="Text 7"/>
          <p:cNvSpPr txBox="1"/>
          <p:nvPr/>
        </p:nvSpPr>
        <p:spPr>
          <a:xfrm>
            <a:off x="6507328" y="2377440"/>
            <a:ext cx="4861408" cy="34290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Kreş, anaokulu ve ilkokul ~500 m; ortaokul ~1.000 m; lise ~2.500 m (MPYY md. 12)</a:t>
            </a:r>
            <a:endParaRPr lang="en-US" sz="1500" dirty="0"/>
          </a:p>
          <a:p>
            <a:pPr marL="342900" indent="-342900">
              <a:spcAft>
                <a:spcPts val="600"/>
              </a:spcAft>
              <a:buSzPct val="100000"/>
              <a:buChar char="•"/>
            </a:pPr>
            <a:r>
              <a:rPr lang="en-US" sz="1500" dirty="0">
                <a:solidFill>
                  <a:schemeClr val="tx1"/>
                </a:solidFill>
              </a:rPr>
              <a:t>Okul, yüksek gerilim hattı ve baz istasyonundan en az 100 m uzakta olmalıdır</a:t>
            </a:r>
            <a:endParaRPr lang="en-US" sz="1500" dirty="0"/>
          </a:p>
          <a:p>
            <a:pPr marL="342900" indent="-342900">
              <a:spcAft>
                <a:spcPts val="600"/>
              </a:spcAft>
              <a:buSzPct val="100000"/>
              <a:buChar char="•"/>
            </a:pPr>
            <a:r>
              <a:rPr lang="en-US" sz="1500" dirty="0">
                <a:solidFill>
                  <a:schemeClr val="tx1"/>
                </a:solidFill>
              </a:rPr>
              <a:t>Akaryakıt istasyonuna en az 50 m; dere yatağı ve heyelan alanı dışında yer seçimi</a:t>
            </a:r>
            <a:endParaRPr lang="en-US" sz="1500" dirty="0"/>
          </a:p>
          <a:p>
            <a:pPr marL="342900" indent="-342900">
              <a:spcAft>
                <a:spcPts val="600"/>
              </a:spcAft>
              <a:buSzPct val="100000"/>
              <a:buChar char="•"/>
            </a:pPr>
            <a:r>
              <a:rPr lang="en-US" sz="1500" dirty="0">
                <a:solidFill>
                  <a:schemeClr val="tx1"/>
                </a:solidFill>
              </a:rPr>
              <a:t>Anaokulu dersliği ve etkinlik odasında kişi başı brüt en az 2,40 m²</a:t>
            </a:r>
            <a:endParaRPr lang="en-US" sz="1500" dirty="0"/>
          </a:p>
          <a:p>
            <a:pPr marL="342900" indent="-342900">
              <a:spcAft>
                <a:spcPts val="600"/>
              </a:spcAft>
              <a:buSzPct val="100000"/>
              <a:buChar char="•"/>
            </a:pPr>
            <a:r>
              <a:rPr lang="en-US" sz="1500" dirty="0">
                <a:solidFill>
                  <a:schemeClr val="tx1"/>
                </a:solidFill>
              </a:rPr>
              <a:t>Özel okulda derslik en az 20 m²; bahçe en az 500 m² ve öğrenci başına 2 m²</a:t>
            </a:r>
            <a:endParaRPr lang="en-US" sz="1500" dirty="0"/>
          </a:p>
        </p:txBody>
      </p:sp>
      <p:sp>
        <p:nvSpPr>
          <p:cNvPr id="10" name="Text 8"/>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MEB İEGM Eğitim Yapıları Asgari Tasarım Standartları Kılavuzu 2015; MPYY md. 12; MEB Kurum Açma Yönetmeliği 2017; ÖÖKGM Yönergesi 2025.</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EĞİTİM · ÖĞRENCİ HESABI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Öğrenci ve derslik hesabı</a:t>
            </a:r>
            <a:endParaRPr lang="en-US" sz="36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773604"/>
                <a:gridCol w="2773604"/>
                <a:gridCol w="2773604"/>
                <a:gridCol w="2773604"/>
              </a:tblGrid>
              <a:tr h="457200">
                <a:tc>
                  <a:txBody>
                    <a:bodyPr/>
                    <a:lstStyle/>
                    <a:p>
                      <a:pPr indent="0" marL="0">
                        <a:buNone/>
                      </a:pPr>
                      <a:r>
                        <a:rPr lang="en-US" sz="1300" b="1" dirty="0">
                          <a:solidFill>
                            <a:srgbClr val="FFFFFF"/>
                          </a:solidFill>
                        </a:rPr>
                        <a:t>Kademe</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1.000 kişide öğrenci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Öğrenci (7.500 kişi)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Derslik esası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457200">
                <a:tc>
                  <a:txBody>
                    <a:bodyPr/>
                    <a:lstStyle/>
                    <a:p>
                      <a:pPr indent="0" marL="0">
                        <a:buNone/>
                      </a:pPr>
                      <a:r>
                        <a:rPr lang="en-US" sz="1300" b="1" dirty="0">
                          <a:solidFill>
                            <a:srgbClr val="1B2430"/>
                          </a:solidFill>
                        </a:rPr>
                        <a:t>Kreş ve anaokulu (3–5 yaş)</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45</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338</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20 öğrenci/derslik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İlkokul (6–9 yaş)</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60</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450</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30 öğrenci/derslik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Ortaokul (10–13 yaş)</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55</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412</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30 öğrenci/derslik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Lise (14–17 yaş)</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45</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338</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30 öğrenci/derslik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Toplam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~1.540</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~57 derslik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Devlet okul kampüsü (2,2 ha)</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Anaokulu, ilkokul, ortaokul</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~32 derslik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Özel okul kampüsü (2,4 ha)</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İki dilli, anaokulundan liseye</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~25 derslik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Alan programı (koordinatör hesabı, 23.10.2026); öğrenci oranları genç aile varsayımıdır (varsayım); MEB kılavuzu derslik esası.</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DÜNYADAN ÖRNEKLER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Dünyadan örnekler: işveren yakınında okul</a:t>
            </a:r>
            <a:endParaRPr lang="en-US" sz="3600" dirty="0"/>
          </a:p>
        </p:txBody>
      </p:sp>
      <p:sp>
        <p:nvSpPr>
          <p:cNvPr id="4" name="Kart"/>
          <p:cNvSpPr/>
          <p:nvPr/>
        </p:nvSpPr>
        <p:spPr>
          <a:xfrm>
            <a:off x="548640"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77240" y="1828800"/>
            <a:ext cx="566928" cy="566928"/>
          </a:xfrm>
          <a:prstGeom prst="ellipse">
            <a:avLst/>
          </a:prstGeom>
          <a:solidFill>
            <a:schemeClr val="tx2"/>
          </a:solidFill>
          <a:ln/>
        </p:spPr>
      </p:sp>
      <p:pic>
        <p:nvPicPr>
          <p:cNvPr id="6" name="İkon FaPlaneDeparture" descr="preencoded.png">    </p:cNvPr>
          <p:cNvPicPr>
            <a:picLocks noChangeAspect="1"/>
          </p:cNvPicPr>
          <p:nvPr/>
        </p:nvPicPr>
        <p:blipFill>
          <a:blip r:embed="rId1"/>
          <a:stretch>
            <a:fillRect/>
          </a:stretch>
        </p:blipFill>
        <p:spPr>
          <a:xfrm>
            <a:off x="913303" y="1964863"/>
            <a:ext cx="294803" cy="294803"/>
          </a:xfrm>
          <a:prstGeom prst="rect">
            <a:avLst/>
          </a:prstGeom>
        </p:spPr>
      </p:pic>
      <p:sp>
        <p:nvSpPr>
          <p:cNvPr id="7" name="Text 4"/>
          <p:cNvSpPr txBox="1"/>
          <p:nvPr/>
        </p:nvSpPr>
        <p:spPr>
          <a:xfrm>
            <a:off x="777240"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Toulouse, Fransa · 1999</a:t>
            </a:r>
            <a:endParaRPr lang="en-US" sz="1300" dirty="0"/>
          </a:p>
        </p:txBody>
      </p:sp>
      <p:sp>
        <p:nvSpPr>
          <p:cNvPr id="8" name="Text 5"/>
          <p:cNvSpPr txBox="1"/>
          <p:nvPr/>
        </p:nvSpPr>
        <p:spPr>
          <a:xfrm>
            <a:off x="777240"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International School of Toulouse</a:t>
            </a:r>
            <a:endParaRPr lang="en-US" sz="1700" dirty="0"/>
          </a:p>
        </p:txBody>
      </p:sp>
      <p:sp>
        <p:nvSpPr>
          <p:cNvPr id="9" name="Text 6"/>
          <p:cNvSpPr txBox="1"/>
          <p:nvPr/>
        </p:nvSpPr>
        <p:spPr>
          <a:xfrm>
            <a:off x="777240"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Airbus'ın talebiyle kuruldu; uluslararası mühendis aileleri için.</a:t>
            </a:r>
            <a:endParaRPr lang="en-US" sz="1500" dirty="0"/>
          </a:p>
        </p:txBody>
      </p:sp>
      <p:sp>
        <p:nvSpPr>
          <p:cNvPr id="10" name="Text 7"/>
          <p:cNvSpPr txBox="1"/>
          <p:nvPr/>
        </p:nvSpPr>
        <p:spPr>
          <a:xfrm>
            <a:off x="777240"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çıkarım</a:t>
            </a:r>
            <a:endParaRPr lang="en-US" sz="1400" dirty="0"/>
          </a:p>
          <a:p>
            <a:pPr indent="0" marL="0">
              <a:buNone/>
            </a:pPr>
            <a:r>
              <a:rPr lang="en-US" sz="1500" dirty="0">
                <a:solidFill>
                  <a:schemeClr val="tx1"/>
                </a:solidFill>
              </a:rPr>
              <a:t>Okul, mühendis ailesini çeken ilk unsur.</a:t>
            </a:r>
            <a:endParaRPr lang="en-US" sz="1400" dirty="0"/>
          </a:p>
        </p:txBody>
      </p:sp>
      <p:sp>
        <p:nvSpPr>
          <p:cNvPr id="11" name="Kart"/>
          <p:cNvSpPr/>
          <p:nvPr/>
        </p:nvSpPr>
        <p:spPr>
          <a:xfrm>
            <a:off x="3390824"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12" name="İkon zemini"/>
          <p:cNvSpPr/>
          <p:nvPr/>
        </p:nvSpPr>
        <p:spPr>
          <a:xfrm>
            <a:off x="3619424" y="1828800"/>
            <a:ext cx="566928" cy="566928"/>
          </a:xfrm>
          <a:prstGeom prst="ellipse">
            <a:avLst/>
          </a:prstGeom>
          <a:solidFill>
            <a:schemeClr val="tx2"/>
          </a:solidFill>
          <a:ln/>
        </p:spPr>
      </p:sp>
      <p:pic>
        <p:nvPicPr>
          <p:cNvPr id="13" name="İkon FaSchool" descr="preencoded.png">    </p:cNvPr>
          <p:cNvPicPr>
            <a:picLocks noChangeAspect="1"/>
          </p:cNvPicPr>
          <p:nvPr/>
        </p:nvPicPr>
        <p:blipFill>
          <a:blip r:embed="rId2"/>
          <a:stretch>
            <a:fillRect/>
          </a:stretch>
        </p:blipFill>
        <p:spPr>
          <a:xfrm>
            <a:off x="3755487" y="1964863"/>
            <a:ext cx="294803" cy="294803"/>
          </a:xfrm>
          <a:prstGeom prst="rect">
            <a:avLst/>
          </a:prstGeom>
        </p:spPr>
      </p:pic>
      <p:sp>
        <p:nvSpPr>
          <p:cNvPr id="14" name="Text 10"/>
          <p:cNvSpPr txBox="1"/>
          <p:nvPr/>
        </p:nvSpPr>
        <p:spPr>
          <a:xfrm>
            <a:off x="3619424"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Songdo, Kore · 2010</a:t>
            </a:r>
            <a:endParaRPr lang="en-US" sz="1300" dirty="0"/>
          </a:p>
        </p:txBody>
      </p:sp>
      <p:sp>
        <p:nvSpPr>
          <p:cNvPr id="15" name="Text 11"/>
          <p:cNvSpPr txBox="1"/>
          <p:nvPr/>
        </p:nvSpPr>
        <p:spPr>
          <a:xfrm>
            <a:off x="3619424"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Chadwick International</a:t>
            </a:r>
            <a:endParaRPr lang="en-US" sz="1700" dirty="0"/>
          </a:p>
        </p:txBody>
      </p:sp>
      <p:sp>
        <p:nvSpPr>
          <p:cNvPr id="16" name="Text 12"/>
          <p:cNvSpPr txBox="1"/>
          <p:nvPr/>
        </p:nvSpPr>
        <p:spPr>
          <a:xfrm>
            <a:off x="3619424"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260–280 öğrenciyle açıldı; bugün ~1.500 öğrenci.</a:t>
            </a:r>
            <a:endParaRPr lang="en-US" sz="1500" dirty="0"/>
          </a:p>
        </p:txBody>
      </p:sp>
      <p:sp>
        <p:nvSpPr>
          <p:cNvPr id="17" name="Text 13"/>
          <p:cNvSpPr txBox="1"/>
          <p:nvPr/>
        </p:nvSpPr>
        <p:spPr>
          <a:xfrm>
            <a:off x="3619424"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çıkarım</a:t>
            </a:r>
            <a:endParaRPr lang="en-US" sz="1400" dirty="0"/>
          </a:p>
          <a:p>
            <a:pPr indent="0" marL="0">
              <a:buNone/>
            </a:pPr>
            <a:r>
              <a:rPr lang="en-US" sz="1500" dirty="0">
                <a:solidFill>
                  <a:schemeClr val="tx1"/>
                </a:solidFill>
              </a:rPr>
              <a:t>Okul talebi büyür; kampüs büyümeye göre planlanır.</a:t>
            </a:r>
            <a:endParaRPr lang="en-US" sz="1400" dirty="0"/>
          </a:p>
        </p:txBody>
      </p:sp>
      <p:sp>
        <p:nvSpPr>
          <p:cNvPr id="18" name="Kart"/>
          <p:cNvSpPr/>
          <p:nvPr/>
        </p:nvSpPr>
        <p:spPr>
          <a:xfrm>
            <a:off x="6233008"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19" name="İkon zemini"/>
          <p:cNvSpPr/>
          <p:nvPr/>
        </p:nvSpPr>
        <p:spPr>
          <a:xfrm>
            <a:off x="6461608" y="1828800"/>
            <a:ext cx="566928" cy="566928"/>
          </a:xfrm>
          <a:prstGeom prst="ellipse">
            <a:avLst/>
          </a:prstGeom>
          <a:solidFill>
            <a:schemeClr val="tx2"/>
          </a:solidFill>
          <a:ln/>
        </p:spPr>
      </p:sp>
      <p:pic>
        <p:nvPicPr>
          <p:cNvPr id="20" name="İkon FaBuildingColumns" descr="preencoded.png">    </p:cNvPr>
          <p:cNvPicPr>
            <a:picLocks noChangeAspect="1"/>
          </p:cNvPicPr>
          <p:nvPr/>
        </p:nvPicPr>
        <p:blipFill>
          <a:blip r:embed="rId3"/>
          <a:stretch>
            <a:fillRect/>
          </a:stretch>
        </p:blipFill>
        <p:spPr>
          <a:xfrm>
            <a:off x="6597670" y="1964863"/>
            <a:ext cx="294803" cy="294803"/>
          </a:xfrm>
          <a:prstGeom prst="rect">
            <a:avLst/>
          </a:prstGeom>
        </p:spPr>
      </p:pic>
      <p:sp>
        <p:nvSpPr>
          <p:cNvPr id="21" name="Text 16"/>
          <p:cNvSpPr txBox="1"/>
          <p:nvPr/>
        </p:nvSpPr>
        <p:spPr>
          <a:xfrm>
            <a:off x="6461608"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Wolfsburg, Almanya · 2009</a:t>
            </a:r>
            <a:endParaRPr lang="en-US" sz="1300" dirty="0"/>
          </a:p>
        </p:txBody>
      </p:sp>
      <p:sp>
        <p:nvSpPr>
          <p:cNvPr id="22" name="Text 17"/>
          <p:cNvSpPr txBox="1"/>
          <p:nvPr/>
        </p:nvSpPr>
        <p:spPr>
          <a:xfrm>
            <a:off x="6461608"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Neue Schule Wolfsburg</a:t>
            </a:r>
            <a:endParaRPr lang="en-US" sz="1700" dirty="0"/>
          </a:p>
        </p:txBody>
      </p:sp>
      <p:sp>
        <p:nvSpPr>
          <p:cNvPr id="23" name="Text 18"/>
          <p:cNvSpPr txBox="1"/>
          <p:nvPr/>
        </p:nvSpPr>
        <p:spPr>
          <a:xfrm>
            <a:off x="6461608"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Volkswagen okulu kurdu ve şehre bağışladı.</a:t>
            </a:r>
            <a:endParaRPr lang="en-US" sz="1500" dirty="0"/>
          </a:p>
        </p:txBody>
      </p:sp>
      <p:sp>
        <p:nvSpPr>
          <p:cNvPr id="24" name="Text 19"/>
          <p:cNvSpPr txBox="1"/>
          <p:nvPr/>
        </p:nvSpPr>
        <p:spPr>
          <a:xfrm>
            <a:off x="6461608"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çıkarım</a:t>
            </a:r>
            <a:endParaRPr lang="en-US" sz="1400" dirty="0"/>
          </a:p>
          <a:p>
            <a:pPr indent="0" marL="0">
              <a:buNone/>
            </a:pPr>
            <a:r>
              <a:rPr lang="en-US" sz="1500" dirty="0">
                <a:solidFill>
                  <a:schemeClr val="tx1"/>
                </a:solidFill>
              </a:rPr>
              <a:t>İşveren katkısıyla nitelikli okul mümkün.</a:t>
            </a:r>
            <a:endParaRPr lang="en-US" sz="1400" dirty="0"/>
          </a:p>
        </p:txBody>
      </p:sp>
      <p:sp>
        <p:nvSpPr>
          <p:cNvPr id="25" name="Kart"/>
          <p:cNvSpPr/>
          <p:nvPr/>
        </p:nvSpPr>
        <p:spPr>
          <a:xfrm>
            <a:off x="9075191"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26" name="İkon zemini"/>
          <p:cNvSpPr/>
          <p:nvPr/>
        </p:nvSpPr>
        <p:spPr>
          <a:xfrm>
            <a:off x="9303791" y="1828800"/>
            <a:ext cx="566928" cy="566928"/>
          </a:xfrm>
          <a:prstGeom prst="ellipse">
            <a:avLst/>
          </a:prstGeom>
          <a:solidFill>
            <a:schemeClr val="tx2"/>
          </a:solidFill>
          <a:ln/>
        </p:spPr>
      </p:sp>
      <p:pic>
        <p:nvPicPr>
          <p:cNvPr id="27" name="İkon FaFlask" descr="preencoded.png">    </p:cNvPr>
          <p:cNvPicPr>
            <a:picLocks noChangeAspect="1"/>
          </p:cNvPicPr>
          <p:nvPr/>
        </p:nvPicPr>
        <p:blipFill>
          <a:blip r:embed="rId4"/>
          <a:stretch>
            <a:fillRect/>
          </a:stretch>
        </p:blipFill>
        <p:spPr>
          <a:xfrm>
            <a:off x="9439854" y="1964863"/>
            <a:ext cx="294803" cy="294803"/>
          </a:xfrm>
          <a:prstGeom prst="rect">
            <a:avLst/>
          </a:prstGeom>
        </p:spPr>
      </p:pic>
      <p:sp>
        <p:nvSpPr>
          <p:cNvPr id="28" name="Text 22"/>
          <p:cNvSpPr txBox="1"/>
          <p:nvPr/>
        </p:nvSpPr>
        <p:spPr>
          <a:xfrm>
            <a:off x="9303791"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Türkiye · 2022</a:t>
            </a:r>
            <a:endParaRPr lang="en-US" sz="1300" dirty="0"/>
          </a:p>
        </p:txBody>
      </p:sp>
      <p:sp>
        <p:nvSpPr>
          <p:cNvPr id="29" name="Text 23"/>
          <p:cNvSpPr txBox="1"/>
          <p:nvPr/>
        </p:nvSpPr>
        <p:spPr>
          <a:xfrm>
            <a:off x="9303791"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Deneyap atölyeleri</a:t>
            </a:r>
            <a:endParaRPr lang="en-US" sz="1700" dirty="0"/>
          </a:p>
        </p:txBody>
      </p:sp>
      <p:sp>
        <p:nvSpPr>
          <p:cNvPr id="30" name="Text 24"/>
          <p:cNvSpPr txBox="1"/>
          <p:nvPr/>
        </p:nvSpPr>
        <p:spPr>
          <a:xfrm>
            <a:off x="9303791"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50 atölye, 6.803 öğrenci.</a:t>
            </a:r>
            <a:endParaRPr lang="en-US" sz="1500" dirty="0"/>
          </a:p>
        </p:txBody>
      </p:sp>
      <p:sp>
        <p:nvSpPr>
          <p:cNvPr id="31" name="Text 25"/>
          <p:cNvSpPr txBox="1"/>
          <p:nvPr/>
        </p:nvSpPr>
        <p:spPr>
          <a:xfrm>
            <a:off x="9303791"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çıkarım</a:t>
            </a:r>
            <a:endParaRPr lang="en-US" sz="1400" dirty="0"/>
          </a:p>
          <a:p>
            <a:pPr indent="0" marL="0">
              <a:buNone/>
            </a:pPr>
            <a:r>
              <a:rPr lang="en-US" sz="1500" dirty="0">
                <a:solidFill>
                  <a:schemeClr val="tx1"/>
                </a:solidFill>
              </a:rPr>
              <a:t>Teknoloji atölyesi her okula eklenebilir.</a:t>
            </a:r>
            <a:endParaRPr lang="en-US" sz="1400" dirty="0"/>
          </a:p>
        </p:txBody>
      </p:sp>
      <p:sp>
        <p:nvSpPr>
          <p:cNvPr id="32" name="Text 26"/>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araştırma notları 04 ve 07 (kurum ve basın kaynakları). Dünya örneklerinin fotoğrafları telif nedeniyle kullanılmadı.</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SAĞLIK</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Sağlık: yerleşim içinde birinci basamak</a:t>
            </a:r>
            <a:endParaRPr lang="en-US" sz="3600" dirty="0"/>
          </a:p>
        </p:txBody>
      </p:sp>
      <p:sp>
        <p:nvSpPr>
          <p:cNvPr id="4" name="Kart"/>
          <p:cNvSpPr/>
          <p:nvPr/>
        </p:nvSpPr>
        <p:spPr>
          <a:xfrm>
            <a:off x="548640" y="1600200"/>
            <a:ext cx="6583680" cy="1298448"/>
          </a:xfrm>
          <a:prstGeom prst="roundRect">
            <a:avLst>
              <a:gd name="adj" fmla="val 5634"/>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77240" y="1929384"/>
            <a:ext cx="640080" cy="640080"/>
          </a:xfrm>
          <a:prstGeom prst="ellipse">
            <a:avLst/>
          </a:prstGeom>
          <a:solidFill>
            <a:schemeClr val="accent1"/>
          </a:solidFill>
          <a:ln/>
        </p:spPr>
      </p:sp>
      <p:pic>
        <p:nvPicPr>
          <p:cNvPr id="6" name="İkon FaKitMedical" descr="preencoded.png">    </p:cNvPr>
          <p:cNvPicPr>
            <a:picLocks noChangeAspect="1"/>
          </p:cNvPicPr>
          <p:nvPr/>
        </p:nvPicPr>
        <p:blipFill>
          <a:blip r:embed="rId1"/>
          <a:stretch>
            <a:fillRect/>
          </a:stretch>
        </p:blipFill>
        <p:spPr>
          <a:xfrm>
            <a:off x="930859" y="2083003"/>
            <a:ext cx="332842" cy="332842"/>
          </a:xfrm>
          <a:prstGeom prst="rect">
            <a:avLst/>
          </a:prstGeom>
        </p:spPr>
      </p:pic>
      <p:sp>
        <p:nvSpPr>
          <p:cNvPr id="7" name="Text 4"/>
          <p:cNvSpPr txBox="1"/>
          <p:nvPr/>
        </p:nvSpPr>
        <p:spPr>
          <a:xfrm>
            <a:off x="1600200" y="1737360"/>
            <a:ext cx="5349240" cy="274320"/>
          </a:xfrm>
          <a:prstGeom prst="rect">
            <a:avLst/>
          </a:prstGeom>
          <a:noFill/>
          <a:ln/>
        </p:spPr>
        <p:txBody>
          <a:bodyPr wrap="square" lIns="0" tIns="0" rIns="0" bIns="0" rtlCol="0" anchor="t"/>
          <a:lstStyle/>
          <a:p>
            <a:pPr indent="0" marL="0">
              <a:buNone/>
            </a:pPr>
            <a:r>
              <a:rPr lang="en-US" sz="1300" b="1" dirty="0">
                <a:solidFill>
                  <a:schemeClr val="accent1"/>
                </a:solidFill>
              </a:rPr>
              <a:t>Yerleşim içinde · ilk gün</a:t>
            </a:r>
            <a:endParaRPr lang="en-US" sz="1300" dirty="0"/>
          </a:p>
        </p:txBody>
      </p:sp>
      <p:sp>
        <p:nvSpPr>
          <p:cNvPr id="8" name="Text 5"/>
          <p:cNvSpPr txBox="1"/>
          <p:nvPr/>
        </p:nvSpPr>
        <p:spPr>
          <a:xfrm>
            <a:off x="1600200" y="2011680"/>
            <a:ext cx="5349240" cy="320040"/>
          </a:xfrm>
          <a:prstGeom prst="rect">
            <a:avLst/>
          </a:prstGeom>
          <a:noFill/>
          <a:ln/>
        </p:spPr>
        <p:txBody>
          <a:bodyPr wrap="square" lIns="0" tIns="0" rIns="0" bIns="0" rtlCol="0" anchor="t"/>
          <a:lstStyle/>
          <a:p>
            <a:pPr indent="0" marL="0">
              <a:buNone/>
            </a:pPr>
            <a:r>
              <a:rPr lang="en-US" sz="1700" b="1" dirty="0">
                <a:solidFill>
                  <a:schemeClr val="tx2"/>
                </a:solidFill>
              </a:rPr>
              <a:t>Aile sağlığı merkezi, 112 istasyonu ve poliklinik</a:t>
            </a:r>
            <a:endParaRPr lang="en-US" sz="1700" dirty="0"/>
          </a:p>
        </p:txBody>
      </p:sp>
      <p:sp>
        <p:nvSpPr>
          <p:cNvPr id="9" name="Text 6"/>
          <p:cNvSpPr txBox="1"/>
          <p:nvPr/>
        </p:nvSpPr>
        <p:spPr>
          <a:xfrm>
            <a:off x="1600200" y="2350008"/>
            <a:ext cx="5349240" cy="502920"/>
          </a:xfrm>
          <a:prstGeom prst="rect">
            <a:avLst/>
          </a:prstGeom>
          <a:noFill/>
          <a:ln/>
        </p:spPr>
        <p:txBody>
          <a:bodyPr wrap="square" lIns="0" tIns="0" rIns="0" bIns="0" rtlCol="0" anchor="t"/>
          <a:lstStyle/>
          <a:p>
            <a:pPr indent="0" marL="0">
              <a:buNone/>
            </a:pPr>
            <a:r>
              <a:rPr lang="en-US" sz="1400" dirty="0">
                <a:solidFill>
                  <a:schemeClr val="tx1"/>
                </a:solidFill>
              </a:rPr>
              <a:t>~2.500 m² bina, 1,12 ha alan; yürüme mesafesinde.</a:t>
            </a:r>
            <a:endParaRPr lang="en-US" sz="1400" dirty="0"/>
          </a:p>
        </p:txBody>
      </p:sp>
      <p:sp>
        <p:nvSpPr>
          <p:cNvPr id="10" name="Kart"/>
          <p:cNvSpPr/>
          <p:nvPr/>
        </p:nvSpPr>
        <p:spPr>
          <a:xfrm>
            <a:off x="548640" y="3081528"/>
            <a:ext cx="6583680" cy="1298448"/>
          </a:xfrm>
          <a:prstGeom prst="roundRect">
            <a:avLst>
              <a:gd name="adj" fmla="val 5634"/>
            </a:avLst>
          </a:prstGeom>
          <a:solidFill>
            <a:schemeClr val="bg1"/>
          </a:solidFill>
          <a:ln/>
          <a:effectLst>
            <a:outerShdw sx="100000" sy="100000" kx="0" ky="0" algn="bl" rotWithShape="0" blurRad="76200" dist="19050" dir="5400000">
              <a:srgbClr val="000000">
                <a:alpha val="12000"/>
              </a:srgbClr>
            </a:outerShdw>
          </a:effectLst>
        </p:spPr>
      </p:sp>
      <p:sp>
        <p:nvSpPr>
          <p:cNvPr id="11" name="İkon zemini"/>
          <p:cNvSpPr/>
          <p:nvPr/>
        </p:nvSpPr>
        <p:spPr>
          <a:xfrm>
            <a:off x="777240" y="3410712"/>
            <a:ext cx="640080" cy="640080"/>
          </a:xfrm>
          <a:prstGeom prst="ellipse">
            <a:avLst/>
          </a:prstGeom>
          <a:solidFill>
            <a:schemeClr val="tx2"/>
          </a:solidFill>
          <a:ln/>
        </p:spPr>
      </p:sp>
      <p:pic>
        <p:nvPicPr>
          <p:cNvPr id="12" name="İkon FaHospital" descr="preencoded.png">    </p:cNvPr>
          <p:cNvPicPr>
            <a:picLocks noChangeAspect="1"/>
          </p:cNvPicPr>
          <p:nvPr/>
        </p:nvPicPr>
        <p:blipFill>
          <a:blip r:embed="rId2"/>
          <a:stretch>
            <a:fillRect/>
          </a:stretch>
        </p:blipFill>
        <p:spPr>
          <a:xfrm>
            <a:off x="930859" y="3564331"/>
            <a:ext cx="332842" cy="332842"/>
          </a:xfrm>
          <a:prstGeom prst="rect">
            <a:avLst/>
          </a:prstGeom>
        </p:spPr>
      </p:pic>
      <p:sp>
        <p:nvSpPr>
          <p:cNvPr id="13" name="Text 9"/>
          <p:cNvSpPr txBox="1"/>
          <p:nvPr/>
        </p:nvSpPr>
        <p:spPr>
          <a:xfrm>
            <a:off x="1600200" y="3218688"/>
            <a:ext cx="5349240" cy="274320"/>
          </a:xfrm>
          <a:prstGeom prst="rect">
            <a:avLst/>
          </a:prstGeom>
          <a:noFill/>
          <a:ln/>
        </p:spPr>
        <p:txBody>
          <a:bodyPr wrap="square" lIns="0" tIns="0" rIns="0" bIns="0" rtlCol="0" anchor="t"/>
          <a:lstStyle/>
          <a:p>
            <a:pPr indent="0" marL="0">
              <a:buNone/>
            </a:pPr>
            <a:r>
              <a:rPr lang="en-US" sz="1300" b="1" dirty="0">
                <a:solidFill>
                  <a:schemeClr val="accent1"/>
                </a:solidFill>
              </a:rPr>
              <a:t>İlçede · ~8 km</a:t>
            </a:r>
            <a:endParaRPr lang="en-US" sz="1300" dirty="0"/>
          </a:p>
        </p:txBody>
      </p:sp>
      <p:sp>
        <p:nvSpPr>
          <p:cNvPr id="14" name="Text 10"/>
          <p:cNvSpPr txBox="1"/>
          <p:nvPr/>
        </p:nvSpPr>
        <p:spPr>
          <a:xfrm>
            <a:off x="1600200" y="3493008"/>
            <a:ext cx="5349240" cy="320040"/>
          </a:xfrm>
          <a:prstGeom prst="rect">
            <a:avLst/>
          </a:prstGeom>
          <a:noFill/>
          <a:ln/>
        </p:spPr>
        <p:txBody>
          <a:bodyPr wrap="square" lIns="0" tIns="0" rIns="0" bIns="0" rtlCol="0" anchor="t"/>
          <a:lstStyle/>
          <a:p>
            <a:pPr indent="0" marL="0">
              <a:buNone/>
            </a:pPr>
            <a:r>
              <a:rPr lang="en-US" sz="1700" b="1" dirty="0">
                <a:solidFill>
                  <a:schemeClr val="tx2"/>
                </a:solidFill>
              </a:rPr>
              <a:t>Kahramankazan Devlet Hastanesi</a:t>
            </a:r>
            <a:endParaRPr lang="en-US" sz="1700" dirty="0"/>
          </a:p>
        </p:txBody>
      </p:sp>
      <p:sp>
        <p:nvSpPr>
          <p:cNvPr id="15" name="Text 11"/>
          <p:cNvSpPr txBox="1"/>
          <p:nvPr/>
        </p:nvSpPr>
        <p:spPr>
          <a:xfrm>
            <a:off x="1600200" y="3831336"/>
            <a:ext cx="5349240" cy="502920"/>
          </a:xfrm>
          <a:prstGeom prst="rect">
            <a:avLst/>
          </a:prstGeom>
          <a:noFill/>
          <a:ln/>
        </p:spPr>
        <p:txBody>
          <a:bodyPr wrap="square" lIns="0" tIns="0" rIns="0" bIns="0" rtlCol="0" anchor="t"/>
          <a:lstStyle/>
          <a:p>
            <a:pPr indent="0" marL="0">
              <a:buNone/>
            </a:pPr>
            <a:r>
              <a:rPr lang="en-US" sz="1400" dirty="0">
                <a:solidFill>
                  <a:schemeClr val="tx1"/>
                </a:solidFill>
              </a:rPr>
              <a:t>2022'de açıldı; ~150 yatak (kaynaklarda 150–190). Ring hat ve randevuya bağlı servis.</a:t>
            </a:r>
            <a:endParaRPr lang="en-US" sz="1400" dirty="0"/>
          </a:p>
        </p:txBody>
      </p:sp>
      <p:sp>
        <p:nvSpPr>
          <p:cNvPr id="16" name="Kart"/>
          <p:cNvSpPr/>
          <p:nvPr/>
        </p:nvSpPr>
        <p:spPr>
          <a:xfrm>
            <a:off x="548640" y="4562856"/>
            <a:ext cx="6583680" cy="1298448"/>
          </a:xfrm>
          <a:prstGeom prst="roundRect">
            <a:avLst>
              <a:gd name="adj" fmla="val 5634"/>
            </a:avLst>
          </a:prstGeom>
          <a:solidFill>
            <a:schemeClr val="bg1"/>
          </a:solidFill>
          <a:ln/>
          <a:effectLst>
            <a:outerShdw sx="100000" sy="100000" kx="0" ky="0" algn="bl" rotWithShape="0" blurRad="76200" dist="19050" dir="5400000">
              <a:srgbClr val="000000">
                <a:alpha val="12000"/>
              </a:srgbClr>
            </a:outerShdw>
          </a:effectLst>
        </p:spPr>
      </p:sp>
      <p:sp>
        <p:nvSpPr>
          <p:cNvPr id="17" name="İkon zemini"/>
          <p:cNvSpPr/>
          <p:nvPr/>
        </p:nvSpPr>
        <p:spPr>
          <a:xfrm>
            <a:off x="777240" y="4892040"/>
            <a:ext cx="640080" cy="640080"/>
          </a:xfrm>
          <a:prstGeom prst="ellipse">
            <a:avLst/>
          </a:prstGeom>
          <a:solidFill>
            <a:schemeClr val="tx2"/>
          </a:solidFill>
          <a:ln/>
        </p:spPr>
      </p:sp>
      <p:pic>
        <p:nvPicPr>
          <p:cNvPr id="18" name="İkon FaHeartPulse" descr="preencoded.png">    </p:cNvPr>
          <p:cNvPicPr>
            <a:picLocks noChangeAspect="1"/>
          </p:cNvPicPr>
          <p:nvPr/>
        </p:nvPicPr>
        <p:blipFill>
          <a:blip r:embed="rId3"/>
          <a:stretch>
            <a:fillRect/>
          </a:stretch>
        </p:blipFill>
        <p:spPr>
          <a:xfrm>
            <a:off x="930859" y="5045659"/>
            <a:ext cx="332842" cy="332842"/>
          </a:xfrm>
          <a:prstGeom prst="rect">
            <a:avLst/>
          </a:prstGeom>
        </p:spPr>
      </p:pic>
      <p:sp>
        <p:nvSpPr>
          <p:cNvPr id="19" name="Text 14"/>
          <p:cNvSpPr txBox="1"/>
          <p:nvPr/>
        </p:nvSpPr>
        <p:spPr>
          <a:xfrm>
            <a:off x="1600200" y="4700016"/>
            <a:ext cx="5349240" cy="274320"/>
          </a:xfrm>
          <a:prstGeom prst="rect">
            <a:avLst/>
          </a:prstGeom>
          <a:noFill/>
          <a:ln/>
        </p:spPr>
        <p:txBody>
          <a:bodyPr wrap="square" lIns="0" tIns="0" rIns="0" bIns="0" rtlCol="0" anchor="t"/>
          <a:lstStyle/>
          <a:p>
            <a:pPr indent="0" marL="0">
              <a:buNone/>
            </a:pPr>
            <a:r>
              <a:rPr lang="en-US" sz="1300" b="1" dirty="0">
                <a:solidFill>
                  <a:schemeClr val="accent1"/>
                </a:solidFill>
              </a:rPr>
              <a:t>Ankara</a:t>
            </a:r>
            <a:endParaRPr lang="en-US" sz="1300" dirty="0"/>
          </a:p>
        </p:txBody>
      </p:sp>
      <p:sp>
        <p:nvSpPr>
          <p:cNvPr id="20" name="Text 15"/>
          <p:cNvSpPr txBox="1"/>
          <p:nvPr/>
        </p:nvSpPr>
        <p:spPr>
          <a:xfrm>
            <a:off x="1600200" y="4974336"/>
            <a:ext cx="5349240" cy="320040"/>
          </a:xfrm>
          <a:prstGeom prst="rect">
            <a:avLst/>
          </a:prstGeom>
          <a:noFill/>
          <a:ln/>
        </p:spPr>
        <p:txBody>
          <a:bodyPr wrap="square" lIns="0" tIns="0" rIns="0" bIns="0" rtlCol="0" anchor="t"/>
          <a:lstStyle/>
          <a:p>
            <a:pPr indent="0" marL="0">
              <a:buNone/>
            </a:pPr>
            <a:r>
              <a:rPr lang="en-US" sz="1700" b="1" dirty="0">
                <a:solidFill>
                  <a:schemeClr val="tx2"/>
                </a:solidFill>
              </a:rPr>
              <a:t>Üst basamak hastaneler</a:t>
            </a:r>
            <a:endParaRPr lang="en-US" sz="1700" dirty="0"/>
          </a:p>
        </p:txBody>
      </p:sp>
      <p:sp>
        <p:nvSpPr>
          <p:cNvPr id="21" name="Text 16"/>
          <p:cNvSpPr txBox="1"/>
          <p:nvPr/>
        </p:nvSpPr>
        <p:spPr>
          <a:xfrm>
            <a:off x="1600200" y="5312664"/>
            <a:ext cx="5349240" cy="502920"/>
          </a:xfrm>
          <a:prstGeom prst="rect">
            <a:avLst/>
          </a:prstGeom>
          <a:noFill/>
          <a:ln/>
        </p:spPr>
        <p:txBody>
          <a:bodyPr wrap="square" lIns="0" tIns="0" rIns="0" bIns="0" rtlCol="0" anchor="t"/>
          <a:lstStyle/>
          <a:p>
            <a:pPr indent="0" marL="0">
              <a:buNone/>
            </a:pPr>
            <a:r>
              <a:rPr lang="en-US" sz="1400" dirty="0">
                <a:solidFill>
                  <a:schemeClr val="tx1"/>
                </a:solidFill>
              </a:rPr>
              <a:t>Sevk zinciri ve tele-sağlık bağlantısı.</a:t>
            </a:r>
            <a:endParaRPr lang="en-US" sz="1400" dirty="0"/>
          </a:p>
        </p:txBody>
      </p:sp>
      <p:sp>
        <p:nvSpPr>
          <p:cNvPr id="22" name="Text 17"/>
          <p:cNvSpPr txBox="1"/>
          <p:nvPr/>
        </p:nvSpPr>
        <p:spPr>
          <a:xfrm>
            <a:off x="7543800" y="1600200"/>
            <a:ext cx="4099255" cy="320040"/>
          </a:xfrm>
          <a:prstGeom prst="rect">
            <a:avLst/>
          </a:prstGeom>
          <a:noFill/>
          <a:ln/>
        </p:spPr>
        <p:txBody>
          <a:bodyPr wrap="square" lIns="0" tIns="0" rIns="0" bIns="0" rtlCol="0" anchor="t"/>
          <a:lstStyle/>
          <a:p>
            <a:pPr indent="0" marL="0">
              <a:buNone/>
            </a:pPr>
            <a:r>
              <a:rPr lang="en-US" sz="1700" b="1" dirty="0">
                <a:solidFill>
                  <a:schemeClr val="tx2"/>
                </a:solidFill>
              </a:rPr>
              <a:t>Dünyadan çıkarımlar</a:t>
            </a:r>
            <a:endParaRPr lang="en-US" sz="1700" dirty="0"/>
          </a:p>
        </p:txBody>
      </p:sp>
      <p:sp>
        <p:nvSpPr>
          <p:cNvPr id="23" name="Kart"/>
          <p:cNvSpPr/>
          <p:nvPr/>
        </p:nvSpPr>
        <p:spPr>
          <a:xfrm>
            <a:off x="7543800" y="2057400"/>
            <a:ext cx="4099255" cy="1417320"/>
          </a:xfrm>
          <a:prstGeom prst="roundRect">
            <a:avLst>
              <a:gd name="adj" fmla="val 5161"/>
            </a:avLst>
          </a:prstGeom>
          <a:solidFill>
            <a:schemeClr val="bg1"/>
          </a:solidFill>
          <a:ln/>
          <a:effectLst>
            <a:outerShdw sx="100000" sy="100000" kx="0" ky="0" algn="bl" rotWithShape="0" blurRad="76200" dist="19050" dir="5400000">
              <a:srgbClr val="000000">
                <a:alpha val="12000"/>
              </a:srgbClr>
            </a:outerShdw>
          </a:effectLst>
        </p:spPr>
      </p:sp>
      <p:sp>
        <p:nvSpPr>
          <p:cNvPr id="24" name="Text 19"/>
          <p:cNvSpPr txBox="1"/>
          <p:nvPr/>
        </p:nvSpPr>
        <p:spPr>
          <a:xfrm>
            <a:off x="7726680" y="2194560"/>
            <a:ext cx="3733495" cy="1188720"/>
          </a:xfrm>
          <a:prstGeom prst="rect">
            <a:avLst/>
          </a:prstGeom>
          <a:noFill/>
          <a:ln/>
        </p:spPr>
        <p:txBody>
          <a:bodyPr wrap="square" lIns="0" tIns="0" rIns="0" bIns="0" rtlCol="0" anchor="t"/>
          <a:lstStyle/>
          <a:p>
            <a:pPr indent="0" marL="0">
              <a:spcAft>
                <a:spcPts val="400"/>
              </a:spcAft>
              <a:buNone/>
            </a:pPr>
            <a:r>
              <a:rPr lang="en-US" sz="1300" b="1" dirty="0">
                <a:solidFill>
                  <a:schemeClr val="accent1"/>
                </a:solidFill>
              </a:rPr>
              <a:t>Sejong, Kore · 2024</a:t>
            </a:r>
            <a:endParaRPr lang="en-US" sz="1400" dirty="0"/>
          </a:p>
          <a:p>
            <a:pPr indent="0" marL="0">
              <a:spcAft>
                <a:spcPts val="400"/>
              </a:spcAft>
              <a:buNone/>
            </a:pPr>
            <a:r>
              <a:rPr lang="en-US" sz="1400" dirty="0">
                <a:solidFill>
                  <a:schemeClr val="tx1"/>
                </a:solidFill>
              </a:rPr>
              <a:t>Tek acil merkezi gece yetişkin hizmetini kesti.</a:t>
            </a:r>
            <a:endParaRPr lang="en-US" sz="1400" dirty="0"/>
          </a:p>
          <a:p>
            <a:pPr indent="0" marL="0">
              <a:spcAft>
                <a:spcPts val="400"/>
              </a:spcAft>
              <a:buNone/>
            </a:pPr>
            <a:r>
              <a:rPr lang="en-US" sz="1400" b="1" dirty="0">
                <a:solidFill>
                  <a:schemeClr val="tx2"/>
                </a:solidFill>
              </a:rPr>
              <a:t>Acil ve 112 baştan planlanmalı.</a:t>
            </a:r>
            <a:endParaRPr lang="en-US" sz="1400" dirty="0"/>
          </a:p>
        </p:txBody>
      </p:sp>
      <p:sp>
        <p:nvSpPr>
          <p:cNvPr id="25" name="Kart"/>
          <p:cNvSpPr/>
          <p:nvPr/>
        </p:nvSpPr>
        <p:spPr>
          <a:xfrm>
            <a:off x="7543800" y="3657600"/>
            <a:ext cx="4099255" cy="1417320"/>
          </a:xfrm>
          <a:prstGeom prst="roundRect">
            <a:avLst>
              <a:gd name="adj" fmla="val 5161"/>
            </a:avLst>
          </a:prstGeom>
          <a:solidFill>
            <a:schemeClr val="bg1"/>
          </a:solidFill>
          <a:ln/>
          <a:effectLst>
            <a:outerShdw sx="100000" sy="100000" kx="0" ky="0" algn="bl" rotWithShape="0" blurRad="76200" dist="19050" dir="5400000">
              <a:srgbClr val="000000">
                <a:alpha val="12000"/>
              </a:srgbClr>
            </a:outerShdw>
          </a:effectLst>
        </p:spPr>
      </p:sp>
      <p:sp>
        <p:nvSpPr>
          <p:cNvPr id="26" name="Text 21"/>
          <p:cNvSpPr txBox="1"/>
          <p:nvPr/>
        </p:nvSpPr>
        <p:spPr>
          <a:xfrm>
            <a:off x="7726680" y="3794760"/>
            <a:ext cx="3733495" cy="1188720"/>
          </a:xfrm>
          <a:prstGeom prst="rect">
            <a:avLst/>
          </a:prstGeom>
          <a:noFill/>
          <a:ln/>
        </p:spPr>
        <p:txBody>
          <a:bodyPr wrap="square" lIns="0" tIns="0" rIns="0" bIns="0" rtlCol="0" anchor="t"/>
          <a:lstStyle/>
          <a:p>
            <a:pPr indent="0" marL="0">
              <a:spcAft>
                <a:spcPts val="400"/>
              </a:spcAft>
              <a:buNone/>
            </a:pPr>
            <a:r>
              <a:rPr lang="en-US" sz="1300" b="1" dirty="0">
                <a:solidFill>
                  <a:schemeClr val="accent1"/>
                </a:solidFill>
              </a:rPr>
              <a:t>Lake Nona, ABD · 2012</a:t>
            </a:r>
            <a:endParaRPr lang="en-US" sz="1400" dirty="0"/>
          </a:p>
          <a:p>
            <a:pPr indent="0" marL="0">
              <a:spcAft>
                <a:spcPts val="400"/>
              </a:spcAft>
              <a:buNone/>
            </a:pPr>
            <a:r>
              <a:rPr lang="en-US" sz="1400" dirty="0">
                <a:solidFill>
                  <a:schemeClr val="tx1"/>
                </a:solidFill>
              </a:rPr>
              <a:t>Nemours çocuk hastanesi yerleşimin kurum çıpası oldu.</a:t>
            </a:r>
            <a:endParaRPr lang="en-US" sz="1400" dirty="0"/>
          </a:p>
          <a:p>
            <a:pPr indent="0" marL="0">
              <a:spcAft>
                <a:spcPts val="400"/>
              </a:spcAft>
              <a:buNone/>
            </a:pPr>
            <a:r>
              <a:rPr lang="en-US" sz="1400" b="1" dirty="0">
                <a:solidFill>
                  <a:schemeClr val="tx2"/>
                </a:solidFill>
              </a:rPr>
              <a:t>Sağlık kurumu, yerleşime güven verir.</a:t>
            </a:r>
            <a:endParaRPr lang="en-US" sz="1400" dirty="0"/>
          </a:p>
        </p:txBody>
      </p:sp>
      <p:sp>
        <p:nvSpPr>
          <p:cNvPr id="27" name="Text 22"/>
          <p:cNvSpPr txBox="1"/>
          <p:nvPr/>
        </p:nvSpPr>
        <p:spPr>
          <a:xfrm>
            <a:off x="7543800" y="5349240"/>
            <a:ext cx="4099255" cy="548640"/>
          </a:xfrm>
          <a:prstGeom prst="rect">
            <a:avLst/>
          </a:prstGeom>
          <a:noFill/>
          <a:ln/>
        </p:spPr>
        <p:txBody>
          <a:bodyPr wrap="square" lIns="0" tIns="0" rIns="0" bIns="0" rtlCol="0" anchor="t"/>
          <a:lstStyle/>
          <a:p>
            <a:pPr indent="0" marL="0">
              <a:buNone/>
            </a:pPr>
            <a:r>
              <a:rPr lang="en-US" sz="1400" b="1" dirty="0">
                <a:solidFill>
                  <a:schemeClr val="tx2"/>
                </a:solidFill>
              </a:rPr>
              <a:t>Sorumlu kurumlar: </a:t>
            </a:r>
            <a:pPr indent="0" marL="0">
              <a:buNone/>
            </a:pPr>
            <a:r>
              <a:rPr lang="en-US" sz="1400" dirty="0">
                <a:solidFill>
                  <a:schemeClr val="tx1"/>
                </a:solidFill>
              </a:rPr>
              <a:t>Sağlık Bakanlığı, Ankara İl Sağlık Müdürlüğü.</a:t>
            </a:r>
            <a:endParaRPr lang="en-US" sz="1400" dirty="0"/>
          </a:p>
        </p:txBody>
      </p:sp>
      <p:sp>
        <p:nvSpPr>
          <p:cNvPr id="28" name="Text 23"/>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Proje ekibinin "yeni şehir hastanesi" dediği tesis, kaynaklarda Kahramankazan Devlet Hastanesi olarak geçiyor; adı ve kapasitesi teyit edilecek.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SAĞLIK · NORMLAR VE ERİŞİM</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Sağlık normları ve hastane erişimi</a:t>
            </a:r>
            <a:endParaRPr lang="en-US" sz="3600" dirty="0"/>
          </a:p>
        </p:txBody>
      </p:sp>
      <p:sp>
        <p:nvSpPr>
          <p:cNvPr id="4" name="Kart"/>
          <p:cNvSpPr/>
          <p:nvPr/>
        </p:nvSpPr>
        <p:spPr>
          <a:xfrm>
            <a:off x="548640" y="1600200"/>
            <a:ext cx="5410048" cy="4343400"/>
          </a:xfrm>
          <a:prstGeom prst="roundRect">
            <a:avLst>
              <a:gd name="adj" fmla="val 1684"/>
            </a:avLst>
          </a:prstGeom>
          <a:solidFill>
            <a:schemeClr val="bg1"/>
          </a:solidFill>
          <a:ln/>
          <a:effectLst>
            <a:outerShdw sx="100000" sy="100000" kx="0" ky="0" algn="bl" rotWithShape="0" blurRad="76200" dist="19050" dir="5400000">
              <a:srgbClr val="000000">
                <a:alpha val="12000"/>
              </a:srgbClr>
            </a:outerShdw>
          </a:effectLst>
        </p:spPr>
      </p:sp>
      <p:sp>
        <p:nvSpPr>
          <p:cNvPr id="5" name="Text 3"/>
          <p:cNvSpPr txBox="1"/>
          <p:nvPr/>
        </p:nvSpPr>
        <p:spPr>
          <a:xfrm>
            <a:off x="822960" y="1828800"/>
            <a:ext cx="4861408" cy="411480"/>
          </a:xfrm>
          <a:prstGeom prst="rect">
            <a:avLst/>
          </a:prstGeom>
          <a:noFill/>
          <a:ln/>
        </p:spPr>
        <p:txBody>
          <a:bodyPr wrap="square" lIns="0" tIns="0" rIns="0" bIns="0" rtlCol="0" anchor="t"/>
          <a:lstStyle/>
          <a:p>
            <a:pPr indent="0" marL="0">
              <a:buNone/>
            </a:pPr>
            <a:r>
              <a:rPr lang="en-US" sz="1800" b="1" dirty="0">
                <a:solidFill>
                  <a:schemeClr val="tx2"/>
                </a:solidFill>
              </a:rPr>
              <a:t>Normlar</a:t>
            </a:r>
            <a:endParaRPr lang="en-US" sz="1800" dirty="0"/>
          </a:p>
        </p:txBody>
      </p:sp>
      <p:sp>
        <p:nvSpPr>
          <p:cNvPr id="6" name="Text 4"/>
          <p:cNvSpPr txBox="1"/>
          <p:nvPr/>
        </p:nvSpPr>
        <p:spPr>
          <a:xfrm>
            <a:off x="822960" y="2377440"/>
            <a:ext cx="4861408" cy="34290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Aile hekimi başına Türkiye ortalaması 3.072 kişi (2022); 3.500 kişinin üzerine ödeme yapılmaz</a:t>
            </a:r>
            <a:endParaRPr lang="en-US" sz="1500" dirty="0"/>
          </a:p>
          <a:p>
            <a:pPr marL="342900" indent="-342900">
              <a:spcAft>
                <a:spcPts val="600"/>
              </a:spcAft>
              <a:buSzPct val="100000"/>
              <a:buChar char="•"/>
            </a:pPr>
            <a:r>
              <a:rPr lang="en-US" sz="1500" dirty="0">
                <a:solidFill>
                  <a:schemeClr val="tx1"/>
                </a:solidFill>
              </a:rPr>
              <a:t>Hastane yatağı: 100 bin kişiye 312 (2023); 29 büyükşehir ortalaması 318</a:t>
            </a:r>
            <a:endParaRPr lang="en-US" sz="1500" dirty="0"/>
          </a:p>
          <a:p>
            <a:pPr marL="342900" indent="-342900">
              <a:spcAft>
                <a:spcPts val="600"/>
              </a:spcAft>
              <a:buSzPct val="100000"/>
              <a:buChar char="•"/>
            </a:pPr>
            <a:r>
              <a:rPr lang="en-US" sz="1500" dirty="0">
                <a:solidFill>
                  <a:schemeClr val="tx1"/>
                </a:solidFill>
              </a:rPr>
              <a:t>MPYY: sağlık 1,5 m²/kişi; ASM 750–2.000 m²; hastane yatak başına 130 m²</a:t>
            </a:r>
            <a:endParaRPr lang="en-US" sz="1500" dirty="0"/>
          </a:p>
          <a:p>
            <a:pPr marL="342900" indent="-342900">
              <a:spcAft>
                <a:spcPts val="600"/>
              </a:spcAft>
              <a:buSzPct val="100000"/>
              <a:buChar char="•"/>
            </a:pPr>
            <a:r>
              <a:rPr lang="en-US" sz="1500" dirty="0">
                <a:solidFill>
                  <a:schemeClr val="tx1"/>
                </a:solidFill>
              </a:rPr>
              <a:t>112 hedefi: kentsel bölgede 10 dakikanın, kırsal bölgede 30 dakikanın altında ulaşım</a:t>
            </a:r>
            <a:endParaRPr lang="en-US" sz="1500" dirty="0"/>
          </a:p>
          <a:p>
            <a:pPr marL="342900" indent="-342900">
              <a:spcAft>
                <a:spcPts val="600"/>
              </a:spcAft>
              <a:buSzPct val="100000"/>
              <a:buChar char="•"/>
            </a:pPr>
            <a:r>
              <a:rPr lang="en-US" sz="1500" dirty="0">
                <a:solidFill>
                  <a:schemeClr val="tx1"/>
                </a:solidFill>
              </a:rPr>
              <a:t>Denizli örneği: kent merkezinde vakaların ~%95'ine ilk 10 dakikada ulaşılmıştır</a:t>
            </a:r>
            <a:endParaRPr lang="en-US" sz="1500" dirty="0"/>
          </a:p>
        </p:txBody>
      </p:sp>
      <p:sp>
        <p:nvSpPr>
          <p:cNvPr id="7" name="Kart"/>
          <p:cNvSpPr/>
          <p:nvPr/>
        </p:nvSpPr>
        <p:spPr>
          <a:xfrm>
            <a:off x="6233008" y="1600200"/>
            <a:ext cx="5410048" cy="4343400"/>
          </a:xfrm>
          <a:prstGeom prst="roundRect">
            <a:avLst>
              <a:gd name="adj" fmla="val 1684"/>
            </a:avLst>
          </a:prstGeom>
          <a:solidFill>
            <a:schemeClr val="bg1"/>
          </a:solidFill>
          <a:ln/>
          <a:effectLst>
            <a:outerShdw sx="100000" sy="100000" kx="0" ky="0" algn="bl" rotWithShape="0" blurRad="76200" dist="19050" dir="5400000">
              <a:srgbClr val="000000">
                <a:alpha val="12000"/>
              </a:srgbClr>
            </a:outerShdw>
          </a:effectLst>
        </p:spPr>
      </p:sp>
      <p:sp>
        <p:nvSpPr>
          <p:cNvPr id="8" name="Text 6"/>
          <p:cNvSpPr txBox="1"/>
          <p:nvPr/>
        </p:nvSpPr>
        <p:spPr>
          <a:xfrm>
            <a:off x="6507328" y="1828800"/>
            <a:ext cx="4861408" cy="411480"/>
          </a:xfrm>
          <a:prstGeom prst="rect">
            <a:avLst/>
          </a:prstGeom>
          <a:noFill/>
          <a:ln/>
        </p:spPr>
        <p:txBody>
          <a:bodyPr wrap="square" lIns="0" tIns="0" rIns="0" bIns="0" rtlCol="0" anchor="t"/>
          <a:lstStyle/>
          <a:p>
            <a:pPr indent="0" marL="0">
              <a:buNone/>
            </a:pPr>
            <a:r>
              <a:rPr lang="en-US" sz="1800" b="1" dirty="0">
                <a:solidFill>
                  <a:schemeClr val="accent1"/>
                </a:solidFill>
              </a:rPr>
              <a:t>Hastane erişimi</a:t>
            </a:r>
            <a:endParaRPr lang="en-US" sz="1800" dirty="0"/>
          </a:p>
        </p:txBody>
      </p:sp>
      <p:sp>
        <p:nvSpPr>
          <p:cNvPr id="9" name="Text 7"/>
          <p:cNvSpPr txBox="1"/>
          <p:nvPr/>
        </p:nvSpPr>
        <p:spPr>
          <a:xfrm>
            <a:off x="6507328" y="2377440"/>
            <a:ext cx="4861408" cy="34290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Kahramankazan Devlet Hastanesi 21.02.2022'de açılmıştır; 150 yatak (Sağlık Bakanlığı SYGM)</a:t>
            </a:r>
            <a:endParaRPr lang="en-US" sz="1500" dirty="0"/>
          </a:p>
          <a:p>
            <a:pPr marL="342900" indent="-342900">
              <a:spcAft>
                <a:spcPts val="600"/>
              </a:spcAft>
              <a:buSzPct val="100000"/>
              <a:buChar char="•"/>
            </a:pPr>
            <a:r>
              <a:rPr lang="en-US" sz="1500" dirty="0">
                <a:solidFill>
                  <a:schemeClr val="tx1"/>
                </a:solidFill>
              </a:rPr>
              <a:t>Kaynaklarda 190 yatak ifadesi de geçmektedir (teyit edilecek)</a:t>
            </a:r>
            <a:endParaRPr lang="en-US" sz="1500" dirty="0"/>
          </a:p>
          <a:p>
            <a:pPr marL="342900" indent="-342900">
              <a:spcAft>
                <a:spcPts val="600"/>
              </a:spcAft>
              <a:buSzPct val="100000"/>
              <a:buChar char="•"/>
            </a:pPr>
            <a:r>
              <a:rPr lang="en-US" sz="1500" dirty="0">
                <a:solidFill>
                  <a:schemeClr val="tx1"/>
                </a:solidFill>
              </a:rPr>
              <a:t>45 poliklinik, 7 ameliyathane, 10 üniteli diyaliz ve yenidoğan yoğun bakım (teyit edilecek)</a:t>
            </a:r>
            <a:endParaRPr lang="en-US" sz="1500" dirty="0"/>
          </a:p>
          <a:p>
            <a:pPr marL="342900" indent="-342900">
              <a:spcAft>
                <a:spcPts val="600"/>
              </a:spcAft>
              <a:buSzPct val="100000"/>
              <a:buChar char="•"/>
            </a:pPr>
            <a:r>
              <a:rPr lang="en-US" sz="1500" dirty="0">
                <a:solidFill>
                  <a:schemeClr val="tx1"/>
                </a:solidFill>
              </a:rPr>
              <a:t>Etlik Şehir Hastanesi 28.09.2022'de açılmıştır; 8 hastane, günde ≈25 bin hasta</a:t>
            </a:r>
            <a:endParaRPr lang="en-US" sz="1500" dirty="0"/>
          </a:p>
          <a:p>
            <a:pPr marL="342900" indent="-342900">
              <a:spcAft>
                <a:spcPts val="600"/>
              </a:spcAft>
              <a:buSzPct val="100000"/>
              <a:buChar char="•"/>
            </a:pPr>
            <a:r>
              <a:rPr lang="en-US" sz="1500" dirty="0">
                <a:solidFill>
                  <a:schemeClr val="tx1"/>
                </a:solidFill>
              </a:rPr>
              <a:t>Uydukent'te ASM, 112 istasyonu ve poliklinik için 1,12 ha ayrılmıştır</a:t>
            </a:r>
            <a:endParaRPr lang="en-US" sz="1500" dirty="0"/>
          </a:p>
        </p:txBody>
      </p:sp>
      <p:sp>
        <p:nvSpPr>
          <p:cNvPr id="10" name="Text 8"/>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HSGM; Aile Hekimliği Uygulama Yönetmeliği (09.04.2026); TBMM soru önergesi; MPYY Ek-2; SYGM; hastane tarihçesi (arama özeti); CNN Türk.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SOSYAL YAŞAM VE YAPAY GÖL</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Yapay göl: su döngüsü ve sosyal yaşam</a:t>
            </a:r>
            <a:endParaRPr lang="en-US" sz="3600" dirty="0"/>
          </a:p>
        </p:txBody>
      </p:sp>
      <p:sp>
        <p:nvSpPr>
          <p:cNvPr id="4" name="Kart"/>
          <p:cNvSpPr/>
          <p:nvPr/>
        </p:nvSpPr>
        <p:spPr>
          <a:xfrm>
            <a:off x="548640" y="1600200"/>
            <a:ext cx="3063240" cy="1024128"/>
          </a:xfrm>
          <a:prstGeom prst="roundRect">
            <a:avLst>
              <a:gd name="adj" fmla="val 7143"/>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13232" y="1819656"/>
            <a:ext cx="566928" cy="566928"/>
          </a:xfrm>
          <a:prstGeom prst="ellipse">
            <a:avLst/>
          </a:prstGeom>
          <a:solidFill>
            <a:schemeClr val="accent2"/>
          </a:solidFill>
          <a:ln/>
        </p:spPr>
      </p:sp>
      <p:pic>
        <p:nvPicPr>
          <p:cNvPr id="6" name="İkon FaCloudRain" descr="preencoded.png">    </p:cNvPr>
          <p:cNvPicPr>
            <a:picLocks noChangeAspect="1"/>
          </p:cNvPicPr>
          <p:nvPr/>
        </p:nvPicPr>
        <p:blipFill>
          <a:blip r:embed="rId1"/>
          <a:stretch>
            <a:fillRect/>
          </a:stretch>
        </p:blipFill>
        <p:spPr>
          <a:xfrm>
            <a:off x="849295" y="1955719"/>
            <a:ext cx="294803" cy="294803"/>
          </a:xfrm>
          <a:prstGeom prst="rect">
            <a:avLst/>
          </a:prstGeom>
        </p:spPr>
      </p:pic>
      <p:sp>
        <p:nvSpPr>
          <p:cNvPr id="7" name="Text 4"/>
          <p:cNvSpPr txBox="1"/>
          <p:nvPr/>
        </p:nvSpPr>
        <p:spPr>
          <a:xfrm>
            <a:off x="1417320" y="1728216"/>
            <a:ext cx="2103120" cy="292608"/>
          </a:xfrm>
          <a:prstGeom prst="rect">
            <a:avLst/>
          </a:prstGeom>
          <a:noFill/>
          <a:ln/>
        </p:spPr>
        <p:txBody>
          <a:bodyPr wrap="square" lIns="0" tIns="0" rIns="0" bIns="0" rtlCol="0" anchor="t"/>
          <a:lstStyle/>
          <a:p>
            <a:pPr indent="0" marL="0">
              <a:buNone/>
            </a:pPr>
            <a:r>
              <a:rPr lang="en-US" sz="1500" b="1" dirty="0">
                <a:solidFill>
                  <a:schemeClr val="tx2"/>
                </a:solidFill>
              </a:rPr>
              <a:t>Yağmur suyu hasadı</a:t>
            </a:r>
            <a:endParaRPr lang="en-US" sz="1500" dirty="0"/>
          </a:p>
        </p:txBody>
      </p:sp>
      <p:sp>
        <p:nvSpPr>
          <p:cNvPr id="8" name="Text 5"/>
          <p:cNvSpPr txBox="1"/>
          <p:nvPr/>
        </p:nvSpPr>
        <p:spPr>
          <a:xfrm>
            <a:off x="1417320" y="2039112"/>
            <a:ext cx="2103120" cy="530352"/>
          </a:xfrm>
          <a:prstGeom prst="rect">
            <a:avLst/>
          </a:prstGeom>
          <a:noFill/>
          <a:ln/>
        </p:spPr>
        <p:txBody>
          <a:bodyPr wrap="square" lIns="0" tIns="0" rIns="0" bIns="0" rtlCol="0" anchor="t"/>
          <a:lstStyle/>
          <a:p>
            <a:pPr indent="0" marL="0">
              <a:buNone/>
            </a:pPr>
            <a:r>
              <a:rPr lang="en-US" sz="1300" dirty="0">
                <a:solidFill>
                  <a:schemeClr val="tx1"/>
                </a:solidFill>
              </a:rPr>
              <a:t>~80–120 bin m³/yıl; kurak yıllarda düşer</a:t>
            </a:r>
            <a:endParaRPr lang="en-US" sz="1300" dirty="0"/>
          </a:p>
        </p:txBody>
      </p:sp>
      <p:sp>
        <p:nvSpPr>
          <p:cNvPr id="9" name="Ok"/>
          <p:cNvSpPr/>
          <p:nvPr/>
        </p:nvSpPr>
        <p:spPr>
          <a:xfrm>
            <a:off x="3657600" y="2112264"/>
            <a:ext cx="685800" cy="648767"/>
          </a:xfrm>
          <a:prstGeom prst="line">
            <a:avLst/>
          </a:prstGeom>
          <a:noFill/>
          <a:ln w="25400">
            <a:solidFill>
              <a:schemeClr val="accent2"/>
            </a:solidFill>
            <a:prstDash val="solid"/>
            <a:tailEnd type="triangle"/>
          </a:ln>
        </p:spPr>
      </p:sp>
      <p:sp>
        <p:nvSpPr>
          <p:cNvPr id="10" name="Kart"/>
          <p:cNvSpPr/>
          <p:nvPr/>
        </p:nvSpPr>
        <p:spPr>
          <a:xfrm>
            <a:off x="548640" y="2807208"/>
            <a:ext cx="3063240" cy="1024128"/>
          </a:xfrm>
          <a:prstGeom prst="roundRect">
            <a:avLst>
              <a:gd name="adj" fmla="val 7143"/>
            </a:avLst>
          </a:prstGeom>
          <a:solidFill>
            <a:schemeClr val="bg1"/>
          </a:solidFill>
          <a:ln/>
          <a:effectLst>
            <a:outerShdw sx="100000" sy="100000" kx="0" ky="0" algn="bl" rotWithShape="0" blurRad="76200" dist="19050" dir="5400000">
              <a:srgbClr val="000000">
                <a:alpha val="12000"/>
              </a:srgbClr>
            </a:outerShdw>
          </a:effectLst>
        </p:spPr>
      </p:sp>
      <p:sp>
        <p:nvSpPr>
          <p:cNvPr id="11" name="İkon zemini"/>
          <p:cNvSpPr/>
          <p:nvPr/>
        </p:nvSpPr>
        <p:spPr>
          <a:xfrm>
            <a:off x="713232" y="3026664"/>
            <a:ext cx="566928" cy="566928"/>
          </a:xfrm>
          <a:prstGeom prst="ellipse">
            <a:avLst/>
          </a:prstGeom>
          <a:solidFill>
            <a:schemeClr val="accent2"/>
          </a:solidFill>
          <a:ln/>
        </p:spPr>
      </p:sp>
      <p:pic>
        <p:nvPicPr>
          <p:cNvPr id="12" name="İkon FaRecycle" descr="preencoded.png">    </p:cNvPr>
          <p:cNvPicPr>
            <a:picLocks noChangeAspect="1"/>
          </p:cNvPicPr>
          <p:nvPr/>
        </p:nvPicPr>
        <p:blipFill>
          <a:blip r:embed="rId2"/>
          <a:stretch>
            <a:fillRect/>
          </a:stretch>
        </p:blipFill>
        <p:spPr>
          <a:xfrm>
            <a:off x="849295" y="3162727"/>
            <a:ext cx="294803" cy="294803"/>
          </a:xfrm>
          <a:prstGeom prst="rect">
            <a:avLst/>
          </a:prstGeom>
        </p:spPr>
      </p:pic>
      <p:sp>
        <p:nvSpPr>
          <p:cNvPr id="13" name="Text 9"/>
          <p:cNvSpPr txBox="1"/>
          <p:nvPr/>
        </p:nvSpPr>
        <p:spPr>
          <a:xfrm>
            <a:off x="1417320" y="2935224"/>
            <a:ext cx="2103120" cy="292608"/>
          </a:xfrm>
          <a:prstGeom prst="rect">
            <a:avLst/>
          </a:prstGeom>
          <a:noFill/>
          <a:ln/>
        </p:spPr>
        <p:txBody>
          <a:bodyPr wrap="square" lIns="0" tIns="0" rIns="0" bIns="0" rtlCol="0" anchor="t"/>
          <a:lstStyle/>
          <a:p>
            <a:pPr indent="0" marL="0">
              <a:buNone/>
            </a:pPr>
            <a:r>
              <a:rPr lang="en-US" sz="1500" b="1" dirty="0">
                <a:solidFill>
                  <a:schemeClr val="tx2"/>
                </a:solidFill>
              </a:rPr>
              <a:t>İleri arıtılmış atıksu</a:t>
            </a:r>
            <a:endParaRPr lang="en-US" sz="1500" dirty="0"/>
          </a:p>
        </p:txBody>
      </p:sp>
      <p:sp>
        <p:nvSpPr>
          <p:cNvPr id="14" name="Text 10"/>
          <p:cNvSpPr txBox="1"/>
          <p:nvPr/>
        </p:nvSpPr>
        <p:spPr>
          <a:xfrm>
            <a:off x="1417320" y="3246120"/>
            <a:ext cx="2103120" cy="530352"/>
          </a:xfrm>
          <a:prstGeom prst="rect">
            <a:avLst/>
          </a:prstGeom>
          <a:noFill/>
          <a:ln/>
        </p:spPr>
        <p:txBody>
          <a:bodyPr wrap="square" lIns="0" tIns="0" rIns="0" bIns="0" rtlCol="0" anchor="t"/>
          <a:lstStyle/>
          <a:p>
            <a:pPr indent="0" marL="0">
              <a:buNone/>
            </a:pPr>
            <a:r>
              <a:rPr lang="en-US" sz="1300" dirty="0">
                <a:solidFill>
                  <a:schemeClr val="tx1"/>
                </a:solidFill>
              </a:rPr>
              <a:t>Tatlar / Kahramankazan AAT; sürekli takviye</a:t>
            </a:r>
            <a:endParaRPr lang="en-US" sz="1300" dirty="0"/>
          </a:p>
        </p:txBody>
      </p:sp>
      <p:sp>
        <p:nvSpPr>
          <p:cNvPr id="15" name="Ok"/>
          <p:cNvSpPr/>
          <p:nvPr/>
        </p:nvSpPr>
        <p:spPr>
          <a:xfrm>
            <a:off x="3657600" y="3319272"/>
            <a:ext cx="685800" cy="-15088"/>
          </a:xfrm>
          <a:prstGeom prst="line">
            <a:avLst/>
          </a:prstGeom>
          <a:noFill/>
          <a:ln w="25400">
            <a:solidFill>
              <a:schemeClr val="accent2"/>
            </a:solidFill>
            <a:prstDash val="solid"/>
            <a:tailEnd type="triangle"/>
          </a:ln>
        </p:spPr>
      </p:sp>
      <p:sp>
        <p:nvSpPr>
          <p:cNvPr id="16" name="Kart"/>
          <p:cNvSpPr/>
          <p:nvPr/>
        </p:nvSpPr>
        <p:spPr>
          <a:xfrm>
            <a:off x="548640" y="4014216"/>
            <a:ext cx="3063240" cy="1024128"/>
          </a:xfrm>
          <a:prstGeom prst="roundRect">
            <a:avLst>
              <a:gd name="adj" fmla="val 7143"/>
            </a:avLst>
          </a:prstGeom>
          <a:solidFill>
            <a:schemeClr val="bg2"/>
          </a:solidFill>
          <a:ln w="12700">
            <a:solidFill>
              <a:srgbClr val="5E6875"/>
            </a:solidFill>
            <a:prstDash val="dash"/>
          </a:ln>
        </p:spPr>
      </p:sp>
      <p:sp>
        <p:nvSpPr>
          <p:cNvPr id="17" name="İkon zemini"/>
          <p:cNvSpPr/>
          <p:nvPr/>
        </p:nvSpPr>
        <p:spPr>
          <a:xfrm>
            <a:off x="713232" y="4233672"/>
            <a:ext cx="566928" cy="566928"/>
          </a:xfrm>
          <a:prstGeom prst="ellipse">
            <a:avLst/>
          </a:prstGeom>
          <a:solidFill>
            <a:schemeClr val="accent5"/>
          </a:solidFill>
          <a:ln/>
        </p:spPr>
      </p:sp>
      <p:pic>
        <p:nvPicPr>
          <p:cNvPr id="18" name="İkon FaFaucetDrip" descr="preencoded.png">    </p:cNvPr>
          <p:cNvPicPr>
            <a:picLocks noChangeAspect="1"/>
          </p:cNvPicPr>
          <p:nvPr/>
        </p:nvPicPr>
        <p:blipFill>
          <a:blip r:embed="rId3"/>
          <a:stretch>
            <a:fillRect/>
          </a:stretch>
        </p:blipFill>
        <p:spPr>
          <a:xfrm>
            <a:off x="849295" y="4369735"/>
            <a:ext cx="294803" cy="294803"/>
          </a:xfrm>
          <a:prstGeom prst="rect">
            <a:avLst/>
          </a:prstGeom>
        </p:spPr>
      </p:pic>
      <p:sp>
        <p:nvSpPr>
          <p:cNvPr id="19" name="Text 14"/>
          <p:cNvSpPr txBox="1"/>
          <p:nvPr/>
        </p:nvSpPr>
        <p:spPr>
          <a:xfrm>
            <a:off x="1417320" y="4142232"/>
            <a:ext cx="2103120" cy="292608"/>
          </a:xfrm>
          <a:prstGeom prst="rect">
            <a:avLst/>
          </a:prstGeom>
          <a:noFill/>
          <a:ln/>
        </p:spPr>
        <p:txBody>
          <a:bodyPr wrap="square" lIns="0" tIns="0" rIns="0" bIns="0" rtlCol="0" anchor="t"/>
          <a:lstStyle/>
          <a:p>
            <a:pPr indent="0" marL="0">
              <a:buNone/>
            </a:pPr>
            <a:r>
              <a:rPr lang="en-US" sz="1500" b="1" dirty="0">
                <a:solidFill>
                  <a:schemeClr val="tx2"/>
                </a:solidFill>
              </a:rPr>
              <a:t>Şebeke suyu</a:t>
            </a:r>
            <a:endParaRPr lang="en-US" sz="1500" dirty="0"/>
          </a:p>
        </p:txBody>
      </p:sp>
      <p:sp>
        <p:nvSpPr>
          <p:cNvPr id="20" name="Text 15"/>
          <p:cNvSpPr txBox="1"/>
          <p:nvPr/>
        </p:nvSpPr>
        <p:spPr>
          <a:xfrm>
            <a:off x="1417320" y="4453128"/>
            <a:ext cx="2103120" cy="530352"/>
          </a:xfrm>
          <a:prstGeom prst="rect">
            <a:avLst/>
          </a:prstGeom>
          <a:noFill/>
          <a:ln/>
        </p:spPr>
        <p:txBody>
          <a:bodyPr wrap="square" lIns="0" tIns="0" rIns="0" bIns="0" rtlCol="0" anchor="t"/>
          <a:lstStyle/>
          <a:p>
            <a:pPr indent="0" marL="0">
              <a:buNone/>
            </a:pPr>
            <a:r>
              <a:rPr lang="en-US" sz="1300" dirty="0">
                <a:solidFill>
                  <a:schemeClr val="tx1"/>
                </a:solidFill>
              </a:rPr>
              <a:t>Yalnızca acil durumda</a:t>
            </a:r>
            <a:endParaRPr lang="en-US" sz="1300" dirty="0"/>
          </a:p>
        </p:txBody>
      </p:sp>
      <p:sp>
        <p:nvSpPr>
          <p:cNvPr id="21" name="Ok"/>
          <p:cNvSpPr/>
          <p:nvPr/>
        </p:nvSpPr>
        <p:spPr>
          <a:xfrm>
            <a:off x="3657600" y="4526280"/>
            <a:ext cx="685800" cy="-678942"/>
          </a:xfrm>
          <a:prstGeom prst="line">
            <a:avLst/>
          </a:prstGeom>
          <a:noFill/>
          <a:ln w="25400">
            <a:solidFill>
              <a:schemeClr val="accent5"/>
            </a:solidFill>
            <a:prstDash val="dash"/>
            <a:tailEnd type="triangle"/>
          </a:ln>
        </p:spPr>
      </p:sp>
      <p:sp>
        <p:nvSpPr>
          <p:cNvPr id="22" name="Yapay göl"/>
          <p:cNvSpPr/>
          <p:nvPr/>
        </p:nvSpPr>
        <p:spPr>
          <a:xfrm>
            <a:off x="4343400" y="2103120"/>
            <a:ext cx="2834640" cy="2194560"/>
          </a:xfrm>
          <a:prstGeom prst="ellipse">
            <a:avLst/>
          </a:prstGeom>
          <a:solidFill>
            <a:schemeClr val="accent2"/>
          </a:solidFill>
          <a:ln w="127000">
            <a:solidFill>
              <a:schemeClr val="accent3"/>
            </a:solidFill>
            <a:prstDash val="solid"/>
          </a:ln>
        </p:spPr>
      </p:sp>
      <p:sp>
        <p:nvSpPr>
          <p:cNvPr id="23" name="Text 18"/>
          <p:cNvSpPr txBox="1"/>
          <p:nvPr/>
        </p:nvSpPr>
        <p:spPr>
          <a:xfrm>
            <a:off x="4434840" y="2697480"/>
            <a:ext cx="2651760" cy="1097280"/>
          </a:xfrm>
          <a:prstGeom prst="rect">
            <a:avLst/>
          </a:prstGeom>
          <a:noFill/>
          <a:ln/>
        </p:spPr>
        <p:txBody>
          <a:bodyPr wrap="square" lIns="0" tIns="0" rIns="0" bIns="0" rtlCol="0" anchor="t"/>
          <a:lstStyle/>
          <a:p>
            <a:pPr algn="ctr" indent="0" marL="0">
              <a:buNone/>
            </a:pPr>
            <a:r>
              <a:rPr lang="en-US" sz="2000" b="1" dirty="0">
                <a:solidFill>
                  <a:schemeClr val="bg1"/>
                </a:solidFill>
              </a:rPr>
              <a:t>Yapay göl</a:t>
            </a:r>
            <a:endParaRPr lang="en-US" sz="1400" dirty="0"/>
          </a:p>
          <a:p>
            <a:pPr algn="ctr" indent="0" marL="0">
              <a:buNone/>
            </a:pPr>
            <a:r>
              <a:rPr lang="en-US" sz="1500" dirty="0">
                <a:solidFill>
                  <a:schemeClr val="bg1"/>
                </a:solidFill>
              </a:rPr>
              <a:t>2,5 ha su yüzeyi</a:t>
            </a:r>
            <a:endParaRPr lang="en-US" sz="1400" dirty="0"/>
          </a:p>
          <a:p>
            <a:pPr algn="ctr" indent="0" marL="0">
              <a:buNone/>
            </a:pPr>
            <a:r>
              <a:rPr lang="en-US" sz="1500" dirty="0">
                <a:solidFill>
                  <a:schemeClr val="bg1"/>
                </a:solidFill>
              </a:rPr>
              <a:t>+ 3,5 ha göl parkı</a:t>
            </a:r>
            <a:endParaRPr lang="en-US" sz="1400" dirty="0"/>
          </a:p>
        </p:txBody>
      </p:sp>
      <p:sp>
        <p:nvSpPr>
          <p:cNvPr id="24" name="Arıtma etiketi"/>
          <p:cNvSpPr/>
          <p:nvPr/>
        </p:nvSpPr>
        <p:spPr>
          <a:xfrm>
            <a:off x="4023360" y="4526280"/>
            <a:ext cx="3474720" cy="384048"/>
          </a:xfrm>
          <a:prstGeom prst="roundRect">
            <a:avLst>
              <a:gd name="adj" fmla="val 14286"/>
            </a:avLst>
          </a:prstGeom>
          <a:solidFill>
            <a:schemeClr val="bg1"/>
          </a:solidFill>
          <a:ln w="12700">
            <a:solidFill>
              <a:schemeClr val="accent2"/>
            </a:solidFill>
          </a:ln>
        </p:spPr>
        <p:txBody>
          <a:bodyPr wrap="square" lIns="0" tIns="0" rIns="0" bIns="0" rtlCol="0" anchor="ctr"/>
          <a:lstStyle/>
          <a:p>
            <a:pPr algn="ctr" indent="0" marL="0">
              <a:buNone/>
            </a:pPr>
            <a:r>
              <a:rPr lang="en-US" sz="1300" b="1" dirty="0">
                <a:solidFill>
                  <a:schemeClr val="tx2"/>
                </a:solidFill>
              </a:rPr>
              <a:t>Çökeltim havuzu · sirkülasyon · biyolojik arıtma</a:t>
            </a:r>
            <a:endParaRPr lang="en-US" sz="1300" dirty="0"/>
          </a:p>
        </p:txBody>
      </p:sp>
      <p:sp>
        <p:nvSpPr>
          <p:cNvPr id="25" name="Ok"/>
          <p:cNvSpPr/>
          <p:nvPr/>
        </p:nvSpPr>
        <p:spPr>
          <a:xfrm>
            <a:off x="7223760" y="3200400"/>
            <a:ext cx="502920" cy="0"/>
          </a:xfrm>
          <a:prstGeom prst="line">
            <a:avLst/>
          </a:prstGeom>
          <a:noFill/>
          <a:ln w="25400">
            <a:solidFill>
              <a:schemeClr val="accent2"/>
            </a:solidFill>
            <a:prstDash val="solid"/>
            <a:tailEnd type="triangle"/>
          </a:ln>
        </p:spPr>
      </p:sp>
      <p:sp>
        <p:nvSpPr>
          <p:cNvPr id="26" name="Kart"/>
          <p:cNvSpPr/>
          <p:nvPr/>
        </p:nvSpPr>
        <p:spPr>
          <a:xfrm>
            <a:off x="7818120" y="1600200"/>
            <a:ext cx="3824935" cy="1024128"/>
          </a:xfrm>
          <a:prstGeom prst="roundRect">
            <a:avLst>
              <a:gd name="adj" fmla="val 7143"/>
            </a:avLst>
          </a:prstGeom>
          <a:solidFill>
            <a:schemeClr val="bg1"/>
          </a:solidFill>
          <a:ln/>
          <a:effectLst>
            <a:outerShdw sx="100000" sy="100000" kx="0" ky="0" algn="bl" rotWithShape="0" blurRad="76200" dist="19050" dir="5400000">
              <a:srgbClr val="000000">
                <a:alpha val="12000"/>
              </a:srgbClr>
            </a:outerShdw>
          </a:effectLst>
        </p:spPr>
      </p:sp>
      <p:sp>
        <p:nvSpPr>
          <p:cNvPr id="27" name="İkon zemini"/>
          <p:cNvSpPr/>
          <p:nvPr/>
        </p:nvSpPr>
        <p:spPr>
          <a:xfrm>
            <a:off x="7982712" y="1819656"/>
            <a:ext cx="566928" cy="566928"/>
          </a:xfrm>
          <a:prstGeom prst="ellipse">
            <a:avLst/>
          </a:prstGeom>
          <a:solidFill>
            <a:schemeClr val="accent3"/>
          </a:solidFill>
          <a:ln/>
        </p:spPr>
      </p:sp>
      <p:pic>
        <p:nvPicPr>
          <p:cNvPr id="28" name="İkon FaPersonWalking" descr="preencoded.png">    </p:cNvPr>
          <p:cNvPicPr>
            <a:picLocks noChangeAspect="1"/>
          </p:cNvPicPr>
          <p:nvPr/>
        </p:nvPicPr>
        <p:blipFill>
          <a:blip r:embed="rId4"/>
          <a:stretch>
            <a:fillRect/>
          </a:stretch>
        </p:blipFill>
        <p:spPr>
          <a:xfrm>
            <a:off x="8118775" y="1955719"/>
            <a:ext cx="294803" cy="294803"/>
          </a:xfrm>
          <a:prstGeom prst="rect">
            <a:avLst/>
          </a:prstGeom>
        </p:spPr>
      </p:pic>
      <p:sp>
        <p:nvSpPr>
          <p:cNvPr id="29" name="Text 23"/>
          <p:cNvSpPr txBox="1"/>
          <p:nvPr/>
        </p:nvSpPr>
        <p:spPr>
          <a:xfrm>
            <a:off x="8686800" y="1728216"/>
            <a:ext cx="2743200" cy="292608"/>
          </a:xfrm>
          <a:prstGeom prst="rect">
            <a:avLst/>
          </a:prstGeom>
          <a:noFill/>
          <a:ln/>
        </p:spPr>
        <p:txBody>
          <a:bodyPr wrap="square" lIns="0" tIns="0" rIns="0" bIns="0" rtlCol="0" anchor="t"/>
          <a:lstStyle/>
          <a:p>
            <a:pPr indent="0" marL="0">
              <a:buNone/>
            </a:pPr>
            <a:r>
              <a:rPr lang="en-US" sz="1500" b="1" dirty="0">
                <a:solidFill>
                  <a:schemeClr val="tx2"/>
                </a:solidFill>
              </a:rPr>
              <a:t>Göl çevresi</a:t>
            </a:r>
            <a:endParaRPr lang="en-US" sz="1500" dirty="0"/>
          </a:p>
        </p:txBody>
      </p:sp>
      <p:sp>
        <p:nvSpPr>
          <p:cNvPr id="30" name="Text 24"/>
          <p:cNvSpPr txBox="1"/>
          <p:nvPr/>
        </p:nvSpPr>
        <p:spPr>
          <a:xfrm>
            <a:off x="8686800" y="2039112"/>
            <a:ext cx="2880360" cy="548640"/>
          </a:xfrm>
          <a:prstGeom prst="rect">
            <a:avLst/>
          </a:prstGeom>
          <a:noFill/>
          <a:ln/>
        </p:spPr>
        <p:txBody>
          <a:bodyPr wrap="square" lIns="0" tIns="0" rIns="0" bIns="0" rtlCol="0" anchor="t"/>
          <a:lstStyle/>
          <a:p>
            <a:pPr indent="0" marL="0">
              <a:buNone/>
            </a:pPr>
            <a:r>
              <a:rPr lang="en-US" sz="1300" dirty="0">
                <a:solidFill>
                  <a:schemeClr val="tx1"/>
                </a:solidFill>
              </a:rPr>
              <a:t>Yürüyüş ve koşu parkuru, kafe, amfi, çocuk oyun alanları</a:t>
            </a:r>
            <a:endParaRPr lang="en-US" sz="1300" dirty="0"/>
          </a:p>
        </p:txBody>
      </p:sp>
      <p:sp>
        <p:nvSpPr>
          <p:cNvPr id="31" name="Kart"/>
          <p:cNvSpPr/>
          <p:nvPr/>
        </p:nvSpPr>
        <p:spPr>
          <a:xfrm>
            <a:off x="7818120" y="2807208"/>
            <a:ext cx="3824935" cy="1024128"/>
          </a:xfrm>
          <a:prstGeom prst="roundRect">
            <a:avLst>
              <a:gd name="adj" fmla="val 7143"/>
            </a:avLst>
          </a:prstGeom>
          <a:solidFill>
            <a:schemeClr val="bg1"/>
          </a:solidFill>
          <a:ln/>
          <a:effectLst>
            <a:outerShdw sx="100000" sy="100000" kx="0" ky="0" algn="bl" rotWithShape="0" blurRad="76200" dist="19050" dir="5400000">
              <a:srgbClr val="000000">
                <a:alpha val="12000"/>
              </a:srgbClr>
            </a:outerShdw>
          </a:effectLst>
        </p:spPr>
      </p:sp>
      <p:sp>
        <p:nvSpPr>
          <p:cNvPr id="32" name="İkon zemini"/>
          <p:cNvSpPr/>
          <p:nvPr/>
        </p:nvSpPr>
        <p:spPr>
          <a:xfrm>
            <a:off x="7982712" y="3026664"/>
            <a:ext cx="566928" cy="566928"/>
          </a:xfrm>
          <a:prstGeom prst="ellipse">
            <a:avLst/>
          </a:prstGeom>
          <a:solidFill>
            <a:schemeClr val="accent3"/>
          </a:solidFill>
          <a:ln/>
        </p:spPr>
      </p:sp>
      <p:pic>
        <p:nvPicPr>
          <p:cNvPr id="33" name="İkon FaSailboat" descr="preencoded.png">    </p:cNvPr>
          <p:cNvPicPr>
            <a:picLocks noChangeAspect="1"/>
          </p:cNvPicPr>
          <p:nvPr/>
        </p:nvPicPr>
        <p:blipFill>
          <a:blip r:embed="rId5"/>
          <a:stretch>
            <a:fillRect/>
          </a:stretch>
        </p:blipFill>
        <p:spPr>
          <a:xfrm>
            <a:off x="8118775" y="3162727"/>
            <a:ext cx="294803" cy="294803"/>
          </a:xfrm>
          <a:prstGeom prst="rect">
            <a:avLst/>
          </a:prstGeom>
        </p:spPr>
      </p:pic>
      <p:sp>
        <p:nvSpPr>
          <p:cNvPr id="34" name="Text 27"/>
          <p:cNvSpPr txBox="1"/>
          <p:nvPr/>
        </p:nvSpPr>
        <p:spPr>
          <a:xfrm>
            <a:off x="8686800" y="2935224"/>
            <a:ext cx="2743200" cy="292608"/>
          </a:xfrm>
          <a:prstGeom prst="rect">
            <a:avLst/>
          </a:prstGeom>
          <a:noFill/>
          <a:ln/>
        </p:spPr>
        <p:txBody>
          <a:bodyPr wrap="square" lIns="0" tIns="0" rIns="0" bIns="0" rtlCol="0" anchor="t"/>
          <a:lstStyle/>
          <a:p>
            <a:pPr indent="0" marL="0">
              <a:buNone/>
            </a:pPr>
            <a:r>
              <a:rPr lang="en-US" sz="1500" b="1" dirty="0">
                <a:solidFill>
                  <a:schemeClr val="tx2"/>
                </a:solidFill>
              </a:rPr>
              <a:t>Su üstü</a:t>
            </a:r>
            <a:endParaRPr lang="en-US" sz="1500" dirty="0"/>
          </a:p>
        </p:txBody>
      </p:sp>
      <p:sp>
        <p:nvSpPr>
          <p:cNvPr id="35" name="Text 28"/>
          <p:cNvSpPr txBox="1"/>
          <p:nvPr/>
        </p:nvSpPr>
        <p:spPr>
          <a:xfrm>
            <a:off x="8686800" y="3246120"/>
            <a:ext cx="2880360" cy="548640"/>
          </a:xfrm>
          <a:prstGeom prst="rect">
            <a:avLst/>
          </a:prstGeom>
          <a:noFill/>
          <a:ln/>
        </p:spPr>
        <p:txBody>
          <a:bodyPr wrap="square" lIns="0" tIns="0" rIns="0" bIns="0" rtlCol="0" anchor="t"/>
          <a:lstStyle/>
          <a:p>
            <a:pPr indent="0" marL="0">
              <a:buNone/>
            </a:pPr>
            <a:r>
              <a:rPr lang="en-US" sz="1300" dirty="0">
                <a:solidFill>
                  <a:schemeClr val="tx1"/>
                </a:solidFill>
              </a:rPr>
              <a:t>Kano ve pedal tekne; kışın uygunsa buz pateni</a:t>
            </a:r>
            <a:endParaRPr lang="en-US" sz="1300" dirty="0"/>
          </a:p>
        </p:txBody>
      </p:sp>
      <p:sp>
        <p:nvSpPr>
          <p:cNvPr id="36" name="Kart"/>
          <p:cNvSpPr/>
          <p:nvPr/>
        </p:nvSpPr>
        <p:spPr>
          <a:xfrm>
            <a:off x="7818120" y="4014216"/>
            <a:ext cx="3824935" cy="1024128"/>
          </a:xfrm>
          <a:prstGeom prst="roundRect">
            <a:avLst>
              <a:gd name="adj" fmla="val 7143"/>
            </a:avLst>
          </a:prstGeom>
          <a:solidFill>
            <a:schemeClr val="bg1"/>
          </a:solidFill>
          <a:ln/>
          <a:effectLst>
            <a:outerShdw sx="100000" sy="100000" kx="0" ky="0" algn="bl" rotWithShape="0" blurRad="76200" dist="19050" dir="5400000">
              <a:srgbClr val="000000">
                <a:alpha val="12000"/>
              </a:srgbClr>
            </a:outerShdw>
          </a:effectLst>
        </p:spPr>
      </p:sp>
      <p:sp>
        <p:nvSpPr>
          <p:cNvPr id="37" name="İkon zemini"/>
          <p:cNvSpPr/>
          <p:nvPr/>
        </p:nvSpPr>
        <p:spPr>
          <a:xfrm>
            <a:off x="7982712" y="4233672"/>
            <a:ext cx="566928" cy="566928"/>
          </a:xfrm>
          <a:prstGeom prst="ellipse">
            <a:avLst/>
          </a:prstGeom>
          <a:solidFill>
            <a:schemeClr val="accent3"/>
          </a:solidFill>
          <a:ln/>
        </p:spPr>
      </p:sp>
      <p:pic>
        <p:nvPicPr>
          <p:cNvPr id="38" name="İkon FaBookOpen" descr="preencoded.png">    </p:cNvPr>
          <p:cNvPicPr>
            <a:picLocks noChangeAspect="1"/>
          </p:cNvPicPr>
          <p:nvPr/>
        </p:nvPicPr>
        <p:blipFill>
          <a:blip r:embed="rId6"/>
          <a:stretch>
            <a:fillRect/>
          </a:stretch>
        </p:blipFill>
        <p:spPr>
          <a:xfrm>
            <a:off x="8118775" y="4369735"/>
            <a:ext cx="294803" cy="294803"/>
          </a:xfrm>
          <a:prstGeom prst="rect">
            <a:avLst/>
          </a:prstGeom>
        </p:spPr>
      </p:pic>
      <p:sp>
        <p:nvSpPr>
          <p:cNvPr id="39" name="Text 31"/>
          <p:cNvSpPr txBox="1"/>
          <p:nvPr/>
        </p:nvSpPr>
        <p:spPr>
          <a:xfrm>
            <a:off x="8686800" y="4142232"/>
            <a:ext cx="2743200" cy="292608"/>
          </a:xfrm>
          <a:prstGeom prst="rect">
            <a:avLst/>
          </a:prstGeom>
          <a:noFill/>
          <a:ln/>
        </p:spPr>
        <p:txBody>
          <a:bodyPr wrap="square" lIns="0" tIns="0" rIns="0" bIns="0" rtlCol="0" anchor="t"/>
          <a:lstStyle/>
          <a:p>
            <a:pPr indent="0" marL="0">
              <a:buNone/>
            </a:pPr>
            <a:r>
              <a:rPr lang="en-US" sz="1500" b="1" dirty="0">
                <a:solidFill>
                  <a:schemeClr val="tx2"/>
                </a:solidFill>
              </a:rPr>
              <a:t>Kıyıda</a:t>
            </a:r>
            <a:endParaRPr lang="en-US" sz="1500" dirty="0"/>
          </a:p>
        </p:txBody>
      </p:sp>
      <p:sp>
        <p:nvSpPr>
          <p:cNvPr id="40" name="Text 32"/>
          <p:cNvSpPr txBox="1"/>
          <p:nvPr/>
        </p:nvSpPr>
        <p:spPr>
          <a:xfrm>
            <a:off x="8686800" y="4453128"/>
            <a:ext cx="2880360" cy="548640"/>
          </a:xfrm>
          <a:prstGeom prst="rect">
            <a:avLst/>
          </a:prstGeom>
          <a:noFill/>
          <a:ln/>
        </p:spPr>
        <p:txBody>
          <a:bodyPr wrap="square" lIns="0" tIns="0" rIns="0" bIns="0" rtlCol="0" anchor="t"/>
          <a:lstStyle/>
          <a:p>
            <a:pPr indent="0" marL="0">
              <a:buNone/>
            </a:pPr>
            <a:r>
              <a:rPr lang="en-US" sz="1300" dirty="0">
                <a:solidFill>
                  <a:schemeClr val="tx1"/>
                </a:solidFill>
              </a:rPr>
              <a:t>Kültür merkezi, kütüphane, meydan ve haftalık pazar</a:t>
            </a:r>
            <a:endParaRPr lang="en-US" sz="1300" dirty="0"/>
          </a:p>
        </p:txBody>
      </p:sp>
      <p:sp>
        <p:nvSpPr>
          <p:cNvPr id="41" name="Kart"/>
          <p:cNvSpPr/>
          <p:nvPr/>
        </p:nvSpPr>
        <p:spPr>
          <a:xfrm>
            <a:off x="548640" y="5303520"/>
            <a:ext cx="11094415" cy="658368"/>
          </a:xfrm>
          <a:prstGeom prst="roundRect">
            <a:avLst>
              <a:gd name="adj" fmla="val 11111"/>
            </a:avLst>
          </a:prstGeom>
          <a:solidFill>
            <a:srgbClr val="F6DFDB"/>
          </a:solidFill>
          <a:ln/>
        </p:spPr>
      </p:sp>
      <p:sp>
        <p:nvSpPr>
          <p:cNvPr id="42" name="İkon zemini"/>
          <p:cNvSpPr/>
          <p:nvPr/>
        </p:nvSpPr>
        <p:spPr>
          <a:xfrm>
            <a:off x="713232" y="5385816"/>
            <a:ext cx="475488" cy="475488"/>
          </a:xfrm>
          <a:prstGeom prst="ellipse">
            <a:avLst/>
          </a:prstGeom>
          <a:solidFill>
            <a:schemeClr val="accent6"/>
          </a:solidFill>
          <a:ln/>
        </p:spPr>
      </p:sp>
      <p:pic>
        <p:nvPicPr>
          <p:cNvPr id="43" name="İkon FaTriangleExclamation" descr="preencoded.png">    </p:cNvPr>
          <p:cNvPicPr>
            <a:picLocks noChangeAspect="1"/>
          </p:cNvPicPr>
          <p:nvPr/>
        </p:nvPicPr>
        <p:blipFill>
          <a:blip r:embed="rId7"/>
          <a:stretch>
            <a:fillRect/>
          </a:stretch>
        </p:blipFill>
        <p:spPr>
          <a:xfrm>
            <a:off x="827349" y="5499933"/>
            <a:ext cx="247254" cy="247254"/>
          </a:xfrm>
          <a:prstGeom prst="rect">
            <a:avLst/>
          </a:prstGeom>
        </p:spPr>
      </p:pic>
      <p:sp>
        <p:nvSpPr>
          <p:cNvPr id="44" name="Text 35"/>
          <p:cNvSpPr txBox="1"/>
          <p:nvPr/>
        </p:nvSpPr>
        <p:spPr>
          <a:xfrm>
            <a:off x="1325880" y="5367528"/>
            <a:ext cx="10134295" cy="548640"/>
          </a:xfrm>
          <a:prstGeom prst="rect">
            <a:avLst/>
          </a:prstGeom>
          <a:noFill/>
          <a:ln/>
        </p:spPr>
        <p:txBody>
          <a:bodyPr wrap="square" lIns="0" tIns="0" rIns="0" bIns="0" rtlCol="0" anchor="ctr"/>
          <a:lstStyle/>
          <a:p>
            <a:pPr indent="0" marL="0">
              <a:buNone/>
            </a:pPr>
            <a:r>
              <a:rPr lang="en-US" sz="1400" dirty="0">
                <a:solidFill>
                  <a:schemeClr val="tx1"/>
                </a:solidFill>
              </a:rPr>
              <a:t>Ankara barajlarında aktif doluluk 8 Ocak 2026'da %1'e inmiştir. Bu nedenle gölün şebeke suyuyla doldurulması önerilmemekte; ilk dolumun (~50 bin m³; 30–75 bin) yağmur suyu ve arıtılmış atıksuyla yapılması öngörülmektedir.</a:t>
            </a:r>
            <a:endParaRPr lang="en-US" sz="1400" dirty="0"/>
          </a:p>
        </p:txBody>
      </p:sp>
      <p:sp>
        <p:nvSpPr>
          <p:cNvPr id="45" name="Text 36"/>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ASKİ verisi (BirGün, 10 Ocak 2026); yağış 350–450 mm/yıl, akış katsayısı 0,4–0,6 ile hasat tahmini. Buharlaşma kaybı hesaplanacak.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Göl kıyısı ve mahalle merkezi" descr="/home/user/sunum/araclar/sunum/assets/kavram_gol.jpg">    </p:cNvPr>
          <p:cNvPicPr>
            <a:picLocks noChangeAspect="1"/>
          </p:cNvPicPr>
          <p:nvPr/>
        </p:nvPicPr>
        <p:blipFill>
          <a:blip r:embed="rId1"/>
          <a:stretch>
            <a:fillRect/>
          </a:stretch>
        </p:blipFill>
        <p:spPr>
          <a:xfrm>
            <a:off x="0" y="0"/>
            <a:ext cx="12191695" cy="6858000"/>
          </a:xfrm>
          <a:prstGeom prst="rect">
            <a:avLst/>
          </a:prstGeom>
        </p:spPr>
      </p:pic>
      <p:sp>
        <p:nvSpPr>
          <p:cNvPr id="3" name="Başlık paneli"/>
          <p:cNvSpPr/>
          <p:nvPr/>
        </p:nvSpPr>
        <p:spPr>
          <a:xfrm>
            <a:off x="457200" y="4846320"/>
            <a:ext cx="7772400" cy="1600200"/>
          </a:xfrm>
          <a:prstGeom prst="roundRect">
            <a:avLst>
              <a:gd name="adj" fmla="val 4571"/>
            </a:avLst>
          </a:prstGeom>
          <a:solidFill>
            <a:schemeClr val="tx2">
              <a:alpha val="90000"/>
            </a:schemeClr>
          </a:solidFill>
          <a:ln/>
        </p:spPr>
      </p:sp>
      <p:sp>
        <p:nvSpPr>
          <p:cNvPr id="4" name="Text 0"/>
          <p:cNvSpPr/>
          <p:nvPr>
            <p:ph idx="100" type="body" hasCustomPrompt="1"/>
          </p:nvPr>
        </p:nvSpPr>
        <p:spPr>
          <a:xfrm>
            <a:off x="731520" y="5074920"/>
            <a:ext cx="7132320"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KAVRAMSAL GÖRÜNÜM · SOSYAL YAŞAM</a:t>
            </a:r>
            <a:endParaRPr lang="en-US" sz="1200" dirty="0"/>
          </a:p>
        </p:txBody>
      </p:sp>
      <p:sp>
        <p:nvSpPr>
          <p:cNvPr id="5" name="Text 0"/>
          <p:cNvSpPr/>
          <p:nvPr>
            <p:ph idx="101" type="title" hasCustomPrompt="1"/>
          </p:nvPr>
        </p:nvSpPr>
        <p:spPr>
          <a:xfrm>
            <a:off x="731520" y="5349240"/>
            <a:ext cx="7223760" cy="548640"/>
          </a:xfrm>
          <a:prstGeom prst="rect">
            <a:avLst/>
          </a:prstGeom>
          <a:noFill/>
          <a:ln/>
        </p:spPr>
        <p:txBody>
          <a:bodyPr wrap="square" lIns="0" tIns="0" rIns="0" bIns="0" rtlCol="0" anchor="t"/>
          <a:lstStyle/>
          <a:p>
            <a:pPr algn="l" indent="0" marL="0">
              <a:buNone/>
            </a:pPr>
            <a:r>
              <a:rPr lang="en-US" sz="2600" b="1" dirty="0">
                <a:solidFill>
                  <a:schemeClr val="bg1"/>
                </a:solidFill>
              </a:rPr>
              <a:t>Göl kıyısı ve mahalle merkezi</a:t>
            </a:r>
            <a:endParaRPr lang="en-US" sz="2600" dirty="0"/>
          </a:p>
        </p:txBody>
      </p:sp>
      <p:sp>
        <p:nvSpPr>
          <p:cNvPr id="6" name="Text 3"/>
          <p:cNvSpPr txBox="1"/>
          <p:nvPr/>
        </p:nvSpPr>
        <p:spPr>
          <a:xfrm>
            <a:off x="731520" y="5943600"/>
            <a:ext cx="7315200" cy="320040"/>
          </a:xfrm>
          <a:prstGeom prst="rect">
            <a:avLst/>
          </a:prstGeom>
          <a:noFill/>
          <a:ln/>
        </p:spPr>
        <p:txBody>
          <a:bodyPr wrap="square" lIns="0" tIns="0" rIns="0" bIns="0" rtlCol="0" anchor="t"/>
          <a:lstStyle/>
          <a:p>
            <a:pPr indent="0" marL="0">
              <a:buNone/>
            </a:pPr>
            <a:r>
              <a:rPr lang="en-US" sz="1200" dirty="0">
                <a:solidFill>
                  <a:schemeClr val="bg2"/>
                </a:solidFill>
              </a:rPr>
              <a:t>Temsilî kavram görseli; göl kıyısı promenadı, amfi, iskele, mahalle merkezi ve cami.</a:t>
            </a:r>
            <a:endParaRPr lang="en-US" sz="12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1"/>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SOSYAL YAŞAM · AİLE PROGRAMLARI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Kreş yükümlülükleri ve eş istihdamı</a:t>
            </a:r>
            <a:endParaRPr lang="en-US" sz="3600" dirty="0"/>
          </a:p>
        </p:txBody>
      </p:sp>
      <p:sp>
        <p:nvSpPr>
          <p:cNvPr id="4" name="Kart"/>
          <p:cNvSpPr/>
          <p:nvPr/>
        </p:nvSpPr>
        <p:spPr>
          <a:xfrm>
            <a:off x="548640" y="1600200"/>
            <a:ext cx="5410048" cy="4343400"/>
          </a:xfrm>
          <a:prstGeom prst="roundRect">
            <a:avLst>
              <a:gd name="adj" fmla="val 1684"/>
            </a:avLst>
          </a:prstGeom>
          <a:solidFill>
            <a:schemeClr val="bg1"/>
          </a:solidFill>
          <a:ln/>
          <a:effectLst>
            <a:outerShdw sx="100000" sy="100000" kx="0" ky="0" algn="bl" rotWithShape="0" blurRad="76200" dist="19050" dir="5400000">
              <a:srgbClr val="000000">
                <a:alpha val="12000"/>
              </a:srgbClr>
            </a:outerShdw>
          </a:effectLst>
        </p:spPr>
      </p:sp>
      <p:sp>
        <p:nvSpPr>
          <p:cNvPr id="5" name="Text 3"/>
          <p:cNvSpPr txBox="1"/>
          <p:nvPr/>
        </p:nvSpPr>
        <p:spPr>
          <a:xfrm>
            <a:off x="822960" y="1828800"/>
            <a:ext cx="4861408" cy="411480"/>
          </a:xfrm>
          <a:prstGeom prst="rect">
            <a:avLst/>
          </a:prstGeom>
          <a:noFill/>
          <a:ln/>
        </p:spPr>
        <p:txBody>
          <a:bodyPr wrap="square" lIns="0" tIns="0" rIns="0" bIns="0" rtlCol="0" anchor="t"/>
          <a:lstStyle/>
          <a:p>
            <a:pPr indent="0" marL="0">
              <a:buNone/>
            </a:pPr>
            <a:r>
              <a:rPr lang="en-US" sz="1800" b="1" dirty="0">
                <a:solidFill>
                  <a:schemeClr val="tx2"/>
                </a:solidFill>
              </a:rPr>
              <a:t>Kreş ve emzirme odası (RG 28737)</a:t>
            </a:r>
            <a:endParaRPr lang="en-US" sz="1800" dirty="0"/>
          </a:p>
        </p:txBody>
      </p:sp>
      <p:sp>
        <p:nvSpPr>
          <p:cNvPr id="6" name="Text 4"/>
          <p:cNvSpPr txBox="1"/>
          <p:nvPr/>
        </p:nvSpPr>
        <p:spPr>
          <a:xfrm>
            <a:off x="822960" y="2377440"/>
            <a:ext cx="4861408" cy="34290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100–150 kadın çalışanı olan işyerinde, en çok 250 m uzaklıkta emzirme odası</a:t>
            </a:r>
            <a:endParaRPr lang="en-US" sz="1500" dirty="0"/>
          </a:p>
          <a:p>
            <a:pPr marL="342900" indent="-342900">
              <a:spcAft>
                <a:spcPts val="600"/>
              </a:spcAft>
              <a:buSzPct val="100000"/>
              <a:buChar char="•"/>
            </a:pPr>
            <a:r>
              <a:rPr lang="en-US" sz="1500" dirty="0">
                <a:solidFill>
                  <a:schemeClr val="tx1"/>
                </a:solidFill>
              </a:rPr>
              <a:t>150'den fazla kadın çalışanda 0–6 yaş için yurt; 250 m'den uzaksa işveren taşıt sağlar</a:t>
            </a:r>
            <a:endParaRPr lang="en-US" sz="1500" dirty="0"/>
          </a:p>
          <a:p>
            <a:pPr marL="342900" indent="-342900">
              <a:spcAft>
                <a:spcPts val="600"/>
              </a:spcAft>
              <a:buSzPct val="100000"/>
              <a:buChar char="•"/>
            </a:pPr>
            <a:r>
              <a:rPr lang="en-US" sz="1500" dirty="0">
                <a:solidFill>
                  <a:schemeClr val="tx1"/>
                </a:solidFill>
              </a:rPr>
              <a:t>Yurtlarda her 20 çocuğa bir bakıcı; çocuk odasında çocuk başına en az 3 m²</a:t>
            </a:r>
            <a:endParaRPr lang="en-US" sz="1500" dirty="0"/>
          </a:p>
          <a:p>
            <a:pPr marL="342900" indent="-342900">
              <a:spcAft>
                <a:spcPts val="600"/>
              </a:spcAft>
              <a:buSzPct val="100000"/>
              <a:buChar char="•"/>
            </a:pPr>
            <a:r>
              <a:rPr lang="en-US" sz="1500" dirty="0">
                <a:solidFill>
                  <a:schemeClr val="tx1"/>
                </a:solidFill>
              </a:rPr>
              <a:t>Bakanlık taslağı (18.10.2026): kreş yetkilendirmesi 31.12.2027; RG'de yayımlanmamıştır</a:t>
            </a:r>
            <a:endParaRPr lang="en-US" sz="1500" dirty="0"/>
          </a:p>
          <a:p>
            <a:pPr marL="342900" indent="-342900">
              <a:spcAft>
                <a:spcPts val="600"/>
              </a:spcAft>
              <a:buSzPct val="100000"/>
              <a:buChar char="•"/>
            </a:pPr>
            <a:r>
              <a:rPr lang="en-US" sz="1500" dirty="0">
                <a:solidFill>
                  <a:schemeClr val="tx1"/>
                </a:solidFill>
              </a:rPr>
              <a:t>Kamu kreşleri vardiyalı personel için 7/24 hizmet verebilir; asgari çocuk sayısı 30</a:t>
            </a:r>
            <a:endParaRPr lang="en-US" sz="1500" dirty="0"/>
          </a:p>
        </p:txBody>
      </p:sp>
      <p:sp>
        <p:nvSpPr>
          <p:cNvPr id="7" name="Kart"/>
          <p:cNvSpPr/>
          <p:nvPr/>
        </p:nvSpPr>
        <p:spPr>
          <a:xfrm>
            <a:off x="6233008" y="1600200"/>
            <a:ext cx="5410048" cy="4343400"/>
          </a:xfrm>
          <a:prstGeom prst="roundRect">
            <a:avLst>
              <a:gd name="adj" fmla="val 1684"/>
            </a:avLst>
          </a:prstGeom>
          <a:solidFill>
            <a:schemeClr val="bg1"/>
          </a:solidFill>
          <a:ln/>
          <a:effectLst>
            <a:outerShdw sx="100000" sy="100000" kx="0" ky="0" algn="bl" rotWithShape="0" blurRad="76200" dist="19050" dir="5400000">
              <a:srgbClr val="000000">
                <a:alpha val="12000"/>
              </a:srgbClr>
            </a:outerShdw>
          </a:effectLst>
        </p:spPr>
      </p:sp>
      <p:sp>
        <p:nvSpPr>
          <p:cNvPr id="8" name="Text 6"/>
          <p:cNvSpPr txBox="1"/>
          <p:nvPr/>
        </p:nvSpPr>
        <p:spPr>
          <a:xfrm>
            <a:off x="6507328" y="1828800"/>
            <a:ext cx="4861408" cy="411480"/>
          </a:xfrm>
          <a:prstGeom prst="rect">
            <a:avLst/>
          </a:prstGeom>
          <a:noFill/>
          <a:ln/>
        </p:spPr>
        <p:txBody>
          <a:bodyPr wrap="square" lIns="0" tIns="0" rIns="0" bIns="0" rtlCol="0" anchor="t"/>
          <a:lstStyle/>
          <a:p>
            <a:pPr indent="0" marL="0">
              <a:buNone/>
            </a:pPr>
            <a:r>
              <a:rPr lang="en-US" sz="1800" b="1" dirty="0">
                <a:solidFill>
                  <a:schemeClr val="accent1"/>
                </a:solidFill>
              </a:rPr>
              <a:t>Eş istihdamı ve aile programları</a:t>
            </a:r>
            <a:endParaRPr lang="en-US" sz="1800" dirty="0"/>
          </a:p>
        </p:txBody>
      </p:sp>
      <p:sp>
        <p:nvSpPr>
          <p:cNvPr id="9" name="Text 7"/>
          <p:cNvSpPr txBox="1"/>
          <p:nvPr/>
        </p:nvSpPr>
        <p:spPr>
          <a:xfrm>
            <a:off x="6507328" y="2377440"/>
            <a:ext cx="4861408" cy="34290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Yönetmelik md. 13: ortak yurt veya yetkilendirilmiş yurtlarla anlaşma yapılabilmektedir</a:t>
            </a:r>
            <a:endParaRPr lang="en-US" sz="1500" dirty="0"/>
          </a:p>
          <a:p>
            <a:pPr marL="342900" indent="-342900">
              <a:spcAft>
                <a:spcPts val="600"/>
              </a:spcAft>
              <a:buSzPct val="100000"/>
              <a:buChar char="•"/>
            </a:pPr>
            <a:r>
              <a:rPr lang="en-US" sz="1500" dirty="0">
                <a:solidFill>
                  <a:schemeClr val="tx1"/>
                </a:solidFill>
              </a:rPr>
              <a:t>Mahalle merkezinde aile kariyer masası ve ortak çalışma alanı önerilmektedir</a:t>
            </a:r>
            <a:endParaRPr lang="en-US" sz="1500" dirty="0"/>
          </a:p>
          <a:p>
            <a:pPr marL="342900" indent="-342900">
              <a:spcAft>
                <a:spcPts val="600"/>
              </a:spcAft>
              <a:buSzPct val="100000"/>
              <a:buChar char="•"/>
            </a:pPr>
            <a:r>
              <a:rPr lang="en-US" sz="1500" dirty="0">
                <a:solidFill>
                  <a:schemeClr val="tx1"/>
                </a:solidFill>
              </a:rPr>
              <a:t>Kariyer masası küme firmaları ve yerleşimdeki okul, kreş ve sağlık işyerleriyle çalışır</a:t>
            </a:r>
            <a:endParaRPr lang="en-US" sz="1500" dirty="0"/>
          </a:p>
          <a:p>
            <a:pPr marL="342900" indent="-342900">
              <a:spcAft>
                <a:spcPts val="600"/>
              </a:spcAft>
              <a:buSzPct val="100000"/>
              <a:buChar char="•"/>
            </a:pPr>
            <a:r>
              <a:rPr lang="en-US" sz="1500" dirty="0">
                <a:solidFill>
                  <a:schemeClr val="tx1"/>
                </a:solidFill>
              </a:rPr>
              <a:t>Uluslararası emsal: eşe çalışma izni, ücretsiz iş geçiş atölyeleri ve iş arama forumu</a:t>
            </a:r>
            <a:endParaRPr lang="en-US" sz="1500" dirty="0"/>
          </a:p>
          <a:p>
            <a:pPr marL="342900" indent="-342900">
              <a:spcAft>
                <a:spcPts val="600"/>
              </a:spcAft>
              <a:buSzPct val="100000"/>
              <a:buChar char="•"/>
            </a:pPr>
            <a:r>
              <a:rPr lang="en-US" sz="1500" dirty="0">
                <a:solidFill>
                  <a:schemeClr val="tx1"/>
                </a:solidFill>
              </a:rPr>
              <a:t>Yeni gelen aileler için oryantasyon ve topluluk programı öngörülmektedir</a:t>
            </a:r>
            <a:endParaRPr lang="en-US" sz="1500" dirty="0"/>
          </a:p>
        </p:txBody>
      </p:sp>
      <p:sp>
        <p:nvSpPr>
          <p:cNvPr id="10" name="Text 8"/>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RG 16.08.2013 sayı 28737 Yönetmeliği (md. 13, 17, Ek-IV); Dünya, 18.10.2026; İstiklal (kamu kreşleri); CERN HR (eş programı).</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SOSYAL YAŞAM · YAPAY GÖL</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Yapay göl su bütçesi</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106436"/>
                <a:gridCol w="3993989"/>
                <a:gridCol w="3993989"/>
              </a:tblGrid>
              <a:tr h="457200">
                <a:tc>
                  <a:txBody>
                    <a:bodyPr/>
                    <a:lstStyle/>
                    <a:p>
                      <a:pPr indent="0" marL="0">
                        <a:buNone/>
                      </a:pPr>
                      <a:r>
                        <a:rPr lang="en-US" sz="1300" b="1" dirty="0">
                          <a:solidFill>
                            <a:srgbClr val="FFFFFF"/>
                          </a:solidFill>
                        </a:rPr>
                        <a:t>Kalem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Değer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Durum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457200">
                <a:tc>
                  <a:txBody>
                    <a:bodyPr/>
                    <a:lstStyle/>
                    <a:p>
                      <a:pPr indent="0" marL="0">
                        <a:buNone/>
                      </a:pPr>
                      <a:r>
                        <a:rPr lang="en-US" sz="1300" b="1" dirty="0">
                          <a:solidFill>
                            <a:srgbClr val="1B2430"/>
                          </a:solidFill>
                        </a:rPr>
                        <a:t>Su yüzeyi ve hacim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2,5 ha; ~50.000 m³ (30–75 bin m³)</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Varsayım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Net buharlaşma kaybı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~12.500–17.500 m³/yıl</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Varsayım; MGM ve DSİ teyidi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Sahaya düşen yağış</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≈199.000 m³/yıl (51,1 ha × 0,39 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Hesap</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Yağmur suyu hasadı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~80–120 bin m³/yıl</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Akış katsayısı 0,4–0,6</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İleri arıtılmış atıksu</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Tatlar veya Kahramankazan AAT</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Kapasite teyit edilecek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Yeniden kullanım çerçevesi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Büyükşehirde en az %10; 2030'da %15</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Mevzuat ve ulusal hedef</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Ankara barajları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Aktif doluluk %1 (8 Ocak 2026)</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Şebeke yalnızca acil durumda</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ASKİ verisi (BirGün, 10.01.2026); ASKİ Meclis Kararı 962 (17.07.2026); yatırım notu hesapları. Buharlaşma değeri kaynaksız varsayımdır.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DÜNYADAN ÖRNEKLER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Dünyadan örnekler: mahalle merkezinde göl</a:t>
            </a:r>
            <a:endParaRPr lang="en-US" sz="3600" dirty="0"/>
          </a:p>
        </p:txBody>
      </p:sp>
      <p:sp>
        <p:nvSpPr>
          <p:cNvPr id="4" name="Kart"/>
          <p:cNvSpPr/>
          <p:nvPr/>
        </p:nvSpPr>
        <p:spPr>
          <a:xfrm>
            <a:off x="548640"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77240" y="1828800"/>
            <a:ext cx="566928" cy="566928"/>
          </a:xfrm>
          <a:prstGeom prst="ellipse">
            <a:avLst/>
          </a:prstGeom>
          <a:solidFill>
            <a:schemeClr val="accent2"/>
          </a:solidFill>
          <a:ln/>
        </p:spPr>
      </p:sp>
      <p:pic>
        <p:nvPicPr>
          <p:cNvPr id="6" name="İkon FaWater" descr="preencoded.png">    </p:cNvPr>
          <p:cNvPicPr>
            <a:picLocks noChangeAspect="1"/>
          </p:cNvPicPr>
          <p:nvPr/>
        </p:nvPicPr>
        <p:blipFill>
          <a:blip r:embed="rId1"/>
          <a:stretch>
            <a:fillRect/>
          </a:stretch>
        </p:blipFill>
        <p:spPr>
          <a:xfrm>
            <a:off x="913303" y="1964863"/>
            <a:ext cx="294803" cy="294803"/>
          </a:xfrm>
          <a:prstGeom prst="rect">
            <a:avLst/>
          </a:prstGeom>
        </p:spPr>
      </p:pic>
      <p:sp>
        <p:nvSpPr>
          <p:cNvPr id="7" name="Text 4"/>
          <p:cNvSpPr txBox="1"/>
          <p:nvPr/>
        </p:nvSpPr>
        <p:spPr>
          <a:xfrm>
            <a:off x="777240"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Reston, ABD · 1963–67</a:t>
            </a:r>
            <a:endParaRPr lang="en-US" sz="1300" dirty="0"/>
          </a:p>
        </p:txBody>
      </p:sp>
      <p:sp>
        <p:nvSpPr>
          <p:cNvPr id="8" name="Text 5"/>
          <p:cNvSpPr txBox="1"/>
          <p:nvPr/>
        </p:nvSpPr>
        <p:spPr>
          <a:xfrm>
            <a:off x="777240"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Lake Anne köy merkezi</a:t>
            </a:r>
            <a:endParaRPr lang="en-US" sz="1700" dirty="0"/>
          </a:p>
        </p:txBody>
      </p:sp>
      <p:sp>
        <p:nvSpPr>
          <p:cNvPr id="9" name="Text 6"/>
          <p:cNvSpPr txBox="1"/>
          <p:nvPr/>
        </p:nvSpPr>
        <p:spPr>
          <a:xfrm>
            <a:off x="777240"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17 ha'lık köy merkezi gölün kıyısında; 2017'de tescilli miras.</a:t>
            </a:r>
            <a:endParaRPr lang="en-US" sz="1500" dirty="0"/>
          </a:p>
        </p:txBody>
      </p:sp>
      <p:sp>
        <p:nvSpPr>
          <p:cNvPr id="10" name="Text 7"/>
          <p:cNvSpPr txBox="1"/>
          <p:nvPr/>
        </p:nvSpPr>
        <p:spPr>
          <a:xfrm>
            <a:off x="777240"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çıkarım</a:t>
            </a:r>
            <a:endParaRPr lang="en-US" sz="1400" dirty="0"/>
          </a:p>
          <a:p>
            <a:pPr indent="0" marL="0">
              <a:buNone/>
            </a:pPr>
            <a:r>
              <a:rPr lang="en-US" sz="1500" dirty="0">
                <a:solidFill>
                  <a:schemeClr val="tx1"/>
                </a:solidFill>
              </a:rPr>
              <a:t>Göl ile meydan birlikte tasarlanınca merkez olur.</a:t>
            </a:r>
            <a:endParaRPr lang="en-US" sz="1400" dirty="0"/>
          </a:p>
        </p:txBody>
      </p:sp>
      <p:sp>
        <p:nvSpPr>
          <p:cNvPr id="11" name="Kart"/>
          <p:cNvSpPr/>
          <p:nvPr/>
        </p:nvSpPr>
        <p:spPr>
          <a:xfrm>
            <a:off x="3390824"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12" name="İkon zemini"/>
          <p:cNvSpPr/>
          <p:nvPr/>
        </p:nvSpPr>
        <p:spPr>
          <a:xfrm>
            <a:off x="3619424" y="1828800"/>
            <a:ext cx="566928" cy="566928"/>
          </a:xfrm>
          <a:prstGeom prst="ellipse">
            <a:avLst/>
          </a:prstGeom>
          <a:solidFill>
            <a:schemeClr val="accent2"/>
          </a:solidFill>
          <a:ln/>
        </p:spPr>
      </p:sp>
      <p:pic>
        <p:nvPicPr>
          <p:cNvPr id="13" name="İkon FaPeopleGroup" descr="preencoded.png">    </p:cNvPr>
          <p:cNvPicPr>
            <a:picLocks noChangeAspect="1"/>
          </p:cNvPicPr>
          <p:nvPr/>
        </p:nvPicPr>
        <p:blipFill>
          <a:blip r:embed="rId2"/>
          <a:stretch>
            <a:fillRect/>
          </a:stretch>
        </p:blipFill>
        <p:spPr>
          <a:xfrm>
            <a:off x="3755487" y="1964863"/>
            <a:ext cx="294803" cy="294803"/>
          </a:xfrm>
          <a:prstGeom prst="rect">
            <a:avLst/>
          </a:prstGeom>
        </p:spPr>
      </p:pic>
      <p:sp>
        <p:nvSpPr>
          <p:cNvPr id="14" name="Text 10"/>
          <p:cNvSpPr txBox="1"/>
          <p:nvPr/>
        </p:nvSpPr>
        <p:spPr>
          <a:xfrm>
            <a:off x="3619424"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Columbia, ABD · 1966–74</a:t>
            </a:r>
            <a:endParaRPr lang="en-US" sz="1300" dirty="0"/>
          </a:p>
        </p:txBody>
      </p:sp>
      <p:sp>
        <p:nvSpPr>
          <p:cNvPr id="15" name="Text 11"/>
          <p:cNvSpPr txBox="1"/>
          <p:nvPr/>
        </p:nvSpPr>
        <p:spPr>
          <a:xfrm>
            <a:off x="3619424"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Wilde Lake ve Kittamaqundi</a:t>
            </a:r>
            <a:endParaRPr lang="en-US" sz="1700" dirty="0"/>
          </a:p>
        </p:txBody>
      </p:sp>
      <p:sp>
        <p:nvSpPr>
          <p:cNvPr id="16" name="Text 12"/>
          <p:cNvSpPr txBox="1"/>
          <p:nvPr/>
        </p:nvSpPr>
        <p:spPr>
          <a:xfrm>
            <a:off x="3619424"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9–15 ha'lık mahalle gölleri; bakım sakin aidatıyla.</a:t>
            </a:r>
            <a:endParaRPr lang="en-US" sz="1500" dirty="0"/>
          </a:p>
        </p:txBody>
      </p:sp>
      <p:sp>
        <p:nvSpPr>
          <p:cNvPr id="17" name="Text 13"/>
          <p:cNvSpPr txBox="1"/>
          <p:nvPr/>
        </p:nvSpPr>
        <p:spPr>
          <a:xfrm>
            <a:off x="3619424"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çıkarım</a:t>
            </a:r>
            <a:endParaRPr lang="en-US" sz="1400" dirty="0"/>
          </a:p>
          <a:p>
            <a:pPr indent="0" marL="0">
              <a:buNone/>
            </a:pPr>
            <a:r>
              <a:rPr lang="en-US" sz="1500" dirty="0">
                <a:solidFill>
                  <a:schemeClr val="tx1"/>
                </a:solidFill>
              </a:rPr>
              <a:t>İşletme modeli baştan kurulur.</a:t>
            </a:r>
            <a:endParaRPr lang="en-US" sz="1400" dirty="0"/>
          </a:p>
        </p:txBody>
      </p:sp>
      <p:sp>
        <p:nvSpPr>
          <p:cNvPr id="18" name="Kart"/>
          <p:cNvSpPr/>
          <p:nvPr/>
        </p:nvSpPr>
        <p:spPr>
          <a:xfrm>
            <a:off x="6233008"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19" name="İkon zemini"/>
          <p:cNvSpPr/>
          <p:nvPr/>
        </p:nvSpPr>
        <p:spPr>
          <a:xfrm>
            <a:off x="6461608" y="1828800"/>
            <a:ext cx="566928" cy="566928"/>
          </a:xfrm>
          <a:prstGeom prst="ellipse">
            <a:avLst/>
          </a:prstGeom>
          <a:solidFill>
            <a:schemeClr val="accent2"/>
          </a:solidFill>
          <a:ln/>
        </p:spPr>
      </p:sp>
      <p:pic>
        <p:nvPicPr>
          <p:cNvPr id="20" name="İkon FaLeaf" descr="preencoded.png">    </p:cNvPr>
          <p:cNvPicPr>
            <a:picLocks noChangeAspect="1"/>
          </p:cNvPicPr>
          <p:nvPr/>
        </p:nvPicPr>
        <p:blipFill>
          <a:blip r:embed="rId3"/>
          <a:stretch>
            <a:fillRect/>
          </a:stretch>
        </p:blipFill>
        <p:spPr>
          <a:xfrm>
            <a:off x="6597670" y="1964863"/>
            <a:ext cx="294803" cy="294803"/>
          </a:xfrm>
          <a:prstGeom prst="rect">
            <a:avLst/>
          </a:prstGeom>
        </p:spPr>
      </p:pic>
      <p:sp>
        <p:nvSpPr>
          <p:cNvPr id="21" name="Text 16"/>
          <p:cNvSpPr txBox="1"/>
          <p:nvPr/>
        </p:nvSpPr>
        <p:spPr>
          <a:xfrm>
            <a:off x="6461608"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Bishan-AMK, Singapur · 2012</a:t>
            </a:r>
            <a:endParaRPr lang="en-US" sz="1300" dirty="0"/>
          </a:p>
        </p:txBody>
      </p:sp>
      <p:sp>
        <p:nvSpPr>
          <p:cNvPr id="22" name="Text 17"/>
          <p:cNvSpPr txBox="1"/>
          <p:nvPr/>
        </p:nvSpPr>
        <p:spPr>
          <a:xfrm>
            <a:off x="6461608"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Beton kanaldan nehir parkına</a:t>
            </a:r>
            <a:endParaRPr lang="en-US" sz="1700" dirty="0"/>
          </a:p>
        </p:txBody>
      </p:sp>
      <p:sp>
        <p:nvSpPr>
          <p:cNvPr id="23" name="Text 18"/>
          <p:cNvSpPr txBox="1"/>
          <p:nvPr/>
        </p:nvSpPr>
        <p:spPr>
          <a:xfrm>
            <a:off x="6461608"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2,7 km kanal 3 km doğal nehre dönüştü; 76 milyon SGD.</a:t>
            </a:r>
            <a:endParaRPr lang="en-US" sz="1500" dirty="0"/>
          </a:p>
        </p:txBody>
      </p:sp>
      <p:sp>
        <p:nvSpPr>
          <p:cNvPr id="24" name="Text 19"/>
          <p:cNvSpPr txBox="1"/>
          <p:nvPr/>
        </p:nvSpPr>
        <p:spPr>
          <a:xfrm>
            <a:off x="6461608"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çıkarım</a:t>
            </a:r>
            <a:endParaRPr lang="en-US" sz="1400" dirty="0"/>
          </a:p>
          <a:p>
            <a:pPr indent="0" marL="0">
              <a:buNone/>
            </a:pPr>
            <a:r>
              <a:rPr lang="en-US" sz="1500" dirty="0">
                <a:solidFill>
                  <a:schemeClr val="tx1"/>
                </a:solidFill>
              </a:rPr>
              <a:t>Su altyapısı aynı zamanda park olabilir.</a:t>
            </a:r>
            <a:endParaRPr lang="en-US" sz="1400" dirty="0"/>
          </a:p>
        </p:txBody>
      </p:sp>
      <p:sp>
        <p:nvSpPr>
          <p:cNvPr id="25" name="Kart"/>
          <p:cNvSpPr/>
          <p:nvPr/>
        </p:nvSpPr>
        <p:spPr>
          <a:xfrm>
            <a:off x="9075191" y="1600200"/>
            <a:ext cx="2567864" cy="4343400"/>
          </a:xfrm>
          <a:prstGeom prst="roundRect">
            <a:avLst>
              <a:gd name="adj" fmla="val 2849"/>
            </a:avLst>
          </a:prstGeom>
          <a:solidFill>
            <a:schemeClr val="bg1"/>
          </a:solidFill>
          <a:ln w="12700">
            <a:solidFill>
              <a:srgbClr val="9A5418"/>
            </a:solidFill>
            <a:prstDash val="solid"/>
          </a:ln>
          <a:effectLst>
            <a:outerShdw sx="100000" sy="100000" kx="0" ky="0" algn="bl" rotWithShape="0" blurRad="76200" dist="19050" dir="5400000">
              <a:srgbClr val="000000">
                <a:alpha val="12000"/>
              </a:srgbClr>
            </a:outerShdw>
          </a:effectLst>
        </p:spPr>
      </p:sp>
      <p:sp>
        <p:nvSpPr>
          <p:cNvPr id="26" name="İkon zemini"/>
          <p:cNvSpPr/>
          <p:nvPr/>
        </p:nvSpPr>
        <p:spPr>
          <a:xfrm>
            <a:off x="9303791" y="1828800"/>
            <a:ext cx="566928" cy="566928"/>
          </a:xfrm>
          <a:prstGeom prst="ellipse">
            <a:avLst/>
          </a:prstGeom>
          <a:solidFill>
            <a:schemeClr val="accent1"/>
          </a:solidFill>
          <a:ln/>
        </p:spPr>
      </p:sp>
      <p:pic>
        <p:nvPicPr>
          <p:cNvPr id="27" name="İkon FaLocationDot" descr="preencoded.png">    </p:cNvPr>
          <p:cNvPicPr>
            <a:picLocks noChangeAspect="1"/>
          </p:cNvPicPr>
          <p:nvPr/>
        </p:nvPicPr>
        <p:blipFill>
          <a:blip r:embed="rId4"/>
          <a:stretch>
            <a:fillRect/>
          </a:stretch>
        </p:blipFill>
        <p:spPr>
          <a:xfrm>
            <a:off x="9439854" y="1964863"/>
            <a:ext cx="294803" cy="294803"/>
          </a:xfrm>
          <a:prstGeom prst="rect">
            <a:avLst/>
          </a:prstGeom>
        </p:spPr>
      </p:pic>
      <p:sp>
        <p:nvSpPr>
          <p:cNvPr id="28" name="Text 22"/>
          <p:cNvSpPr txBox="1"/>
          <p:nvPr/>
        </p:nvSpPr>
        <p:spPr>
          <a:xfrm>
            <a:off x="9303791"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Göksu Parkı, Ankara · 2003</a:t>
            </a:r>
            <a:endParaRPr lang="en-US" sz="1300" dirty="0"/>
          </a:p>
        </p:txBody>
      </p:sp>
      <p:sp>
        <p:nvSpPr>
          <p:cNvPr id="29" name="Text 23"/>
          <p:cNvSpPr txBox="1"/>
          <p:nvPr/>
        </p:nvSpPr>
        <p:spPr>
          <a:xfrm>
            <a:off x="9303791"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Eryaman'ın göl parkı</a:t>
            </a:r>
            <a:endParaRPr lang="en-US" sz="1700" dirty="0"/>
          </a:p>
        </p:txBody>
      </p:sp>
      <p:sp>
        <p:nvSpPr>
          <p:cNvPr id="30" name="Text 24"/>
          <p:cNvSpPr txBox="1"/>
          <p:nvPr/>
        </p:nvSpPr>
        <p:spPr>
          <a:xfrm>
            <a:off x="9303791"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50,8 ha park, 12–14 ha gölet; 2021–22'de su kalitesi sorunu.</a:t>
            </a:r>
            <a:endParaRPr lang="en-US" sz="1500" dirty="0"/>
          </a:p>
        </p:txBody>
      </p:sp>
      <p:sp>
        <p:nvSpPr>
          <p:cNvPr id="31" name="Text 25"/>
          <p:cNvSpPr txBox="1"/>
          <p:nvPr/>
        </p:nvSpPr>
        <p:spPr>
          <a:xfrm>
            <a:off x="9303791"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çıkarım</a:t>
            </a:r>
            <a:endParaRPr lang="en-US" sz="1400" dirty="0"/>
          </a:p>
          <a:p>
            <a:pPr indent="0" marL="0">
              <a:buNone/>
            </a:pPr>
            <a:r>
              <a:rPr lang="en-US" sz="1500" dirty="0">
                <a:solidFill>
                  <a:schemeClr val="tx1"/>
                </a:solidFill>
              </a:rPr>
              <a:t>Sirkülasyon, arıtma ve işletmeci ilk günden.</a:t>
            </a:r>
            <a:endParaRPr lang="en-US" sz="1400" dirty="0"/>
          </a:p>
        </p:txBody>
      </p:sp>
      <p:sp>
        <p:nvSpPr>
          <p:cNvPr id="32" name="Text 26"/>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araştırma notları 04 ve 07. Columbia gölleri 22–37 acre. Bishan ziyaretçi sayısı (yılda 6 milyonu aşkın) kurum beyanıdır.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ULAŞIM VE TRAFİK</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Ulaşım: sanayi bölgelerine 35 dakika hedefi</a:t>
            </a:r>
            <a:endParaRPr lang="en-US" sz="3600" dirty="0"/>
          </a:p>
        </p:txBody>
      </p:sp>
      <p:sp>
        <p:nvSpPr>
          <p:cNvPr id="4" name="Ekspres hat"/>
          <p:cNvSpPr/>
          <p:nvPr/>
        </p:nvSpPr>
        <p:spPr>
          <a:xfrm>
            <a:off x="868680" y="2331720"/>
            <a:ext cx="5943600" cy="0"/>
          </a:xfrm>
          <a:prstGeom prst="line">
            <a:avLst/>
          </a:prstGeom>
          <a:noFill/>
          <a:ln w="76200">
            <a:solidFill>
              <a:schemeClr val="tx2"/>
            </a:solidFill>
            <a:prstDash val="solid"/>
          </a:ln>
        </p:spPr>
      </p:sp>
      <p:sp>
        <p:nvSpPr>
          <p:cNvPr id="5" name="Durak Uydukent"/>
          <p:cNvSpPr/>
          <p:nvPr/>
        </p:nvSpPr>
        <p:spPr>
          <a:xfrm>
            <a:off x="685800" y="2148840"/>
            <a:ext cx="365760" cy="365760"/>
          </a:xfrm>
          <a:prstGeom prst="ellipse">
            <a:avLst/>
          </a:prstGeom>
          <a:solidFill>
            <a:schemeClr val="accent1"/>
          </a:solidFill>
          <a:ln w="38100">
            <a:solidFill>
              <a:schemeClr val="tx2"/>
            </a:solidFill>
            <a:prstDash val="solid"/>
          </a:ln>
        </p:spPr>
      </p:sp>
      <p:sp>
        <p:nvSpPr>
          <p:cNvPr id="6" name="Text 4"/>
          <p:cNvSpPr txBox="1"/>
          <p:nvPr/>
        </p:nvSpPr>
        <p:spPr>
          <a:xfrm>
            <a:off x="-45720" y="2606040"/>
            <a:ext cx="1828800" cy="320040"/>
          </a:xfrm>
          <a:prstGeom prst="rect">
            <a:avLst/>
          </a:prstGeom>
          <a:noFill/>
          <a:ln/>
        </p:spPr>
        <p:txBody>
          <a:bodyPr wrap="square" lIns="0" tIns="0" rIns="0" bIns="0" rtlCol="0" anchor="t"/>
          <a:lstStyle/>
          <a:p>
            <a:pPr algn="ctr" indent="0" marL="0">
              <a:buNone/>
            </a:pPr>
            <a:r>
              <a:rPr lang="en-US" sz="1400" b="1" dirty="0">
                <a:solidFill>
                  <a:schemeClr val="tx2"/>
                </a:solidFill>
              </a:rPr>
              <a:t>Uydukent</a:t>
            </a:r>
            <a:endParaRPr lang="en-US" sz="1400" dirty="0"/>
          </a:p>
        </p:txBody>
      </p:sp>
      <p:sp>
        <p:nvSpPr>
          <p:cNvPr id="7" name="Durak Kınık sanayi alanı"/>
          <p:cNvSpPr/>
          <p:nvPr/>
        </p:nvSpPr>
        <p:spPr>
          <a:xfrm>
            <a:off x="3703320" y="2148840"/>
            <a:ext cx="365760" cy="365760"/>
          </a:xfrm>
          <a:prstGeom prst="ellipse">
            <a:avLst/>
          </a:prstGeom>
          <a:solidFill>
            <a:schemeClr val="bg1"/>
          </a:solidFill>
          <a:ln w="38100">
            <a:solidFill>
              <a:schemeClr val="tx2"/>
            </a:solidFill>
            <a:prstDash val="solid"/>
          </a:ln>
        </p:spPr>
      </p:sp>
      <p:sp>
        <p:nvSpPr>
          <p:cNvPr id="8" name="Text 6"/>
          <p:cNvSpPr txBox="1"/>
          <p:nvPr/>
        </p:nvSpPr>
        <p:spPr>
          <a:xfrm>
            <a:off x="2971800" y="2606040"/>
            <a:ext cx="1828800" cy="320040"/>
          </a:xfrm>
          <a:prstGeom prst="rect">
            <a:avLst/>
          </a:prstGeom>
          <a:noFill/>
          <a:ln/>
        </p:spPr>
        <p:txBody>
          <a:bodyPr wrap="square" lIns="0" tIns="0" rIns="0" bIns="0" rtlCol="0" anchor="t"/>
          <a:lstStyle/>
          <a:p>
            <a:pPr algn="ctr" indent="0" marL="0">
              <a:buNone/>
            </a:pPr>
            <a:r>
              <a:rPr lang="en-US" sz="1400" dirty="0">
                <a:solidFill>
                  <a:schemeClr val="tx1"/>
                </a:solidFill>
              </a:rPr>
              <a:t>Kınık sanayi alanı</a:t>
            </a:r>
            <a:endParaRPr lang="en-US" sz="1400" dirty="0"/>
          </a:p>
        </p:txBody>
      </p:sp>
      <p:sp>
        <p:nvSpPr>
          <p:cNvPr id="9" name="Durak HAB / Kışla"/>
          <p:cNvSpPr/>
          <p:nvPr/>
        </p:nvSpPr>
        <p:spPr>
          <a:xfrm>
            <a:off x="6629400" y="2148840"/>
            <a:ext cx="365760" cy="365760"/>
          </a:xfrm>
          <a:prstGeom prst="ellipse">
            <a:avLst/>
          </a:prstGeom>
          <a:solidFill>
            <a:schemeClr val="accent1"/>
          </a:solidFill>
          <a:ln w="38100">
            <a:solidFill>
              <a:schemeClr val="tx2"/>
            </a:solidFill>
            <a:prstDash val="solid"/>
          </a:ln>
        </p:spPr>
      </p:sp>
      <p:sp>
        <p:nvSpPr>
          <p:cNvPr id="10" name="Text 8"/>
          <p:cNvSpPr txBox="1"/>
          <p:nvPr/>
        </p:nvSpPr>
        <p:spPr>
          <a:xfrm>
            <a:off x="5897880" y="2606040"/>
            <a:ext cx="1828800" cy="320040"/>
          </a:xfrm>
          <a:prstGeom prst="rect">
            <a:avLst/>
          </a:prstGeom>
          <a:noFill/>
          <a:ln/>
        </p:spPr>
        <p:txBody>
          <a:bodyPr wrap="square" lIns="0" tIns="0" rIns="0" bIns="0" rtlCol="0" anchor="t"/>
          <a:lstStyle/>
          <a:p>
            <a:pPr algn="ctr" indent="0" marL="0">
              <a:buNone/>
            </a:pPr>
            <a:r>
              <a:rPr lang="en-US" sz="1400" b="1" dirty="0">
                <a:solidFill>
                  <a:schemeClr val="tx2"/>
                </a:solidFill>
              </a:rPr>
              <a:t>HAB / Kışla</a:t>
            </a:r>
            <a:endParaRPr lang="en-US" sz="1400" dirty="0"/>
          </a:p>
        </p:txBody>
      </p:sp>
      <p:sp>
        <p:nvSpPr>
          <p:cNvPr id="11" name="Text 9"/>
          <p:cNvSpPr txBox="1"/>
          <p:nvPr/>
        </p:nvSpPr>
        <p:spPr>
          <a:xfrm>
            <a:off x="1920240" y="1874520"/>
            <a:ext cx="914400" cy="274320"/>
          </a:xfrm>
          <a:prstGeom prst="rect">
            <a:avLst/>
          </a:prstGeom>
          <a:noFill/>
          <a:ln/>
        </p:spPr>
        <p:txBody>
          <a:bodyPr wrap="square" lIns="0" tIns="0" rIns="0" bIns="0" rtlCol="0" anchor="t"/>
          <a:lstStyle/>
          <a:p>
            <a:pPr algn="ctr" indent="0" marL="0">
              <a:buNone/>
            </a:pPr>
            <a:r>
              <a:rPr lang="en-US" sz="1300" b="1" dirty="0">
                <a:solidFill>
                  <a:schemeClr val="accent1"/>
                </a:solidFill>
              </a:rPr>
              <a:t>11 km</a:t>
            </a:r>
            <a:endParaRPr lang="en-US" sz="1300" dirty="0"/>
          </a:p>
        </p:txBody>
      </p:sp>
      <p:sp>
        <p:nvSpPr>
          <p:cNvPr id="12" name="Text 10"/>
          <p:cNvSpPr txBox="1"/>
          <p:nvPr/>
        </p:nvSpPr>
        <p:spPr>
          <a:xfrm>
            <a:off x="4892040" y="1874520"/>
            <a:ext cx="914400" cy="274320"/>
          </a:xfrm>
          <a:prstGeom prst="rect">
            <a:avLst/>
          </a:prstGeom>
          <a:noFill/>
          <a:ln/>
        </p:spPr>
        <p:txBody>
          <a:bodyPr wrap="square" lIns="0" tIns="0" rIns="0" bIns="0" rtlCol="0" anchor="t"/>
          <a:lstStyle/>
          <a:p>
            <a:pPr algn="ctr" indent="0" marL="0">
              <a:buNone/>
            </a:pPr>
            <a:r>
              <a:rPr lang="en-US" sz="1300" b="1" dirty="0">
                <a:solidFill>
                  <a:schemeClr val="accent1"/>
                </a:solidFill>
              </a:rPr>
              <a:t>8 km</a:t>
            </a:r>
            <a:endParaRPr lang="en-US" sz="1300" dirty="0"/>
          </a:p>
        </p:txBody>
      </p:sp>
      <p:sp>
        <p:nvSpPr>
          <p:cNvPr id="13" name="Text 11"/>
          <p:cNvSpPr txBox="1"/>
          <p:nvPr/>
        </p:nvSpPr>
        <p:spPr>
          <a:xfrm>
            <a:off x="548640" y="1600200"/>
            <a:ext cx="6766560" cy="320040"/>
          </a:xfrm>
          <a:prstGeom prst="rect">
            <a:avLst/>
          </a:prstGeom>
          <a:noFill/>
          <a:ln/>
        </p:spPr>
        <p:txBody>
          <a:bodyPr wrap="square" lIns="0" tIns="0" rIns="0" bIns="0" rtlCol="0" anchor="t"/>
          <a:lstStyle/>
          <a:p>
            <a:pPr indent="0" marL="0">
              <a:buNone/>
            </a:pPr>
            <a:r>
              <a:rPr lang="en-US" sz="1500" b="1" dirty="0">
                <a:solidFill>
                  <a:schemeClr val="tx2"/>
                </a:solidFill>
              </a:rPr>
              <a:t>Uydukent Ekspres · ~19 km · hedef kapıdan kapıya 35 dk'nın altı</a:t>
            </a:r>
            <a:endParaRPr lang="en-US" sz="1500" dirty="0"/>
          </a:p>
        </p:txBody>
      </p:sp>
      <p:sp>
        <p:nvSpPr>
          <p:cNvPr id="14" name="Kart"/>
          <p:cNvSpPr/>
          <p:nvPr/>
        </p:nvSpPr>
        <p:spPr>
          <a:xfrm>
            <a:off x="548640" y="3429000"/>
            <a:ext cx="2103120" cy="1828800"/>
          </a:xfrm>
          <a:prstGeom prst="roundRect">
            <a:avLst>
              <a:gd name="adj" fmla="val 4000"/>
            </a:avLst>
          </a:prstGeom>
          <a:solidFill>
            <a:schemeClr val="bg1"/>
          </a:solidFill>
          <a:ln/>
          <a:effectLst>
            <a:outerShdw sx="100000" sy="100000" kx="0" ky="0" algn="bl" rotWithShape="0" blurRad="76200" dist="19050" dir="5400000">
              <a:srgbClr val="000000">
                <a:alpha val="12000"/>
              </a:srgbClr>
            </a:outerShdw>
          </a:effectLst>
        </p:spPr>
      </p:sp>
      <p:sp>
        <p:nvSpPr>
          <p:cNvPr id="15" name="Text 13"/>
          <p:cNvSpPr txBox="1"/>
          <p:nvPr/>
        </p:nvSpPr>
        <p:spPr>
          <a:xfrm>
            <a:off x="731520" y="3593592"/>
            <a:ext cx="1737360" cy="320040"/>
          </a:xfrm>
          <a:prstGeom prst="rect">
            <a:avLst/>
          </a:prstGeom>
          <a:noFill/>
          <a:ln/>
        </p:spPr>
        <p:txBody>
          <a:bodyPr wrap="square" lIns="0" tIns="0" rIns="0" bIns="0" rtlCol="0" anchor="t"/>
          <a:lstStyle/>
          <a:p>
            <a:pPr indent="0" marL="0">
              <a:buNone/>
            </a:pPr>
            <a:r>
              <a:rPr lang="en-US" sz="1700" b="1" dirty="0">
                <a:solidFill>
                  <a:schemeClr val="accent1"/>
                </a:solidFill>
              </a:rPr>
              <a:t>İlk gün</a:t>
            </a:r>
            <a:endParaRPr lang="en-US" sz="1700" dirty="0"/>
          </a:p>
        </p:txBody>
      </p:sp>
      <p:sp>
        <p:nvSpPr>
          <p:cNvPr id="16" name="Text 14"/>
          <p:cNvSpPr txBox="1"/>
          <p:nvPr/>
        </p:nvSpPr>
        <p:spPr>
          <a:xfrm>
            <a:off x="731520" y="3977640"/>
            <a:ext cx="1737360" cy="1234440"/>
          </a:xfrm>
          <a:prstGeom prst="rect">
            <a:avLst/>
          </a:prstGeom>
          <a:noFill/>
          <a:ln/>
        </p:spPr>
        <p:txBody>
          <a:bodyPr wrap="square" lIns="0" tIns="0" rIns="0" bIns="0" rtlCol="0" anchor="t"/>
          <a:lstStyle/>
          <a:p>
            <a:pPr indent="0" marL="0">
              <a:buNone/>
            </a:pPr>
            <a:r>
              <a:rPr lang="en-US" sz="1400" dirty="0">
                <a:solidFill>
                  <a:schemeClr val="tx1"/>
                </a:solidFill>
              </a:rPr>
              <a:t>Mesaiye bağlı elektrikli ekspres otobüs; garantili koltuk, sabit sefer süresi</a:t>
            </a:r>
            <a:endParaRPr lang="en-US" sz="1400" dirty="0"/>
          </a:p>
        </p:txBody>
      </p:sp>
      <p:sp>
        <p:nvSpPr>
          <p:cNvPr id="17" name="Kart"/>
          <p:cNvSpPr/>
          <p:nvPr/>
        </p:nvSpPr>
        <p:spPr>
          <a:xfrm>
            <a:off x="2880360" y="3429000"/>
            <a:ext cx="2103120" cy="1828800"/>
          </a:xfrm>
          <a:prstGeom prst="roundRect">
            <a:avLst>
              <a:gd name="adj" fmla="val 4000"/>
            </a:avLst>
          </a:prstGeom>
          <a:solidFill>
            <a:schemeClr val="bg1"/>
          </a:solidFill>
          <a:ln/>
          <a:effectLst>
            <a:outerShdw sx="100000" sy="100000" kx="0" ky="0" algn="bl" rotWithShape="0" blurRad="76200" dist="19050" dir="5400000">
              <a:srgbClr val="000000">
                <a:alpha val="12000"/>
              </a:srgbClr>
            </a:outerShdw>
          </a:effectLst>
        </p:spPr>
      </p:sp>
      <p:sp>
        <p:nvSpPr>
          <p:cNvPr id="18" name="Text 16"/>
          <p:cNvSpPr txBox="1"/>
          <p:nvPr/>
        </p:nvSpPr>
        <p:spPr>
          <a:xfrm>
            <a:off x="3063240" y="3593592"/>
            <a:ext cx="1737360" cy="320040"/>
          </a:xfrm>
          <a:prstGeom prst="rect">
            <a:avLst/>
          </a:prstGeom>
          <a:noFill/>
          <a:ln/>
        </p:spPr>
        <p:txBody>
          <a:bodyPr wrap="square" lIns="0" tIns="0" rIns="0" bIns="0" rtlCol="0" anchor="t"/>
          <a:lstStyle/>
          <a:p>
            <a:pPr indent="0" marL="0">
              <a:buNone/>
            </a:pPr>
            <a:r>
              <a:rPr lang="en-US" sz="1700" b="1" dirty="0">
                <a:solidFill>
                  <a:schemeClr val="accent1"/>
                </a:solidFill>
              </a:rPr>
              <a:t>3–6 yıl</a:t>
            </a:r>
            <a:endParaRPr lang="en-US" sz="1700" dirty="0"/>
          </a:p>
        </p:txBody>
      </p:sp>
      <p:sp>
        <p:nvSpPr>
          <p:cNvPr id="19" name="Text 17"/>
          <p:cNvSpPr txBox="1"/>
          <p:nvPr/>
        </p:nvSpPr>
        <p:spPr>
          <a:xfrm>
            <a:off x="3063240" y="3977640"/>
            <a:ext cx="1737360" cy="1234440"/>
          </a:xfrm>
          <a:prstGeom prst="rect">
            <a:avLst/>
          </a:prstGeom>
          <a:noFill/>
          <a:ln/>
        </p:spPr>
        <p:txBody>
          <a:bodyPr wrap="square" lIns="0" tIns="0" rIns="0" bIns="0" rtlCol="0" anchor="t"/>
          <a:lstStyle/>
          <a:p>
            <a:pPr indent="0" marL="0">
              <a:buNone/>
            </a:pPr>
            <a:r>
              <a:rPr lang="en-US" sz="1400" dirty="0">
                <a:solidFill>
                  <a:schemeClr val="tx1"/>
                </a:solidFill>
              </a:rPr>
              <a:t>Otobüs öncelikli koridor (BRT); koridor raylı sistem standardında ayrılır</a:t>
            </a:r>
            <a:endParaRPr lang="en-US" sz="1400" dirty="0"/>
          </a:p>
        </p:txBody>
      </p:sp>
      <p:sp>
        <p:nvSpPr>
          <p:cNvPr id="20" name="Kart"/>
          <p:cNvSpPr/>
          <p:nvPr/>
        </p:nvSpPr>
        <p:spPr>
          <a:xfrm>
            <a:off x="5212080" y="3429000"/>
            <a:ext cx="2103120" cy="1828800"/>
          </a:xfrm>
          <a:prstGeom prst="roundRect">
            <a:avLst>
              <a:gd name="adj" fmla="val 4000"/>
            </a:avLst>
          </a:prstGeom>
          <a:solidFill>
            <a:schemeClr val="bg1"/>
          </a:solidFill>
          <a:ln/>
          <a:effectLst>
            <a:outerShdw sx="100000" sy="100000" kx="0" ky="0" algn="bl" rotWithShape="0" blurRad="76200" dist="19050" dir="5400000">
              <a:srgbClr val="000000">
                <a:alpha val="12000"/>
              </a:srgbClr>
            </a:outerShdw>
          </a:effectLst>
        </p:spPr>
      </p:sp>
      <p:sp>
        <p:nvSpPr>
          <p:cNvPr id="21" name="Text 19"/>
          <p:cNvSpPr txBox="1"/>
          <p:nvPr/>
        </p:nvSpPr>
        <p:spPr>
          <a:xfrm>
            <a:off x="5394960" y="3593592"/>
            <a:ext cx="1737360" cy="320040"/>
          </a:xfrm>
          <a:prstGeom prst="rect">
            <a:avLst/>
          </a:prstGeom>
          <a:noFill/>
          <a:ln/>
        </p:spPr>
        <p:txBody>
          <a:bodyPr wrap="square" lIns="0" tIns="0" rIns="0" bIns="0" rtlCol="0" anchor="t"/>
          <a:lstStyle/>
          <a:p>
            <a:pPr indent="0" marL="0">
              <a:buNone/>
            </a:pPr>
            <a:r>
              <a:rPr lang="en-US" sz="1700" b="1" dirty="0">
                <a:solidFill>
                  <a:schemeClr val="accent1"/>
                </a:solidFill>
              </a:rPr>
              <a:t>6–12 yıl</a:t>
            </a:r>
            <a:endParaRPr lang="en-US" sz="1700" dirty="0"/>
          </a:p>
        </p:txBody>
      </p:sp>
      <p:sp>
        <p:nvSpPr>
          <p:cNvPr id="22" name="Text 20"/>
          <p:cNvSpPr txBox="1"/>
          <p:nvPr/>
        </p:nvSpPr>
        <p:spPr>
          <a:xfrm>
            <a:off x="5394960" y="3977640"/>
            <a:ext cx="1737360" cy="1234440"/>
          </a:xfrm>
          <a:prstGeom prst="rect">
            <a:avLst/>
          </a:prstGeom>
          <a:noFill/>
          <a:ln/>
        </p:spPr>
        <p:txBody>
          <a:bodyPr wrap="square" lIns="0" tIns="0" rIns="0" bIns="0" rtlCol="0" anchor="t"/>
          <a:lstStyle/>
          <a:p>
            <a:pPr indent="0" marL="0">
              <a:buNone/>
            </a:pPr>
            <a:r>
              <a:rPr lang="en-US" sz="1400" dirty="0">
                <a:solidFill>
                  <a:schemeClr val="tx1"/>
                </a:solidFill>
              </a:rPr>
              <a:t>Talep yeterse ekosistemde planlanan hafif raylı sisteme bağlantı</a:t>
            </a:r>
            <a:endParaRPr lang="en-US" sz="1400" dirty="0"/>
          </a:p>
        </p:txBody>
      </p:sp>
      <p:sp>
        <p:nvSpPr>
          <p:cNvPr id="23" name="Text 21"/>
          <p:cNvSpPr txBox="1"/>
          <p:nvPr/>
        </p:nvSpPr>
        <p:spPr>
          <a:xfrm>
            <a:off x="548640" y="5440680"/>
            <a:ext cx="6766560" cy="548640"/>
          </a:xfrm>
          <a:prstGeom prst="rect">
            <a:avLst/>
          </a:prstGeom>
          <a:noFill/>
          <a:ln/>
        </p:spPr>
        <p:txBody>
          <a:bodyPr wrap="square" lIns="0" tIns="0" rIns="0" bIns="0" rtlCol="0" anchor="t"/>
          <a:lstStyle/>
          <a:p>
            <a:pPr indent="0" marL="0">
              <a:buNone/>
            </a:pPr>
            <a:r>
              <a:rPr lang="en-US" sz="1400" b="1" dirty="0">
                <a:solidFill>
                  <a:schemeClr val="tx2"/>
                </a:solidFill>
              </a:rPr>
              <a:t>Tamamlayıcı hizmetler: </a:t>
            </a:r>
            <a:pPr indent="0" marL="0">
              <a:buNone/>
            </a:pPr>
            <a:r>
              <a:rPr lang="en-US" sz="1400" dirty="0">
                <a:solidFill>
                  <a:schemeClr val="tx1"/>
                </a:solidFill>
              </a:rPr>
              <a:t>Kahramankazan merkezine ring hat (8 km), Yenikent aktarması (Başkentray), mahalle içi çağrılı servis, kademeli mesai.</a:t>
            </a:r>
            <a:endParaRPr lang="en-US" sz="1400" dirty="0"/>
          </a:p>
        </p:txBody>
      </p:sp>
      <p:sp>
        <p:nvSpPr>
          <p:cNvPr id="24" name="Gösterge"/>
          <p:cNvSpPr/>
          <p:nvPr/>
        </p:nvSpPr>
        <p:spPr>
          <a:xfrm>
            <a:off x="7635240" y="1600200"/>
            <a:ext cx="1911096" cy="2057400"/>
          </a:xfrm>
          <a:prstGeom prst="roundRect">
            <a:avLst>
              <a:gd name="adj" fmla="val 3828"/>
            </a:avLst>
          </a:prstGeom>
          <a:solidFill>
            <a:schemeClr val="bg1"/>
          </a:solidFill>
          <a:ln/>
          <a:effectLst>
            <a:outerShdw sx="100000" sy="100000" kx="0" ky="0" algn="bl" rotWithShape="0" blurRad="76200" dist="19050" dir="5400000">
              <a:srgbClr val="000000">
                <a:alpha val="12000"/>
              </a:srgbClr>
            </a:outerShdw>
          </a:effectLst>
        </p:spPr>
      </p:sp>
      <p:sp>
        <p:nvSpPr>
          <p:cNvPr id="25" name="Text 23"/>
          <p:cNvSpPr txBox="1"/>
          <p:nvPr/>
        </p:nvSpPr>
        <p:spPr>
          <a:xfrm>
            <a:off x="7818120" y="1728216"/>
            <a:ext cx="1545336" cy="1028700"/>
          </a:xfrm>
          <a:prstGeom prst="rect">
            <a:avLst/>
          </a:prstGeom>
          <a:noFill/>
          <a:ln/>
        </p:spPr>
        <p:txBody>
          <a:bodyPr wrap="square" lIns="0" tIns="0" rIns="0" bIns="0" rtlCol="0" anchor="b"/>
          <a:lstStyle/>
          <a:p>
            <a:pPr indent="0" marL="0">
              <a:buNone/>
            </a:pPr>
            <a:r>
              <a:rPr lang="en-US" sz="3200" b="1" dirty="0">
                <a:solidFill>
                  <a:schemeClr val="tx2"/>
                </a:solidFill>
                <a:latin typeface="Cambria" pitchFamily="34" charset="0"/>
                <a:ea typeface="Cambria" pitchFamily="34" charset="-122"/>
                <a:cs typeface="Cambria" pitchFamily="34" charset="-120"/>
              </a:rPr>
              <a:t>13</a:t>
            </a:r>
            <a:endParaRPr lang="en-US" sz="3200" dirty="0"/>
          </a:p>
        </p:txBody>
      </p:sp>
      <p:sp>
        <p:nvSpPr>
          <p:cNvPr id="26" name="Text 24"/>
          <p:cNvSpPr txBox="1"/>
          <p:nvPr/>
        </p:nvSpPr>
        <p:spPr>
          <a:xfrm>
            <a:off x="7818120" y="2775204"/>
            <a:ext cx="1545336" cy="790956"/>
          </a:xfrm>
          <a:prstGeom prst="rect">
            <a:avLst/>
          </a:prstGeom>
          <a:noFill/>
          <a:ln/>
        </p:spPr>
        <p:txBody>
          <a:bodyPr wrap="square" lIns="0" tIns="0" rIns="0" bIns="0" rtlCol="0" anchor="t"/>
          <a:lstStyle/>
          <a:p>
            <a:pPr indent="0" marL="0">
              <a:buNone/>
            </a:pPr>
            <a:r>
              <a:rPr lang="en-US" sz="1400" dirty="0">
                <a:solidFill>
                  <a:schemeClr val="tx1"/>
                </a:solidFill>
              </a:rPr>
              <a:t>elektrikli otobüs, %15 yedekli</a:t>
            </a:r>
            <a:endParaRPr lang="en-US" sz="1400" dirty="0"/>
          </a:p>
        </p:txBody>
      </p:sp>
      <p:sp>
        <p:nvSpPr>
          <p:cNvPr id="27" name="Gösterge"/>
          <p:cNvSpPr/>
          <p:nvPr/>
        </p:nvSpPr>
        <p:spPr>
          <a:xfrm>
            <a:off x="9729216" y="1600200"/>
            <a:ext cx="1911096" cy="2057400"/>
          </a:xfrm>
          <a:prstGeom prst="roundRect">
            <a:avLst>
              <a:gd name="adj" fmla="val 3828"/>
            </a:avLst>
          </a:prstGeom>
          <a:solidFill>
            <a:schemeClr val="bg1"/>
          </a:solidFill>
          <a:ln/>
          <a:effectLst>
            <a:outerShdw sx="100000" sy="100000" kx="0" ky="0" algn="bl" rotWithShape="0" blurRad="76200" dist="19050" dir="5400000">
              <a:srgbClr val="000000">
                <a:alpha val="12000"/>
              </a:srgbClr>
            </a:outerShdw>
          </a:effectLst>
        </p:spPr>
      </p:sp>
      <p:sp>
        <p:nvSpPr>
          <p:cNvPr id="28" name="Text 26"/>
          <p:cNvSpPr txBox="1"/>
          <p:nvPr/>
        </p:nvSpPr>
        <p:spPr>
          <a:xfrm>
            <a:off x="9912096" y="1728216"/>
            <a:ext cx="1545336" cy="1028700"/>
          </a:xfrm>
          <a:prstGeom prst="rect">
            <a:avLst/>
          </a:prstGeom>
          <a:noFill/>
          <a:ln/>
        </p:spPr>
        <p:txBody>
          <a:bodyPr wrap="square" lIns="0" tIns="0" rIns="0" bIns="0" rtlCol="0" anchor="b"/>
          <a:lstStyle/>
          <a:p>
            <a:pPr indent="0" marL="0">
              <a:buNone/>
            </a:pPr>
            <a:r>
              <a:rPr lang="en-US" sz="3200" b="1" dirty="0">
                <a:solidFill>
                  <a:schemeClr val="tx2"/>
                </a:solidFill>
                <a:latin typeface="Cambria" pitchFamily="34" charset="0"/>
                <a:ea typeface="Cambria" pitchFamily="34" charset="-122"/>
                <a:cs typeface="Cambria" pitchFamily="34" charset="-120"/>
              </a:rPr>
              <a:t>~875</a:t>
            </a:r>
            <a:endParaRPr lang="en-US" sz="3200" dirty="0"/>
          </a:p>
        </p:txBody>
      </p:sp>
      <p:sp>
        <p:nvSpPr>
          <p:cNvPr id="29" name="Text 27"/>
          <p:cNvSpPr txBox="1"/>
          <p:nvPr/>
        </p:nvSpPr>
        <p:spPr>
          <a:xfrm>
            <a:off x="9912096" y="2775204"/>
            <a:ext cx="1545336" cy="790956"/>
          </a:xfrm>
          <a:prstGeom prst="rect">
            <a:avLst/>
          </a:prstGeom>
          <a:noFill/>
          <a:ln/>
        </p:spPr>
        <p:txBody>
          <a:bodyPr wrap="square" lIns="0" tIns="0" rIns="0" bIns="0" rtlCol="0" anchor="t"/>
          <a:lstStyle/>
          <a:p>
            <a:pPr indent="0" marL="0">
              <a:buNone/>
            </a:pPr>
            <a:r>
              <a:rPr lang="en-US" sz="1400" dirty="0">
                <a:solidFill>
                  <a:schemeClr val="tx1"/>
                </a:solidFill>
              </a:rPr>
              <a:t>sabah pikinde ekspres yolcusu</a:t>
            </a:r>
            <a:endParaRPr lang="en-US" sz="1400" dirty="0"/>
          </a:p>
        </p:txBody>
      </p:sp>
      <p:sp>
        <p:nvSpPr>
          <p:cNvPr id="30" name="Gösterge"/>
          <p:cNvSpPr/>
          <p:nvPr/>
        </p:nvSpPr>
        <p:spPr>
          <a:xfrm>
            <a:off x="7635240" y="3840480"/>
            <a:ext cx="1911096" cy="2057400"/>
          </a:xfrm>
          <a:prstGeom prst="roundRect">
            <a:avLst>
              <a:gd name="adj" fmla="val 3828"/>
            </a:avLst>
          </a:prstGeom>
          <a:solidFill>
            <a:schemeClr val="bg1"/>
          </a:solidFill>
          <a:ln/>
          <a:effectLst>
            <a:outerShdw sx="100000" sy="100000" kx="0" ky="0" algn="bl" rotWithShape="0" blurRad="76200" dist="19050" dir="5400000">
              <a:srgbClr val="000000">
                <a:alpha val="12000"/>
              </a:srgbClr>
            </a:outerShdw>
          </a:effectLst>
        </p:spPr>
      </p:sp>
      <p:sp>
        <p:nvSpPr>
          <p:cNvPr id="31" name="Text 29"/>
          <p:cNvSpPr txBox="1"/>
          <p:nvPr/>
        </p:nvSpPr>
        <p:spPr>
          <a:xfrm>
            <a:off x="7818120" y="3968496"/>
            <a:ext cx="1545336" cy="1028700"/>
          </a:xfrm>
          <a:prstGeom prst="rect">
            <a:avLst/>
          </a:prstGeom>
          <a:noFill/>
          <a:ln/>
        </p:spPr>
        <p:txBody>
          <a:bodyPr wrap="square" lIns="0" tIns="0" rIns="0" bIns="0" rtlCol="0" anchor="b"/>
          <a:lstStyle/>
          <a:p>
            <a:pPr indent="0" marL="0">
              <a:buNone/>
            </a:pPr>
            <a:r>
              <a:rPr lang="en-US" sz="3200" b="1" dirty="0">
                <a:solidFill>
                  <a:schemeClr val="tx2"/>
                </a:solidFill>
                <a:latin typeface="Cambria" pitchFamily="34" charset="0"/>
                <a:ea typeface="Cambria" pitchFamily="34" charset="-122"/>
                <a:cs typeface="Cambria" pitchFamily="34" charset="-120"/>
              </a:rPr>
              <a:t>~560</a:t>
            </a:r>
            <a:endParaRPr lang="en-US" sz="3200" dirty="0"/>
          </a:p>
        </p:txBody>
      </p:sp>
      <p:sp>
        <p:nvSpPr>
          <p:cNvPr id="32" name="Text 30"/>
          <p:cNvSpPr txBox="1"/>
          <p:nvPr/>
        </p:nvSpPr>
        <p:spPr>
          <a:xfrm>
            <a:off x="7818120" y="5015484"/>
            <a:ext cx="1545336" cy="790956"/>
          </a:xfrm>
          <a:prstGeom prst="rect">
            <a:avLst/>
          </a:prstGeom>
          <a:noFill/>
          <a:ln/>
        </p:spPr>
        <p:txBody>
          <a:bodyPr wrap="square" lIns="0" tIns="0" rIns="0" bIns="0" rtlCol="0" anchor="t"/>
          <a:lstStyle/>
          <a:p>
            <a:pPr indent="0" marL="0">
              <a:buNone/>
            </a:pPr>
            <a:r>
              <a:rPr lang="en-US" sz="1400" dirty="0">
                <a:solidFill>
                  <a:schemeClr val="tx1"/>
                </a:solidFill>
              </a:rPr>
              <a:t>otomobil, pikte koridordan çekilir</a:t>
            </a:r>
            <a:endParaRPr lang="en-US" sz="1400" dirty="0"/>
          </a:p>
        </p:txBody>
      </p:sp>
      <p:sp>
        <p:nvSpPr>
          <p:cNvPr id="33" name="Gösterge"/>
          <p:cNvSpPr/>
          <p:nvPr/>
        </p:nvSpPr>
        <p:spPr>
          <a:xfrm>
            <a:off x="9729216" y="3840480"/>
            <a:ext cx="1911096" cy="2057400"/>
          </a:xfrm>
          <a:prstGeom prst="roundRect">
            <a:avLst>
              <a:gd name="adj" fmla="val 3828"/>
            </a:avLst>
          </a:prstGeom>
          <a:solidFill>
            <a:schemeClr val="bg1"/>
          </a:solidFill>
          <a:ln/>
          <a:effectLst>
            <a:outerShdw sx="100000" sy="100000" kx="0" ky="0" algn="bl" rotWithShape="0" blurRad="76200" dist="19050" dir="5400000">
              <a:srgbClr val="000000">
                <a:alpha val="12000"/>
              </a:srgbClr>
            </a:outerShdw>
          </a:effectLst>
        </p:spPr>
      </p:sp>
      <p:sp>
        <p:nvSpPr>
          <p:cNvPr id="34" name="Text 32"/>
          <p:cNvSpPr txBox="1"/>
          <p:nvPr/>
        </p:nvSpPr>
        <p:spPr>
          <a:xfrm>
            <a:off x="9912096" y="3968496"/>
            <a:ext cx="1545336" cy="1028700"/>
          </a:xfrm>
          <a:prstGeom prst="rect">
            <a:avLst/>
          </a:prstGeom>
          <a:noFill/>
          <a:ln/>
        </p:spPr>
        <p:txBody>
          <a:bodyPr wrap="square" lIns="0" tIns="0" rIns="0" bIns="0" rtlCol="0" anchor="b"/>
          <a:lstStyle/>
          <a:p>
            <a:pPr indent="0" marL="0">
              <a:buNone/>
            </a:pPr>
            <a:r>
              <a:rPr lang="en-US" sz="3200" b="1" dirty="0">
                <a:solidFill>
                  <a:schemeClr val="tx2"/>
                </a:solidFill>
                <a:latin typeface="Cambria" pitchFamily="34" charset="0"/>
                <a:ea typeface="Cambria" pitchFamily="34" charset="-122"/>
                <a:cs typeface="Cambria" pitchFamily="34" charset="-120"/>
              </a:rPr>
              <a:t>374 t</a:t>
            </a:r>
            <a:endParaRPr lang="en-US" sz="3200" dirty="0"/>
          </a:p>
        </p:txBody>
      </p:sp>
      <p:sp>
        <p:nvSpPr>
          <p:cNvPr id="35" name="Text 33"/>
          <p:cNvSpPr txBox="1"/>
          <p:nvPr/>
        </p:nvSpPr>
        <p:spPr>
          <a:xfrm>
            <a:off x="9912096" y="5015484"/>
            <a:ext cx="1545336" cy="790956"/>
          </a:xfrm>
          <a:prstGeom prst="rect">
            <a:avLst/>
          </a:prstGeom>
          <a:noFill/>
          <a:ln/>
        </p:spPr>
        <p:txBody>
          <a:bodyPr wrap="square" lIns="0" tIns="0" rIns="0" bIns="0" rtlCol="0" anchor="t"/>
          <a:lstStyle/>
          <a:p>
            <a:pPr indent="0" marL="0">
              <a:buNone/>
            </a:pPr>
            <a:r>
              <a:rPr lang="en-US" sz="1400" dirty="0">
                <a:solidFill>
                  <a:schemeClr val="tx1"/>
                </a:solidFill>
              </a:rPr>
              <a:t>CO₂ yılda önlenir</a:t>
            </a:r>
            <a:endParaRPr lang="en-US" sz="1400" dirty="0"/>
          </a:p>
        </p:txBody>
      </p:sp>
      <p:sp>
        <p:nvSpPr>
          <p:cNvPr id="36" name="Text 34"/>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Varsayımlar: hane başına 1,4 çalışan; en az yarısı savunma ve havacılık kümesinde (1.750 kişi); ekspres payı %50; otobüs başına ~85 yolcu.</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ULAŞIM PROJELERİ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Ulaşım projeleri: altyapı ve araçlar</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240280"/>
                <a:gridCol w="3520440"/>
                <a:gridCol w="1600200"/>
                <a:gridCol w="2331720"/>
                <a:gridCol w="1401775"/>
              </a:tblGrid>
              <a:tr h="621792">
                <a:tc>
                  <a:txBody>
                    <a:bodyPr/>
                    <a:lstStyle/>
                    <a:p>
                      <a:pPr indent="0" marL="0">
                        <a:buNone/>
                      </a:pPr>
                      <a:r>
                        <a:rPr lang="en-US" sz="1300" b="1" dirty="0">
                          <a:solidFill>
                            <a:srgbClr val="FFFFFF"/>
                          </a:solidFill>
                        </a:rPr>
                        <a:t>Proje</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Kapsam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Yatırım (mn TL)</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Sorumlu (öneri)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Aşama</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621792">
                <a:tc>
                  <a:txBody>
                    <a:bodyPr/>
                    <a:lstStyle/>
                    <a:p>
                      <a:pPr indent="0" marL="0">
                        <a:buNone/>
                      </a:pPr>
                      <a:r>
                        <a:rPr lang="en-US" sz="1300" b="1" dirty="0">
                          <a:solidFill>
                            <a:srgbClr val="1B2430"/>
                          </a:solidFill>
                        </a:rPr>
                        <a:t>Uydukent Ekspres</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13 elektrikli otobüs (12 m) ve şarj deposu</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452 (385–524)</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Sanayi işverenleri, ABB EGO</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İlk gün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430"/>
                          </a:solidFill>
                        </a:rPr>
                        <a:t>Servis ve aktarma istasyonu</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Ana girişte peron, kapalı bekleme alanı ve duraklar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30 (20–45)</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Kahramankazan Belediyesi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İlk gün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430"/>
                          </a:solidFill>
                        </a:rPr>
                        <a:t>Otobüs öncelikli koridor (BRT)</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Uydukent–Kınık–HAB; raylı sistem standardında koridor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Hesaplanmadı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ABB, KGM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3–6 yıl</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430"/>
                          </a:solidFill>
                        </a:rPr>
                        <a:t>Hafif raylı sistem bağlantısı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Ekosistemde planlanan Kahramankazan–Kışla hattına bağlantı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Hesaplanmadı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ABB, Ulaştırma ve Altyapı Bak.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6–12 yıl</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430"/>
                          </a:solidFill>
                        </a:rPr>
                        <a:t>Kahramankazan ring hattı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İlçe merkezi, Devlet Hastanesi ve çarşıya 8 km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Hesaplanmadı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ABB EGO, Kahramankazan Bld.</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İlk gün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430"/>
                          </a:solidFill>
                        </a:rPr>
                        <a:t>Yenikent aktarması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Başkentray Yenikent ucundan sanayi bölgelerine servis</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Hesaplanmadı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TCDD, ABB EGO, işverenler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İlk gün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Yatırım değerleri 2026 TL, KDV hariç (hesap notu 10). Sorumlu kurumlar öneri niteliğindedir ve teyit edilecektir.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ULAŞIM PROJELERİ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Ulaşım projeleri: hizmet ve yönetim</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240280"/>
                <a:gridCol w="3520440"/>
                <a:gridCol w="1600200"/>
                <a:gridCol w="2331720"/>
                <a:gridCol w="1401775"/>
              </a:tblGrid>
              <a:tr h="621792">
                <a:tc>
                  <a:txBody>
                    <a:bodyPr/>
                    <a:lstStyle/>
                    <a:p>
                      <a:pPr indent="0" marL="0">
                        <a:buNone/>
                      </a:pPr>
                      <a:r>
                        <a:rPr lang="en-US" sz="1300" b="1" dirty="0">
                          <a:solidFill>
                            <a:srgbClr val="FFFFFF"/>
                          </a:solidFill>
                        </a:rPr>
                        <a:t>Proje</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Kapsam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Yatırım (mn TL)</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Sorumlu (öneri)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Aşama</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621792">
                <a:tc>
                  <a:txBody>
                    <a:bodyPr/>
                    <a:lstStyle/>
                    <a:p>
                      <a:pPr indent="0" marL="0">
                        <a:buNone/>
                      </a:pPr>
                      <a:r>
                        <a:rPr lang="en-US" sz="1300" b="1" dirty="0">
                          <a:solidFill>
                            <a:srgbClr val="1B2430"/>
                          </a:solidFill>
                        </a:rPr>
                        <a:t>Mahalle içi çağrılı servis</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Uygulamadan çağrılan küçük elektrikli araçlar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Hesaplanmadı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İşletmeci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İlk gün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430"/>
                          </a:solidFill>
                        </a:rPr>
                        <a:t>Bisiklet ve yaya ağı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Mahalleler, okullar ve göl arasında kesintisiz ağ</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Kentsel altyapı içinde</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Kahramankazan Belediyesi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İlk gün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430"/>
                          </a:solidFill>
                        </a:rPr>
                        <a:t>Akıllı durak ve sinyalizasyon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Otobüs önceliği, gerçek zamanlı durak ekranları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Akıllı şehir kalemi içinde</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ABB</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3–6 yıl</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430"/>
                          </a:solidFill>
                        </a:rPr>
                        <a:t>Ulaşım uygulaması (MaaS)</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Servis, EGO ve Başkentray tek uygulamada; koltuk rezervasyonu</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Akıllı şehir kalemi içinde</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İşletmeci, ABB EGO</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İlk gün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430"/>
                          </a:solidFill>
                        </a:rPr>
                        <a:t>Park yönetimi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Mahalle girişlerinde akıllı otopark; servis kullanımına teşvik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Hesaplanmadı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Kahramankazan Belediyesi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İlk gün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430"/>
                          </a:solidFill>
                        </a:rPr>
                        <a:t>Kademeli mesai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15–30 dakikalık kademeli ve esnek mesai düzeni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Yatırım gerektirmez</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Sanayi işverenleri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İlk gün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Yatırım değerleri 2026 TL, KDV hariç (hesap notu 10). Sorumlu kurumlar öneri niteliğindedir ve teyit edilecektir.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Servis ve aktarma istasyonu" descr="/home/user/sunum/araclar/sunum/assets/kavram_istasyon.jpg">    </p:cNvPr>
          <p:cNvPicPr>
            <a:picLocks noChangeAspect="1"/>
          </p:cNvPicPr>
          <p:nvPr/>
        </p:nvPicPr>
        <p:blipFill>
          <a:blip r:embed="rId1"/>
          <a:stretch>
            <a:fillRect/>
          </a:stretch>
        </p:blipFill>
        <p:spPr>
          <a:xfrm>
            <a:off x="0" y="0"/>
            <a:ext cx="12191695" cy="6858000"/>
          </a:xfrm>
          <a:prstGeom prst="rect">
            <a:avLst/>
          </a:prstGeom>
        </p:spPr>
      </p:pic>
      <p:sp>
        <p:nvSpPr>
          <p:cNvPr id="3" name="Başlık paneli"/>
          <p:cNvSpPr/>
          <p:nvPr/>
        </p:nvSpPr>
        <p:spPr>
          <a:xfrm>
            <a:off x="457200" y="4846320"/>
            <a:ext cx="7772400" cy="1600200"/>
          </a:xfrm>
          <a:prstGeom prst="roundRect">
            <a:avLst>
              <a:gd name="adj" fmla="val 4571"/>
            </a:avLst>
          </a:prstGeom>
          <a:solidFill>
            <a:schemeClr val="tx2">
              <a:alpha val="90000"/>
            </a:schemeClr>
          </a:solidFill>
          <a:ln/>
        </p:spPr>
      </p:sp>
      <p:sp>
        <p:nvSpPr>
          <p:cNvPr id="4" name="Text 0"/>
          <p:cNvSpPr/>
          <p:nvPr>
            <p:ph idx="100" type="body" hasCustomPrompt="1"/>
          </p:nvPr>
        </p:nvSpPr>
        <p:spPr>
          <a:xfrm>
            <a:off x="731520" y="5074920"/>
            <a:ext cx="7132320"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KAVRAMSAL GÖRÜNÜM · ULAŞIM</a:t>
            </a:r>
            <a:endParaRPr lang="en-US" sz="1200" dirty="0"/>
          </a:p>
        </p:txBody>
      </p:sp>
      <p:sp>
        <p:nvSpPr>
          <p:cNvPr id="5" name="Text 0"/>
          <p:cNvSpPr/>
          <p:nvPr>
            <p:ph idx="101" type="title" hasCustomPrompt="1"/>
          </p:nvPr>
        </p:nvSpPr>
        <p:spPr>
          <a:xfrm>
            <a:off x="731520" y="5349240"/>
            <a:ext cx="7223760" cy="548640"/>
          </a:xfrm>
          <a:prstGeom prst="rect">
            <a:avLst/>
          </a:prstGeom>
          <a:noFill/>
          <a:ln/>
        </p:spPr>
        <p:txBody>
          <a:bodyPr wrap="square" lIns="0" tIns="0" rIns="0" bIns="0" rtlCol="0" anchor="t"/>
          <a:lstStyle/>
          <a:p>
            <a:pPr algn="l" indent="0" marL="0">
              <a:buNone/>
            </a:pPr>
            <a:r>
              <a:rPr lang="en-US" sz="2600" b="1" dirty="0">
                <a:solidFill>
                  <a:schemeClr val="bg1"/>
                </a:solidFill>
              </a:rPr>
              <a:t>Servis ve aktarma istasyonu</a:t>
            </a:r>
            <a:endParaRPr lang="en-US" sz="2600" dirty="0"/>
          </a:p>
        </p:txBody>
      </p:sp>
      <p:sp>
        <p:nvSpPr>
          <p:cNvPr id="6" name="Text 3"/>
          <p:cNvSpPr txBox="1"/>
          <p:nvPr/>
        </p:nvSpPr>
        <p:spPr>
          <a:xfrm>
            <a:off x="731520" y="5943600"/>
            <a:ext cx="7315200" cy="320040"/>
          </a:xfrm>
          <a:prstGeom prst="rect">
            <a:avLst/>
          </a:prstGeom>
          <a:noFill/>
          <a:ln/>
        </p:spPr>
        <p:txBody>
          <a:bodyPr wrap="square" lIns="0" tIns="0" rIns="0" bIns="0" rtlCol="0" anchor="t"/>
          <a:lstStyle/>
          <a:p>
            <a:pPr indent="0" marL="0">
              <a:buNone/>
            </a:pPr>
            <a:r>
              <a:rPr lang="en-US" sz="1200" dirty="0">
                <a:solidFill>
                  <a:schemeClr val="bg2"/>
                </a:solidFill>
              </a:rPr>
              <a:t>Temsilî kavram görseli; güneş panelli peron örtüsü ve elektrikli ekspres otobüsler.</a:t>
            </a:r>
            <a:endParaRPr lang="en-US" sz="12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1"/>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ULAŞIM · ANKARA BAĞLANTILARI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Ankara ulaşım bağlantıları</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106436"/>
                <a:gridCol w="3993989"/>
                <a:gridCol w="3993989"/>
              </a:tblGrid>
              <a:tr h="457200">
                <a:tc>
                  <a:txBody>
                    <a:bodyPr/>
                    <a:lstStyle/>
                    <a:p>
                      <a:pPr indent="0" marL="0">
                        <a:buNone/>
                      </a:pPr>
                      <a:r>
                        <a:rPr lang="en-US" sz="1300" b="1" dirty="0">
                          <a:solidFill>
                            <a:srgbClr val="FFFFFF"/>
                          </a:solidFill>
                        </a:rPr>
                        <a:t>Bağlantı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Özellik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Durum (2026)</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457200">
                <a:tc>
                  <a:txBody>
                    <a:bodyPr/>
                    <a:lstStyle/>
                    <a:p>
                      <a:pPr indent="0" marL="0">
                        <a:buNone/>
                      </a:pPr>
                      <a:r>
                        <a:rPr lang="en-US" sz="1300" b="1" dirty="0">
                          <a:solidFill>
                            <a:srgbClr val="1B2430"/>
                          </a:solidFill>
                        </a:rPr>
                        <a:t>Başkentray (mevcut)</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36 km; Kayaş–Sincan, 24 istasyon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İşletmede; 2025'te 27,7 milyon yolcu</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Sincan OSB–Yenikent uzantısı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12 km, 3 istasyon, 120 km/s altyapı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%96,9 (Haziran 2026)</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Yenikent–Kazan Soda iltisakı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4.017 m; yalnızca yük taşıması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Yolcu hizmeti öngörülmüyor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Esenboğa metrosu</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36 km, 12 istasyon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İhale 30.06.2026 olarak duyuruldu</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Ankara–Kahramankazan yolu</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3 gidiş 3 geliş; 12 kavşak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Yol çalışmaları sürüyor (KGM)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EGO 556-1</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Sezenler–Kazan, 38 km, 45 dk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Günde birkaç sefer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EGO 502-2</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Kahramankazan–Eryaman 1-2 Metro</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Seyrek sefer (2022 duyurusu)</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AA ve Takvim (23.07.2026); UAB; DHA; Yeni Ankara (08.06.2026); AA/Mynet (2018); KGM bülteni (11.04.2026); EGO sefer sayfaları.</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ULAŞIM · TÜR KARŞILAŞTIRMASI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Ulaşım türleri: kapasite ve maliyet</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773604"/>
                <a:gridCol w="2773604"/>
                <a:gridCol w="2773604"/>
                <a:gridCol w="2773604"/>
              </a:tblGrid>
              <a:tr h="530352">
                <a:tc>
                  <a:txBody>
                    <a:bodyPr/>
                    <a:lstStyle/>
                    <a:p>
                      <a:pPr indent="0" marL="0">
                        <a:buNone/>
                      </a:pPr>
                      <a:r>
                        <a:rPr lang="en-US" sz="1400" b="1" dirty="0">
                          <a:solidFill>
                            <a:srgbClr val="FFFFFF"/>
                          </a:solidFill>
                        </a:rPr>
                        <a:t>Tür</a:t>
                      </a:r>
                      <a:endParaRPr lang="en-US" sz="14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Kapasite (yolcu/saat/yön)</a:t>
                      </a:r>
                      <a:endParaRPr lang="en-US" sz="14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Maliyet referansı</a:t>
                      </a:r>
                      <a:endParaRPr lang="en-US" sz="14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Uydukent için</a:t>
                      </a:r>
                      <a:endParaRPr lang="en-US" sz="14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530352">
                <a:tc>
                  <a:txBody>
                    <a:bodyPr/>
                    <a:lstStyle/>
                    <a:p>
                      <a:pPr indent="0" marL="0">
                        <a:buNone/>
                      </a:pPr>
                      <a:r>
                        <a:rPr lang="en-US" sz="1400" b="1" dirty="0">
                          <a:solidFill>
                            <a:srgbClr val="1B2430"/>
                          </a:solidFill>
                        </a:rPr>
                        <a:t>Servis ve e-otobüs</a:t>
                      </a:r>
                      <a:endParaRPr lang="en-US" sz="14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2.000'in altında otobüs tercih edilir</a:t>
                      </a:r>
                      <a:endParaRPr lang="en-US" sz="14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12 m e-otobüs 480–600 bin EUR/adet</a:t>
                      </a:r>
                      <a:endParaRPr lang="en-US" sz="14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İlk günden; 13 otobüs</a:t>
                      </a:r>
                      <a:endParaRPr lang="en-US" sz="14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Otobüs öncelikli koridor (BRT)</a:t>
                      </a:r>
                      <a:endParaRPr lang="en-US" sz="14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2.000–6.000; arterde ~10.000'e kadar</a:t>
                      </a:r>
                      <a:endParaRPr lang="en-US" sz="14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Türkiye km maliyeti bulunamadı</a:t>
                      </a:r>
                      <a:endParaRPr lang="en-US" sz="14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Aşama 1 koridoru</a:t>
                      </a:r>
                      <a:endParaRPr lang="en-US" sz="14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Tramvay</a:t>
                      </a:r>
                      <a:endParaRPr lang="en-US" sz="14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En az 7.000 (Kalkınma Planı eşiği)</a:t>
                      </a:r>
                      <a:endParaRPr lang="en-US" sz="14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≈0,82–2,0 milyar TL/km (2026)</a:t>
                      </a:r>
                      <a:endParaRPr lang="en-US" sz="14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Talep eşiğin altında</a:t>
                      </a:r>
                      <a:endParaRPr lang="en-US" sz="14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Hafif raylı sistem</a:t>
                      </a:r>
                      <a:endParaRPr lang="en-US" sz="14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En az 10.000 (Kalkınma Planı eşiği)</a:t>
                      </a:r>
                      <a:endParaRPr lang="en-US" sz="14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Kocaeli ≈2,4 milyar TL/km (plan)</a:t>
                      </a:r>
                      <a:endParaRPr lang="en-US" sz="14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Güzergâh rezervi</a:t>
                      </a:r>
                      <a:endParaRPr lang="en-US" sz="14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Metro</a:t>
                      </a:r>
                      <a:endParaRPr lang="en-US" sz="14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En az 15.000 (Kalkınma Planı eşiği)</a:t>
                      </a:r>
                      <a:endParaRPr lang="en-US" sz="14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Gebze–Darıca ≈7,8 milyar TL/km</a:t>
                      </a:r>
                      <a:endParaRPr lang="en-US" sz="14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Ölçeğin üzerinde</a:t>
                      </a:r>
                      <a:endParaRPr lang="en-US" sz="14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Çağrılı servis (DRT)</a:t>
                      </a:r>
                      <a:endParaRPr lang="en-US" sz="14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Besleyici, düşük yoğunluklu saatler</a:t>
                      </a:r>
                      <a:endParaRPr lang="en-US" sz="14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Yolcu başı maliyet sabit hattan yüksek</a:t>
                      </a:r>
                      <a:endParaRPr lang="en-US" sz="14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Mahalle içi besleyici</a:t>
                      </a:r>
                      <a:endParaRPr lang="en-US" sz="14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12. Kalkınma Planı m.885; Malta LRT 2008; FTA; İrlanda NTA; RayHaber 2026 (Konya, Trabzon); Ekonomim; Karar; Cornell; yatırım notu.</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ULAŞIM · VARDİYA VE AŞAMALAMA</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Ekspres hat maliyeti ve aşamalama</a:t>
            </a:r>
            <a:endParaRPr lang="en-US" sz="3600" dirty="0"/>
          </a:p>
        </p:txBody>
      </p:sp>
      <p:sp>
        <p:nvSpPr>
          <p:cNvPr id="4" name="Kart"/>
          <p:cNvSpPr/>
          <p:nvPr/>
        </p:nvSpPr>
        <p:spPr>
          <a:xfrm>
            <a:off x="548640" y="1600200"/>
            <a:ext cx="5410048" cy="4343400"/>
          </a:xfrm>
          <a:prstGeom prst="roundRect">
            <a:avLst>
              <a:gd name="adj" fmla="val 1684"/>
            </a:avLst>
          </a:prstGeom>
          <a:solidFill>
            <a:schemeClr val="bg1"/>
          </a:solidFill>
          <a:ln/>
          <a:effectLst>
            <a:outerShdw sx="100000" sy="100000" kx="0" ky="0" algn="bl" rotWithShape="0" blurRad="76200" dist="19050" dir="5400000">
              <a:srgbClr val="000000">
                <a:alpha val="12000"/>
              </a:srgbClr>
            </a:outerShdw>
          </a:effectLst>
        </p:spPr>
      </p:sp>
      <p:sp>
        <p:nvSpPr>
          <p:cNvPr id="5" name="Text 3"/>
          <p:cNvSpPr txBox="1"/>
          <p:nvPr/>
        </p:nvSpPr>
        <p:spPr>
          <a:xfrm>
            <a:off x="822960" y="1828800"/>
            <a:ext cx="4861408" cy="411480"/>
          </a:xfrm>
          <a:prstGeom prst="rect">
            <a:avLst/>
          </a:prstGeom>
          <a:noFill/>
          <a:ln/>
        </p:spPr>
        <p:txBody>
          <a:bodyPr wrap="square" lIns="0" tIns="0" rIns="0" bIns="0" rtlCol="0" anchor="t"/>
          <a:lstStyle/>
          <a:p>
            <a:pPr indent="0" marL="0">
              <a:buNone/>
            </a:pPr>
            <a:r>
              <a:rPr lang="en-US" sz="1800" b="1" dirty="0">
                <a:solidFill>
                  <a:schemeClr val="tx2"/>
                </a:solidFill>
              </a:rPr>
              <a:t>Elektrikli otobüs parametreleri</a:t>
            </a:r>
            <a:endParaRPr lang="en-US" sz="1800" dirty="0"/>
          </a:p>
        </p:txBody>
      </p:sp>
      <p:sp>
        <p:nvSpPr>
          <p:cNvPr id="6" name="Text 4"/>
          <p:cNvSpPr txBox="1"/>
          <p:nvPr/>
        </p:nvSpPr>
        <p:spPr>
          <a:xfrm>
            <a:off x="822960" y="2377440"/>
            <a:ext cx="4861408" cy="34290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12 m e-otobüs 480–600 bin EUR/adet; 53,7 TL/EUR ile ~26–32 milyon TL (KDV hariç, varsayım)</a:t>
            </a:r>
            <a:endParaRPr lang="en-US" sz="1500" dirty="0"/>
          </a:p>
          <a:p>
            <a:pPr marL="342900" indent="-342900">
              <a:spcAft>
                <a:spcPts val="600"/>
              </a:spcAft>
              <a:buSzPct val="100000"/>
              <a:buChar char="•"/>
            </a:pPr>
            <a:r>
              <a:rPr lang="en-US" sz="1500" dirty="0">
                <a:solidFill>
                  <a:schemeClr val="tx1"/>
                </a:solidFill>
              </a:rPr>
              <a:t>KDV %20 ile 31–39 milyon TL/adet; 18 m otobüs için ~1,4–1,6 kat (varsayım)</a:t>
            </a:r>
            <a:endParaRPr lang="en-US" sz="1500" dirty="0"/>
          </a:p>
          <a:p>
            <a:pPr marL="342900" indent="-342900">
              <a:spcAft>
                <a:spcPts val="600"/>
              </a:spcAft>
              <a:buSzPct val="100000"/>
              <a:buChar char="•"/>
            </a:pPr>
            <a:r>
              <a:rPr lang="en-US" sz="1500" dirty="0">
                <a:solidFill>
                  <a:schemeClr val="tx1"/>
                </a:solidFill>
              </a:rPr>
              <a:t>Yatırım hesabında depo ve şarj için filo bedeline %15–25 eklenmiştir (varsayım)</a:t>
            </a:r>
            <a:endParaRPr lang="en-US" sz="1500" dirty="0"/>
          </a:p>
          <a:p>
            <a:pPr marL="342900" indent="-342900">
              <a:spcAft>
                <a:spcPts val="600"/>
              </a:spcAft>
              <a:buSzPct val="100000"/>
              <a:buChar char="•"/>
            </a:pPr>
            <a:r>
              <a:rPr lang="en-US" sz="1500" dirty="0">
                <a:solidFill>
                  <a:schemeClr val="tx1"/>
                </a:solidFill>
              </a:rPr>
              <a:t>Tüketim 1,15 kWh/km (Hollanda, 2020); soğukta +%14, sıcakta +%9</a:t>
            </a:r>
            <a:endParaRPr lang="en-US" sz="1500" dirty="0"/>
          </a:p>
          <a:p>
            <a:pPr marL="342900" indent="-342900">
              <a:spcAft>
                <a:spcPts val="600"/>
              </a:spcAft>
              <a:buSzPct val="100000"/>
              <a:buChar char="•"/>
            </a:pPr>
            <a:r>
              <a:rPr lang="en-US" sz="1500" dirty="0">
                <a:solidFill>
                  <a:schemeClr val="tx1"/>
                </a:solidFill>
              </a:rPr>
              <a:t>Enerji maliyeti 10–25 TL/km; dizel otobüste 34–39 TL/km (varsayım)</a:t>
            </a:r>
            <a:endParaRPr lang="en-US" sz="1500" dirty="0"/>
          </a:p>
        </p:txBody>
      </p:sp>
      <p:sp>
        <p:nvSpPr>
          <p:cNvPr id="7" name="Kart"/>
          <p:cNvSpPr/>
          <p:nvPr/>
        </p:nvSpPr>
        <p:spPr>
          <a:xfrm>
            <a:off x="6233008" y="1600200"/>
            <a:ext cx="5410048" cy="4343400"/>
          </a:xfrm>
          <a:prstGeom prst="roundRect">
            <a:avLst>
              <a:gd name="adj" fmla="val 1684"/>
            </a:avLst>
          </a:prstGeom>
          <a:solidFill>
            <a:schemeClr val="bg1"/>
          </a:solidFill>
          <a:ln/>
          <a:effectLst>
            <a:outerShdw sx="100000" sy="100000" kx="0" ky="0" algn="bl" rotWithShape="0" blurRad="76200" dist="19050" dir="5400000">
              <a:srgbClr val="000000">
                <a:alpha val="12000"/>
              </a:srgbClr>
            </a:outerShdw>
          </a:effectLst>
        </p:spPr>
      </p:sp>
      <p:sp>
        <p:nvSpPr>
          <p:cNvPr id="8" name="Text 6"/>
          <p:cNvSpPr txBox="1"/>
          <p:nvPr/>
        </p:nvSpPr>
        <p:spPr>
          <a:xfrm>
            <a:off x="6507328" y="1828800"/>
            <a:ext cx="4861408" cy="411480"/>
          </a:xfrm>
          <a:prstGeom prst="rect">
            <a:avLst/>
          </a:prstGeom>
          <a:noFill/>
          <a:ln/>
        </p:spPr>
        <p:txBody>
          <a:bodyPr wrap="square" lIns="0" tIns="0" rIns="0" bIns="0" rtlCol="0" anchor="t"/>
          <a:lstStyle/>
          <a:p>
            <a:pPr indent="0" marL="0">
              <a:buNone/>
            </a:pPr>
            <a:r>
              <a:rPr lang="en-US" sz="1800" b="1" dirty="0">
                <a:solidFill>
                  <a:schemeClr val="accent1"/>
                </a:solidFill>
              </a:rPr>
              <a:t>Vardiya ve aşamalı geçiş</a:t>
            </a:r>
            <a:endParaRPr lang="en-US" sz="1800" dirty="0"/>
          </a:p>
        </p:txBody>
      </p:sp>
      <p:sp>
        <p:nvSpPr>
          <p:cNvPr id="9" name="Text 7"/>
          <p:cNvSpPr txBox="1"/>
          <p:nvPr/>
        </p:nvSpPr>
        <p:spPr>
          <a:xfrm>
            <a:off x="6507328" y="2377440"/>
            <a:ext cx="4861408" cy="34290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Aşama 0, ilk konut teslimi: 13 elektrikli ekspres otobüs ve şarj deposu; 385–524 milyon TL</a:t>
            </a:r>
            <a:endParaRPr lang="en-US" sz="1500" dirty="0"/>
          </a:p>
          <a:p>
            <a:pPr marL="342900" indent="-342900">
              <a:spcAft>
                <a:spcPts val="600"/>
              </a:spcAft>
              <a:buSzPct val="100000"/>
              <a:buChar char="•"/>
            </a:pPr>
            <a:r>
              <a:rPr lang="en-US" sz="1500" dirty="0">
                <a:solidFill>
                  <a:schemeClr val="tx1"/>
                </a:solidFill>
              </a:rPr>
              <a:t>Servis ve aktarma istasyonu ile duraklar için 20–45 milyon TL (varsayım)</a:t>
            </a:r>
            <a:endParaRPr lang="en-US" sz="1500" dirty="0"/>
          </a:p>
          <a:p>
            <a:pPr marL="342900" indent="-342900">
              <a:spcAft>
                <a:spcPts val="600"/>
              </a:spcAft>
              <a:buSzPct val="100000"/>
              <a:buChar char="•"/>
            </a:pPr>
            <a:r>
              <a:rPr lang="en-US" sz="1500" dirty="0">
                <a:solidFill>
                  <a:schemeClr val="tx1"/>
                </a:solidFill>
              </a:rPr>
              <a:t>Aşama 1, 3–6 yıl: otobüs öncelikli koridor; eksen ve istasyon aralığı raylı standardında</a:t>
            </a:r>
            <a:endParaRPr lang="en-US" sz="1500" dirty="0"/>
          </a:p>
          <a:p>
            <a:pPr marL="342900" indent="-342900">
              <a:spcAft>
                <a:spcPts val="600"/>
              </a:spcAft>
              <a:buSzPct val="100000"/>
              <a:buChar char="•"/>
            </a:pPr>
            <a:r>
              <a:rPr lang="en-US" sz="1500" dirty="0">
                <a:solidFill>
                  <a:schemeClr val="tx1"/>
                </a:solidFill>
              </a:rPr>
              <a:t>Kademeli mesai (15–30 dk) pik talebi düşürebilir; etki büyüklüğüne ilişkin kaynak yoktur</a:t>
            </a:r>
            <a:endParaRPr lang="en-US" sz="1500" dirty="0"/>
          </a:p>
          <a:p>
            <a:pPr marL="342900" indent="-342900">
              <a:spcAft>
                <a:spcPts val="600"/>
              </a:spcAft>
              <a:buSzPct val="100000"/>
              <a:buChar char="•"/>
            </a:pPr>
            <a:r>
              <a:rPr lang="en-US" sz="1500" dirty="0">
                <a:solidFill>
                  <a:schemeClr val="tx1"/>
                </a:solidFill>
              </a:rPr>
              <a:t>Başkentray emsali: mevcut TCDD koridoru 18 ay kapatılarak yeniden yapılmıştır</a:t>
            </a:r>
            <a:endParaRPr lang="en-US" sz="1500" dirty="0"/>
          </a:p>
        </p:txBody>
      </p:sp>
      <p:sp>
        <p:nvSpPr>
          <p:cNvPr id="10" name="Text 8"/>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Karsan KAP 2024; İş Yatırım 2022 analist raporu; ViriCiti/Sustainable Bus 2020; yatırım notu hesapları; Wikipedia (Başkentray).</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AKILLI ŞEHİR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Akıllı şehir ve veri güvenliği</a:t>
            </a:r>
            <a:endParaRPr lang="en-US" sz="3600" dirty="0"/>
          </a:p>
        </p:txBody>
      </p:sp>
      <p:sp>
        <p:nvSpPr>
          <p:cNvPr id="4" name="Kart"/>
          <p:cNvSpPr/>
          <p:nvPr/>
        </p:nvSpPr>
        <p:spPr>
          <a:xfrm>
            <a:off x="548640" y="160020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31520" y="1801368"/>
            <a:ext cx="548640" cy="548640"/>
          </a:xfrm>
          <a:prstGeom prst="ellipse">
            <a:avLst/>
          </a:prstGeom>
          <a:solidFill>
            <a:schemeClr val="tx2"/>
          </a:solidFill>
          <a:ln/>
        </p:spPr>
      </p:sp>
      <p:pic>
        <p:nvPicPr>
          <p:cNvPr id="6" name="İkon FaMobileScreen" descr="preencoded.png">    </p:cNvPr>
          <p:cNvPicPr>
            <a:picLocks noChangeAspect="1"/>
          </p:cNvPicPr>
          <p:nvPr/>
        </p:nvPicPr>
        <p:blipFill>
          <a:blip r:embed="rId1"/>
          <a:stretch>
            <a:fillRect/>
          </a:stretch>
        </p:blipFill>
        <p:spPr>
          <a:xfrm>
            <a:off x="863194" y="1933042"/>
            <a:ext cx="285293" cy="285293"/>
          </a:xfrm>
          <a:prstGeom prst="rect">
            <a:avLst/>
          </a:prstGeom>
        </p:spPr>
      </p:pic>
      <p:sp>
        <p:nvSpPr>
          <p:cNvPr id="7" name="Text 4"/>
          <p:cNvSpPr txBox="1"/>
          <p:nvPr/>
        </p:nvSpPr>
        <p:spPr>
          <a:xfrm>
            <a:off x="1417320" y="1764792"/>
            <a:ext cx="2514600" cy="320040"/>
          </a:xfrm>
          <a:prstGeom prst="rect">
            <a:avLst/>
          </a:prstGeom>
          <a:noFill/>
          <a:ln/>
        </p:spPr>
        <p:txBody>
          <a:bodyPr wrap="square" lIns="0" tIns="0" rIns="0" bIns="0" rtlCol="0" anchor="t"/>
          <a:lstStyle/>
          <a:p>
            <a:pPr indent="0" marL="0">
              <a:buNone/>
            </a:pPr>
            <a:r>
              <a:rPr lang="en-US" sz="1500" b="1" dirty="0">
                <a:solidFill>
                  <a:schemeClr val="tx2"/>
                </a:solidFill>
              </a:rPr>
              <a:t>Ulaşım uygulaması</a:t>
            </a:r>
            <a:endParaRPr lang="en-US" sz="1500" dirty="0"/>
          </a:p>
        </p:txBody>
      </p:sp>
      <p:sp>
        <p:nvSpPr>
          <p:cNvPr id="8" name="Text 5"/>
          <p:cNvSpPr txBox="1"/>
          <p:nvPr/>
        </p:nvSpPr>
        <p:spPr>
          <a:xfrm>
            <a:off x="1417320" y="2103120"/>
            <a:ext cx="2514600" cy="777240"/>
          </a:xfrm>
          <a:prstGeom prst="rect">
            <a:avLst/>
          </a:prstGeom>
          <a:noFill/>
          <a:ln/>
        </p:spPr>
        <p:txBody>
          <a:bodyPr wrap="square" lIns="0" tIns="0" rIns="0" bIns="0" rtlCol="0" anchor="t"/>
          <a:lstStyle/>
          <a:p>
            <a:pPr indent="0" marL="0">
              <a:buNone/>
            </a:pPr>
            <a:r>
              <a:rPr lang="en-US" sz="1300" dirty="0">
                <a:solidFill>
                  <a:schemeClr val="tx1"/>
                </a:solidFill>
              </a:rPr>
              <a:t>Mesaiye bağlı; servis, EGO ve Başkentray tek uygulamada</a:t>
            </a:r>
            <a:endParaRPr lang="en-US" sz="1300" dirty="0"/>
          </a:p>
        </p:txBody>
      </p:sp>
      <p:sp>
        <p:nvSpPr>
          <p:cNvPr id="9" name="Kart"/>
          <p:cNvSpPr/>
          <p:nvPr/>
        </p:nvSpPr>
        <p:spPr>
          <a:xfrm>
            <a:off x="4297680" y="160020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0" name="İkon zemini"/>
          <p:cNvSpPr/>
          <p:nvPr/>
        </p:nvSpPr>
        <p:spPr>
          <a:xfrm>
            <a:off x="4480560" y="1801368"/>
            <a:ext cx="548640" cy="548640"/>
          </a:xfrm>
          <a:prstGeom prst="ellipse">
            <a:avLst/>
          </a:prstGeom>
          <a:solidFill>
            <a:schemeClr val="tx2"/>
          </a:solidFill>
          <a:ln/>
        </p:spPr>
      </p:sp>
      <p:pic>
        <p:nvPicPr>
          <p:cNvPr id="11" name="İkon FaTrafficLight" descr="preencoded.png">    </p:cNvPr>
          <p:cNvPicPr>
            <a:picLocks noChangeAspect="1"/>
          </p:cNvPicPr>
          <p:nvPr/>
        </p:nvPicPr>
        <p:blipFill>
          <a:blip r:embed="rId2"/>
          <a:stretch>
            <a:fillRect/>
          </a:stretch>
        </p:blipFill>
        <p:spPr>
          <a:xfrm>
            <a:off x="4612234" y="1933042"/>
            <a:ext cx="285293" cy="285293"/>
          </a:xfrm>
          <a:prstGeom prst="rect">
            <a:avLst/>
          </a:prstGeom>
        </p:spPr>
      </p:pic>
      <p:sp>
        <p:nvSpPr>
          <p:cNvPr id="12" name="Text 8"/>
          <p:cNvSpPr txBox="1"/>
          <p:nvPr/>
        </p:nvSpPr>
        <p:spPr>
          <a:xfrm>
            <a:off x="5166360" y="1764792"/>
            <a:ext cx="2514600" cy="320040"/>
          </a:xfrm>
          <a:prstGeom prst="rect">
            <a:avLst/>
          </a:prstGeom>
          <a:noFill/>
          <a:ln/>
        </p:spPr>
        <p:txBody>
          <a:bodyPr wrap="square" lIns="0" tIns="0" rIns="0" bIns="0" rtlCol="0" anchor="t"/>
          <a:lstStyle/>
          <a:p>
            <a:pPr indent="0" marL="0">
              <a:buNone/>
            </a:pPr>
            <a:r>
              <a:rPr lang="en-US" sz="1500" b="1" dirty="0">
                <a:solidFill>
                  <a:schemeClr val="tx2"/>
                </a:solidFill>
              </a:rPr>
              <a:t>Akıllı koridor</a:t>
            </a:r>
            <a:endParaRPr lang="en-US" sz="1500" dirty="0"/>
          </a:p>
        </p:txBody>
      </p:sp>
      <p:sp>
        <p:nvSpPr>
          <p:cNvPr id="13" name="Text 9"/>
          <p:cNvSpPr txBox="1"/>
          <p:nvPr/>
        </p:nvSpPr>
        <p:spPr>
          <a:xfrm>
            <a:off x="5166360" y="2103120"/>
            <a:ext cx="2514600" cy="777240"/>
          </a:xfrm>
          <a:prstGeom prst="rect">
            <a:avLst/>
          </a:prstGeom>
          <a:noFill/>
          <a:ln/>
        </p:spPr>
        <p:txBody>
          <a:bodyPr wrap="square" lIns="0" tIns="0" rIns="0" bIns="0" rtlCol="0" anchor="t"/>
          <a:lstStyle/>
          <a:p>
            <a:pPr indent="0" marL="0">
              <a:buNone/>
            </a:pPr>
            <a:r>
              <a:rPr lang="en-US" sz="1300" dirty="0">
                <a:solidFill>
                  <a:schemeClr val="tx1"/>
                </a:solidFill>
              </a:rPr>
              <a:t>Otobüse öncelikli sinyalizasyon ve durak ekranları</a:t>
            </a:r>
            <a:endParaRPr lang="en-US" sz="1300" dirty="0"/>
          </a:p>
        </p:txBody>
      </p:sp>
      <p:sp>
        <p:nvSpPr>
          <p:cNvPr id="14" name="Kart"/>
          <p:cNvSpPr/>
          <p:nvPr/>
        </p:nvSpPr>
        <p:spPr>
          <a:xfrm>
            <a:off x="548640" y="310896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5" name="İkon zemini"/>
          <p:cNvSpPr/>
          <p:nvPr/>
        </p:nvSpPr>
        <p:spPr>
          <a:xfrm>
            <a:off x="731520" y="3310128"/>
            <a:ext cx="548640" cy="548640"/>
          </a:xfrm>
          <a:prstGeom prst="ellipse">
            <a:avLst/>
          </a:prstGeom>
          <a:solidFill>
            <a:schemeClr val="tx2"/>
          </a:solidFill>
          <a:ln/>
        </p:spPr>
      </p:sp>
      <p:pic>
        <p:nvPicPr>
          <p:cNvPr id="16" name="İkon FaSolarPanel" descr="preencoded.png">    </p:cNvPr>
          <p:cNvPicPr>
            <a:picLocks noChangeAspect="1"/>
          </p:cNvPicPr>
          <p:nvPr/>
        </p:nvPicPr>
        <p:blipFill>
          <a:blip r:embed="rId3"/>
          <a:stretch>
            <a:fillRect/>
          </a:stretch>
        </p:blipFill>
        <p:spPr>
          <a:xfrm>
            <a:off x="863194" y="3441802"/>
            <a:ext cx="285293" cy="285293"/>
          </a:xfrm>
          <a:prstGeom prst="rect">
            <a:avLst/>
          </a:prstGeom>
        </p:spPr>
      </p:pic>
      <p:sp>
        <p:nvSpPr>
          <p:cNvPr id="17" name="Text 12"/>
          <p:cNvSpPr txBox="1"/>
          <p:nvPr/>
        </p:nvSpPr>
        <p:spPr>
          <a:xfrm>
            <a:off x="1417320" y="3273552"/>
            <a:ext cx="2514600" cy="320040"/>
          </a:xfrm>
          <a:prstGeom prst="rect">
            <a:avLst/>
          </a:prstGeom>
          <a:noFill/>
          <a:ln/>
        </p:spPr>
        <p:txBody>
          <a:bodyPr wrap="square" lIns="0" tIns="0" rIns="0" bIns="0" rtlCol="0" anchor="t"/>
          <a:lstStyle/>
          <a:p>
            <a:pPr indent="0" marL="0">
              <a:buNone/>
            </a:pPr>
            <a:r>
              <a:rPr lang="en-US" sz="1500" b="1" dirty="0">
                <a:solidFill>
                  <a:schemeClr val="tx2"/>
                </a:solidFill>
              </a:rPr>
              <a:t>Enerji ve altyapı</a:t>
            </a:r>
            <a:endParaRPr lang="en-US" sz="1500" dirty="0"/>
          </a:p>
        </p:txBody>
      </p:sp>
      <p:sp>
        <p:nvSpPr>
          <p:cNvPr id="18" name="Text 13"/>
          <p:cNvSpPr txBox="1"/>
          <p:nvPr/>
        </p:nvSpPr>
        <p:spPr>
          <a:xfrm>
            <a:off x="1417320" y="3611880"/>
            <a:ext cx="2514600" cy="777240"/>
          </a:xfrm>
          <a:prstGeom prst="rect">
            <a:avLst/>
          </a:prstGeom>
          <a:noFill/>
          <a:ln/>
        </p:spPr>
        <p:txBody>
          <a:bodyPr wrap="square" lIns="0" tIns="0" rIns="0" bIns="0" rtlCol="0" anchor="t"/>
          <a:lstStyle/>
          <a:p>
            <a:pPr indent="0" marL="0">
              <a:buNone/>
            </a:pPr>
            <a:r>
              <a:rPr lang="en-US" sz="1300" dirty="0">
                <a:solidFill>
                  <a:schemeClr val="tx1"/>
                </a:solidFill>
              </a:rPr>
              <a:t>Her binaya fiber, akıllı sayaç, çatı güneş enerjisi</a:t>
            </a:r>
            <a:endParaRPr lang="en-US" sz="1300" dirty="0"/>
          </a:p>
        </p:txBody>
      </p:sp>
      <p:sp>
        <p:nvSpPr>
          <p:cNvPr id="19" name="Kart"/>
          <p:cNvSpPr/>
          <p:nvPr/>
        </p:nvSpPr>
        <p:spPr>
          <a:xfrm>
            <a:off x="4297680" y="310896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20" name="İkon zemini"/>
          <p:cNvSpPr/>
          <p:nvPr/>
        </p:nvSpPr>
        <p:spPr>
          <a:xfrm>
            <a:off x="4480560" y="3310128"/>
            <a:ext cx="548640" cy="548640"/>
          </a:xfrm>
          <a:prstGeom prst="ellipse">
            <a:avLst/>
          </a:prstGeom>
          <a:solidFill>
            <a:schemeClr val="tx2"/>
          </a:solidFill>
          <a:ln/>
        </p:spPr>
      </p:sp>
      <p:pic>
        <p:nvPicPr>
          <p:cNvPr id="21" name="İkon FaDroplet" descr="preencoded.png">    </p:cNvPr>
          <p:cNvPicPr>
            <a:picLocks noChangeAspect="1"/>
          </p:cNvPicPr>
          <p:nvPr/>
        </p:nvPicPr>
        <p:blipFill>
          <a:blip r:embed="rId4"/>
          <a:stretch>
            <a:fillRect/>
          </a:stretch>
        </p:blipFill>
        <p:spPr>
          <a:xfrm>
            <a:off x="4612234" y="3441802"/>
            <a:ext cx="285293" cy="285293"/>
          </a:xfrm>
          <a:prstGeom prst="rect">
            <a:avLst/>
          </a:prstGeom>
        </p:spPr>
      </p:pic>
      <p:sp>
        <p:nvSpPr>
          <p:cNvPr id="22" name="Text 16"/>
          <p:cNvSpPr txBox="1"/>
          <p:nvPr/>
        </p:nvSpPr>
        <p:spPr>
          <a:xfrm>
            <a:off x="5166360" y="3273552"/>
            <a:ext cx="2514600" cy="320040"/>
          </a:xfrm>
          <a:prstGeom prst="rect">
            <a:avLst/>
          </a:prstGeom>
          <a:noFill/>
          <a:ln/>
        </p:spPr>
        <p:txBody>
          <a:bodyPr wrap="square" lIns="0" tIns="0" rIns="0" bIns="0" rtlCol="0" anchor="t"/>
          <a:lstStyle/>
          <a:p>
            <a:pPr indent="0" marL="0">
              <a:buNone/>
            </a:pPr>
            <a:r>
              <a:rPr lang="en-US" sz="1500" b="1" dirty="0">
                <a:solidFill>
                  <a:schemeClr val="tx2"/>
                </a:solidFill>
              </a:rPr>
              <a:t>Su yönetimi</a:t>
            </a:r>
            <a:endParaRPr lang="en-US" sz="1500" dirty="0"/>
          </a:p>
        </p:txBody>
      </p:sp>
      <p:sp>
        <p:nvSpPr>
          <p:cNvPr id="23" name="Text 17"/>
          <p:cNvSpPr txBox="1"/>
          <p:nvPr/>
        </p:nvSpPr>
        <p:spPr>
          <a:xfrm>
            <a:off x="5166360" y="3611880"/>
            <a:ext cx="2514600" cy="777240"/>
          </a:xfrm>
          <a:prstGeom prst="rect">
            <a:avLst/>
          </a:prstGeom>
          <a:noFill/>
          <a:ln/>
        </p:spPr>
        <p:txBody>
          <a:bodyPr wrap="square" lIns="0" tIns="0" rIns="0" bIns="0" rtlCol="0" anchor="t"/>
          <a:lstStyle/>
          <a:p>
            <a:pPr indent="0" marL="0">
              <a:buNone/>
            </a:pPr>
            <a:r>
              <a:rPr lang="en-US" sz="1300" dirty="0">
                <a:solidFill>
                  <a:schemeClr val="tx1"/>
                </a:solidFill>
              </a:rPr>
              <a:t>Gölde su kalitesi ve seviye sensörleri, akıllı sulama</a:t>
            </a:r>
            <a:endParaRPr lang="en-US" sz="1300" dirty="0"/>
          </a:p>
        </p:txBody>
      </p:sp>
      <p:sp>
        <p:nvSpPr>
          <p:cNvPr id="24" name="Kart"/>
          <p:cNvSpPr/>
          <p:nvPr/>
        </p:nvSpPr>
        <p:spPr>
          <a:xfrm>
            <a:off x="548640" y="461772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25" name="İkon zemini"/>
          <p:cNvSpPr/>
          <p:nvPr/>
        </p:nvSpPr>
        <p:spPr>
          <a:xfrm>
            <a:off x="731520" y="4818888"/>
            <a:ext cx="548640" cy="548640"/>
          </a:xfrm>
          <a:prstGeom prst="ellipse">
            <a:avLst/>
          </a:prstGeom>
          <a:solidFill>
            <a:schemeClr val="tx2"/>
          </a:solidFill>
          <a:ln/>
        </p:spPr>
      </p:sp>
      <p:pic>
        <p:nvPicPr>
          <p:cNvPr id="26" name="İkon FaFlask" descr="preencoded.png">    </p:cNvPr>
          <p:cNvPicPr>
            <a:picLocks noChangeAspect="1"/>
          </p:cNvPicPr>
          <p:nvPr/>
        </p:nvPicPr>
        <p:blipFill>
          <a:blip r:embed="rId5"/>
          <a:stretch>
            <a:fillRect/>
          </a:stretch>
        </p:blipFill>
        <p:spPr>
          <a:xfrm>
            <a:off x="863194" y="4950562"/>
            <a:ext cx="285293" cy="285293"/>
          </a:xfrm>
          <a:prstGeom prst="rect">
            <a:avLst/>
          </a:prstGeom>
        </p:spPr>
      </p:pic>
      <p:sp>
        <p:nvSpPr>
          <p:cNvPr id="27" name="Text 20"/>
          <p:cNvSpPr txBox="1"/>
          <p:nvPr/>
        </p:nvSpPr>
        <p:spPr>
          <a:xfrm>
            <a:off x="1417320" y="4782312"/>
            <a:ext cx="2514600" cy="320040"/>
          </a:xfrm>
          <a:prstGeom prst="rect">
            <a:avLst/>
          </a:prstGeom>
          <a:noFill/>
          <a:ln/>
        </p:spPr>
        <p:txBody>
          <a:bodyPr wrap="square" lIns="0" tIns="0" rIns="0" bIns="0" rtlCol="0" anchor="t"/>
          <a:lstStyle/>
          <a:p>
            <a:pPr indent="0" marL="0">
              <a:buNone/>
            </a:pPr>
            <a:r>
              <a:rPr lang="en-US" sz="1500" b="1" dirty="0">
                <a:solidFill>
                  <a:schemeClr val="tx2"/>
                </a:solidFill>
              </a:rPr>
              <a:t>Eğitim</a:t>
            </a:r>
            <a:endParaRPr lang="en-US" sz="1500" dirty="0"/>
          </a:p>
        </p:txBody>
      </p:sp>
      <p:sp>
        <p:nvSpPr>
          <p:cNvPr id="28" name="Text 21"/>
          <p:cNvSpPr txBox="1"/>
          <p:nvPr/>
        </p:nvSpPr>
        <p:spPr>
          <a:xfrm>
            <a:off x="1417320" y="5120640"/>
            <a:ext cx="2514600" cy="777240"/>
          </a:xfrm>
          <a:prstGeom prst="rect">
            <a:avLst/>
          </a:prstGeom>
          <a:noFill/>
          <a:ln/>
        </p:spPr>
        <p:txBody>
          <a:bodyPr wrap="square" lIns="0" tIns="0" rIns="0" bIns="0" rtlCol="0" anchor="t"/>
          <a:lstStyle/>
          <a:p>
            <a:pPr indent="0" marL="0">
              <a:buNone/>
            </a:pPr>
            <a:r>
              <a:rPr lang="en-US" sz="1300" dirty="0">
                <a:solidFill>
                  <a:schemeClr val="tx1"/>
                </a:solidFill>
              </a:rPr>
              <a:t>Deneyap ve makerspace; mühendis mentorluk platformu</a:t>
            </a:r>
            <a:endParaRPr lang="en-US" sz="1300" dirty="0"/>
          </a:p>
        </p:txBody>
      </p:sp>
      <p:sp>
        <p:nvSpPr>
          <p:cNvPr id="29" name="Kart"/>
          <p:cNvSpPr/>
          <p:nvPr/>
        </p:nvSpPr>
        <p:spPr>
          <a:xfrm>
            <a:off x="4297680" y="461772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30" name="İkon zemini"/>
          <p:cNvSpPr/>
          <p:nvPr/>
        </p:nvSpPr>
        <p:spPr>
          <a:xfrm>
            <a:off x="4480560" y="4818888"/>
            <a:ext cx="548640" cy="548640"/>
          </a:xfrm>
          <a:prstGeom prst="ellipse">
            <a:avLst/>
          </a:prstGeom>
          <a:solidFill>
            <a:schemeClr val="tx2"/>
          </a:solidFill>
          <a:ln/>
        </p:spPr>
      </p:sp>
      <p:pic>
        <p:nvPicPr>
          <p:cNvPr id="31" name="İkon FaPeopleGroup" descr="preencoded.png">    </p:cNvPr>
          <p:cNvPicPr>
            <a:picLocks noChangeAspect="1"/>
          </p:cNvPicPr>
          <p:nvPr/>
        </p:nvPicPr>
        <p:blipFill>
          <a:blip r:embed="rId6"/>
          <a:stretch>
            <a:fillRect/>
          </a:stretch>
        </p:blipFill>
        <p:spPr>
          <a:xfrm>
            <a:off x="4612234" y="4950562"/>
            <a:ext cx="285293" cy="285293"/>
          </a:xfrm>
          <a:prstGeom prst="rect">
            <a:avLst/>
          </a:prstGeom>
        </p:spPr>
      </p:pic>
      <p:sp>
        <p:nvSpPr>
          <p:cNvPr id="32" name="Text 24"/>
          <p:cNvSpPr txBox="1"/>
          <p:nvPr/>
        </p:nvSpPr>
        <p:spPr>
          <a:xfrm>
            <a:off x="5166360" y="4782312"/>
            <a:ext cx="2514600" cy="320040"/>
          </a:xfrm>
          <a:prstGeom prst="rect">
            <a:avLst/>
          </a:prstGeom>
          <a:noFill/>
          <a:ln/>
        </p:spPr>
        <p:txBody>
          <a:bodyPr wrap="square" lIns="0" tIns="0" rIns="0" bIns="0" rtlCol="0" anchor="t"/>
          <a:lstStyle/>
          <a:p>
            <a:pPr indent="0" marL="0">
              <a:buNone/>
            </a:pPr>
            <a:r>
              <a:rPr lang="en-US" sz="1500" b="1" dirty="0">
                <a:solidFill>
                  <a:schemeClr val="tx2"/>
                </a:solidFill>
              </a:rPr>
              <a:t>Topluluk platformu</a:t>
            </a:r>
            <a:endParaRPr lang="en-US" sz="1500" dirty="0"/>
          </a:p>
        </p:txBody>
      </p:sp>
      <p:sp>
        <p:nvSpPr>
          <p:cNvPr id="33" name="Text 25"/>
          <p:cNvSpPr txBox="1"/>
          <p:nvPr/>
        </p:nvSpPr>
        <p:spPr>
          <a:xfrm>
            <a:off x="5166360" y="5120640"/>
            <a:ext cx="2514600" cy="777240"/>
          </a:xfrm>
          <a:prstGeom prst="rect">
            <a:avLst/>
          </a:prstGeom>
          <a:noFill/>
          <a:ln/>
        </p:spPr>
        <p:txBody>
          <a:bodyPr wrap="square" lIns="0" tIns="0" rIns="0" bIns="0" rtlCol="0" anchor="t"/>
          <a:lstStyle/>
          <a:p>
            <a:pPr indent="0" marL="0">
              <a:buNone/>
            </a:pPr>
            <a:r>
              <a:rPr lang="en-US" sz="1300" dirty="0">
                <a:solidFill>
                  <a:schemeClr val="tx1"/>
                </a:solidFill>
              </a:rPr>
              <a:t>Etkinlik takvimi, tesis rezervasyonu, yeni gelen aile programı</a:t>
            </a:r>
            <a:endParaRPr lang="en-US" sz="1300" dirty="0"/>
          </a:p>
        </p:txBody>
      </p:sp>
      <p:sp>
        <p:nvSpPr>
          <p:cNvPr id="34" name="Veri güvenliği paneli"/>
          <p:cNvSpPr/>
          <p:nvPr/>
        </p:nvSpPr>
        <p:spPr>
          <a:xfrm>
            <a:off x="8046720" y="1600200"/>
            <a:ext cx="3596335" cy="4343400"/>
          </a:xfrm>
          <a:prstGeom prst="roundRect">
            <a:avLst>
              <a:gd name="adj" fmla="val 2034"/>
            </a:avLst>
          </a:prstGeom>
          <a:solidFill>
            <a:schemeClr val="tx2"/>
          </a:solidFill>
          <a:ln/>
        </p:spPr>
      </p:sp>
      <p:sp>
        <p:nvSpPr>
          <p:cNvPr id="35" name="İkon zemini"/>
          <p:cNvSpPr/>
          <p:nvPr/>
        </p:nvSpPr>
        <p:spPr>
          <a:xfrm>
            <a:off x="8321040" y="1874520"/>
            <a:ext cx="640080" cy="640080"/>
          </a:xfrm>
          <a:prstGeom prst="ellipse">
            <a:avLst/>
          </a:prstGeom>
          <a:solidFill>
            <a:schemeClr val="accent4"/>
          </a:solidFill>
          <a:ln/>
        </p:spPr>
      </p:sp>
      <p:pic>
        <p:nvPicPr>
          <p:cNvPr id="36" name="İkon FaShieldHalved" descr="preencoded.png">    </p:cNvPr>
          <p:cNvPicPr>
            <a:picLocks noChangeAspect="1"/>
          </p:cNvPicPr>
          <p:nvPr/>
        </p:nvPicPr>
        <p:blipFill>
          <a:blip r:embed="rId7"/>
          <a:stretch>
            <a:fillRect/>
          </a:stretch>
        </p:blipFill>
        <p:spPr>
          <a:xfrm>
            <a:off x="8474659" y="2028139"/>
            <a:ext cx="332842" cy="332842"/>
          </a:xfrm>
          <a:prstGeom prst="rect">
            <a:avLst/>
          </a:prstGeom>
        </p:spPr>
      </p:pic>
      <p:sp>
        <p:nvSpPr>
          <p:cNvPr id="37" name="Text 28"/>
          <p:cNvSpPr txBox="1"/>
          <p:nvPr/>
        </p:nvSpPr>
        <p:spPr>
          <a:xfrm>
            <a:off x="9098280" y="1874520"/>
            <a:ext cx="2316175" cy="685800"/>
          </a:xfrm>
          <a:prstGeom prst="rect">
            <a:avLst/>
          </a:prstGeom>
          <a:noFill/>
          <a:ln/>
        </p:spPr>
        <p:txBody>
          <a:bodyPr wrap="square" lIns="0" tIns="0" rIns="0" bIns="0" rtlCol="0" anchor="t"/>
          <a:lstStyle/>
          <a:p>
            <a:pPr indent="0" marL="0">
              <a:buNone/>
            </a:pPr>
            <a:r>
              <a:rPr lang="en-US" sz="1800" b="1" dirty="0">
                <a:solidFill>
                  <a:schemeClr val="bg1"/>
                </a:solidFill>
              </a:rPr>
              <a:t>Veri güvenliği: temel tasarım ilkesi</a:t>
            </a:r>
            <a:endParaRPr lang="en-US" sz="1800" dirty="0"/>
          </a:p>
        </p:txBody>
      </p:sp>
      <p:sp>
        <p:nvSpPr>
          <p:cNvPr id="38" name="Text 29"/>
          <p:cNvSpPr txBox="1"/>
          <p:nvPr/>
        </p:nvSpPr>
        <p:spPr>
          <a:xfrm>
            <a:off x="8321040" y="2743200"/>
            <a:ext cx="3047695" cy="31089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bg1"/>
                </a:solidFill>
              </a:rPr>
              <a:t>Sakinlerin önemli bölümü savunma sanayi çalışanı olacağından konum, ulaşım ve kamera verileri hassastır.</a:t>
            </a:r>
            <a:endParaRPr lang="en-US" sz="1500" dirty="0"/>
          </a:p>
          <a:p>
            <a:pPr marL="342900" indent="-342900">
              <a:spcAft>
                <a:spcPts val="600"/>
              </a:spcAft>
              <a:buSzPct val="100000"/>
              <a:buChar char="•"/>
            </a:pPr>
            <a:r>
              <a:rPr lang="en-US" sz="1500" dirty="0">
                <a:solidFill>
                  <a:schemeClr val="bg1"/>
                </a:solidFill>
              </a:rPr>
              <a:t>Veriler yurt içinde ve yerli altyapıda tutulacaktır.</a:t>
            </a:r>
            <a:endParaRPr lang="en-US" sz="1500" dirty="0"/>
          </a:p>
          <a:p>
            <a:pPr marL="342900" indent="-342900">
              <a:spcAft>
                <a:spcPts val="600"/>
              </a:spcAft>
              <a:buSzPct val="100000"/>
              <a:buChar char="•"/>
            </a:pPr>
            <a:r>
              <a:rPr lang="en-US" sz="1500" dirty="0">
                <a:solidFill>
                  <a:schemeClr val="bg1"/>
                </a:solidFill>
              </a:rPr>
              <a:t>Yalnızca gerekli veri toplanacak; ulaşım planlaması anonim veriyle yapılacaktır.</a:t>
            </a:r>
            <a:endParaRPr lang="en-US" sz="1500" dirty="0"/>
          </a:p>
          <a:p>
            <a:pPr marL="342900" indent="-342900">
              <a:spcAft>
                <a:spcPts val="600"/>
              </a:spcAft>
              <a:buSzPct val="100000"/>
              <a:buChar char="•"/>
            </a:pPr>
            <a:r>
              <a:rPr lang="en-US" sz="1500" dirty="0">
                <a:solidFill>
                  <a:schemeClr val="bg1"/>
                </a:solidFill>
              </a:rPr>
              <a:t>KVKK'ya ek olarak bağımsız güvenlik denetimi uygulanacaktır.</a:t>
            </a:r>
            <a:endParaRPr lang="en-US" sz="1500" dirty="0"/>
          </a:p>
        </p:txBody>
      </p:sp>
      <p:sp>
        <p:nvSpPr>
          <p:cNvPr id="39" name="Text 30"/>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Akıllı şehir sistemleri için yatırım tahmini 150 milyon TL (100–225); konut başına 40–90 bin TL varsayımı.</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AKILLI ŞEHİR · STRATEJİ VE MALİYET</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Akıllı şehir stratejisi ve maliyeti</a:t>
            </a:r>
            <a:endParaRPr lang="en-US" sz="3600" dirty="0"/>
          </a:p>
        </p:txBody>
      </p:sp>
      <p:sp>
        <p:nvSpPr>
          <p:cNvPr id="4" name="Kart"/>
          <p:cNvSpPr/>
          <p:nvPr/>
        </p:nvSpPr>
        <p:spPr>
          <a:xfrm>
            <a:off x="548640" y="1600200"/>
            <a:ext cx="5410048" cy="4343400"/>
          </a:xfrm>
          <a:prstGeom prst="roundRect">
            <a:avLst>
              <a:gd name="adj" fmla="val 1684"/>
            </a:avLst>
          </a:prstGeom>
          <a:solidFill>
            <a:schemeClr val="bg1"/>
          </a:solidFill>
          <a:ln/>
          <a:effectLst>
            <a:outerShdw sx="100000" sy="100000" kx="0" ky="0" algn="bl" rotWithShape="0" blurRad="76200" dist="19050" dir="5400000">
              <a:srgbClr val="000000">
                <a:alpha val="12000"/>
              </a:srgbClr>
            </a:outerShdw>
          </a:effectLst>
        </p:spPr>
      </p:sp>
      <p:sp>
        <p:nvSpPr>
          <p:cNvPr id="5" name="Text 3"/>
          <p:cNvSpPr txBox="1"/>
          <p:nvPr/>
        </p:nvSpPr>
        <p:spPr>
          <a:xfrm>
            <a:off x="822960" y="1828800"/>
            <a:ext cx="4861408" cy="411480"/>
          </a:xfrm>
          <a:prstGeom prst="rect">
            <a:avLst/>
          </a:prstGeom>
          <a:noFill/>
          <a:ln/>
        </p:spPr>
        <p:txBody>
          <a:bodyPr wrap="square" lIns="0" tIns="0" rIns="0" bIns="0" rtlCol="0" anchor="t"/>
          <a:lstStyle/>
          <a:p>
            <a:pPr indent="0" marL="0">
              <a:buNone/>
            </a:pPr>
            <a:r>
              <a:rPr lang="en-US" sz="1800" b="1" dirty="0">
                <a:solidFill>
                  <a:schemeClr val="tx2"/>
                </a:solidFill>
              </a:rPr>
              <a:t>Politika çerçevesi</a:t>
            </a:r>
            <a:endParaRPr lang="en-US" sz="1800" dirty="0"/>
          </a:p>
        </p:txBody>
      </p:sp>
      <p:sp>
        <p:nvSpPr>
          <p:cNvPr id="6" name="Text 4"/>
          <p:cNvSpPr txBox="1"/>
          <p:nvPr/>
        </p:nvSpPr>
        <p:spPr>
          <a:xfrm>
            <a:off x="822960" y="2377440"/>
            <a:ext cx="4861408" cy="34290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2030 Ulusal Akıllı Şehirler Stratejisi Genelge ile yürürlüğe girmiştir (Eylül 2026, teyit edilecek)</a:t>
            </a:r>
            <a:endParaRPr lang="en-US" sz="1500" dirty="0"/>
          </a:p>
          <a:p>
            <a:pPr marL="342900" indent="-342900">
              <a:spcAft>
                <a:spcPts val="600"/>
              </a:spcAft>
              <a:buSzPct val="100000"/>
              <a:buChar char="•"/>
            </a:pPr>
            <a:r>
              <a:rPr lang="en-US" sz="1500" dirty="0">
                <a:solidFill>
                  <a:schemeClr val="tx1"/>
                </a:solidFill>
              </a:rPr>
              <a:t>Öncelikler: veri yönetimi, yapay zekâ destekli karar alma, entegre hizmet ve dijital güvenlik</a:t>
            </a:r>
            <a:endParaRPr lang="en-US" sz="1500" dirty="0"/>
          </a:p>
          <a:p>
            <a:pPr marL="342900" indent="-342900">
              <a:spcAft>
                <a:spcPts val="600"/>
              </a:spcAft>
              <a:buSzPct val="100000"/>
              <a:buChar char="•"/>
            </a:pPr>
            <a:r>
              <a:rPr lang="en-US" sz="1500" dirty="0">
                <a:solidFill>
                  <a:schemeClr val="tx1"/>
                </a:solidFill>
              </a:rPr>
              <a:t>Kapsam: 4 stratejik amaç, 8 hedef, 32 eylem, 297 uygulama adımı (teyit edilecek)</a:t>
            </a:r>
            <a:endParaRPr lang="en-US" sz="1500" dirty="0"/>
          </a:p>
          <a:p>
            <a:pPr marL="342900" indent="-342900">
              <a:spcAft>
                <a:spcPts val="600"/>
              </a:spcAft>
              <a:buSzPct val="100000"/>
              <a:buChar char="•"/>
            </a:pPr>
            <a:r>
              <a:rPr lang="en-US" sz="1500" dirty="0">
                <a:solidFill>
                  <a:schemeClr val="tx1"/>
                </a:solidFill>
              </a:rPr>
              <a:t>Kalkınma Planı m.857: akıllı şehir uygulamalarında yerli ürün kullanımı yaygınlaştırılacaktır</a:t>
            </a:r>
            <a:endParaRPr lang="en-US" sz="1500" dirty="0"/>
          </a:p>
          <a:p>
            <a:pPr marL="342900" indent="-342900">
              <a:spcAft>
                <a:spcPts val="600"/>
              </a:spcAft>
              <a:buSzPct val="100000"/>
              <a:buChar char="•"/>
            </a:pPr>
            <a:r>
              <a:rPr lang="en-US" sz="1500" dirty="0">
                <a:solidFill>
                  <a:schemeClr val="tx1"/>
                </a:solidFill>
              </a:rPr>
              <a:t>Ulusal hedef: 2030'a kadar 81 ilde dijital ikiz, 187 belediyede akıllı şehir birimi (ikincil)</a:t>
            </a:r>
            <a:endParaRPr lang="en-US" sz="1500" dirty="0"/>
          </a:p>
        </p:txBody>
      </p:sp>
      <p:sp>
        <p:nvSpPr>
          <p:cNvPr id="7" name="Kart"/>
          <p:cNvSpPr/>
          <p:nvPr/>
        </p:nvSpPr>
        <p:spPr>
          <a:xfrm>
            <a:off x="6233008" y="1600200"/>
            <a:ext cx="5410048" cy="4343400"/>
          </a:xfrm>
          <a:prstGeom prst="roundRect">
            <a:avLst>
              <a:gd name="adj" fmla="val 1684"/>
            </a:avLst>
          </a:prstGeom>
          <a:solidFill>
            <a:schemeClr val="bg1"/>
          </a:solidFill>
          <a:ln/>
          <a:effectLst>
            <a:outerShdw sx="100000" sy="100000" kx="0" ky="0" algn="bl" rotWithShape="0" blurRad="76200" dist="19050" dir="5400000">
              <a:srgbClr val="000000">
                <a:alpha val="12000"/>
              </a:srgbClr>
            </a:outerShdw>
          </a:effectLst>
        </p:spPr>
      </p:sp>
      <p:sp>
        <p:nvSpPr>
          <p:cNvPr id="8" name="Text 6"/>
          <p:cNvSpPr txBox="1"/>
          <p:nvPr/>
        </p:nvSpPr>
        <p:spPr>
          <a:xfrm>
            <a:off x="6507328" y="1828800"/>
            <a:ext cx="4861408" cy="411480"/>
          </a:xfrm>
          <a:prstGeom prst="rect">
            <a:avLst/>
          </a:prstGeom>
          <a:noFill/>
          <a:ln/>
        </p:spPr>
        <p:txBody>
          <a:bodyPr wrap="square" lIns="0" tIns="0" rIns="0" bIns="0" rtlCol="0" anchor="t"/>
          <a:lstStyle/>
          <a:p>
            <a:pPr indent="0" marL="0">
              <a:buNone/>
            </a:pPr>
            <a:r>
              <a:rPr lang="en-US" sz="1800" b="1" dirty="0">
                <a:solidFill>
                  <a:schemeClr val="accent1"/>
                </a:solidFill>
              </a:rPr>
              <a:t>Maliyet dayanakları</a:t>
            </a:r>
            <a:endParaRPr lang="en-US" sz="1800" dirty="0"/>
          </a:p>
        </p:txBody>
      </p:sp>
      <p:sp>
        <p:nvSpPr>
          <p:cNvPr id="9" name="Text 7"/>
          <p:cNvSpPr txBox="1"/>
          <p:nvPr/>
        </p:nvSpPr>
        <p:spPr>
          <a:xfrm>
            <a:off x="6507328" y="2377440"/>
            <a:ext cx="4861408" cy="34290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Uydukent akıllı sistemleri: 100–225 milyon TL, baz 150 milyon TL (2026, varsayım)</a:t>
            </a:r>
            <a:endParaRPr lang="en-US" sz="1500" dirty="0"/>
          </a:p>
          <a:p>
            <a:pPr marL="342900" indent="-342900">
              <a:spcAft>
                <a:spcPts val="600"/>
              </a:spcAft>
              <a:buSzPct val="100000"/>
              <a:buChar char="•"/>
            </a:pPr>
            <a:r>
              <a:rPr lang="en-US" sz="1500" dirty="0">
                <a:solidFill>
                  <a:schemeClr val="tx1"/>
                </a:solidFill>
              </a:rPr>
              <a:t>Konut başına 40–90 bin TL varsayımı; Türkiye'ye özgü birim maliyet bulunamamıştır</a:t>
            </a:r>
            <a:endParaRPr lang="en-US" sz="1500" dirty="0"/>
          </a:p>
          <a:p>
            <a:pPr marL="342900" indent="-342900">
              <a:spcAft>
                <a:spcPts val="600"/>
              </a:spcAft>
              <a:buSzPct val="100000"/>
              <a:buChar char="•"/>
            </a:pPr>
            <a:r>
              <a:rPr lang="en-US" sz="1500" dirty="0">
                <a:solidFill>
                  <a:schemeClr val="tx1"/>
                </a:solidFill>
              </a:rPr>
              <a:t>Konya: 14 akıllı kavşak için 494.260 EUR; kavşak başına ~35.300 EUR (2025)</a:t>
            </a:r>
            <a:endParaRPr lang="en-US" sz="1500" dirty="0"/>
          </a:p>
          <a:p>
            <a:pPr marL="342900" indent="-342900">
              <a:spcAft>
                <a:spcPts val="600"/>
              </a:spcAft>
              <a:buSzPct val="100000"/>
              <a:buChar char="•"/>
            </a:pPr>
            <a:r>
              <a:rPr lang="en-US" sz="1500" dirty="0">
                <a:solidFill>
                  <a:schemeClr val="tx1"/>
                </a:solidFill>
              </a:rPr>
              <a:t>Kapsam: fiber, akıllı sayaç, sensörler, veri platformu ve operasyon merkezi</a:t>
            </a:r>
            <a:endParaRPr lang="en-US" sz="1500" dirty="0"/>
          </a:p>
          <a:p>
            <a:pPr marL="342900" indent="-342900">
              <a:spcAft>
                <a:spcPts val="600"/>
              </a:spcAft>
              <a:buSzPct val="100000"/>
              <a:buChar char="•"/>
            </a:pPr>
            <a:r>
              <a:rPr lang="en-US" sz="1500" dirty="0">
                <a:solidFill>
                  <a:schemeClr val="tx1"/>
                </a:solidFill>
              </a:rPr>
              <a:t>Akıllı sistemler toplam yatırımın %1–3'ü olarak alınabilir (varsayım)</a:t>
            </a:r>
            <a:endParaRPr lang="en-US" sz="1500" dirty="0"/>
          </a:p>
        </p:txBody>
      </p:sp>
      <p:sp>
        <p:nvSpPr>
          <p:cNvPr id="10" name="Text 8"/>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Habertürk (19.09.2026 genelge haberi); Bigpara; 12. Kalkınma Planı m.857; Yeni Ankara; Gazete Vatan (Konya); yatırım notu.</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SEKTÖRE KATKI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Savunma sanayiine katkılar</a:t>
            </a:r>
            <a:endParaRPr lang="en-US" sz="3600" dirty="0"/>
          </a:p>
        </p:txBody>
      </p:sp>
      <p:sp>
        <p:nvSpPr>
          <p:cNvPr id="4" name="İkon zemini"/>
          <p:cNvSpPr/>
          <p:nvPr/>
        </p:nvSpPr>
        <p:spPr>
          <a:xfrm>
            <a:off x="548640" y="1691640"/>
            <a:ext cx="658368" cy="658368"/>
          </a:xfrm>
          <a:prstGeom prst="ellipse">
            <a:avLst/>
          </a:prstGeom>
          <a:solidFill>
            <a:schemeClr val="tx2"/>
          </a:solidFill>
          <a:ln/>
        </p:spPr>
      </p:sp>
      <p:pic>
        <p:nvPicPr>
          <p:cNvPr id="5" name="İkon FaClock" descr="preencoded.png">    </p:cNvPr>
          <p:cNvPicPr>
            <a:picLocks noChangeAspect="1"/>
          </p:cNvPicPr>
          <p:nvPr/>
        </p:nvPicPr>
        <p:blipFill>
          <a:blip r:embed="rId1"/>
          <a:stretch>
            <a:fillRect/>
          </a:stretch>
        </p:blipFill>
        <p:spPr>
          <a:xfrm>
            <a:off x="706648" y="1849648"/>
            <a:ext cx="342351" cy="342351"/>
          </a:xfrm>
          <a:prstGeom prst="rect">
            <a:avLst/>
          </a:prstGeom>
        </p:spPr>
      </p:pic>
      <p:sp>
        <p:nvSpPr>
          <p:cNvPr id="6" name="Text 3"/>
          <p:cNvSpPr txBox="1"/>
          <p:nvPr/>
        </p:nvSpPr>
        <p:spPr>
          <a:xfrm>
            <a:off x="1371600" y="1673352"/>
            <a:ext cx="2788920" cy="347472"/>
          </a:xfrm>
          <a:prstGeom prst="rect">
            <a:avLst/>
          </a:prstGeom>
          <a:noFill/>
          <a:ln/>
        </p:spPr>
        <p:txBody>
          <a:bodyPr wrap="square" lIns="0" tIns="0" rIns="0" bIns="0" rtlCol="0" anchor="t"/>
          <a:lstStyle/>
          <a:p>
            <a:pPr indent="0" marL="0">
              <a:buNone/>
            </a:pPr>
            <a:r>
              <a:rPr lang="en-US" sz="1800" b="1" dirty="0">
                <a:solidFill>
                  <a:schemeClr val="tx2"/>
                </a:solidFill>
              </a:rPr>
              <a:t>Ulaşım süresi</a:t>
            </a:r>
            <a:endParaRPr lang="en-US" sz="1800" dirty="0"/>
          </a:p>
        </p:txBody>
      </p:sp>
      <p:sp>
        <p:nvSpPr>
          <p:cNvPr id="7" name="Text 4"/>
          <p:cNvSpPr txBox="1"/>
          <p:nvPr/>
        </p:nvSpPr>
        <p:spPr>
          <a:xfrm>
            <a:off x="1371600" y="2057400"/>
            <a:ext cx="2743200" cy="822960"/>
          </a:xfrm>
          <a:prstGeom prst="rect">
            <a:avLst/>
          </a:prstGeom>
          <a:noFill/>
          <a:ln/>
        </p:spPr>
        <p:txBody>
          <a:bodyPr wrap="square" lIns="0" tIns="0" rIns="0" bIns="0" rtlCol="0" anchor="t"/>
          <a:lstStyle/>
          <a:p>
            <a:pPr indent="0" marL="0">
              <a:buNone/>
            </a:pPr>
            <a:r>
              <a:rPr lang="en-US" sz="1500" dirty="0">
                <a:solidFill>
                  <a:schemeClr val="tx1"/>
                </a:solidFill>
              </a:rPr>
              <a:t>Ekspres hat ve kademeli mesaiyle sabit ve kısa yolculuk</a:t>
            </a:r>
            <a:endParaRPr lang="en-US" sz="1500" dirty="0"/>
          </a:p>
        </p:txBody>
      </p:sp>
      <p:sp>
        <p:nvSpPr>
          <p:cNvPr id="8" name="İkon zemini"/>
          <p:cNvSpPr/>
          <p:nvPr/>
        </p:nvSpPr>
        <p:spPr>
          <a:xfrm>
            <a:off x="4434840" y="1691640"/>
            <a:ext cx="658368" cy="658368"/>
          </a:xfrm>
          <a:prstGeom prst="ellipse">
            <a:avLst/>
          </a:prstGeom>
          <a:solidFill>
            <a:schemeClr val="accent1"/>
          </a:solidFill>
          <a:ln/>
        </p:spPr>
      </p:sp>
      <p:pic>
        <p:nvPicPr>
          <p:cNvPr id="9" name="İkon FaChildren" descr="preencoded.png">    </p:cNvPr>
          <p:cNvPicPr>
            <a:picLocks noChangeAspect="1"/>
          </p:cNvPicPr>
          <p:nvPr/>
        </p:nvPicPr>
        <p:blipFill>
          <a:blip r:embed="rId2"/>
          <a:stretch>
            <a:fillRect/>
          </a:stretch>
        </p:blipFill>
        <p:spPr>
          <a:xfrm>
            <a:off x="4592848" y="1849648"/>
            <a:ext cx="342351" cy="342351"/>
          </a:xfrm>
          <a:prstGeom prst="rect">
            <a:avLst/>
          </a:prstGeom>
        </p:spPr>
      </p:pic>
      <p:sp>
        <p:nvSpPr>
          <p:cNvPr id="10" name="Text 6"/>
          <p:cNvSpPr txBox="1"/>
          <p:nvPr/>
        </p:nvSpPr>
        <p:spPr>
          <a:xfrm>
            <a:off x="5257800" y="1673352"/>
            <a:ext cx="2788920" cy="347472"/>
          </a:xfrm>
          <a:prstGeom prst="rect">
            <a:avLst/>
          </a:prstGeom>
          <a:noFill/>
          <a:ln/>
        </p:spPr>
        <p:txBody>
          <a:bodyPr wrap="square" lIns="0" tIns="0" rIns="0" bIns="0" rtlCol="0" anchor="t"/>
          <a:lstStyle/>
          <a:p>
            <a:pPr indent="0" marL="0">
              <a:buNone/>
            </a:pPr>
            <a:r>
              <a:rPr lang="en-US" sz="1800" b="1" dirty="0">
                <a:solidFill>
                  <a:schemeClr val="tx2"/>
                </a:solidFill>
              </a:rPr>
              <a:t>Aile yaşamı</a:t>
            </a:r>
            <a:endParaRPr lang="en-US" sz="1800" dirty="0"/>
          </a:p>
        </p:txBody>
      </p:sp>
      <p:sp>
        <p:nvSpPr>
          <p:cNvPr id="11" name="Text 7"/>
          <p:cNvSpPr txBox="1"/>
          <p:nvPr/>
        </p:nvSpPr>
        <p:spPr>
          <a:xfrm>
            <a:off x="5257800" y="2057400"/>
            <a:ext cx="2743200" cy="822960"/>
          </a:xfrm>
          <a:prstGeom prst="rect">
            <a:avLst/>
          </a:prstGeom>
          <a:noFill/>
          <a:ln/>
        </p:spPr>
        <p:txBody>
          <a:bodyPr wrap="square" lIns="0" tIns="0" rIns="0" bIns="0" rtlCol="0" anchor="t"/>
          <a:lstStyle/>
          <a:p>
            <a:pPr indent="0" marL="0">
              <a:buNone/>
            </a:pPr>
            <a:r>
              <a:rPr lang="en-US" sz="1500" dirty="0">
                <a:solidFill>
                  <a:schemeClr val="tx1"/>
                </a:solidFill>
              </a:rPr>
              <a:t>Okul, kreş ve sağlık hizmetleri yürüme mesafesinde</a:t>
            </a:r>
            <a:endParaRPr lang="en-US" sz="1500" dirty="0"/>
          </a:p>
        </p:txBody>
      </p:sp>
      <p:sp>
        <p:nvSpPr>
          <p:cNvPr id="12" name="İkon zemini"/>
          <p:cNvSpPr/>
          <p:nvPr/>
        </p:nvSpPr>
        <p:spPr>
          <a:xfrm>
            <a:off x="548640" y="3200400"/>
            <a:ext cx="658368" cy="658368"/>
          </a:xfrm>
          <a:prstGeom prst="ellipse">
            <a:avLst/>
          </a:prstGeom>
          <a:solidFill>
            <a:schemeClr val="tx2"/>
          </a:solidFill>
          <a:ln/>
        </p:spPr>
      </p:sp>
      <p:pic>
        <p:nvPicPr>
          <p:cNvPr id="13" name="İkon FaBriefcase" descr="preencoded.png">    </p:cNvPr>
          <p:cNvPicPr>
            <a:picLocks noChangeAspect="1"/>
          </p:cNvPicPr>
          <p:nvPr/>
        </p:nvPicPr>
        <p:blipFill>
          <a:blip r:embed="rId3"/>
          <a:stretch>
            <a:fillRect/>
          </a:stretch>
        </p:blipFill>
        <p:spPr>
          <a:xfrm>
            <a:off x="706648" y="3358408"/>
            <a:ext cx="342351" cy="342351"/>
          </a:xfrm>
          <a:prstGeom prst="rect">
            <a:avLst/>
          </a:prstGeom>
        </p:spPr>
      </p:pic>
      <p:sp>
        <p:nvSpPr>
          <p:cNvPr id="14" name="Text 9"/>
          <p:cNvSpPr txBox="1"/>
          <p:nvPr/>
        </p:nvSpPr>
        <p:spPr>
          <a:xfrm>
            <a:off x="1371600" y="3182112"/>
            <a:ext cx="2788920" cy="347472"/>
          </a:xfrm>
          <a:prstGeom prst="rect">
            <a:avLst/>
          </a:prstGeom>
          <a:noFill/>
          <a:ln/>
        </p:spPr>
        <p:txBody>
          <a:bodyPr wrap="square" lIns="0" tIns="0" rIns="0" bIns="0" rtlCol="0" anchor="t"/>
          <a:lstStyle/>
          <a:p>
            <a:pPr indent="0" marL="0">
              <a:buNone/>
            </a:pPr>
            <a:r>
              <a:rPr lang="en-US" sz="1800" b="1" dirty="0">
                <a:solidFill>
                  <a:schemeClr val="tx2"/>
                </a:solidFill>
              </a:rPr>
              <a:t>Eş istihdamı</a:t>
            </a:r>
            <a:endParaRPr lang="en-US" sz="1800" dirty="0"/>
          </a:p>
        </p:txBody>
      </p:sp>
      <p:sp>
        <p:nvSpPr>
          <p:cNvPr id="15" name="Text 10"/>
          <p:cNvSpPr txBox="1"/>
          <p:nvPr/>
        </p:nvSpPr>
        <p:spPr>
          <a:xfrm>
            <a:off x="1371600" y="3566160"/>
            <a:ext cx="2743200" cy="822960"/>
          </a:xfrm>
          <a:prstGeom prst="rect">
            <a:avLst/>
          </a:prstGeom>
          <a:noFill/>
          <a:ln/>
        </p:spPr>
        <p:txBody>
          <a:bodyPr wrap="square" lIns="0" tIns="0" rIns="0" bIns="0" rtlCol="0" anchor="t"/>
          <a:lstStyle/>
          <a:p>
            <a:pPr indent="0" marL="0">
              <a:buNone/>
            </a:pPr>
            <a:r>
              <a:rPr lang="en-US" sz="1500" dirty="0">
                <a:solidFill>
                  <a:schemeClr val="tx1"/>
                </a:solidFill>
              </a:rPr>
              <a:t>Kariyer danışmanlığı ve mahalle merkezinde ortak çalışma alanı</a:t>
            </a:r>
            <a:endParaRPr lang="en-US" sz="1500" dirty="0"/>
          </a:p>
        </p:txBody>
      </p:sp>
      <p:sp>
        <p:nvSpPr>
          <p:cNvPr id="16" name="İkon zemini"/>
          <p:cNvSpPr/>
          <p:nvPr/>
        </p:nvSpPr>
        <p:spPr>
          <a:xfrm>
            <a:off x="4434840" y="3200400"/>
            <a:ext cx="658368" cy="658368"/>
          </a:xfrm>
          <a:prstGeom prst="ellipse">
            <a:avLst/>
          </a:prstGeom>
          <a:solidFill>
            <a:schemeClr val="accent1"/>
          </a:solidFill>
          <a:ln/>
        </p:spPr>
      </p:sp>
      <p:pic>
        <p:nvPicPr>
          <p:cNvPr id="17" name="İkon FaPeopleGroup" descr="preencoded.png">    </p:cNvPr>
          <p:cNvPicPr>
            <a:picLocks noChangeAspect="1"/>
          </p:cNvPicPr>
          <p:nvPr/>
        </p:nvPicPr>
        <p:blipFill>
          <a:blip r:embed="rId4"/>
          <a:stretch>
            <a:fillRect/>
          </a:stretch>
        </p:blipFill>
        <p:spPr>
          <a:xfrm>
            <a:off x="4592848" y="3358408"/>
            <a:ext cx="342351" cy="342351"/>
          </a:xfrm>
          <a:prstGeom prst="rect">
            <a:avLst/>
          </a:prstGeom>
        </p:spPr>
      </p:pic>
      <p:sp>
        <p:nvSpPr>
          <p:cNvPr id="18" name="Text 12"/>
          <p:cNvSpPr txBox="1"/>
          <p:nvPr/>
        </p:nvSpPr>
        <p:spPr>
          <a:xfrm>
            <a:off x="5257800" y="3182112"/>
            <a:ext cx="2788920" cy="347472"/>
          </a:xfrm>
          <a:prstGeom prst="rect">
            <a:avLst/>
          </a:prstGeom>
          <a:noFill/>
          <a:ln/>
        </p:spPr>
        <p:txBody>
          <a:bodyPr wrap="square" lIns="0" tIns="0" rIns="0" bIns="0" rtlCol="0" anchor="t"/>
          <a:lstStyle/>
          <a:p>
            <a:pPr indent="0" marL="0">
              <a:buNone/>
            </a:pPr>
            <a:r>
              <a:rPr lang="en-US" sz="1800" b="1" dirty="0">
                <a:solidFill>
                  <a:schemeClr val="tx2"/>
                </a:solidFill>
              </a:rPr>
              <a:t>Sosyal yaşam</a:t>
            </a:r>
            <a:endParaRPr lang="en-US" sz="1800" dirty="0"/>
          </a:p>
        </p:txBody>
      </p:sp>
      <p:sp>
        <p:nvSpPr>
          <p:cNvPr id="19" name="Text 13"/>
          <p:cNvSpPr txBox="1"/>
          <p:nvPr/>
        </p:nvSpPr>
        <p:spPr>
          <a:xfrm>
            <a:off x="5257800" y="3566160"/>
            <a:ext cx="2743200" cy="822960"/>
          </a:xfrm>
          <a:prstGeom prst="rect">
            <a:avLst/>
          </a:prstGeom>
          <a:noFill/>
          <a:ln/>
        </p:spPr>
        <p:txBody>
          <a:bodyPr wrap="square" lIns="0" tIns="0" rIns="0" bIns="0" rtlCol="0" anchor="t"/>
          <a:lstStyle/>
          <a:p>
            <a:pPr indent="0" marL="0">
              <a:buNone/>
            </a:pPr>
            <a:r>
              <a:rPr lang="en-US" sz="1500" dirty="0">
                <a:solidFill>
                  <a:schemeClr val="tx1"/>
                </a:solidFill>
              </a:rPr>
              <a:t>Göl, kültür merkezi, kulüpler ve yeni gelen aile programı</a:t>
            </a:r>
            <a:endParaRPr lang="en-US" sz="1500" dirty="0"/>
          </a:p>
        </p:txBody>
      </p:sp>
      <p:sp>
        <p:nvSpPr>
          <p:cNvPr id="20" name="İkon zemini"/>
          <p:cNvSpPr/>
          <p:nvPr/>
        </p:nvSpPr>
        <p:spPr>
          <a:xfrm>
            <a:off x="548640" y="4709160"/>
            <a:ext cx="658368" cy="658368"/>
          </a:xfrm>
          <a:prstGeom prst="ellipse">
            <a:avLst/>
          </a:prstGeom>
          <a:solidFill>
            <a:schemeClr val="tx2"/>
          </a:solidFill>
          <a:ln/>
        </p:spPr>
      </p:sp>
      <p:pic>
        <p:nvPicPr>
          <p:cNvPr id="21" name="İkon FaHouse" descr="preencoded.png">    </p:cNvPr>
          <p:cNvPicPr>
            <a:picLocks noChangeAspect="1"/>
          </p:cNvPicPr>
          <p:nvPr/>
        </p:nvPicPr>
        <p:blipFill>
          <a:blip r:embed="rId5"/>
          <a:stretch>
            <a:fillRect/>
          </a:stretch>
        </p:blipFill>
        <p:spPr>
          <a:xfrm>
            <a:off x="706648" y="4867168"/>
            <a:ext cx="342351" cy="342351"/>
          </a:xfrm>
          <a:prstGeom prst="rect">
            <a:avLst/>
          </a:prstGeom>
        </p:spPr>
      </p:pic>
      <p:sp>
        <p:nvSpPr>
          <p:cNvPr id="22" name="Text 15"/>
          <p:cNvSpPr txBox="1"/>
          <p:nvPr/>
        </p:nvSpPr>
        <p:spPr>
          <a:xfrm>
            <a:off x="1371600" y="4690872"/>
            <a:ext cx="2788920" cy="347472"/>
          </a:xfrm>
          <a:prstGeom prst="rect">
            <a:avLst/>
          </a:prstGeom>
          <a:noFill/>
          <a:ln/>
        </p:spPr>
        <p:txBody>
          <a:bodyPr wrap="square" lIns="0" tIns="0" rIns="0" bIns="0" rtlCol="0" anchor="t"/>
          <a:lstStyle/>
          <a:p>
            <a:pPr indent="0" marL="0">
              <a:buNone/>
            </a:pPr>
            <a:r>
              <a:rPr lang="en-US" sz="1800" b="1" dirty="0">
                <a:solidFill>
                  <a:schemeClr val="tx2"/>
                </a:solidFill>
              </a:rPr>
              <a:t>Konut erişimi</a:t>
            </a:r>
            <a:endParaRPr lang="en-US" sz="1800" dirty="0"/>
          </a:p>
        </p:txBody>
      </p:sp>
      <p:sp>
        <p:nvSpPr>
          <p:cNvPr id="23" name="Text 16"/>
          <p:cNvSpPr txBox="1"/>
          <p:nvPr/>
        </p:nvSpPr>
        <p:spPr>
          <a:xfrm>
            <a:off x="1371600" y="5074920"/>
            <a:ext cx="2743200" cy="822960"/>
          </a:xfrm>
          <a:prstGeom prst="rect">
            <a:avLst/>
          </a:prstGeom>
          <a:noFill/>
          <a:ln/>
        </p:spPr>
        <p:txBody>
          <a:bodyPr wrap="square" lIns="0" tIns="0" rIns="0" bIns="0" rtlCol="0" anchor="t"/>
          <a:lstStyle/>
          <a:p>
            <a:pPr indent="0" marL="0">
              <a:buNone/>
            </a:pPr>
            <a:r>
              <a:rPr lang="en-US" sz="1500" dirty="0">
                <a:solidFill>
                  <a:schemeClr val="tx1"/>
                </a:solidFill>
              </a:rPr>
              <a:t>Herkese açık satış; savunma sanayi çalışanlarına öncelik</a:t>
            </a:r>
            <a:endParaRPr lang="en-US" sz="1500" dirty="0"/>
          </a:p>
        </p:txBody>
      </p:sp>
      <p:sp>
        <p:nvSpPr>
          <p:cNvPr id="24" name="İkon zemini"/>
          <p:cNvSpPr/>
          <p:nvPr/>
        </p:nvSpPr>
        <p:spPr>
          <a:xfrm>
            <a:off x="4434840" y="4709160"/>
            <a:ext cx="658368" cy="658368"/>
          </a:xfrm>
          <a:prstGeom prst="ellipse">
            <a:avLst/>
          </a:prstGeom>
          <a:solidFill>
            <a:schemeClr val="accent1"/>
          </a:solidFill>
          <a:ln/>
        </p:spPr>
      </p:sp>
      <p:pic>
        <p:nvPicPr>
          <p:cNvPr id="25" name="İkon FaLock" descr="preencoded.png">    </p:cNvPr>
          <p:cNvPicPr>
            <a:picLocks noChangeAspect="1"/>
          </p:cNvPicPr>
          <p:nvPr/>
        </p:nvPicPr>
        <p:blipFill>
          <a:blip r:embed="rId6"/>
          <a:stretch>
            <a:fillRect/>
          </a:stretch>
        </p:blipFill>
        <p:spPr>
          <a:xfrm>
            <a:off x="4592848" y="4867168"/>
            <a:ext cx="342351" cy="342351"/>
          </a:xfrm>
          <a:prstGeom prst="rect">
            <a:avLst/>
          </a:prstGeom>
        </p:spPr>
      </p:pic>
      <p:sp>
        <p:nvSpPr>
          <p:cNvPr id="26" name="Text 18"/>
          <p:cNvSpPr txBox="1"/>
          <p:nvPr/>
        </p:nvSpPr>
        <p:spPr>
          <a:xfrm>
            <a:off x="5257800" y="4690872"/>
            <a:ext cx="2788920" cy="347472"/>
          </a:xfrm>
          <a:prstGeom prst="rect">
            <a:avLst/>
          </a:prstGeom>
          <a:noFill/>
          <a:ln/>
        </p:spPr>
        <p:txBody>
          <a:bodyPr wrap="square" lIns="0" tIns="0" rIns="0" bIns="0" rtlCol="0" anchor="t"/>
          <a:lstStyle/>
          <a:p>
            <a:pPr indent="0" marL="0">
              <a:buNone/>
            </a:pPr>
            <a:r>
              <a:rPr lang="en-US" sz="1800" b="1" dirty="0">
                <a:solidFill>
                  <a:schemeClr val="tx2"/>
                </a:solidFill>
              </a:rPr>
              <a:t>Veri güvenliği</a:t>
            </a:r>
            <a:endParaRPr lang="en-US" sz="1800" dirty="0"/>
          </a:p>
        </p:txBody>
      </p:sp>
      <p:sp>
        <p:nvSpPr>
          <p:cNvPr id="27" name="Text 19"/>
          <p:cNvSpPr txBox="1"/>
          <p:nvPr/>
        </p:nvSpPr>
        <p:spPr>
          <a:xfrm>
            <a:off x="5257800" y="5074920"/>
            <a:ext cx="2743200" cy="822960"/>
          </a:xfrm>
          <a:prstGeom prst="rect">
            <a:avLst/>
          </a:prstGeom>
          <a:noFill/>
          <a:ln/>
        </p:spPr>
        <p:txBody>
          <a:bodyPr wrap="square" lIns="0" tIns="0" rIns="0" bIns="0" rtlCol="0" anchor="t"/>
          <a:lstStyle/>
          <a:p>
            <a:pPr indent="0" marL="0">
              <a:buNone/>
            </a:pPr>
            <a:r>
              <a:rPr lang="en-US" sz="1500" dirty="0">
                <a:solidFill>
                  <a:schemeClr val="tx1"/>
                </a:solidFill>
              </a:rPr>
              <a:t>Çalışan verilerinin yerli altyapıda korunması</a:t>
            </a:r>
            <a:endParaRPr lang="en-US" sz="1500" dirty="0"/>
          </a:p>
        </p:txBody>
      </p:sp>
      <p:sp>
        <p:nvSpPr>
          <p:cNvPr id="28" name="Alıntı paneli"/>
          <p:cNvSpPr/>
          <p:nvPr/>
        </p:nvSpPr>
        <p:spPr>
          <a:xfrm>
            <a:off x="8321040" y="1600200"/>
            <a:ext cx="3322015" cy="4343400"/>
          </a:xfrm>
          <a:prstGeom prst="roundRect">
            <a:avLst>
              <a:gd name="adj" fmla="val 2202"/>
            </a:avLst>
          </a:prstGeom>
          <a:solidFill>
            <a:schemeClr val="tx2"/>
          </a:solidFill>
          <a:ln/>
        </p:spPr>
      </p:sp>
      <p:sp>
        <p:nvSpPr>
          <p:cNvPr id="29" name="Text 21"/>
          <p:cNvSpPr txBox="1"/>
          <p:nvPr/>
        </p:nvSpPr>
        <p:spPr>
          <a:xfrm>
            <a:off x="8595360" y="1691640"/>
            <a:ext cx="914400" cy="822960"/>
          </a:xfrm>
          <a:prstGeom prst="rect">
            <a:avLst/>
          </a:prstGeom>
          <a:noFill/>
          <a:ln/>
        </p:spPr>
        <p:txBody>
          <a:bodyPr wrap="square" lIns="0" tIns="0" rIns="0" bIns="0" rtlCol="0" anchor="t"/>
          <a:lstStyle/>
          <a:p>
            <a:pPr indent="0" marL="0">
              <a:buNone/>
            </a:pPr>
            <a:r>
              <a:rPr lang="en-US" sz="6000" b="1" dirty="0">
                <a:solidFill>
                  <a:schemeClr val="accent4"/>
                </a:solidFill>
                <a:latin typeface="Cambria" pitchFamily="34" charset="0"/>
                <a:ea typeface="Cambria" pitchFamily="34" charset="-122"/>
                <a:cs typeface="Cambria" pitchFamily="34" charset="-120"/>
              </a:rPr>
              <a:t>“</a:t>
            </a:r>
            <a:endParaRPr lang="en-US" sz="6000" dirty="0"/>
          </a:p>
        </p:txBody>
      </p:sp>
      <p:sp>
        <p:nvSpPr>
          <p:cNvPr id="30" name="Text 22"/>
          <p:cNvSpPr txBox="1"/>
          <p:nvPr/>
        </p:nvSpPr>
        <p:spPr>
          <a:xfrm>
            <a:off x="8595360" y="2468880"/>
            <a:ext cx="2773375" cy="2697480"/>
          </a:xfrm>
          <a:prstGeom prst="rect">
            <a:avLst/>
          </a:prstGeom>
          <a:noFill/>
          <a:ln/>
        </p:spPr>
        <p:txBody>
          <a:bodyPr wrap="square" lIns="0" tIns="0" rIns="0" bIns="0" rtlCol="0" anchor="t"/>
          <a:lstStyle/>
          <a:p>
            <a:pPr indent="0" marL="0">
              <a:buNone/>
            </a:pPr>
            <a:r>
              <a:rPr lang="en-US" sz="1800" i="1" dirty="0">
                <a:solidFill>
                  <a:schemeClr val="bg1"/>
                </a:solidFill>
                <a:latin typeface="Cambria" pitchFamily="34" charset="0"/>
                <a:ea typeface="Cambria" pitchFamily="34" charset="-122"/>
                <a:cs typeface="Cambria" pitchFamily="34" charset="-120"/>
              </a:rPr>
              <a:t>Nitelikli personel kaybı resmi bir risk olarak tanımlanmıştır. Aileleriyle yaşanabilir bir yaşam alanı, istihdam hedefinin altyapısını oluşturmaktadır.</a:t>
            </a:r>
            <a:endParaRPr lang="en-US" sz="1800" dirty="0"/>
          </a:p>
        </p:txBody>
      </p:sp>
      <p:sp>
        <p:nvSpPr>
          <p:cNvPr id="31" name="Text 23"/>
          <p:cNvSpPr txBox="1"/>
          <p:nvPr/>
        </p:nvSpPr>
        <p:spPr>
          <a:xfrm>
            <a:off x="8595360" y="5212080"/>
            <a:ext cx="2773375" cy="731520"/>
          </a:xfrm>
          <a:prstGeom prst="rect">
            <a:avLst/>
          </a:prstGeom>
          <a:noFill/>
          <a:ln/>
        </p:spPr>
        <p:txBody>
          <a:bodyPr wrap="square" lIns="0" tIns="0" rIns="0" bIns="0" rtlCol="0" anchor="t"/>
          <a:lstStyle/>
          <a:p>
            <a:pPr indent="0" marL="0">
              <a:buNone/>
            </a:pPr>
            <a:r>
              <a:rPr lang="en-US" sz="1200" dirty="0">
                <a:solidFill>
                  <a:schemeClr val="bg2"/>
                </a:solidFill>
              </a:rPr>
              <a:t>Dayanak: SSB Stratejik Planı 2024–2028, s. 46; 12. Kalkınma Planı, Tablo 22.</a:t>
            </a:r>
            <a:endParaRPr lang="en-US" sz="1200" dirty="0"/>
          </a:p>
        </p:txBody>
      </p:sp>
      <p:sp>
        <p:nvSpPr>
          <p:cNvPr id="32" name="Text 24"/>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Uygulama modeli (yapım ve satış yöntemi) bu çalışmanın kapsamı dışındadır.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YATIRIM VE FAYDA · YATIRIM TUTARI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Yatırım tutarı: yaklaşık 12,5 milyar TL</a:t>
            </a:r>
            <a:endParaRPr lang="en-US" sz="3600" dirty="0"/>
          </a:p>
        </p:txBody>
      </p:sp>
      <p:graphicFrame>
        <p:nvGraphicFramePr>
          <p:cNvPr id="4" name="Chart 0" descr=""/>
          <p:cNvGraphicFramePr/>
          <p:nvPr/>
        </p:nvGraphicFramePr>
        <p:xfrm>
          <a:off x="548640" y="1600200"/>
          <a:ext cx="6949440" cy="3977640"/>
        </p:xfrm>
        <a:graphic xmlns:a="http://schemas.openxmlformats.org/drawingml/2006/main">
          <a:graphicData uri="http://schemas.openxmlformats.org/drawingml/2006/chart">
            <c:chart xmlns:c="http://schemas.openxmlformats.org/drawingml/2006/chart" r:id="rId1"/>
          </a:graphicData>
        </a:graphic>
      </p:graphicFrame>
      <p:sp>
        <p:nvSpPr>
          <p:cNvPr id="5" name="Gösterim"/>
          <p:cNvSpPr/>
          <p:nvPr/>
        </p:nvSpPr>
        <p:spPr>
          <a:xfrm>
            <a:off x="822960" y="5687568"/>
            <a:ext cx="201168" cy="201168"/>
          </a:xfrm>
          <a:prstGeom prst="rect">
            <a:avLst/>
          </a:prstGeom>
          <a:solidFill>
            <a:schemeClr val="accent1"/>
          </a:solidFill>
          <a:ln/>
        </p:spPr>
      </p:sp>
      <p:sp>
        <p:nvSpPr>
          <p:cNvPr id="6" name="Text 3"/>
          <p:cNvSpPr txBox="1"/>
          <p:nvPr/>
        </p:nvSpPr>
        <p:spPr>
          <a:xfrm>
            <a:off x="1097280" y="5641848"/>
            <a:ext cx="2926080" cy="292608"/>
          </a:xfrm>
          <a:prstGeom prst="rect">
            <a:avLst/>
          </a:prstGeom>
          <a:noFill/>
          <a:ln/>
        </p:spPr>
        <p:txBody>
          <a:bodyPr wrap="square" lIns="0" tIns="0" rIns="0" bIns="0" rtlCol="0" anchor="ctr"/>
          <a:lstStyle/>
          <a:p>
            <a:pPr indent="0" marL="0">
              <a:buNone/>
            </a:pPr>
            <a:r>
              <a:rPr lang="en-US" sz="1200" dirty="0">
                <a:solidFill>
                  <a:schemeClr val="tx1"/>
                </a:solidFill>
              </a:rPr>
              <a:t>Kamu ve ortak kullanım</a:t>
            </a:r>
            <a:endParaRPr lang="en-US" sz="1200" dirty="0"/>
          </a:p>
        </p:txBody>
      </p:sp>
      <p:sp>
        <p:nvSpPr>
          <p:cNvPr id="7" name="Gösterim"/>
          <p:cNvSpPr/>
          <p:nvPr/>
        </p:nvSpPr>
        <p:spPr>
          <a:xfrm>
            <a:off x="3063240" y="5687568"/>
            <a:ext cx="201168" cy="201168"/>
          </a:xfrm>
          <a:prstGeom prst="rect">
            <a:avLst/>
          </a:prstGeom>
          <a:solidFill>
            <a:schemeClr val="tx2"/>
          </a:solidFill>
          <a:ln/>
        </p:spPr>
      </p:sp>
      <p:sp>
        <p:nvSpPr>
          <p:cNvPr id="8" name="Text 5"/>
          <p:cNvSpPr txBox="1"/>
          <p:nvPr/>
        </p:nvSpPr>
        <p:spPr>
          <a:xfrm>
            <a:off x="3337560" y="5641848"/>
            <a:ext cx="2926080" cy="292608"/>
          </a:xfrm>
          <a:prstGeom prst="rect">
            <a:avLst/>
          </a:prstGeom>
          <a:noFill/>
          <a:ln/>
        </p:spPr>
        <p:txBody>
          <a:bodyPr wrap="square" lIns="0" tIns="0" rIns="0" bIns="0" rtlCol="0" anchor="ctr"/>
          <a:lstStyle/>
          <a:p>
            <a:pPr indent="0" marL="0">
              <a:buNone/>
            </a:pPr>
            <a:r>
              <a:rPr lang="en-US" sz="1200" dirty="0">
                <a:solidFill>
                  <a:schemeClr val="tx1"/>
                </a:solidFill>
              </a:rPr>
              <a:t>Satış ve işletme geliriyle karşılanan</a:t>
            </a:r>
            <a:endParaRPr lang="en-US" sz="1200" dirty="0"/>
          </a:p>
        </p:txBody>
      </p:sp>
      <p:sp>
        <p:nvSpPr>
          <p:cNvPr id="9" name="Gösterim"/>
          <p:cNvSpPr/>
          <p:nvPr/>
        </p:nvSpPr>
        <p:spPr>
          <a:xfrm>
            <a:off x="6080760" y="5687568"/>
            <a:ext cx="201168" cy="201168"/>
          </a:xfrm>
          <a:prstGeom prst="rect">
            <a:avLst/>
          </a:prstGeom>
          <a:solidFill>
            <a:schemeClr val="accent5"/>
          </a:solidFill>
          <a:ln/>
        </p:spPr>
      </p:sp>
      <p:sp>
        <p:nvSpPr>
          <p:cNvPr id="10" name="Text 7"/>
          <p:cNvSpPr txBox="1"/>
          <p:nvPr/>
        </p:nvSpPr>
        <p:spPr>
          <a:xfrm>
            <a:off x="6355080" y="5641848"/>
            <a:ext cx="2926080" cy="292608"/>
          </a:xfrm>
          <a:prstGeom prst="rect">
            <a:avLst/>
          </a:prstGeom>
          <a:noFill/>
          <a:ln/>
        </p:spPr>
        <p:txBody>
          <a:bodyPr wrap="square" lIns="0" tIns="0" rIns="0" bIns="0" rtlCol="0" anchor="ctr"/>
          <a:lstStyle/>
          <a:p>
            <a:pPr indent="0" marL="0">
              <a:buNone/>
            </a:pPr>
            <a:r>
              <a:rPr lang="en-US" sz="1200" dirty="0">
                <a:solidFill>
                  <a:schemeClr val="tx1"/>
                </a:solidFill>
              </a:rPr>
              <a:t>Ortak gider</a:t>
            </a:r>
            <a:endParaRPr lang="en-US" sz="1200" dirty="0"/>
          </a:p>
        </p:txBody>
      </p:sp>
      <p:sp>
        <p:nvSpPr>
          <p:cNvPr id="11" name="Gösterge"/>
          <p:cNvSpPr/>
          <p:nvPr/>
        </p:nvSpPr>
        <p:spPr>
          <a:xfrm>
            <a:off x="7818120" y="1600200"/>
            <a:ext cx="3824935"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2" name="Text 9"/>
          <p:cNvSpPr txBox="1"/>
          <p:nvPr/>
        </p:nvSpPr>
        <p:spPr>
          <a:xfrm>
            <a:off x="8001000" y="1728216"/>
            <a:ext cx="3459175" cy="662940"/>
          </a:xfrm>
          <a:prstGeom prst="rect">
            <a:avLst/>
          </a:prstGeom>
          <a:noFill/>
          <a:ln/>
        </p:spPr>
        <p:txBody>
          <a:bodyPr wrap="square" lIns="0" tIns="0" rIns="0" bIns="0" rtlCol="0" anchor="b"/>
          <a:lstStyle/>
          <a:p>
            <a:pPr indent="0" marL="0">
              <a:buNone/>
            </a:pPr>
            <a:r>
              <a:rPr lang="en-US" sz="3000" b="1" dirty="0">
                <a:solidFill>
                  <a:schemeClr val="tx2"/>
                </a:solidFill>
                <a:latin typeface="Cambria" pitchFamily="34" charset="0"/>
                <a:ea typeface="Cambria" pitchFamily="34" charset="-122"/>
                <a:cs typeface="Cambria" pitchFamily="34" charset="-120"/>
              </a:rPr>
              <a:t>12,54 mlr TL</a:t>
            </a:r>
            <a:endParaRPr lang="en-US" sz="3000" dirty="0"/>
          </a:p>
        </p:txBody>
      </p:sp>
      <p:sp>
        <p:nvSpPr>
          <p:cNvPr id="13" name="Text 10"/>
          <p:cNvSpPr txBox="1"/>
          <p:nvPr/>
        </p:nvSpPr>
        <p:spPr>
          <a:xfrm>
            <a:off x="8001000" y="2409444"/>
            <a:ext cx="3459175" cy="425196"/>
          </a:xfrm>
          <a:prstGeom prst="rect">
            <a:avLst/>
          </a:prstGeom>
          <a:noFill/>
          <a:ln/>
        </p:spPr>
        <p:txBody>
          <a:bodyPr wrap="square" lIns="0" tIns="0" rIns="0" bIns="0" rtlCol="0" anchor="t"/>
          <a:lstStyle/>
          <a:p>
            <a:pPr indent="0" marL="0">
              <a:buNone/>
            </a:pPr>
            <a:r>
              <a:rPr lang="en-US" sz="1300" dirty="0">
                <a:solidFill>
                  <a:schemeClr val="tx1"/>
                </a:solidFill>
              </a:rPr>
              <a:t>toplam yatırım · aralık 9,93–15,94</a:t>
            </a:r>
            <a:endParaRPr lang="en-US" sz="1300" dirty="0"/>
          </a:p>
        </p:txBody>
      </p:sp>
      <p:sp>
        <p:nvSpPr>
          <p:cNvPr id="14" name="Gösterge"/>
          <p:cNvSpPr/>
          <p:nvPr/>
        </p:nvSpPr>
        <p:spPr>
          <a:xfrm>
            <a:off x="7818120" y="3108960"/>
            <a:ext cx="3824935"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5" name="Text 12"/>
          <p:cNvSpPr txBox="1"/>
          <p:nvPr/>
        </p:nvSpPr>
        <p:spPr>
          <a:xfrm>
            <a:off x="8001000" y="3236976"/>
            <a:ext cx="3459175" cy="66294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3,29 mlr TL</a:t>
            </a:r>
            <a:endParaRPr lang="en-US" sz="3000" dirty="0"/>
          </a:p>
        </p:txBody>
      </p:sp>
      <p:sp>
        <p:nvSpPr>
          <p:cNvPr id="16" name="Text 13"/>
          <p:cNvSpPr txBox="1"/>
          <p:nvPr/>
        </p:nvSpPr>
        <p:spPr>
          <a:xfrm>
            <a:off x="8001000" y="3918204"/>
            <a:ext cx="3459175" cy="425196"/>
          </a:xfrm>
          <a:prstGeom prst="rect">
            <a:avLst/>
          </a:prstGeom>
          <a:noFill/>
          <a:ln/>
        </p:spPr>
        <p:txBody>
          <a:bodyPr wrap="square" lIns="0" tIns="0" rIns="0" bIns="0" rtlCol="0" anchor="t"/>
          <a:lstStyle/>
          <a:p>
            <a:pPr indent="0" marL="0">
              <a:buNone/>
            </a:pPr>
            <a:r>
              <a:rPr lang="en-US" sz="1300" dirty="0">
                <a:solidFill>
                  <a:schemeClr val="tx1"/>
                </a:solidFill>
              </a:rPr>
              <a:t>kamu ve ortak kullanım payı · %26 · aralık 2,54–4,11</a:t>
            </a:r>
            <a:endParaRPr lang="en-US" sz="1300" dirty="0"/>
          </a:p>
        </p:txBody>
      </p:sp>
      <p:sp>
        <p:nvSpPr>
          <p:cNvPr id="17" name="Gösterge"/>
          <p:cNvSpPr/>
          <p:nvPr/>
        </p:nvSpPr>
        <p:spPr>
          <a:xfrm>
            <a:off x="7818120" y="4617720"/>
            <a:ext cx="3824935"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8" name="Text 15"/>
          <p:cNvSpPr txBox="1"/>
          <p:nvPr/>
        </p:nvSpPr>
        <p:spPr>
          <a:xfrm>
            <a:off x="8001000" y="4745736"/>
            <a:ext cx="3459175" cy="662940"/>
          </a:xfrm>
          <a:prstGeom prst="rect">
            <a:avLst/>
          </a:prstGeom>
          <a:noFill/>
          <a:ln/>
        </p:spPr>
        <p:txBody>
          <a:bodyPr wrap="square" lIns="0" tIns="0" rIns="0" bIns="0" rtlCol="0" anchor="b"/>
          <a:lstStyle/>
          <a:p>
            <a:pPr indent="0" marL="0">
              <a:buNone/>
            </a:pPr>
            <a:r>
              <a:rPr lang="en-US" sz="3000" b="1" dirty="0">
                <a:solidFill>
                  <a:schemeClr val="tx2"/>
                </a:solidFill>
                <a:latin typeface="Cambria" pitchFamily="34" charset="0"/>
                <a:ea typeface="Cambria" pitchFamily="34" charset="-122"/>
                <a:cs typeface="Cambria" pitchFamily="34" charset="-120"/>
              </a:rPr>
              <a:t>~5 mn TL</a:t>
            </a:r>
            <a:endParaRPr lang="en-US" sz="3000" dirty="0"/>
          </a:p>
        </p:txBody>
      </p:sp>
      <p:sp>
        <p:nvSpPr>
          <p:cNvPr id="19" name="Text 16"/>
          <p:cNvSpPr txBox="1"/>
          <p:nvPr/>
        </p:nvSpPr>
        <p:spPr>
          <a:xfrm>
            <a:off x="8001000" y="5426964"/>
            <a:ext cx="3459175" cy="425196"/>
          </a:xfrm>
          <a:prstGeom prst="rect">
            <a:avLst/>
          </a:prstGeom>
          <a:noFill/>
          <a:ln/>
        </p:spPr>
        <p:txBody>
          <a:bodyPr wrap="square" lIns="0" tIns="0" rIns="0" bIns="0" rtlCol="0" anchor="t"/>
          <a:lstStyle/>
          <a:p>
            <a:pPr indent="0" marL="0">
              <a:buNone/>
            </a:pPr>
            <a:r>
              <a:rPr lang="en-US" sz="1300" dirty="0">
                <a:solidFill>
                  <a:schemeClr val="tx1"/>
                </a:solidFill>
              </a:rPr>
              <a:t>konut başına toplam yatırım</a:t>
            </a:r>
            <a:endParaRPr lang="en-US" sz="1300" dirty="0"/>
          </a:p>
        </p:txBody>
      </p:sp>
      <p:sp>
        <p:nvSpPr>
          <p:cNvPr id="20" name="Text 17"/>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2026 TL, KDV ve arazi hariç; arazi Hazine'nin. Başlıca belirsizlikler: yapı sınıfı, altyapı oranı, zemin ve yıllık %25–30 maliyet artışı.</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YATIRIM · SOSYAL DONATI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Sosyal donatı birim maliyetleri</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773604"/>
                <a:gridCol w="2773604"/>
                <a:gridCol w="2773604"/>
                <a:gridCol w="2773604"/>
              </a:tblGrid>
              <a:tr h="457200">
                <a:tc>
                  <a:txBody>
                    <a:bodyPr/>
                    <a:lstStyle/>
                    <a:p>
                      <a:pPr indent="0" marL="0">
                        <a:buNone/>
                      </a:pPr>
                      <a:r>
                        <a:rPr lang="en-US" sz="1300" b="1" dirty="0">
                          <a:solidFill>
                            <a:srgbClr val="FFFFFF"/>
                          </a:solidFill>
                        </a:rPr>
                        <a:t>Yapı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Emsal</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Tutar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Birim değer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457200">
                <a:tc>
                  <a:txBody>
                    <a:bodyPr/>
                    <a:lstStyle/>
                    <a:p>
                      <a:pPr indent="0" marL="0">
                        <a:buNone/>
                      </a:pPr>
                      <a:r>
                        <a:rPr lang="en-US" sz="1300" b="1" dirty="0">
                          <a:solidFill>
                            <a:srgbClr val="1B2430"/>
                          </a:solidFill>
                        </a:rPr>
                        <a:t>İlkokul (16 derslik)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Gemlik, Bursa, 2026</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~96,1 ve ~99,1 milyon TL</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~6,0–6,2 milyon TL/derslik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Anaokulu (4 derslik)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Nazilli, Aydın, 2025</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28.275.000 TL (teyit edilecek)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~7,1 milyon TL/derslik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Spor salonu (3.000 kişi)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Aydın Efeler, 2025</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280 milyon TL; 9.200 m²</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~30.400 TL/m²</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Spor salonu (3.100 koltuk)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Bursa Atatürk, 2024</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653,4 milyon TL; 18.720 m²</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~34.900 TL/m²</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Pazar, gençlik merkezi, kütüphane</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Bursa Yıldırım, 2025</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158,4 milyon TL; 8.891 m²</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≈17.800 TL/m²</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ASM (400–1.050 m²)</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ÇŞİDB sınıf maliyetiyle türetme</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≈10–28 milyon TL</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Kaynaklı bedel yok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ÇŞİDB 2026 yapı sınıfları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III-B / IV-A / IV-B</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KDV hariç</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21.050 / 26.450 / 33.900 TL/m²</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Bursa Hakimiyet; ÇŞB Aydın ilanı; Karar; ÇŞİDB 2026 yapı yaklaşık birim maliyetleri. KDV durumu çoğu emsalde belirtilmemiştir.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YATIRIM · ALTYAPI, GÖL VE ULAŞIM</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Altyapı, park ve göl birim maliyetleri</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773604"/>
                <a:gridCol w="2773604"/>
                <a:gridCol w="2773604"/>
                <a:gridCol w="2773604"/>
              </a:tblGrid>
              <a:tr h="457200">
                <a:tc>
                  <a:txBody>
                    <a:bodyPr/>
                    <a:lstStyle/>
                    <a:p>
                      <a:pPr indent="0" marL="0">
                        <a:buNone/>
                      </a:pPr>
                      <a:r>
                        <a:rPr lang="en-US" sz="1300" b="1" dirty="0">
                          <a:solidFill>
                            <a:srgbClr val="FFFFFF"/>
                          </a:solidFill>
                        </a:rPr>
                        <a:t>Kalem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Birim değer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Dayanak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Durum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457200">
                <a:tc>
                  <a:txBody>
                    <a:bodyPr/>
                    <a:lstStyle/>
                    <a:p>
                      <a:pPr indent="0" marL="0">
                        <a:buNone/>
                      </a:pPr>
                      <a:r>
                        <a:rPr lang="en-US" sz="1300" b="1" dirty="0">
                          <a:solidFill>
                            <a:srgbClr val="1B2430"/>
                          </a:solidFill>
                        </a:rPr>
                        <a:t>İçme suyu hattı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~3.900 TL/m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Alanya ASAT 2019–2026</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Türetme; karma yıllar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Kanalizasyon hattı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~4.570 TL/m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Alanya ASAT 2019–2026</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Türetme; karma yıllar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Yağmur suyu hattı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~11.180 TL/m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Alanya ASAT 2019–2026</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Türetme; karma yıllar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Kentsel altyapı toplamı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Konut maliyetinin %15–25'i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1.190–1.984 milyon TL</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Varsayım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Park ve peyzaj</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~2.480 TL/m²</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Kelkit Millet Bahçesi, Aralık 2024</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2026'ya taşınmıştır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Yapay göl (2,5 ha)</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≈4.400 TL/m² su yüzeyi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55–165 milyon TL, ±%50</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Metraj tahmini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E-otobüs ve şarj deposu</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480–600 bin EUR/otobüs</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13 otobüs: 385–524 milyon TL</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Teklif alınacaktır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Gazete Vatan (23.03.2026, Alanya ASAT); Sözcü (Kelkit, arama özeti); Karsan KAP 2024; İş Yatırım 2022; yatırım notu hesapları.</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YATIRIM VE FAYDA · KAMU FAYDASI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Kamu faydası: ölçülebilen değerler</a:t>
            </a:r>
            <a:endParaRPr lang="en-US" sz="3600" dirty="0"/>
          </a:p>
        </p:txBody>
      </p:sp>
      <p:graphicFrame>
        <p:nvGraphicFramePr>
          <p:cNvPr id="4" name="Chart 0" descr=""/>
          <p:cNvGraphicFramePr/>
          <p:nvPr/>
        </p:nvGraphicFramePr>
        <p:xfrm>
          <a:off x="548640" y="1600200"/>
          <a:ext cx="5669280" cy="4389120"/>
        </p:xfrm>
        <a:graphic xmlns:a="http://schemas.openxmlformats.org/drawingml/2006/main">
          <a:graphicData uri="http://schemas.openxmlformats.org/drawingml/2006/chart">
            <c:chart xmlns:c="http://schemas.openxmlformats.org/drawingml/2006/chart" r:id="rId1"/>
          </a:graphicData>
        </a:graphic>
      </p:graphicFrame>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583680" y="1600200"/>
          <a:ext cx="5059375" cy="914400"/>
        </p:xfrm>
        <a:graphic>
          <a:graphicData uri="http://schemas.openxmlformats.org/drawingml/2006/table">
            <a:tbl>
              <a:tblPr/>
              <a:tblGrid>
                <a:gridCol w="2130552"/>
                <a:gridCol w="914400"/>
                <a:gridCol w="914400"/>
                <a:gridCol w="914400"/>
              </a:tblGrid>
              <a:tr h="384048">
                <a:tc>
                  <a:txBody>
                    <a:bodyPr/>
                    <a:lstStyle/>
                    <a:p>
                      <a:pPr algn="l" indent="0" marL="0">
                        <a:buNone/>
                      </a:pPr>
                      <a:r>
                        <a:rPr lang="en-US" sz="1400" b="1" dirty="0">
                          <a:solidFill>
                            <a:srgbClr val="FFFFFF"/>
                          </a:solidFill>
                        </a:rPr>
                        <a:t>Yıllık fayda (milyon TL)</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400" b="1" dirty="0">
                          <a:solidFill>
                            <a:srgbClr val="FFFFFF"/>
                          </a:solidFill>
                        </a:rPr>
                        <a:t>Düşük</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400" b="1" dirty="0">
                          <a:solidFill>
                            <a:srgbClr val="FFFFFF"/>
                          </a:solidFill>
                        </a:rPr>
                        <a:t>Baz</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400" b="1" dirty="0">
                          <a:solidFill>
                            <a:srgbClr val="FFFFFF"/>
                          </a:solidFill>
                        </a:rPr>
                        <a:t>Yüksek</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384048">
                <a:tc>
                  <a:txBody>
                    <a:bodyPr/>
                    <a:lstStyle/>
                    <a:p>
                      <a:pPr algn="l" indent="0" marL="0">
                        <a:buNone/>
                      </a:pPr>
                      <a:r>
                        <a:rPr lang="en-US" sz="1400" b="1" dirty="0">
                          <a:solidFill>
                            <a:srgbClr val="1B2430"/>
                          </a:solidFill>
                        </a:rPr>
                        <a:t>Kazanılan zaman</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26</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45</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112</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1B2430"/>
                          </a:solidFill>
                        </a:rPr>
                        <a:t>Yakıt tasarrufu</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13</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13</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13</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1B2430"/>
                          </a:solidFill>
                        </a:rPr>
                        <a:t>Önlenen CO₂</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1,7</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1,7</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1,7</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1B2430"/>
                          </a:solidFill>
                        </a:rPr>
                        <a:t>Toplam</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b="1" dirty="0">
                          <a:solidFill>
                            <a:srgbClr val="1B2430"/>
                          </a:solidFill>
                        </a:rPr>
                        <a:t>40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b="1" dirty="0">
                          <a:solidFill>
                            <a:srgbClr val="1B2430"/>
                          </a:solidFill>
                        </a:rPr>
                        <a:t>60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b="1" dirty="0">
                          <a:solidFill>
                            <a:srgbClr val="1B2430"/>
                          </a:solidFill>
                        </a:rPr>
                        <a:t>127</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r>
            </a:tbl>
          </a:graphicData>
        </a:graphic>
      </p:graphicFrame>
      <p:sp>
        <p:nvSpPr>
          <p:cNvPr id="6" name="Kart"/>
          <p:cNvSpPr/>
          <p:nvPr/>
        </p:nvSpPr>
        <p:spPr>
          <a:xfrm>
            <a:off x="6583680" y="3749040"/>
            <a:ext cx="5059375" cy="2240280"/>
          </a:xfrm>
          <a:prstGeom prst="roundRect">
            <a:avLst>
              <a:gd name="adj" fmla="val 3265"/>
            </a:avLst>
          </a:prstGeom>
          <a:solidFill>
            <a:schemeClr val="bg1"/>
          </a:solidFill>
          <a:ln/>
          <a:effectLst>
            <a:outerShdw sx="100000" sy="100000" kx="0" ky="0" algn="bl" rotWithShape="0" blurRad="76200" dist="19050" dir="5400000">
              <a:srgbClr val="000000">
                <a:alpha val="12000"/>
              </a:srgbClr>
            </a:outerShdw>
          </a:effectLst>
        </p:spPr>
      </p:sp>
      <p:sp>
        <p:nvSpPr>
          <p:cNvPr id="7" name="Text 3"/>
          <p:cNvSpPr txBox="1"/>
          <p:nvPr/>
        </p:nvSpPr>
        <p:spPr>
          <a:xfrm>
            <a:off x="6812280" y="3886200"/>
            <a:ext cx="4602175" cy="2011680"/>
          </a:xfrm>
          <a:prstGeom prst="rect">
            <a:avLst/>
          </a:prstGeom>
          <a:noFill/>
          <a:ln/>
        </p:spPr>
        <p:txBody>
          <a:bodyPr wrap="square" lIns="0" tIns="0" rIns="0" bIns="0" rtlCol="0" anchor="t"/>
          <a:lstStyle/>
          <a:p>
            <a:pPr indent="0" marL="0">
              <a:spcAft>
                <a:spcPts val="600"/>
              </a:spcAft>
              <a:buNone/>
            </a:pPr>
            <a:r>
              <a:rPr lang="en-US" sz="1600" b="1" dirty="0">
                <a:solidFill>
                  <a:schemeClr val="tx2"/>
                </a:solidFill>
              </a:rPr>
              <a:t>Stratejik gerekçe</a:t>
            </a:r>
            <a:endParaRPr lang="en-US" sz="1400" dirty="0"/>
          </a:p>
          <a:p>
            <a:pPr indent="0" marL="0">
              <a:spcAft>
                <a:spcPts val="600"/>
              </a:spcAft>
              <a:buNone/>
            </a:pPr>
            <a:r>
              <a:rPr lang="en-US" sz="1400" dirty="0">
                <a:solidFill>
                  <a:schemeClr val="tx1"/>
                </a:solidFill>
              </a:rPr>
              <a:t>Ölçülen ulaşım faydası kamu payının %19–59'u düzeyindedir. Ölçülmeyen faydalar: koridordaki diğer kullanıcıların zamanı, kaza ve bakım maliyetleri, hizmetlere erişim, belediye gelirleri ve personel kaybının işverene maliyeti.</a:t>
            </a:r>
            <a:endParaRPr lang="en-US" sz="1400" dirty="0"/>
          </a:p>
          <a:p>
            <a:pPr indent="0" marL="0">
              <a:spcAft>
                <a:spcPts val="600"/>
              </a:spcAft>
              <a:buNone/>
            </a:pPr>
            <a:r>
              <a:rPr lang="en-US" sz="1400" b="1" dirty="0">
                <a:solidFill>
                  <a:schemeClr val="tx1"/>
                </a:solidFill>
              </a:rPr>
              <a:t>İnşaat döneminde yılda ~617 kişilik şantiye istihdamı öngörülmektedir (varsayım).</a:t>
            </a:r>
            <a:endParaRPr lang="en-US" sz="1400" dirty="0"/>
          </a:p>
        </p:txBody>
      </p:sp>
      <p:sp>
        <p:nvSpPr>
          <p:cNvPr id="8" name="Text 4"/>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Varsayımlar: 220 iş günü; günde 20–50 dk kazanç; zaman değeri 200 TL/saat (yüksekte 350); otomobil payı %40'tan %25'e; araç başına 1,25 kişi.</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FAYDA · PARAMETRELER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Kamu faydası parametreleri</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773604"/>
                <a:gridCol w="2773604"/>
                <a:gridCol w="2773604"/>
                <a:gridCol w="2773604"/>
              </a:tblGrid>
              <a:tr h="457200">
                <a:tc>
                  <a:txBody>
                    <a:bodyPr/>
                    <a:lstStyle/>
                    <a:p>
                      <a:pPr indent="0" marL="0">
                        <a:buNone/>
                      </a:pPr>
                      <a:r>
                        <a:rPr lang="en-US" sz="1300" b="1" dirty="0">
                          <a:solidFill>
                            <a:srgbClr val="FFFFFF"/>
                          </a:solidFill>
                        </a:rPr>
                        <a:t>Parametre</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Değer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Kaynak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Durum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457200">
                <a:tc>
                  <a:txBody>
                    <a:bodyPr/>
                    <a:lstStyle/>
                    <a:p>
                      <a:pPr indent="0" marL="0">
                        <a:buNone/>
                      </a:pPr>
                      <a:r>
                        <a:rPr lang="en-US" sz="1300" b="1" dirty="0">
                          <a:solidFill>
                            <a:srgbClr val="1B2430"/>
                          </a:solidFill>
                        </a:rPr>
                        <a:t>Zaman değeri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200 TL/saat; mühendis 350 TL/saat</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Ücret temelli hesap</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Varsayım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Benzin (Ankara)</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80,60 TL/L</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20.10.2026 indirimi sonrası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Arama özeti; teyit edilecek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Motorin (Ankara)</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97,80 TL/L</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Dünya, 19.10.2026</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Pompa fiyatı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Otomobil emisyonu</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162 g CO2/km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7 L/100 km × 2,31 kg/L</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Hesap</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Elektrik emisyon faktörü</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0,474 tCO2/MWh (dağıtım)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ETKB EVÇED, 2022 verisi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Birincil kaynak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Karbon fiyatı ve kur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82,40 EUR/tCO2; ~53,7 TL/EUR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EU ETS, 5.10.2026; örtük kur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Gölge fiyat; varsayım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Araç doluluğu ve iş günü</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1,25 kişi/araç; 220 gün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Yatırım ve fayda notu</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Varsayım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Dünya (19.10.2026); ETKB EVÇED (06.12.2024); S&amp;P Global (05.10.2026); TÜİK işgücü maliyeti; UAB dergisi (Takvim aktarımı).</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FAYDA · YÖNTEM</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Kamu faydası hesap yöntemi</a:t>
            </a:r>
            <a:endParaRPr lang="en-US" sz="3600" dirty="0"/>
          </a:p>
        </p:txBody>
      </p:sp>
      <p:sp>
        <p:nvSpPr>
          <p:cNvPr id="4" name="Madde numarası"/>
          <p:cNvSpPr/>
          <p:nvPr/>
        </p:nvSpPr>
        <p:spPr>
          <a:xfrm>
            <a:off x="548640" y="1673352"/>
            <a:ext cx="438912" cy="438912"/>
          </a:xfrm>
          <a:prstGeom prst="ellipse">
            <a:avLst/>
          </a:prstGeom>
          <a:solidFill>
            <a:schemeClr val="tx2"/>
          </a:solid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5" name="Text 3"/>
          <p:cNvSpPr txBox="1"/>
          <p:nvPr/>
        </p:nvSpPr>
        <p:spPr>
          <a:xfrm>
            <a:off x="1188720" y="1618488"/>
            <a:ext cx="10454335" cy="768096"/>
          </a:xfrm>
          <a:prstGeom prst="rect">
            <a:avLst/>
          </a:prstGeom>
          <a:noFill/>
          <a:ln/>
        </p:spPr>
        <p:txBody>
          <a:bodyPr wrap="square" lIns="0" tIns="0" rIns="0" bIns="0" rtlCol="0" anchor="ctr"/>
          <a:lstStyle/>
          <a:p>
            <a:pPr indent="0" marL="0">
              <a:buNone/>
            </a:pPr>
            <a:r>
              <a:rPr lang="en-US" sz="1700" dirty="0">
                <a:solidFill>
                  <a:schemeClr val="tx1"/>
                </a:solidFill>
              </a:rPr>
              <a:t>Zaman kazancı: günlük kazanç (20–50 dk, baz 35) × 220 iş günü × zaman değeri</a:t>
            </a:r>
            <a:endParaRPr lang="en-US" sz="1700" dirty="0"/>
          </a:p>
        </p:txBody>
      </p:sp>
      <p:sp>
        <p:nvSpPr>
          <p:cNvPr id="6" name="Madde numarası"/>
          <p:cNvSpPr/>
          <p:nvPr/>
        </p:nvSpPr>
        <p:spPr>
          <a:xfrm>
            <a:off x="548640" y="2514600"/>
            <a:ext cx="438912" cy="438912"/>
          </a:xfrm>
          <a:prstGeom prst="ellipse">
            <a:avLst/>
          </a:prstGeom>
          <a:solidFill>
            <a:schemeClr val="accent1"/>
          </a:solid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7" name="Text 5"/>
          <p:cNvSpPr txBox="1"/>
          <p:nvPr/>
        </p:nvSpPr>
        <p:spPr>
          <a:xfrm>
            <a:off x="1188720" y="2459736"/>
            <a:ext cx="10454335" cy="768096"/>
          </a:xfrm>
          <a:prstGeom prst="rect">
            <a:avLst/>
          </a:prstGeom>
          <a:noFill/>
          <a:ln/>
        </p:spPr>
        <p:txBody>
          <a:bodyPr wrap="square" lIns="0" tIns="0" rIns="0" bIns="0" rtlCol="0" anchor="ctr"/>
          <a:lstStyle/>
          <a:p>
            <a:pPr indent="0" marL="0">
              <a:buNone/>
            </a:pPr>
            <a:r>
              <a:rPr lang="en-US" sz="1700" dirty="0">
                <a:solidFill>
                  <a:schemeClr val="tx1"/>
                </a:solidFill>
              </a:rPr>
              <a:t>Araç-km azalması: çalışan × otomobil payı (%40'tan %25'e) / doluluk × 2 × 25 km × 220 gün</a:t>
            </a:r>
            <a:endParaRPr lang="en-US" sz="1700" dirty="0"/>
          </a:p>
        </p:txBody>
      </p:sp>
      <p:sp>
        <p:nvSpPr>
          <p:cNvPr id="8" name="Madde numarası"/>
          <p:cNvSpPr/>
          <p:nvPr/>
        </p:nvSpPr>
        <p:spPr>
          <a:xfrm>
            <a:off x="548640" y="3355848"/>
            <a:ext cx="438912" cy="438912"/>
          </a:xfrm>
          <a:prstGeom prst="ellipse">
            <a:avLst/>
          </a:prstGeom>
          <a:solidFill>
            <a:schemeClr val="tx2"/>
          </a:solid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9" name="Text 7"/>
          <p:cNvSpPr txBox="1"/>
          <p:nvPr/>
        </p:nvSpPr>
        <p:spPr>
          <a:xfrm>
            <a:off x="1188720" y="3300984"/>
            <a:ext cx="10454335" cy="768096"/>
          </a:xfrm>
          <a:prstGeom prst="rect">
            <a:avLst/>
          </a:prstGeom>
          <a:noFill/>
          <a:ln/>
        </p:spPr>
        <p:txBody>
          <a:bodyPr wrap="square" lIns="0" tIns="0" rIns="0" bIns="0" rtlCol="0" anchor="ctr"/>
          <a:lstStyle/>
          <a:p>
            <a:pPr indent="0" marL="0">
              <a:buNone/>
            </a:pPr>
            <a:r>
              <a:rPr lang="en-US" sz="1700" dirty="0">
                <a:solidFill>
                  <a:schemeClr val="tx1"/>
                </a:solidFill>
              </a:rPr>
              <a:t>Yakıt: araç-km × 7 L/100 km × 80,6 TL/L; CO2: litre × 2,31 kg × 82,4 EUR/t</a:t>
            </a:r>
            <a:endParaRPr lang="en-US" sz="1700" dirty="0"/>
          </a:p>
        </p:txBody>
      </p:sp>
      <p:sp>
        <p:nvSpPr>
          <p:cNvPr id="10" name="Madde numarası"/>
          <p:cNvSpPr/>
          <p:nvPr/>
        </p:nvSpPr>
        <p:spPr>
          <a:xfrm>
            <a:off x="548640" y="4197096"/>
            <a:ext cx="438912" cy="438912"/>
          </a:xfrm>
          <a:prstGeom prst="ellipse">
            <a:avLst/>
          </a:prstGeom>
          <a:solidFill>
            <a:schemeClr val="accent1"/>
          </a:solid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1" name="Text 9"/>
          <p:cNvSpPr txBox="1"/>
          <p:nvPr/>
        </p:nvSpPr>
        <p:spPr>
          <a:xfrm>
            <a:off x="1188720" y="4142232"/>
            <a:ext cx="10454335" cy="768096"/>
          </a:xfrm>
          <a:prstGeom prst="rect">
            <a:avLst/>
          </a:prstGeom>
          <a:noFill/>
          <a:ln/>
        </p:spPr>
        <p:txBody>
          <a:bodyPr wrap="square" lIns="0" tIns="0" rIns="0" bIns="0" rtlCol="0" anchor="ctr"/>
          <a:lstStyle/>
          <a:p>
            <a:pPr indent="0" marL="0">
              <a:buNone/>
            </a:pPr>
            <a:r>
              <a:rPr lang="en-US" sz="1700" dirty="0">
                <a:solidFill>
                  <a:schemeClr val="tx1"/>
                </a:solidFill>
              </a:rPr>
              <a:t>Ekspres hattın şarj kaynaklı emisyonu düşülür: otobüs-km başına 0,55 kg CO2</a:t>
            </a:r>
            <a:endParaRPr lang="en-US" sz="1700" dirty="0"/>
          </a:p>
        </p:txBody>
      </p:sp>
      <p:sp>
        <p:nvSpPr>
          <p:cNvPr id="12" name="Madde numarası"/>
          <p:cNvSpPr/>
          <p:nvPr/>
        </p:nvSpPr>
        <p:spPr>
          <a:xfrm>
            <a:off x="548640" y="5038344"/>
            <a:ext cx="438912" cy="438912"/>
          </a:xfrm>
          <a:prstGeom prst="ellipse">
            <a:avLst/>
          </a:prstGeom>
          <a:solidFill>
            <a:schemeClr val="tx2"/>
          </a:solid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13" name="Text 11"/>
          <p:cNvSpPr txBox="1"/>
          <p:nvPr/>
        </p:nvSpPr>
        <p:spPr>
          <a:xfrm>
            <a:off x="1188720" y="4983480"/>
            <a:ext cx="10454335" cy="768096"/>
          </a:xfrm>
          <a:prstGeom prst="rect">
            <a:avLst/>
          </a:prstGeom>
          <a:noFill/>
          <a:ln/>
        </p:spPr>
        <p:txBody>
          <a:bodyPr wrap="square" lIns="0" tIns="0" rIns="0" bIns="0" rtlCol="0" anchor="ctr"/>
          <a:lstStyle/>
          <a:p>
            <a:pPr indent="0" marL="0">
              <a:buNone/>
            </a:pPr>
            <a:r>
              <a:rPr lang="en-US" sz="1700" dirty="0">
                <a:solidFill>
                  <a:schemeClr val="tx1"/>
                </a:solidFill>
              </a:rPr>
              <a:t>Sonuç: yılda 40–127 milyon TL; reel %5 ile 30 yıllık bugünkü değer 0,62–1,95 milyar TL</a:t>
            </a:r>
            <a:endParaRPr lang="en-US" sz="1700" dirty="0"/>
          </a:p>
        </p:txBody>
      </p:sp>
      <p:sp>
        <p:nvSpPr>
          <p:cNvPr id="14" name="Text 1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Koordinatör hesabı (yatırım ve fayda notu, 23.10.2026); KGM fayda-maliyet yaklaşımı. Zaman değeri, doluluk ve mesafe varsayımdır.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FAYDA · İNŞAAT İSTİHDAMI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İnşaat dönemi istihdamı</a:t>
            </a:r>
            <a:endParaRPr lang="en-US" sz="3600" dirty="0"/>
          </a:p>
        </p:txBody>
      </p:sp>
      <p:sp>
        <p:nvSpPr>
          <p:cNvPr id="4" name="Gösterge"/>
          <p:cNvSpPr/>
          <p:nvPr/>
        </p:nvSpPr>
        <p:spPr>
          <a:xfrm>
            <a:off x="548640" y="1600200"/>
            <a:ext cx="3515258"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5" name="Text 3"/>
          <p:cNvSpPr txBox="1"/>
          <p:nvPr/>
        </p:nvSpPr>
        <p:spPr>
          <a:xfrm>
            <a:off x="731520" y="1728216"/>
            <a:ext cx="3149498" cy="662940"/>
          </a:xfrm>
          <a:prstGeom prst="rect">
            <a:avLst/>
          </a:prstGeom>
          <a:noFill/>
          <a:ln/>
        </p:spPr>
        <p:txBody>
          <a:bodyPr wrap="square" lIns="0" tIns="0" rIns="0" bIns="0" rtlCol="0" anchor="b"/>
          <a:lstStyle/>
          <a:p>
            <a:pPr indent="0" marL="0">
              <a:buNone/>
            </a:pPr>
            <a:r>
              <a:rPr lang="en-US" sz="2800" b="1" dirty="0">
                <a:solidFill>
                  <a:schemeClr val="tx2"/>
                </a:solidFill>
                <a:latin typeface="Cambria" pitchFamily="34" charset="0"/>
                <a:ea typeface="Cambria" pitchFamily="34" charset="-122"/>
                <a:cs typeface="Cambria" pitchFamily="34" charset="-120"/>
              </a:rPr>
              <a:t>~617 (varsayım)</a:t>
            </a:r>
            <a:endParaRPr lang="en-US" sz="2800" dirty="0"/>
          </a:p>
        </p:txBody>
      </p:sp>
      <p:sp>
        <p:nvSpPr>
          <p:cNvPr id="6" name="Text 4"/>
          <p:cNvSpPr txBox="1"/>
          <p:nvPr/>
        </p:nvSpPr>
        <p:spPr>
          <a:xfrm>
            <a:off x="731520" y="2409444"/>
            <a:ext cx="3149498" cy="425196"/>
          </a:xfrm>
          <a:prstGeom prst="rect">
            <a:avLst/>
          </a:prstGeom>
          <a:noFill/>
          <a:ln/>
        </p:spPr>
        <p:txBody>
          <a:bodyPr wrap="square" lIns="0" tIns="0" rIns="0" bIns="0" rtlCol="0" anchor="t"/>
          <a:lstStyle/>
          <a:p>
            <a:pPr indent="0" marL="0">
              <a:buNone/>
            </a:pPr>
            <a:r>
              <a:rPr lang="en-US" sz="1300" dirty="0">
                <a:solidFill>
                  <a:schemeClr val="tx1"/>
                </a:solidFill>
              </a:rPr>
              <a:t>Yıllık ortalama şantiye istihdamı (kişi)</a:t>
            </a:r>
            <a:endParaRPr lang="en-US" sz="1300" dirty="0"/>
          </a:p>
        </p:txBody>
      </p:sp>
      <p:sp>
        <p:nvSpPr>
          <p:cNvPr id="7" name="Gösterge"/>
          <p:cNvSpPr/>
          <p:nvPr/>
        </p:nvSpPr>
        <p:spPr>
          <a:xfrm>
            <a:off x="4338218" y="1600200"/>
            <a:ext cx="3515258"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8" name="Text 6"/>
          <p:cNvSpPr txBox="1"/>
          <p:nvPr/>
        </p:nvSpPr>
        <p:spPr>
          <a:xfrm>
            <a:off x="4521098" y="1728216"/>
            <a:ext cx="3149498" cy="662940"/>
          </a:xfrm>
          <a:prstGeom prst="rect">
            <a:avLst/>
          </a:prstGeom>
          <a:noFill/>
          <a:ln/>
        </p:spPr>
        <p:txBody>
          <a:bodyPr wrap="square" lIns="0" tIns="0" rIns="0" bIns="0" rtlCol="0" anchor="b"/>
          <a:lstStyle/>
          <a:p>
            <a:pPr indent="0" marL="0">
              <a:buNone/>
            </a:pPr>
            <a:r>
              <a:rPr lang="en-US" sz="2800" b="1" dirty="0">
                <a:solidFill>
                  <a:schemeClr val="tx2"/>
                </a:solidFill>
                <a:latin typeface="Cambria" pitchFamily="34" charset="0"/>
                <a:ea typeface="Cambria" pitchFamily="34" charset="-122"/>
                <a:cs typeface="Cambria" pitchFamily="34" charset="-120"/>
              </a:rPr>
              <a:t>70 bin</a:t>
            </a:r>
            <a:endParaRPr lang="en-US" sz="2800" dirty="0"/>
          </a:p>
        </p:txBody>
      </p:sp>
      <p:sp>
        <p:nvSpPr>
          <p:cNvPr id="9" name="Text 7"/>
          <p:cNvSpPr txBox="1"/>
          <p:nvPr/>
        </p:nvSpPr>
        <p:spPr>
          <a:xfrm>
            <a:off x="4521098" y="2409444"/>
            <a:ext cx="3149498" cy="425196"/>
          </a:xfrm>
          <a:prstGeom prst="rect">
            <a:avLst/>
          </a:prstGeom>
          <a:noFill/>
          <a:ln/>
        </p:spPr>
        <p:txBody>
          <a:bodyPr wrap="square" lIns="0" tIns="0" rIns="0" bIns="0" rtlCol="0" anchor="t"/>
          <a:lstStyle/>
          <a:p>
            <a:pPr indent="0" marL="0">
              <a:buNone/>
            </a:pPr>
            <a:r>
              <a:rPr lang="en-US" sz="1300" dirty="0">
                <a:solidFill>
                  <a:schemeClr val="tx1"/>
                </a:solidFill>
              </a:rPr>
              <a:t>TOKİ 2021: 36,5 milyar TL'de istihdam</a:t>
            </a:r>
            <a:endParaRPr lang="en-US" sz="1300" dirty="0"/>
          </a:p>
        </p:txBody>
      </p:sp>
      <p:sp>
        <p:nvSpPr>
          <p:cNvPr id="10" name="Gösterge"/>
          <p:cNvSpPr/>
          <p:nvPr/>
        </p:nvSpPr>
        <p:spPr>
          <a:xfrm>
            <a:off x="8127797" y="1600200"/>
            <a:ext cx="3515258"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1" name="Text 9"/>
          <p:cNvSpPr txBox="1"/>
          <p:nvPr/>
        </p:nvSpPr>
        <p:spPr>
          <a:xfrm>
            <a:off x="8310677" y="1728216"/>
            <a:ext cx="3149498" cy="662940"/>
          </a:xfrm>
          <a:prstGeom prst="rect">
            <a:avLst/>
          </a:prstGeom>
          <a:noFill/>
          <a:ln/>
        </p:spPr>
        <p:txBody>
          <a:bodyPr wrap="square" lIns="0" tIns="0" rIns="0" bIns="0" rtlCol="0" anchor="b"/>
          <a:lstStyle/>
          <a:p>
            <a:pPr indent="0" marL="0">
              <a:buNone/>
            </a:pPr>
            <a:r>
              <a:rPr lang="en-US" sz="2800" b="1" dirty="0">
                <a:solidFill>
                  <a:schemeClr val="tx2"/>
                </a:solidFill>
                <a:latin typeface="Cambria" pitchFamily="34" charset="0"/>
                <a:ea typeface="Cambria" pitchFamily="34" charset="-122"/>
                <a:cs typeface="Cambria" pitchFamily="34" charset="-120"/>
              </a:rPr>
              <a:t>1.903.511</a:t>
            </a:r>
            <a:endParaRPr lang="en-US" sz="2800" dirty="0"/>
          </a:p>
        </p:txBody>
      </p:sp>
      <p:sp>
        <p:nvSpPr>
          <p:cNvPr id="12" name="Text 10"/>
          <p:cNvSpPr txBox="1"/>
          <p:nvPr/>
        </p:nvSpPr>
        <p:spPr>
          <a:xfrm>
            <a:off x="8310677" y="2409444"/>
            <a:ext cx="3149498" cy="425196"/>
          </a:xfrm>
          <a:prstGeom prst="rect">
            <a:avLst/>
          </a:prstGeom>
          <a:noFill/>
          <a:ln/>
        </p:spPr>
        <p:txBody>
          <a:bodyPr wrap="square" lIns="0" tIns="0" rIns="0" bIns="0" rtlCol="0" anchor="t"/>
          <a:lstStyle/>
          <a:p>
            <a:pPr indent="0" marL="0">
              <a:buNone/>
            </a:pPr>
            <a:r>
              <a:rPr lang="en-US" sz="1300" dirty="0">
                <a:solidFill>
                  <a:schemeClr val="tx1"/>
                </a:solidFill>
              </a:rPr>
              <a:t>İnşaat sektörü çalışanı (Haziran 2025)</a:t>
            </a:r>
            <a:endParaRPr lang="en-US" sz="1300" dirty="0"/>
          </a:p>
        </p:txBody>
      </p:sp>
      <p:sp>
        <p:nvSpPr>
          <p:cNvPr id="13" name="Gösterge"/>
          <p:cNvSpPr/>
          <p:nvPr/>
        </p:nvSpPr>
        <p:spPr>
          <a:xfrm>
            <a:off x="548640" y="3154680"/>
            <a:ext cx="3515258"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4" name="Text 12"/>
          <p:cNvSpPr txBox="1"/>
          <p:nvPr/>
        </p:nvSpPr>
        <p:spPr>
          <a:xfrm>
            <a:off x="731520" y="3282696"/>
            <a:ext cx="3149498" cy="662940"/>
          </a:xfrm>
          <a:prstGeom prst="rect">
            <a:avLst/>
          </a:prstGeom>
          <a:noFill/>
          <a:ln/>
        </p:spPr>
        <p:txBody>
          <a:bodyPr wrap="square" lIns="0" tIns="0" rIns="0" bIns="0" rtlCol="0" anchor="b"/>
          <a:lstStyle/>
          <a:p>
            <a:pPr indent="0" marL="0">
              <a:buNone/>
            </a:pPr>
            <a:r>
              <a:rPr lang="en-US" sz="2800" b="1" dirty="0">
                <a:solidFill>
                  <a:schemeClr val="tx2"/>
                </a:solidFill>
                <a:latin typeface="Cambria" pitchFamily="34" charset="0"/>
                <a:ea typeface="Cambria" pitchFamily="34" charset="-122"/>
                <a:cs typeface="Cambria" pitchFamily="34" charset="-120"/>
              </a:rPr>
              <a:t>%8,2</a:t>
            </a:r>
            <a:endParaRPr lang="en-US" sz="2800" dirty="0"/>
          </a:p>
        </p:txBody>
      </p:sp>
      <p:sp>
        <p:nvSpPr>
          <p:cNvPr id="15" name="Text 13"/>
          <p:cNvSpPr txBox="1"/>
          <p:nvPr/>
        </p:nvSpPr>
        <p:spPr>
          <a:xfrm>
            <a:off x="731520" y="3963924"/>
            <a:ext cx="3149498" cy="425196"/>
          </a:xfrm>
          <a:prstGeom prst="rect">
            <a:avLst/>
          </a:prstGeom>
          <a:noFill/>
          <a:ln/>
        </p:spPr>
        <p:txBody>
          <a:bodyPr wrap="square" lIns="0" tIns="0" rIns="0" bIns="0" rtlCol="0" anchor="t"/>
          <a:lstStyle/>
          <a:p>
            <a:pPr indent="0" marL="0">
              <a:buNone/>
            </a:pPr>
            <a:r>
              <a:rPr lang="en-US" sz="1300" dirty="0">
                <a:solidFill>
                  <a:schemeClr val="tx1"/>
                </a:solidFill>
              </a:rPr>
              <a:t>Sektör istihdamında yıllık artış</a:t>
            </a:r>
            <a:endParaRPr lang="en-US" sz="1300" dirty="0"/>
          </a:p>
        </p:txBody>
      </p:sp>
      <p:sp>
        <p:nvSpPr>
          <p:cNvPr id="16" name="Gösterge"/>
          <p:cNvSpPr/>
          <p:nvPr/>
        </p:nvSpPr>
        <p:spPr>
          <a:xfrm>
            <a:off x="4338218" y="3154680"/>
            <a:ext cx="3515258"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7" name="Text 15"/>
          <p:cNvSpPr txBox="1"/>
          <p:nvPr/>
        </p:nvSpPr>
        <p:spPr>
          <a:xfrm>
            <a:off x="4521098" y="3282696"/>
            <a:ext cx="3149498" cy="662940"/>
          </a:xfrm>
          <a:prstGeom prst="rect">
            <a:avLst/>
          </a:prstGeom>
          <a:noFill/>
          <a:ln/>
        </p:spPr>
        <p:txBody>
          <a:bodyPr wrap="square" lIns="0" tIns="0" rIns="0" bIns="0" rtlCol="0" anchor="b"/>
          <a:lstStyle/>
          <a:p>
            <a:pPr indent="0" marL="0">
              <a:buNone/>
            </a:pPr>
            <a:r>
              <a:rPr lang="en-US" sz="2800" b="1" dirty="0">
                <a:solidFill>
                  <a:schemeClr val="tx2"/>
                </a:solidFill>
                <a:latin typeface="Cambria" pitchFamily="34" charset="0"/>
                <a:ea typeface="Cambria" pitchFamily="34" charset="-122"/>
                <a:cs typeface="Cambria" pitchFamily="34" charset="-120"/>
              </a:rPr>
              <a:t>6 milyonun üzeri</a:t>
            </a:r>
            <a:endParaRPr lang="en-US" sz="2800" dirty="0"/>
          </a:p>
        </p:txBody>
      </p:sp>
      <p:sp>
        <p:nvSpPr>
          <p:cNvPr id="18" name="Text 16"/>
          <p:cNvSpPr txBox="1"/>
          <p:nvPr/>
        </p:nvSpPr>
        <p:spPr>
          <a:xfrm>
            <a:off x="4521098" y="3963924"/>
            <a:ext cx="3149498" cy="425196"/>
          </a:xfrm>
          <a:prstGeom prst="rect">
            <a:avLst/>
          </a:prstGeom>
          <a:noFill/>
          <a:ln/>
        </p:spPr>
        <p:txBody>
          <a:bodyPr wrap="square" lIns="0" tIns="0" rIns="0" bIns="0" rtlCol="0" anchor="t"/>
          <a:lstStyle/>
          <a:p>
            <a:pPr indent="0" marL="0">
              <a:buNone/>
            </a:pPr>
            <a:r>
              <a:rPr lang="en-US" sz="1300" dirty="0">
                <a:solidFill>
                  <a:schemeClr val="tx1"/>
                </a:solidFill>
              </a:rPr>
              <a:t>Yan sektörlerle toplam istihdam</a:t>
            </a:r>
            <a:endParaRPr lang="en-US" sz="1300" dirty="0"/>
          </a:p>
        </p:txBody>
      </p:sp>
      <p:sp>
        <p:nvSpPr>
          <p:cNvPr id="19" name="Gösterge"/>
          <p:cNvSpPr/>
          <p:nvPr/>
        </p:nvSpPr>
        <p:spPr>
          <a:xfrm>
            <a:off x="8127797" y="3154680"/>
            <a:ext cx="3515258"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20" name="Text 18"/>
          <p:cNvSpPr txBox="1"/>
          <p:nvPr/>
        </p:nvSpPr>
        <p:spPr>
          <a:xfrm>
            <a:off x="8310677" y="3282696"/>
            <a:ext cx="3149498" cy="662940"/>
          </a:xfrm>
          <a:prstGeom prst="rect">
            <a:avLst/>
          </a:prstGeom>
          <a:noFill/>
          <a:ln/>
        </p:spPr>
        <p:txBody>
          <a:bodyPr wrap="square" lIns="0" tIns="0" rIns="0" bIns="0" rtlCol="0" anchor="b"/>
          <a:lstStyle/>
          <a:p>
            <a:pPr indent="0" marL="0">
              <a:buNone/>
            </a:pPr>
            <a:r>
              <a:rPr lang="en-US" sz="2800" b="1" dirty="0">
                <a:solidFill>
                  <a:schemeClr val="tx2"/>
                </a:solidFill>
                <a:latin typeface="Cambria" pitchFamily="34" charset="0"/>
                <a:ea typeface="Cambria" pitchFamily="34" charset="-122"/>
                <a:cs typeface="Cambria" pitchFamily="34" charset="-120"/>
              </a:rPr>
              <a:t>%60</a:t>
            </a:r>
            <a:endParaRPr lang="en-US" sz="2800" dirty="0"/>
          </a:p>
        </p:txBody>
      </p:sp>
      <p:sp>
        <p:nvSpPr>
          <p:cNvPr id="21" name="Text 19"/>
          <p:cNvSpPr txBox="1"/>
          <p:nvPr/>
        </p:nvSpPr>
        <p:spPr>
          <a:xfrm>
            <a:off x="8310677" y="3963924"/>
            <a:ext cx="3149498" cy="425196"/>
          </a:xfrm>
          <a:prstGeom prst="rect">
            <a:avLst/>
          </a:prstGeom>
          <a:noFill/>
          <a:ln/>
        </p:spPr>
        <p:txBody>
          <a:bodyPr wrap="square" lIns="0" tIns="0" rIns="0" bIns="0" rtlCol="0" anchor="t"/>
          <a:lstStyle/>
          <a:p>
            <a:pPr indent="0" marL="0">
              <a:buNone/>
            </a:pPr>
            <a:r>
              <a:rPr lang="en-US" sz="1300" dirty="0">
                <a:solidFill>
                  <a:schemeClr val="tx1"/>
                </a:solidFill>
              </a:rPr>
              <a:t>Daire başına çalışan artışı (2010–2024)</a:t>
            </a:r>
            <a:endParaRPr lang="en-US" sz="1300" dirty="0"/>
          </a:p>
        </p:txBody>
      </p:sp>
      <p:sp>
        <p:nvSpPr>
          <p:cNvPr id="22" name="Text 20"/>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TÜİK (Capital); İNDER (Sanayi Gazetesi); Çelikradar; Para Dergi, 23.02.2022 (TOKİ); KONUTDER (arama özeti); koordinatör hesabı.</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UYGULAMA · ETAPLAMA</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Etaplama ve karar kapıları</a:t>
            </a:r>
            <a:endParaRPr lang="en-US" sz="3600" dirty="0"/>
          </a:p>
        </p:txBody>
      </p:sp>
      <p:sp>
        <p:nvSpPr>
          <p:cNvPr id="4" name="Karar kapısı"/>
          <p:cNvSpPr/>
          <p:nvPr/>
        </p:nvSpPr>
        <p:spPr>
          <a:xfrm>
            <a:off x="548640" y="1645920"/>
            <a:ext cx="457200" cy="457200"/>
          </a:xfrm>
          <a:prstGeom prst="diamond">
            <a:avLst/>
          </a:prstGeom>
          <a:solidFill>
            <a:schemeClr val="accent1"/>
          </a:solidFill>
          <a:ln/>
        </p:spPr>
      </p:sp>
      <p:sp>
        <p:nvSpPr>
          <p:cNvPr id="5" name="Text 3"/>
          <p:cNvSpPr txBox="1"/>
          <p:nvPr/>
        </p:nvSpPr>
        <p:spPr>
          <a:xfrm>
            <a:off x="1115568" y="1600200"/>
            <a:ext cx="2035226" cy="731520"/>
          </a:xfrm>
          <a:prstGeom prst="rect">
            <a:avLst/>
          </a:prstGeom>
          <a:noFill/>
          <a:ln/>
        </p:spPr>
        <p:txBody>
          <a:bodyPr wrap="square" lIns="0" tIns="0" rIns="0" bIns="0" rtlCol="0" anchor="t"/>
          <a:lstStyle/>
          <a:p>
            <a:pPr indent="0" marL="0">
              <a:buNone/>
            </a:pPr>
            <a:r>
              <a:rPr lang="en-US" sz="1300" b="1" dirty="0">
                <a:solidFill>
                  <a:schemeClr val="accent1"/>
                </a:solidFill>
              </a:rPr>
              <a:t>Karar kapısı 1</a:t>
            </a:r>
            <a:endParaRPr lang="en-US" sz="1400" dirty="0"/>
          </a:p>
          <a:p>
            <a:pPr indent="0" marL="0">
              <a:buNone/>
            </a:pPr>
            <a:r>
              <a:rPr lang="en-US" sz="1400" dirty="0">
                <a:solidFill>
                  <a:schemeClr val="tx1"/>
                </a:solidFill>
              </a:rPr>
              <a:t>Arazinin bu amaçla değerlendirilmesi</a:t>
            </a:r>
            <a:endParaRPr lang="en-US" sz="1400" dirty="0"/>
          </a:p>
        </p:txBody>
      </p:sp>
      <p:sp>
        <p:nvSpPr>
          <p:cNvPr id="6" name="Kart"/>
          <p:cNvSpPr/>
          <p:nvPr/>
        </p:nvSpPr>
        <p:spPr>
          <a:xfrm>
            <a:off x="548640" y="2514600"/>
            <a:ext cx="2602154" cy="2788920"/>
          </a:xfrm>
          <a:prstGeom prst="roundRect">
            <a:avLst>
              <a:gd name="adj" fmla="val 2811"/>
            </a:avLst>
          </a:prstGeom>
          <a:solidFill>
            <a:schemeClr val="bg1"/>
          </a:solidFill>
          <a:ln/>
          <a:effectLst>
            <a:outerShdw sx="100000" sy="100000" kx="0" ky="0" algn="bl" rotWithShape="0" blurRad="76200" dist="19050" dir="5400000">
              <a:srgbClr val="000000">
                <a:alpha val="12000"/>
              </a:srgbClr>
            </a:outerShdw>
          </a:effectLst>
        </p:spPr>
      </p:sp>
      <p:sp>
        <p:nvSpPr>
          <p:cNvPr id="7" name="Text 5"/>
          <p:cNvSpPr txBox="1"/>
          <p:nvPr/>
        </p:nvSpPr>
        <p:spPr>
          <a:xfrm>
            <a:off x="749808" y="2679192"/>
            <a:ext cx="2199818" cy="384048"/>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Hazırlık</a:t>
            </a:r>
            <a:endParaRPr lang="en-US" sz="2000" dirty="0"/>
          </a:p>
        </p:txBody>
      </p:sp>
      <p:sp>
        <p:nvSpPr>
          <p:cNvPr id="8" name="Text 6"/>
          <p:cNvSpPr txBox="1"/>
          <p:nvPr/>
        </p:nvSpPr>
        <p:spPr>
          <a:xfrm>
            <a:off x="749808" y="3081528"/>
            <a:ext cx="2199818" cy="320040"/>
          </a:xfrm>
          <a:prstGeom prst="rect">
            <a:avLst/>
          </a:prstGeom>
          <a:noFill/>
          <a:ln/>
        </p:spPr>
        <p:txBody>
          <a:bodyPr wrap="square" lIns="0" tIns="0" rIns="0" bIns="0" rtlCol="0" anchor="t"/>
          <a:lstStyle/>
          <a:p>
            <a:pPr indent="0" marL="0">
              <a:buNone/>
            </a:pPr>
            <a:r>
              <a:rPr lang="en-US" sz="1300" b="1" dirty="0">
                <a:solidFill>
                  <a:schemeClr val="accent1"/>
                </a:solidFill>
              </a:rPr>
              <a:t>süre teyit edilecek</a:t>
            </a:r>
            <a:endParaRPr lang="en-US" sz="1300" dirty="0"/>
          </a:p>
        </p:txBody>
      </p:sp>
      <p:sp>
        <p:nvSpPr>
          <p:cNvPr id="9" name="Text 7"/>
          <p:cNvSpPr txBox="1"/>
          <p:nvPr/>
        </p:nvSpPr>
        <p:spPr>
          <a:xfrm>
            <a:off x="749808" y="3520440"/>
            <a:ext cx="2199818"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Parsel, yamaç statüsü, zemin ve imar teyitleri</a:t>
            </a:r>
            <a:endParaRPr lang="en-US" sz="1400" dirty="0"/>
          </a:p>
          <a:p>
            <a:pPr marL="342900" indent="-342900">
              <a:spcAft>
                <a:spcPts val="600"/>
              </a:spcAft>
              <a:buSzPct val="100000"/>
              <a:buChar char="•"/>
            </a:pPr>
            <a:r>
              <a:rPr lang="en-US" sz="1400" dirty="0">
                <a:solidFill>
                  <a:schemeClr val="tx1"/>
                </a:solidFill>
              </a:rPr>
              <a:t>Sanayi çalışanlarına ön talep anketi</a:t>
            </a:r>
            <a:endParaRPr lang="en-US" sz="1400" dirty="0"/>
          </a:p>
          <a:p>
            <a:pPr marL="342900" indent="-342900">
              <a:spcAft>
                <a:spcPts val="600"/>
              </a:spcAft>
              <a:buSzPct val="100000"/>
              <a:buChar char="•"/>
            </a:pPr>
            <a:r>
              <a:rPr lang="en-US" sz="1400" dirty="0">
                <a:solidFill>
                  <a:schemeClr val="tx1"/>
                </a:solidFill>
              </a:rPr>
              <a:t>Master plan ve projeler</a:t>
            </a:r>
            <a:endParaRPr lang="en-US" sz="1400" dirty="0"/>
          </a:p>
        </p:txBody>
      </p:sp>
      <p:sp>
        <p:nvSpPr>
          <p:cNvPr id="10" name="Karar kapısı"/>
          <p:cNvSpPr/>
          <p:nvPr/>
        </p:nvSpPr>
        <p:spPr>
          <a:xfrm>
            <a:off x="3379394" y="1645920"/>
            <a:ext cx="457200" cy="457200"/>
          </a:xfrm>
          <a:prstGeom prst="diamond">
            <a:avLst/>
          </a:prstGeom>
          <a:solidFill>
            <a:schemeClr val="accent1"/>
          </a:solidFill>
          <a:ln/>
        </p:spPr>
      </p:sp>
      <p:sp>
        <p:nvSpPr>
          <p:cNvPr id="11" name="Text 9"/>
          <p:cNvSpPr txBox="1"/>
          <p:nvPr/>
        </p:nvSpPr>
        <p:spPr>
          <a:xfrm>
            <a:off x="3946322" y="1600200"/>
            <a:ext cx="2035226" cy="731520"/>
          </a:xfrm>
          <a:prstGeom prst="rect">
            <a:avLst/>
          </a:prstGeom>
          <a:noFill/>
          <a:ln/>
        </p:spPr>
        <p:txBody>
          <a:bodyPr wrap="square" lIns="0" tIns="0" rIns="0" bIns="0" rtlCol="0" anchor="t"/>
          <a:lstStyle/>
          <a:p>
            <a:pPr indent="0" marL="0">
              <a:buNone/>
            </a:pPr>
            <a:r>
              <a:rPr lang="en-US" sz="1300" b="1" dirty="0">
                <a:solidFill>
                  <a:schemeClr val="accent1"/>
                </a:solidFill>
              </a:rPr>
              <a:t>Karar kapısı 2</a:t>
            </a:r>
            <a:endParaRPr lang="en-US" sz="1400" dirty="0"/>
          </a:p>
          <a:p>
            <a:pPr indent="0" marL="0">
              <a:buNone/>
            </a:pPr>
            <a:r>
              <a:rPr lang="en-US" sz="1400" dirty="0">
                <a:solidFill>
                  <a:schemeClr val="tx1"/>
                </a:solidFill>
              </a:rPr>
              <a:t>Plan onayı ve talep sonucu</a:t>
            </a:r>
            <a:endParaRPr lang="en-US" sz="1400" dirty="0"/>
          </a:p>
        </p:txBody>
      </p:sp>
      <p:sp>
        <p:nvSpPr>
          <p:cNvPr id="12" name="Kart"/>
          <p:cNvSpPr/>
          <p:nvPr/>
        </p:nvSpPr>
        <p:spPr>
          <a:xfrm>
            <a:off x="3379394" y="2514600"/>
            <a:ext cx="2602154" cy="2788920"/>
          </a:xfrm>
          <a:prstGeom prst="roundRect">
            <a:avLst>
              <a:gd name="adj" fmla="val 2811"/>
            </a:avLst>
          </a:prstGeom>
          <a:solidFill>
            <a:schemeClr val="tx2"/>
          </a:solidFill>
          <a:ln/>
          <a:effectLst>
            <a:outerShdw sx="100000" sy="100000" kx="0" ky="0" algn="bl" rotWithShape="0" blurRad="76200" dist="19050" dir="5400000">
              <a:srgbClr val="000000">
                <a:alpha val="12000"/>
              </a:srgbClr>
            </a:outerShdw>
          </a:effectLst>
        </p:spPr>
      </p:sp>
      <p:sp>
        <p:nvSpPr>
          <p:cNvPr id="13" name="Text 11"/>
          <p:cNvSpPr txBox="1"/>
          <p:nvPr/>
        </p:nvSpPr>
        <p:spPr>
          <a:xfrm>
            <a:off x="3580562" y="2679192"/>
            <a:ext cx="2199818" cy="384048"/>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Aşama 0</a:t>
            </a:r>
            <a:endParaRPr lang="en-US" sz="2000" dirty="0"/>
          </a:p>
        </p:txBody>
      </p:sp>
      <p:sp>
        <p:nvSpPr>
          <p:cNvPr id="14" name="Text 12"/>
          <p:cNvSpPr txBox="1"/>
          <p:nvPr/>
        </p:nvSpPr>
        <p:spPr>
          <a:xfrm>
            <a:off x="3580562" y="3081528"/>
            <a:ext cx="2199818" cy="320040"/>
          </a:xfrm>
          <a:prstGeom prst="rect">
            <a:avLst/>
          </a:prstGeom>
          <a:noFill/>
          <a:ln/>
        </p:spPr>
        <p:txBody>
          <a:bodyPr wrap="square" lIns="0" tIns="0" rIns="0" bIns="0" rtlCol="0" anchor="t"/>
          <a:lstStyle/>
          <a:p>
            <a:pPr indent="0" marL="0">
              <a:buNone/>
            </a:pPr>
            <a:r>
              <a:rPr lang="en-US" sz="1300" b="1" dirty="0">
                <a:solidFill>
                  <a:schemeClr val="accent4"/>
                </a:solidFill>
              </a:rPr>
              <a:t>ilk konut teslimiyle aynı gün</a:t>
            </a:r>
            <a:endParaRPr lang="en-US" sz="1300" dirty="0"/>
          </a:p>
        </p:txBody>
      </p:sp>
      <p:sp>
        <p:nvSpPr>
          <p:cNvPr id="15" name="Text 13"/>
          <p:cNvSpPr txBox="1"/>
          <p:nvPr/>
        </p:nvSpPr>
        <p:spPr>
          <a:xfrm>
            <a:off x="3580562" y="3520440"/>
            <a:ext cx="2199818"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Ekspres, ring hat, ulaşım uygulaması</a:t>
            </a:r>
            <a:endParaRPr lang="en-US" sz="1400" dirty="0"/>
          </a:p>
          <a:p>
            <a:pPr marL="342900" indent="-342900">
              <a:spcAft>
                <a:spcPts val="600"/>
              </a:spcAft>
              <a:buSzPct val="100000"/>
              <a:buChar char="•"/>
            </a:pPr>
            <a:r>
              <a:rPr lang="en-US" sz="1400" dirty="0">
                <a:solidFill>
                  <a:schemeClr val="bg1"/>
                </a:solidFill>
              </a:rPr>
              <a:t>ASM ve 112; modüler kreş ve sınıflar</a:t>
            </a:r>
            <a:endParaRPr lang="en-US" sz="1400" dirty="0"/>
          </a:p>
          <a:p>
            <a:pPr marL="342900" indent="-342900">
              <a:spcAft>
                <a:spcPts val="600"/>
              </a:spcAft>
              <a:buSzPct val="100000"/>
              <a:buChar char="•"/>
            </a:pPr>
            <a:r>
              <a:rPr lang="en-US" sz="1400" dirty="0">
                <a:solidFill>
                  <a:schemeClr val="bg1"/>
                </a:solidFill>
              </a:rPr>
              <a:t>Meydan, pazar, gölün ilk etabı; fiber</a:t>
            </a:r>
            <a:endParaRPr lang="en-US" sz="1400" dirty="0"/>
          </a:p>
        </p:txBody>
      </p:sp>
      <p:sp>
        <p:nvSpPr>
          <p:cNvPr id="16" name="Karar kapısı"/>
          <p:cNvSpPr/>
          <p:nvPr/>
        </p:nvSpPr>
        <p:spPr>
          <a:xfrm>
            <a:off x="6210148" y="1645920"/>
            <a:ext cx="457200" cy="457200"/>
          </a:xfrm>
          <a:prstGeom prst="diamond">
            <a:avLst/>
          </a:prstGeom>
          <a:solidFill>
            <a:schemeClr val="accent1"/>
          </a:solidFill>
          <a:ln/>
        </p:spPr>
      </p:sp>
      <p:sp>
        <p:nvSpPr>
          <p:cNvPr id="17" name="Text 15"/>
          <p:cNvSpPr txBox="1"/>
          <p:nvPr/>
        </p:nvSpPr>
        <p:spPr>
          <a:xfrm>
            <a:off x="6777076" y="1600200"/>
            <a:ext cx="2035226" cy="731520"/>
          </a:xfrm>
          <a:prstGeom prst="rect">
            <a:avLst/>
          </a:prstGeom>
          <a:noFill/>
          <a:ln/>
        </p:spPr>
        <p:txBody>
          <a:bodyPr wrap="square" lIns="0" tIns="0" rIns="0" bIns="0" rtlCol="0" anchor="t"/>
          <a:lstStyle/>
          <a:p>
            <a:pPr indent="0" marL="0">
              <a:buNone/>
            </a:pPr>
            <a:r>
              <a:rPr lang="en-US" sz="1300" b="1" dirty="0">
                <a:solidFill>
                  <a:schemeClr val="accent1"/>
                </a:solidFill>
              </a:rPr>
              <a:t>Karar kapısı 3</a:t>
            </a:r>
            <a:endParaRPr lang="en-US" sz="1400" dirty="0"/>
          </a:p>
          <a:p>
            <a:pPr indent="0" marL="0">
              <a:buNone/>
            </a:pPr>
            <a:r>
              <a:rPr lang="en-US" sz="1400" dirty="0">
                <a:solidFill>
                  <a:schemeClr val="tx1"/>
                </a:solidFill>
              </a:rPr>
              <a:t>Yolcu talebi ve okul kaydı</a:t>
            </a:r>
            <a:endParaRPr lang="en-US" sz="1400" dirty="0"/>
          </a:p>
        </p:txBody>
      </p:sp>
      <p:sp>
        <p:nvSpPr>
          <p:cNvPr id="18" name="Kart"/>
          <p:cNvSpPr/>
          <p:nvPr/>
        </p:nvSpPr>
        <p:spPr>
          <a:xfrm>
            <a:off x="6210148" y="2514600"/>
            <a:ext cx="2602154" cy="2788920"/>
          </a:xfrm>
          <a:prstGeom prst="roundRect">
            <a:avLst>
              <a:gd name="adj" fmla="val 2811"/>
            </a:avLst>
          </a:prstGeom>
          <a:solidFill>
            <a:schemeClr val="bg1"/>
          </a:solidFill>
          <a:ln/>
          <a:effectLst>
            <a:outerShdw sx="100000" sy="100000" kx="0" ky="0" algn="bl" rotWithShape="0" blurRad="76200" dist="19050" dir="5400000">
              <a:srgbClr val="000000">
                <a:alpha val="12000"/>
              </a:srgbClr>
            </a:outerShdw>
          </a:effectLst>
        </p:spPr>
      </p:sp>
      <p:sp>
        <p:nvSpPr>
          <p:cNvPr id="19" name="Text 17"/>
          <p:cNvSpPr txBox="1"/>
          <p:nvPr/>
        </p:nvSpPr>
        <p:spPr>
          <a:xfrm>
            <a:off x="6411316" y="2679192"/>
            <a:ext cx="2199818" cy="384048"/>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Aşama 1</a:t>
            </a:r>
            <a:endParaRPr lang="en-US" sz="2000" dirty="0"/>
          </a:p>
        </p:txBody>
      </p:sp>
      <p:sp>
        <p:nvSpPr>
          <p:cNvPr id="20" name="Text 18"/>
          <p:cNvSpPr txBox="1"/>
          <p:nvPr/>
        </p:nvSpPr>
        <p:spPr>
          <a:xfrm>
            <a:off x="6411316" y="3081528"/>
            <a:ext cx="2199818" cy="320040"/>
          </a:xfrm>
          <a:prstGeom prst="rect">
            <a:avLst/>
          </a:prstGeom>
          <a:noFill/>
          <a:ln/>
        </p:spPr>
        <p:txBody>
          <a:bodyPr wrap="square" lIns="0" tIns="0" rIns="0" bIns="0" rtlCol="0" anchor="t"/>
          <a:lstStyle/>
          <a:p>
            <a:pPr indent="0" marL="0">
              <a:buNone/>
            </a:pPr>
            <a:r>
              <a:rPr lang="en-US" sz="1300" b="1" dirty="0">
                <a:solidFill>
                  <a:schemeClr val="accent1"/>
                </a:solidFill>
              </a:rPr>
              <a:t>3–6 yıl</a:t>
            </a:r>
            <a:endParaRPr lang="en-US" sz="1300" dirty="0"/>
          </a:p>
        </p:txBody>
      </p:sp>
      <p:sp>
        <p:nvSpPr>
          <p:cNvPr id="21" name="Text 19"/>
          <p:cNvSpPr txBox="1"/>
          <p:nvPr/>
        </p:nvSpPr>
        <p:spPr>
          <a:xfrm>
            <a:off x="6411316" y="3520440"/>
            <a:ext cx="2199818"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Otobüs öncelikli koridor (BRT)</a:t>
            </a:r>
            <a:endParaRPr lang="en-US" sz="1400" dirty="0"/>
          </a:p>
          <a:p>
            <a:pPr marL="342900" indent="-342900">
              <a:spcAft>
                <a:spcPts val="600"/>
              </a:spcAft>
              <a:buSzPct val="100000"/>
              <a:buChar char="•"/>
            </a:pPr>
            <a:r>
              <a:rPr lang="en-US" sz="1400" dirty="0">
                <a:solidFill>
                  <a:schemeClr val="tx1"/>
                </a:solidFill>
              </a:rPr>
              <a:t>Okul kampüsleri tamamlanır</a:t>
            </a:r>
            <a:endParaRPr lang="en-US" sz="1400" dirty="0"/>
          </a:p>
          <a:p>
            <a:pPr marL="342900" indent="-342900">
              <a:spcAft>
                <a:spcPts val="600"/>
              </a:spcAft>
              <a:buSzPct val="100000"/>
              <a:buChar char="•"/>
            </a:pPr>
            <a:r>
              <a:rPr lang="en-US" sz="1400" dirty="0">
                <a:solidFill>
                  <a:schemeClr val="tx1"/>
                </a:solidFill>
              </a:rPr>
              <a:t>Kültür merkezi, göl çevresi, spor</a:t>
            </a:r>
            <a:endParaRPr lang="en-US" sz="1400" dirty="0"/>
          </a:p>
        </p:txBody>
      </p:sp>
      <p:sp>
        <p:nvSpPr>
          <p:cNvPr id="22" name="Karar kapısı"/>
          <p:cNvSpPr/>
          <p:nvPr/>
        </p:nvSpPr>
        <p:spPr>
          <a:xfrm>
            <a:off x="9040901" y="1645920"/>
            <a:ext cx="457200" cy="457200"/>
          </a:xfrm>
          <a:prstGeom prst="diamond">
            <a:avLst/>
          </a:prstGeom>
          <a:solidFill>
            <a:schemeClr val="accent1"/>
          </a:solidFill>
          <a:ln/>
        </p:spPr>
      </p:sp>
      <p:sp>
        <p:nvSpPr>
          <p:cNvPr id="23" name="Text 21"/>
          <p:cNvSpPr txBox="1"/>
          <p:nvPr/>
        </p:nvSpPr>
        <p:spPr>
          <a:xfrm>
            <a:off x="9607829" y="1600200"/>
            <a:ext cx="2035226" cy="731520"/>
          </a:xfrm>
          <a:prstGeom prst="rect">
            <a:avLst/>
          </a:prstGeom>
          <a:noFill/>
          <a:ln/>
        </p:spPr>
        <p:txBody>
          <a:bodyPr wrap="square" lIns="0" tIns="0" rIns="0" bIns="0" rtlCol="0" anchor="t"/>
          <a:lstStyle/>
          <a:p>
            <a:pPr indent="0" marL="0">
              <a:buNone/>
            </a:pPr>
            <a:r>
              <a:rPr lang="en-US" sz="1300" b="1" dirty="0">
                <a:solidFill>
                  <a:schemeClr val="accent1"/>
                </a:solidFill>
              </a:rPr>
              <a:t>Karar kapısı 4</a:t>
            </a:r>
            <a:endParaRPr lang="en-US" sz="1400" dirty="0"/>
          </a:p>
          <a:p>
            <a:pPr indent="0" marL="0">
              <a:buNone/>
            </a:pPr>
            <a:r>
              <a:rPr lang="en-US" sz="1400" dirty="0">
                <a:solidFill>
                  <a:schemeClr val="tx1"/>
                </a:solidFill>
              </a:rPr>
              <a:t>Saatte 4–5 bin yolcu</a:t>
            </a:r>
            <a:endParaRPr lang="en-US" sz="1400" dirty="0"/>
          </a:p>
        </p:txBody>
      </p:sp>
      <p:sp>
        <p:nvSpPr>
          <p:cNvPr id="24" name="Kart"/>
          <p:cNvSpPr/>
          <p:nvPr/>
        </p:nvSpPr>
        <p:spPr>
          <a:xfrm>
            <a:off x="9040901" y="2514600"/>
            <a:ext cx="2602154" cy="2788920"/>
          </a:xfrm>
          <a:prstGeom prst="roundRect">
            <a:avLst>
              <a:gd name="adj" fmla="val 2811"/>
            </a:avLst>
          </a:prstGeom>
          <a:solidFill>
            <a:schemeClr val="bg1"/>
          </a:solidFill>
          <a:ln/>
          <a:effectLst>
            <a:outerShdw sx="100000" sy="100000" kx="0" ky="0" algn="bl" rotWithShape="0" blurRad="76200" dist="19050" dir="5400000">
              <a:srgbClr val="000000">
                <a:alpha val="12000"/>
              </a:srgbClr>
            </a:outerShdw>
          </a:effectLst>
        </p:spPr>
      </p:sp>
      <p:sp>
        <p:nvSpPr>
          <p:cNvPr id="25" name="Text 23"/>
          <p:cNvSpPr txBox="1"/>
          <p:nvPr/>
        </p:nvSpPr>
        <p:spPr>
          <a:xfrm>
            <a:off x="9242069" y="2679192"/>
            <a:ext cx="2199818" cy="384048"/>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Aşama 2</a:t>
            </a:r>
            <a:endParaRPr lang="en-US" sz="2000" dirty="0"/>
          </a:p>
        </p:txBody>
      </p:sp>
      <p:sp>
        <p:nvSpPr>
          <p:cNvPr id="26" name="Text 24"/>
          <p:cNvSpPr txBox="1"/>
          <p:nvPr/>
        </p:nvSpPr>
        <p:spPr>
          <a:xfrm>
            <a:off x="9242069" y="3081528"/>
            <a:ext cx="2199818" cy="320040"/>
          </a:xfrm>
          <a:prstGeom prst="rect">
            <a:avLst/>
          </a:prstGeom>
          <a:noFill/>
          <a:ln/>
        </p:spPr>
        <p:txBody>
          <a:bodyPr wrap="square" lIns="0" tIns="0" rIns="0" bIns="0" rtlCol="0" anchor="t"/>
          <a:lstStyle/>
          <a:p>
            <a:pPr indent="0" marL="0">
              <a:buNone/>
            </a:pPr>
            <a:r>
              <a:rPr lang="en-US" sz="1300" b="1" dirty="0">
                <a:solidFill>
                  <a:schemeClr val="accent1"/>
                </a:solidFill>
              </a:rPr>
              <a:t>6–12 yıl</a:t>
            </a:r>
            <a:endParaRPr lang="en-US" sz="1300" dirty="0"/>
          </a:p>
        </p:txBody>
      </p:sp>
      <p:sp>
        <p:nvSpPr>
          <p:cNvPr id="27" name="Text 25"/>
          <p:cNvSpPr txBox="1"/>
          <p:nvPr/>
        </p:nvSpPr>
        <p:spPr>
          <a:xfrm>
            <a:off x="9242069" y="3520440"/>
            <a:ext cx="2199818"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Hafif raylı sisteme bağlantı</a:t>
            </a:r>
            <a:endParaRPr lang="en-US" sz="1400" dirty="0"/>
          </a:p>
          <a:p>
            <a:pPr marL="342900" indent="-342900">
              <a:spcAft>
                <a:spcPts val="600"/>
              </a:spcAft>
              <a:buSzPct val="100000"/>
              <a:buChar char="•"/>
            </a:pPr>
            <a:r>
              <a:rPr lang="en-US" sz="1400" dirty="0">
                <a:solidFill>
                  <a:schemeClr val="tx1"/>
                </a:solidFill>
              </a:rPr>
              <a:t>MYO ile ortak programlar</a:t>
            </a:r>
            <a:endParaRPr lang="en-US" sz="1400" dirty="0"/>
          </a:p>
          <a:p>
            <a:pPr marL="342900" indent="-342900">
              <a:spcAft>
                <a:spcPts val="600"/>
              </a:spcAft>
              <a:buSzPct val="100000"/>
              <a:buChar char="•"/>
            </a:pPr>
            <a:r>
              <a:rPr lang="en-US" sz="1400" dirty="0">
                <a:solidFill>
                  <a:schemeClr val="tx1"/>
                </a:solidFill>
              </a:rPr>
              <a:t>Kalan konut etapları</a:t>
            </a:r>
            <a:endParaRPr lang="en-US" sz="1400" dirty="0"/>
          </a:p>
        </p:txBody>
      </p:sp>
      <p:sp>
        <p:nvSpPr>
          <p:cNvPr id="28" name="Kart"/>
          <p:cNvSpPr/>
          <p:nvPr/>
        </p:nvSpPr>
        <p:spPr>
          <a:xfrm>
            <a:off x="548640" y="5486400"/>
            <a:ext cx="11094415" cy="548640"/>
          </a:xfrm>
          <a:prstGeom prst="roundRect">
            <a:avLst>
              <a:gd name="adj" fmla="val 13333"/>
            </a:avLst>
          </a:prstGeom>
          <a:solidFill>
            <a:schemeClr val="bg1"/>
          </a:solidFill>
          <a:ln w="12700">
            <a:solidFill>
              <a:srgbClr val="DDD8CC"/>
            </a:solidFill>
            <a:prstDash val="solid"/>
          </a:ln>
        </p:spPr>
      </p:sp>
      <p:sp>
        <p:nvSpPr>
          <p:cNvPr id="29" name="Text 27"/>
          <p:cNvSpPr txBox="1"/>
          <p:nvPr/>
        </p:nvSpPr>
        <p:spPr>
          <a:xfrm>
            <a:off x="777240" y="5486400"/>
            <a:ext cx="10637215" cy="548640"/>
          </a:xfrm>
          <a:prstGeom prst="rect">
            <a:avLst/>
          </a:prstGeom>
          <a:noFill/>
          <a:ln/>
        </p:spPr>
        <p:txBody>
          <a:bodyPr wrap="square" lIns="0" tIns="0" rIns="0" bIns="0" rtlCol="0" anchor="ctr"/>
          <a:lstStyle/>
          <a:p>
            <a:pPr indent="0" marL="0">
              <a:buNone/>
            </a:pPr>
            <a:r>
              <a:rPr lang="en-US" sz="1400" b="1" dirty="0">
                <a:solidFill>
                  <a:schemeClr val="accent1"/>
                </a:solidFill>
              </a:rPr>
              <a:t>Etap ilkesi: </a:t>
            </a:r>
            <a:pPr indent="0" marL="0">
              <a:buNone/>
            </a:pPr>
            <a:r>
              <a:rPr lang="en-US" sz="1400" dirty="0">
                <a:solidFill>
                  <a:schemeClr val="tx1"/>
                </a:solidFill>
              </a:rPr>
              <a:t>her konut etabının okul, sağlık ve ulaşım hizmetleriyle eş zamanlı açılması; etap büyüklüğünün ön talep anketiyle belirlenmesi.</a:t>
            </a:r>
            <a:endParaRPr lang="en-US" sz="1400" dirty="0"/>
          </a:p>
        </p:txBody>
      </p:sp>
      <p:sp>
        <p:nvSpPr>
          <p:cNvPr id="30" name="Text 28"/>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Süreler arazinin tahsisinden ve ilk konut tesliminden sayılır; hedef yıl belirlenince takvim yıllara çevrilecek.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UYGULAMA · TEYİT PLANI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Teyit gerektiren veriler ve kurumlar</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106436"/>
                <a:gridCol w="3993989"/>
                <a:gridCol w="3993989"/>
              </a:tblGrid>
              <a:tr h="457200">
                <a:tc>
                  <a:txBody>
                    <a:bodyPr/>
                    <a:lstStyle/>
                    <a:p>
                      <a:pPr indent="0" marL="0">
                        <a:buNone/>
                      </a:pPr>
                      <a:r>
                        <a:rPr lang="en-US" sz="1300" b="1" dirty="0">
                          <a:solidFill>
                            <a:srgbClr val="FFFFFF"/>
                          </a:solidFill>
                        </a:rPr>
                        <a:t>Konu</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Teyit edilecek veri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300" b="1" dirty="0">
                          <a:solidFill>
                            <a:srgbClr val="FFFFFF"/>
                          </a:solidFill>
                        </a:rPr>
                        <a:t>Kurum</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457200">
                <a:tc>
                  <a:txBody>
                    <a:bodyPr/>
                    <a:lstStyle/>
                    <a:p>
                      <a:pPr indent="0" marL="0">
                        <a:buNone/>
                      </a:pPr>
                      <a:r>
                        <a:rPr lang="en-US" sz="1300" b="1" dirty="0">
                          <a:solidFill>
                            <a:srgbClr val="1B2430"/>
                          </a:solidFill>
                        </a:rPr>
                        <a:t>Plan durumu</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İmar durumu, üst ölçek plan kararı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ÇŞİDB, ABB, Kahramankazan Bld.</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Ağaçlandırma</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Yamaçların orman veya erozyon statüsü</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Orman İşletme Md., Milli Emlak</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Deprem ve zemin</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PGA, zemin sınıfı, jips ve şişme</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AFAD TDTH, jeoteknik etüt</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Taşkın ve su</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Dere mesafesi, taşkın, yeraltı suyu</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DSİ, ASKİ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Altyapı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Su, atıksu, elektrik ve gaz kapasitesi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ASKİ, Başkent EDAŞ, Başkentgaz</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Güvenlik bölgesi</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2565 sayılı Kanun, 2. derece bölge</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MSB (beklenti: bölge dışı)</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430"/>
                          </a:solidFill>
                        </a:rPr>
                        <a:t>İklim ve gürültü</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Rüzgâr, buharlaşma, gürültü konturu</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MGM ve ilgili kurumlar</a:t>
                      </a:r>
                      <a:endParaRPr lang="en-US" sz="1300" dirty="0"/>
                    </a:p>
                  </a:txBody>
                  <a:tcPr marL="82296" marR="82296"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Saha, altyapı ve politika notlarının boşluk bölümleri (23.10.2026). Sunuma giren rakamlar sunum öncesinde kurumlardan teyit edilecektir.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UYGULAMA · REFERANSLAR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Referanslarımız: bölgedeki projelerimiz</a:t>
            </a:r>
            <a:endParaRPr lang="en-US" sz="3600" dirty="0"/>
          </a:p>
        </p:txBody>
      </p:sp>
      <p:sp>
        <p:nvSpPr>
          <p:cNvPr id="4" name="Kart"/>
          <p:cNvSpPr/>
          <p:nvPr/>
        </p:nvSpPr>
        <p:spPr>
          <a:xfrm>
            <a:off x="548640" y="1600200"/>
            <a:ext cx="5943600" cy="3429000"/>
          </a:xfrm>
          <a:prstGeom prst="roundRect">
            <a:avLst>
              <a:gd name="adj" fmla="val 2133"/>
            </a:avLst>
          </a:prstGeom>
          <a:solidFill>
            <a:schemeClr val="bg1"/>
          </a:solidFill>
          <a:ln/>
          <a:effectLst>
            <a:outerShdw sx="100000" sy="100000" kx="0" ky="0" algn="bl" rotWithShape="0" blurRad="76200" dist="19050" dir="5400000">
              <a:srgbClr val="000000">
                <a:alpha val="12000"/>
              </a:srgbClr>
            </a:outerShdw>
          </a:effectLst>
        </p:spPr>
      </p:sp>
      <p:pic>
        <p:nvPicPr>
          <p:cNvPr id="5" name="TAI Ankara Lodgings vaziyet perspektifi" descr="/home/user/sunum/araclar/sunum/assets/ref_tai_ankara.jpg">    </p:cNvPr>
          <p:cNvPicPr>
            <a:picLocks noChangeAspect="1"/>
          </p:cNvPicPr>
          <p:nvPr/>
        </p:nvPicPr>
        <p:blipFill>
          <a:blip r:embed="rId1"/>
          <a:stretch>
            <a:fillRect/>
          </a:stretch>
        </p:blipFill>
        <p:spPr>
          <a:xfrm>
            <a:off x="548640" y="1600200"/>
            <a:ext cx="5943600" cy="2366083"/>
          </a:xfrm>
          <a:prstGeom prst="rect">
            <a:avLst/>
          </a:prstGeom>
        </p:spPr>
      </p:pic>
      <p:sp>
        <p:nvSpPr>
          <p:cNvPr id="6" name="Text 3"/>
          <p:cNvSpPr txBox="1"/>
          <p:nvPr/>
        </p:nvSpPr>
        <p:spPr>
          <a:xfrm>
            <a:off x="777240" y="4103443"/>
            <a:ext cx="5486400" cy="347472"/>
          </a:xfrm>
          <a:prstGeom prst="rect">
            <a:avLst/>
          </a:prstGeom>
          <a:noFill/>
          <a:ln/>
        </p:spPr>
        <p:txBody>
          <a:bodyPr wrap="square" lIns="0" tIns="0" rIns="0" bIns="0" rtlCol="0" anchor="ctr"/>
          <a:lstStyle/>
          <a:p>
            <a:pPr indent="0" marL="0">
              <a:buNone/>
            </a:pPr>
            <a:r>
              <a:rPr lang="en-US" sz="1800" b="1" dirty="0">
                <a:solidFill>
                  <a:schemeClr val="tx2"/>
                </a:solidFill>
              </a:rPr>
              <a:t>TAI Ankara Lodgings  </a:t>
            </a:r>
            <a:pPr indent="0" marL="0">
              <a:buNone/>
            </a:pPr>
            <a:r>
              <a:rPr lang="en-US" sz="1300" b="1" dirty="0">
                <a:solidFill>
                  <a:schemeClr val="accent1"/>
                </a:solidFill>
              </a:rPr>
              <a:t>Kahramankazan · 2022 · 400.000 m² · 1.500 konut</a:t>
            </a:r>
            <a:endParaRPr lang="en-US" sz="1400" dirty="0"/>
          </a:p>
        </p:txBody>
      </p:sp>
      <p:sp>
        <p:nvSpPr>
          <p:cNvPr id="7" name="Text 4"/>
          <p:cNvSpPr txBox="1"/>
          <p:nvPr/>
        </p:nvSpPr>
        <p:spPr>
          <a:xfrm>
            <a:off x="777240" y="4487491"/>
            <a:ext cx="5486400" cy="566928"/>
          </a:xfrm>
          <a:prstGeom prst="rect">
            <a:avLst/>
          </a:prstGeom>
          <a:noFill/>
          <a:ln/>
        </p:spPr>
        <p:txBody>
          <a:bodyPr wrap="square" lIns="0" tIns="0" rIns="0" bIns="0" rtlCol="0" anchor="t"/>
          <a:lstStyle/>
          <a:p>
            <a:pPr indent="0" marL="0">
              <a:buNone/>
            </a:pPr>
            <a:r>
              <a:rPr lang="en-US" sz="1400" dirty="0">
                <a:solidFill>
                  <a:schemeClr val="tx1"/>
                </a:solidFill>
              </a:rPr>
              <a:t>Savunma sanayi çalışanları için yeni konut mahallesi; yeşil omurga boyunca okul, sağlık ocağı, kütüphane ve spor tesisleri yürüme mesafesinde.</a:t>
            </a:r>
            <a:endParaRPr lang="en-US" sz="1400" dirty="0"/>
          </a:p>
        </p:txBody>
      </p:sp>
      <p:sp>
        <p:nvSpPr>
          <p:cNvPr id="8" name="Kart"/>
          <p:cNvSpPr/>
          <p:nvPr/>
        </p:nvSpPr>
        <p:spPr>
          <a:xfrm>
            <a:off x="548640" y="5212080"/>
            <a:ext cx="5943600" cy="777240"/>
          </a:xfrm>
          <a:prstGeom prst="roundRect">
            <a:avLst>
              <a:gd name="adj" fmla="val 9412"/>
            </a:avLst>
          </a:prstGeom>
          <a:solidFill>
            <a:schemeClr val="bg1"/>
          </a:solidFill>
          <a:ln/>
          <a:effectLst>
            <a:outerShdw sx="100000" sy="100000" kx="0" ky="0" algn="bl" rotWithShape="0" blurRad="76200" dist="19050" dir="5400000">
              <a:srgbClr val="000000">
                <a:alpha val="12000"/>
              </a:srgbClr>
            </a:outerShdw>
          </a:effectLst>
        </p:spPr>
      </p:sp>
      <p:sp>
        <p:nvSpPr>
          <p:cNvPr id="9" name="İkon zemini"/>
          <p:cNvSpPr/>
          <p:nvPr/>
        </p:nvSpPr>
        <p:spPr>
          <a:xfrm>
            <a:off x="731520" y="5330952"/>
            <a:ext cx="548640" cy="548640"/>
          </a:xfrm>
          <a:prstGeom prst="ellipse">
            <a:avLst/>
          </a:prstGeom>
          <a:solidFill>
            <a:schemeClr val="accent1"/>
          </a:solidFill>
          <a:ln/>
        </p:spPr>
      </p:sp>
      <p:pic>
        <p:nvPicPr>
          <p:cNvPr id="10" name="İkon FaIndustry" descr="preencoded.png">    </p:cNvPr>
          <p:cNvPicPr>
            <a:picLocks noChangeAspect="1"/>
          </p:cNvPicPr>
          <p:nvPr/>
        </p:nvPicPr>
        <p:blipFill>
          <a:blip r:embed="rId2"/>
          <a:stretch>
            <a:fillRect/>
          </a:stretch>
        </p:blipFill>
        <p:spPr>
          <a:xfrm>
            <a:off x="863194" y="5462626"/>
            <a:ext cx="285293" cy="285293"/>
          </a:xfrm>
          <a:prstGeom prst="rect">
            <a:avLst/>
          </a:prstGeom>
        </p:spPr>
      </p:pic>
      <p:sp>
        <p:nvSpPr>
          <p:cNvPr id="11" name="Text 7"/>
          <p:cNvSpPr txBox="1"/>
          <p:nvPr/>
        </p:nvSpPr>
        <p:spPr>
          <a:xfrm>
            <a:off x="1417320" y="5285232"/>
            <a:ext cx="4892040" cy="658368"/>
          </a:xfrm>
          <a:prstGeom prst="rect">
            <a:avLst/>
          </a:prstGeom>
          <a:noFill/>
          <a:ln/>
        </p:spPr>
        <p:txBody>
          <a:bodyPr wrap="square" lIns="0" tIns="0" rIns="0" bIns="0" rtlCol="0" anchor="ctr"/>
          <a:lstStyle/>
          <a:p>
            <a:pPr indent="0" marL="0">
              <a:buNone/>
            </a:pPr>
            <a:r>
              <a:rPr lang="en-US" sz="1500" b="1" dirty="0">
                <a:solidFill>
                  <a:schemeClr val="tx2"/>
                </a:solidFill>
              </a:rPr>
              <a:t>TAI Kahramanmaraş Lodgings and Factory</a:t>
            </a:r>
            <a:endParaRPr lang="en-US" sz="1400" dirty="0"/>
          </a:p>
          <a:p>
            <a:pPr indent="0" marL="0">
              <a:buNone/>
            </a:pPr>
            <a:r>
              <a:rPr lang="en-US" sz="1300" dirty="0">
                <a:solidFill>
                  <a:schemeClr val="tx1"/>
                </a:solidFill>
              </a:rPr>
              <a:t>Lojmanlar ve fabrika: çalışan konutu ile üretim tesisi birlikte tasarlandı.</a:t>
            </a:r>
            <a:endParaRPr lang="en-US" sz="1400" dirty="0"/>
          </a:p>
        </p:txBody>
      </p:sp>
      <p:pic>
        <p:nvPicPr>
          <p:cNvPr id="12" name="Kahramankazan Kentsel Dönüşüm" descr="/home/user/sunum/araclar/sunum/assets/ref_kentsel_donusum.jpg">    </p:cNvPr>
          <p:cNvPicPr>
            <a:picLocks noChangeAspect="1"/>
          </p:cNvPicPr>
          <p:nvPr/>
        </p:nvPicPr>
        <p:blipFill>
          <a:blip r:embed="rId3"/>
          <a:stretch>
            <a:fillRect/>
          </a:stretch>
        </p:blipFill>
        <p:spPr>
          <a:xfrm>
            <a:off x="6812280" y="1600200"/>
            <a:ext cx="2323948" cy="1206619"/>
          </a:xfrm>
          <a:prstGeom prst="rect">
            <a:avLst/>
          </a:prstGeom>
        </p:spPr>
      </p:pic>
      <p:pic>
        <p:nvPicPr>
          <p:cNvPr id="13" name="Kahramankazan Kent Merkezi" descr="/home/user/sunum/araclar/sunum/assets/ref_kent_merkezi.jpg">    </p:cNvPr>
          <p:cNvPicPr>
            <a:picLocks noChangeAspect="1"/>
          </p:cNvPicPr>
          <p:nvPr/>
        </p:nvPicPr>
        <p:blipFill>
          <a:blip r:embed="rId4"/>
          <a:stretch>
            <a:fillRect/>
          </a:stretch>
        </p:blipFill>
        <p:spPr>
          <a:xfrm>
            <a:off x="9319108" y="1600200"/>
            <a:ext cx="2323948" cy="1206619"/>
          </a:xfrm>
          <a:prstGeom prst="rect">
            <a:avLst/>
          </a:prstGeom>
        </p:spPr>
      </p:pic>
      <p:sp>
        <p:nvSpPr>
          <p:cNvPr id="14" name="Text 8"/>
          <p:cNvSpPr txBox="1"/>
          <p:nvPr/>
        </p:nvSpPr>
        <p:spPr>
          <a:xfrm>
            <a:off x="6812280" y="2852539"/>
            <a:ext cx="2323948" cy="256032"/>
          </a:xfrm>
          <a:prstGeom prst="rect">
            <a:avLst/>
          </a:prstGeom>
          <a:noFill/>
          <a:ln/>
        </p:spPr>
        <p:txBody>
          <a:bodyPr wrap="square" lIns="0" tIns="0" rIns="0" bIns="0" rtlCol="0" anchor="t"/>
          <a:lstStyle/>
          <a:p>
            <a:pPr indent="0" marL="0">
              <a:buNone/>
            </a:pPr>
            <a:r>
              <a:rPr lang="en-US" sz="1100" dirty="0">
                <a:solidFill>
                  <a:schemeClr val="accent5"/>
                </a:solidFill>
              </a:rPr>
              <a:t>Kentsel Dönüşüm</a:t>
            </a:r>
            <a:endParaRPr lang="en-US" sz="1100" dirty="0"/>
          </a:p>
        </p:txBody>
      </p:sp>
      <p:sp>
        <p:nvSpPr>
          <p:cNvPr id="15" name="Text 9"/>
          <p:cNvSpPr txBox="1"/>
          <p:nvPr/>
        </p:nvSpPr>
        <p:spPr>
          <a:xfrm>
            <a:off x="9319108" y="2852539"/>
            <a:ext cx="2323948" cy="256032"/>
          </a:xfrm>
          <a:prstGeom prst="rect">
            <a:avLst/>
          </a:prstGeom>
          <a:noFill/>
          <a:ln/>
        </p:spPr>
        <p:txBody>
          <a:bodyPr wrap="square" lIns="0" tIns="0" rIns="0" bIns="0" rtlCol="0" anchor="t"/>
          <a:lstStyle/>
          <a:p>
            <a:pPr indent="0" marL="0">
              <a:buNone/>
            </a:pPr>
            <a:r>
              <a:rPr lang="en-US" sz="1100" dirty="0">
                <a:solidFill>
                  <a:schemeClr val="accent5"/>
                </a:solidFill>
              </a:rPr>
              <a:t>Kent Merkezi</a:t>
            </a:r>
            <a:endParaRPr lang="en-US" sz="11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6812280" y="3218299"/>
          <a:ext cx="4830775" cy="914400"/>
        </p:xfrm>
        <a:graphic>
          <a:graphicData uri="http://schemas.openxmlformats.org/drawingml/2006/table">
            <a:tbl>
              <a:tblPr/>
              <a:tblGrid>
                <a:gridCol w="2240280"/>
                <a:gridCol w="502920"/>
                <a:gridCol w="987552"/>
                <a:gridCol w="1100023"/>
              </a:tblGrid>
              <a:tr h="384048">
                <a:tc>
                  <a:txBody>
                    <a:bodyPr/>
                    <a:lstStyle/>
                    <a:p>
                      <a:pPr algn="l" indent="0" marL="0">
                        <a:buNone/>
                      </a:pPr>
                      <a:r>
                        <a:rPr lang="en-US" sz="1300" b="1" dirty="0">
                          <a:solidFill>
                            <a:srgbClr val="FFFFFF"/>
                          </a:solidFill>
                        </a:rPr>
                        <a:t>Proje</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300" b="1" dirty="0">
                          <a:solidFill>
                            <a:srgbClr val="FFFFFF"/>
                          </a:solidFill>
                        </a:rPr>
                        <a:t>Yıl</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300" b="1" dirty="0">
                          <a:solidFill>
                            <a:srgbClr val="FFFFFF"/>
                          </a:solidFill>
                        </a:rPr>
                        <a:t>Alan (m²)</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l" indent="0" marL="0">
                        <a:buNone/>
                      </a:pPr>
                      <a:r>
                        <a:rPr lang="en-US" sz="1300" b="1" dirty="0">
                          <a:solidFill>
                            <a:srgbClr val="FFFFFF"/>
                          </a:solidFill>
                        </a:rPr>
                        <a:t>Rol</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457200">
                <a:tc>
                  <a:txBody>
                    <a:bodyPr/>
                    <a:lstStyle/>
                    <a:p>
                      <a:pPr algn="l" indent="0" marL="0">
                        <a:buNone/>
                      </a:pPr>
                      <a:r>
                        <a:rPr lang="en-US" sz="1300" dirty="0">
                          <a:solidFill>
                            <a:srgbClr val="1B2430"/>
                          </a:solidFill>
                        </a:rPr>
                        <a:t>Kahramankazan Kentsel Dönüşüm</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2020</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523.000</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rPr>
                        <a:t>Tasarım</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1B2430"/>
                          </a:solidFill>
                        </a:rPr>
                        <a:t>Kahramankazan Kent Merkezi</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2020</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412.175</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rPr>
                        <a:t>Tasarım</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1B2430"/>
                          </a:solidFill>
                        </a:rPr>
                        <a:t>Serapınar Termal Yaşam Merkezi</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2025</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3.000.000</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rPr>
                        <a:t>Tasarım ve yapım</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1B2430"/>
                          </a:solidFill>
                        </a:rPr>
                        <a:t>GIA Büyük Sanayi Alanı, Niğde</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2024</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29.000.000</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rPr>
                        <a:t>Tasarım ve yapım</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17" name="Text 10"/>
          <p:cNvSpPr txBox="1"/>
          <p:nvPr/>
        </p:nvSpPr>
        <p:spPr>
          <a:xfrm>
            <a:off x="6812280" y="5513832"/>
            <a:ext cx="4830775" cy="502920"/>
          </a:xfrm>
          <a:prstGeom prst="rect">
            <a:avLst/>
          </a:prstGeom>
          <a:noFill/>
          <a:ln/>
        </p:spPr>
        <p:txBody>
          <a:bodyPr wrap="square" lIns="0" tIns="0" rIns="0" bIns="0" rtlCol="0" anchor="t"/>
          <a:lstStyle/>
          <a:p>
            <a:pPr indent="0" marL="0">
              <a:buNone/>
            </a:pPr>
            <a:r>
              <a:rPr lang="en-US" sz="1300" b="1" dirty="0">
                <a:solidFill>
                  <a:schemeClr val="tx2"/>
                </a:solidFill>
              </a:rPr>
              <a:t>Savunma sanayinde ayrıca: </a:t>
            </a:r>
            <a:pPr indent="0" marL="0">
              <a:buNone/>
            </a:pPr>
            <a:r>
              <a:rPr lang="en-US" sz="1300" dirty="0">
                <a:solidFill>
                  <a:schemeClr val="tx1"/>
                </a:solidFill>
              </a:rPr>
              <a:t>MKE Teknopark ve Genel Müdürlük Binası (2020), TR Motor ofis ve fabrika binaları (2023).</a:t>
            </a:r>
            <a:endParaRPr lang="en-US" sz="1300" dirty="0"/>
          </a:p>
        </p:txBody>
      </p:sp>
      <p:sp>
        <p:nvSpPr>
          <p:cNvPr id="18" name="Text 11"/>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ve görseller: Belen &amp; Partners kurumsal portföyü (Ağustos 2025). Roller portföydeki gibidir.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UYGULAMA · RİSKLER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Riskler ve azaltma önlemleri</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429000"/>
                <a:gridCol w="3108960"/>
                <a:gridCol w="4556455"/>
              </a:tblGrid>
              <a:tr h="475488">
                <a:tc>
                  <a:txBody>
                    <a:bodyPr/>
                    <a:lstStyle/>
                    <a:p>
                      <a:pPr indent="0" marL="0">
                        <a:buNone/>
                      </a:pPr>
                      <a:r>
                        <a:rPr lang="en-US" sz="1400" b="1" dirty="0">
                          <a:solidFill>
                            <a:srgbClr val="FFFFFF"/>
                          </a:solidFill>
                        </a:rPr>
                        <a:t>Risk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Etkisi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Önlem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475488">
                <a:tc>
                  <a:txBody>
                    <a:bodyPr/>
                    <a:lstStyle/>
                    <a:p>
                      <a:pPr indent="0" marL="0">
                        <a:buNone/>
                      </a:pPr>
                      <a:r>
                        <a:rPr lang="en-US" sz="1400" b="1" dirty="0">
                          <a:solidFill>
                            <a:srgbClr val="1B2430"/>
                          </a:solidFill>
                        </a:rPr>
                        <a:t>Yamaçların orman ya da ağaçlandırma statüsü</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Yapılaşabilir alan küçülür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6831 statüsü sunumdan önce teyit; program yamaçları zaten koruyor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Zemin: jips, marn, şişen kil</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Temel ve altyapı maliyeti artar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Jeoteknik etüt; yapılar platolarda</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Kuraklık ve su</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Göl dolumu ve peyzaj sulaması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Yağmur suyu ve arıtılmış atıksu; şebeke yalnızca acil</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Uçuş ve test gürültüsü</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Alıcı algısı, okul ve sağlık konforu</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Parsel koordinatıyla MSB ve SHGM verisi; gerekirse hassas yapılar uzakta</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Hizmetlerin geç gelmesi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"Yatak odası kent" (Sejong, Songdo)</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Aşama 0: hizmetler konutla aynı gün; modüler yapılar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Talep belirsizliği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Etap büyüklüğü şaşar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Sanayi çalışanlarına ön talep anketi; etaplı gelişme</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Plan ve imar statüsü</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Takvim uzar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İmar durumu yazısı ve üst ölçek plan kararı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Maliyet artışı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Yatırım tutarı yükselir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Yüksek senaryo 15,9 milyar TL; yıllık güncelleme</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Ayrıntılı risk tablosu ve teyit listesi raporda yer alır.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KARAR</a:t>
            </a:r>
            <a:endParaRPr lang="en-US" sz="1200" dirty="0"/>
          </a:p>
        </p:txBody>
      </p:sp>
      <p:sp>
        <p:nvSpPr>
          <p:cNvPr id="3" name="Text 0"/>
          <p:cNvSpPr/>
          <p:nvPr>
            <p:ph idx="101" type="title" hasCustomPrompt="1"/>
          </p:nvPr>
        </p:nvSpPr>
        <p:spPr>
          <a:xfrm>
            <a:off x="548640" y="658368"/>
            <a:ext cx="6949440" cy="749808"/>
          </a:xfrm>
          <a:prstGeom prst="rect">
            <a:avLst/>
          </a:prstGeom>
          <a:noFill/>
          <a:ln/>
        </p:spPr>
        <p:txBody>
          <a:bodyPr wrap="square" lIns="0" tIns="0" rIns="0" bIns="0" rtlCol="0" anchor="t"/>
          <a:lstStyle/>
          <a:p>
            <a:pPr algn="l" indent="0" marL="0">
              <a:buNone/>
            </a:pPr>
            <a:r>
              <a:rPr lang="en-US" sz="3600" b="1" dirty="0">
                <a:solidFill>
                  <a:schemeClr val="bg1"/>
                </a:solidFill>
              </a:rPr>
              <a:t>Karar talebi ve sonraki adımlar</a:t>
            </a:r>
            <a:endParaRPr lang="en-US" sz="3600" dirty="0"/>
          </a:p>
        </p:txBody>
      </p:sp>
      <p:pic>
        <p:nvPicPr>
          <p:cNvPr id="4" name="Plato tarlaları" descr="/home/user/sunum/araclar/sunum/assets/karar.jpg">    </p:cNvPr>
          <p:cNvPicPr>
            <a:picLocks noChangeAspect="1"/>
          </p:cNvPicPr>
          <p:nvPr/>
        </p:nvPicPr>
        <p:blipFill>
          <a:blip r:embed="rId1"/>
          <a:stretch>
            <a:fillRect/>
          </a:stretch>
        </p:blipFill>
        <p:spPr>
          <a:xfrm>
            <a:off x="8031175" y="0"/>
            <a:ext cx="4160520" cy="6858000"/>
          </a:xfrm>
          <a:prstGeom prst="rect">
            <a:avLst/>
          </a:prstGeom>
        </p:spPr>
      </p:pic>
      <p:sp>
        <p:nvSpPr>
          <p:cNvPr id="5" name="Karar kutusu"/>
          <p:cNvSpPr/>
          <p:nvPr/>
        </p:nvSpPr>
        <p:spPr>
          <a:xfrm>
            <a:off x="548640" y="1600200"/>
            <a:ext cx="7071055" cy="1600200"/>
          </a:xfrm>
          <a:prstGeom prst="roundRect">
            <a:avLst>
              <a:gd name="adj" fmla="val 4571"/>
            </a:avLst>
          </a:prstGeom>
          <a:solidFill>
            <a:schemeClr val="bg1">
              <a:alpha val="12000"/>
            </a:schemeClr>
          </a:solidFill>
          <a:ln w="19050">
            <a:solidFill>
              <a:schemeClr val="accent4"/>
            </a:solidFill>
            <a:prstDash val="solid"/>
          </a:ln>
        </p:spPr>
      </p:sp>
      <p:sp>
        <p:nvSpPr>
          <p:cNvPr id="6" name="Text 3"/>
          <p:cNvSpPr txBox="1"/>
          <p:nvPr/>
        </p:nvSpPr>
        <p:spPr>
          <a:xfrm>
            <a:off x="822960" y="1764792"/>
            <a:ext cx="6522415" cy="1325880"/>
          </a:xfrm>
          <a:prstGeom prst="rect">
            <a:avLst/>
          </a:prstGeom>
          <a:noFill/>
          <a:ln/>
        </p:spPr>
        <p:txBody>
          <a:bodyPr wrap="square" lIns="0" tIns="0" rIns="0" bIns="0" rtlCol="0" anchor="t"/>
          <a:lstStyle/>
          <a:p>
            <a:pPr indent="0" marL="0">
              <a:spcAft>
                <a:spcPts val="400"/>
              </a:spcAft>
              <a:buNone/>
            </a:pPr>
            <a:r>
              <a:rPr lang="en-US" sz="1400" b="1" dirty="0">
                <a:solidFill>
                  <a:schemeClr val="accent4"/>
                </a:solidFill>
              </a:rPr>
              <a:t>Talep</a:t>
            </a:r>
            <a:endParaRPr lang="en-US" sz="1400" dirty="0"/>
          </a:p>
          <a:p>
            <a:pPr indent="0" marL="0">
              <a:spcAft>
                <a:spcPts val="400"/>
              </a:spcAft>
              <a:buNone/>
            </a:pPr>
            <a:r>
              <a:rPr lang="en-US" sz="1800" dirty="0">
                <a:solidFill>
                  <a:schemeClr val="bg1"/>
                </a:solidFill>
                <a:latin typeface="Cambria" pitchFamily="34" charset="0"/>
                <a:ea typeface="Cambria" pitchFamily="34" charset="-122"/>
                <a:cs typeface="Cambria" pitchFamily="34" charset="-120"/>
              </a:rPr>
              <a:t>Sarıayak'taki 511.000 m²'lik Hazine arazisinin, savunma ve havacılık sanayi çalışanlarına yönelik bir yaşam alanı (Kahramankazan Uydukent) olarak değerlendirilmesi talep edilmektedir.</a:t>
            </a:r>
            <a:endParaRPr lang="en-US" sz="1400" dirty="0"/>
          </a:p>
        </p:txBody>
      </p:sp>
      <p:sp>
        <p:nvSpPr>
          <p:cNvPr id="7" name="Adım numarası"/>
          <p:cNvSpPr/>
          <p:nvPr/>
        </p:nvSpPr>
        <p:spPr>
          <a:xfrm>
            <a:off x="548640" y="3429000"/>
            <a:ext cx="411480" cy="41148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tx2"/>
                </a:solidFill>
              </a:rPr>
              <a:t>1</a:t>
            </a:r>
            <a:endParaRPr lang="en-US" sz="1500" dirty="0"/>
          </a:p>
        </p:txBody>
      </p:sp>
      <p:sp>
        <p:nvSpPr>
          <p:cNvPr id="8" name="Text 5"/>
          <p:cNvSpPr txBox="1"/>
          <p:nvPr/>
        </p:nvSpPr>
        <p:spPr>
          <a:xfrm>
            <a:off x="1143000" y="3410712"/>
            <a:ext cx="6476695" cy="457200"/>
          </a:xfrm>
          <a:prstGeom prst="rect">
            <a:avLst/>
          </a:prstGeom>
          <a:noFill/>
          <a:ln/>
        </p:spPr>
        <p:txBody>
          <a:bodyPr wrap="square" lIns="0" tIns="0" rIns="0" bIns="0" rtlCol="0" anchor="ctr"/>
          <a:lstStyle/>
          <a:p>
            <a:pPr indent="0" marL="0">
              <a:buNone/>
            </a:pPr>
            <a:r>
              <a:rPr lang="en-US" sz="1600" dirty="0">
                <a:solidFill>
                  <a:schemeClr val="bg1"/>
                </a:solidFill>
              </a:rPr>
              <a:t>Sarıayak parselinin bilgileri ve sayısal halihazır haritanın temini</a:t>
            </a:r>
            <a:endParaRPr lang="en-US" sz="1600" dirty="0"/>
          </a:p>
        </p:txBody>
      </p:sp>
      <p:sp>
        <p:nvSpPr>
          <p:cNvPr id="9" name="Adım numarası"/>
          <p:cNvSpPr/>
          <p:nvPr/>
        </p:nvSpPr>
        <p:spPr>
          <a:xfrm>
            <a:off x="548640" y="4005072"/>
            <a:ext cx="411480" cy="41148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tx2"/>
                </a:solidFill>
              </a:rPr>
              <a:t>2</a:t>
            </a:r>
            <a:endParaRPr lang="en-US" sz="1500" dirty="0"/>
          </a:p>
        </p:txBody>
      </p:sp>
      <p:sp>
        <p:nvSpPr>
          <p:cNvPr id="10" name="Text 7"/>
          <p:cNvSpPr txBox="1"/>
          <p:nvPr/>
        </p:nvSpPr>
        <p:spPr>
          <a:xfrm>
            <a:off x="1143000" y="3986784"/>
            <a:ext cx="6476695" cy="457200"/>
          </a:xfrm>
          <a:prstGeom prst="rect">
            <a:avLst/>
          </a:prstGeom>
          <a:noFill/>
          <a:ln/>
        </p:spPr>
        <p:txBody>
          <a:bodyPr wrap="square" lIns="0" tIns="0" rIns="0" bIns="0" rtlCol="0" anchor="ctr"/>
          <a:lstStyle/>
          <a:p>
            <a:pPr indent="0" marL="0">
              <a:buNone/>
            </a:pPr>
            <a:r>
              <a:rPr lang="en-US" sz="1600" dirty="0">
                <a:solidFill>
                  <a:schemeClr val="bg1"/>
                </a:solidFill>
              </a:rPr>
              <a:t>Yamaçların hukuki statüsünün (6831) belirlenmesi ve zemin etüdü</a:t>
            </a:r>
            <a:endParaRPr lang="en-US" sz="1600" dirty="0"/>
          </a:p>
        </p:txBody>
      </p:sp>
      <p:sp>
        <p:nvSpPr>
          <p:cNvPr id="11" name="Adım numarası"/>
          <p:cNvSpPr/>
          <p:nvPr/>
        </p:nvSpPr>
        <p:spPr>
          <a:xfrm>
            <a:off x="548640" y="4581144"/>
            <a:ext cx="411480" cy="41148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tx2"/>
                </a:solidFill>
              </a:rPr>
              <a:t>3</a:t>
            </a:r>
            <a:endParaRPr lang="en-US" sz="1500" dirty="0"/>
          </a:p>
        </p:txBody>
      </p:sp>
      <p:sp>
        <p:nvSpPr>
          <p:cNvPr id="12" name="Text 9"/>
          <p:cNvSpPr txBox="1"/>
          <p:nvPr/>
        </p:nvSpPr>
        <p:spPr>
          <a:xfrm>
            <a:off x="1143000" y="4562856"/>
            <a:ext cx="6476695" cy="457200"/>
          </a:xfrm>
          <a:prstGeom prst="rect">
            <a:avLst/>
          </a:prstGeom>
          <a:noFill/>
          <a:ln/>
        </p:spPr>
        <p:txBody>
          <a:bodyPr wrap="square" lIns="0" tIns="0" rIns="0" bIns="0" rtlCol="0" anchor="ctr"/>
          <a:lstStyle/>
          <a:p>
            <a:pPr indent="0" marL="0">
              <a:buNone/>
            </a:pPr>
            <a:r>
              <a:rPr lang="en-US" sz="1600" dirty="0">
                <a:solidFill>
                  <a:schemeClr val="bg1"/>
                </a:solidFill>
              </a:rPr>
              <a:t>İmar durumu ile ASKİ, Başkent EDAŞ ve Başkentgaz kapasite görüşleri</a:t>
            </a:r>
            <a:endParaRPr lang="en-US" sz="1600" dirty="0"/>
          </a:p>
        </p:txBody>
      </p:sp>
      <p:sp>
        <p:nvSpPr>
          <p:cNvPr id="13" name="Adım numarası"/>
          <p:cNvSpPr/>
          <p:nvPr/>
        </p:nvSpPr>
        <p:spPr>
          <a:xfrm>
            <a:off x="548640" y="5157216"/>
            <a:ext cx="411480" cy="41148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tx2"/>
                </a:solidFill>
              </a:rPr>
              <a:t>4</a:t>
            </a:r>
            <a:endParaRPr lang="en-US" sz="1500" dirty="0"/>
          </a:p>
        </p:txBody>
      </p:sp>
      <p:sp>
        <p:nvSpPr>
          <p:cNvPr id="14" name="Text 11"/>
          <p:cNvSpPr txBox="1"/>
          <p:nvPr/>
        </p:nvSpPr>
        <p:spPr>
          <a:xfrm>
            <a:off x="1143000" y="5138928"/>
            <a:ext cx="6476695" cy="457200"/>
          </a:xfrm>
          <a:prstGeom prst="rect">
            <a:avLst/>
          </a:prstGeom>
          <a:noFill/>
          <a:ln/>
        </p:spPr>
        <p:txBody>
          <a:bodyPr wrap="square" lIns="0" tIns="0" rIns="0" bIns="0" rtlCol="0" anchor="ctr"/>
          <a:lstStyle/>
          <a:p>
            <a:pPr indent="0" marL="0">
              <a:buNone/>
            </a:pPr>
            <a:r>
              <a:rPr lang="en-US" sz="1600" dirty="0">
                <a:solidFill>
                  <a:schemeClr val="bg1"/>
                </a:solidFill>
              </a:rPr>
              <a:t>Savunma sanayi çalışanlarına yönelik ön talep anketi</a:t>
            </a:r>
            <a:endParaRPr lang="en-US" sz="1600" dirty="0"/>
          </a:p>
        </p:txBody>
      </p:sp>
      <p:sp>
        <p:nvSpPr>
          <p:cNvPr id="15" name="Adım numarası"/>
          <p:cNvSpPr/>
          <p:nvPr/>
        </p:nvSpPr>
        <p:spPr>
          <a:xfrm>
            <a:off x="548640" y="5733288"/>
            <a:ext cx="411480" cy="41148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tx2"/>
                </a:solidFill>
              </a:rPr>
              <a:t>5</a:t>
            </a:r>
            <a:endParaRPr lang="en-US" sz="1500" dirty="0"/>
          </a:p>
        </p:txBody>
      </p:sp>
      <p:sp>
        <p:nvSpPr>
          <p:cNvPr id="16" name="Text 13"/>
          <p:cNvSpPr txBox="1"/>
          <p:nvPr/>
        </p:nvSpPr>
        <p:spPr>
          <a:xfrm>
            <a:off x="1143000" y="5715000"/>
            <a:ext cx="6476695" cy="457200"/>
          </a:xfrm>
          <a:prstGeom prst="rect">
            <a:avLst/>
          </a:prstGeom>
          <a:noFill/>
          <a:ln/>
        </p:spPr>
        <p:txBody>
          <a:bodyPr wrap="square" lIns="0" tIns="0" rIns="0" bIns="0" rtlCol="0" anchor="ctr"/>
          <a:lstStyle/>
          <a:p>
            <a:pPr indent="0" marL="0">
              <a:buNone/>
            </a:pPr>
            <a:r>
              <a:rPr lang="en-US" sz="1600" dirty="0">
                <a:solidFill>
                  <a:schemeClr val="bg1"/>
                </a:solidFill>
              </a:rPr>
              <a:t>SSB, sanayi kuruluşları, ABB, Kahramankazan Belediyesi, MEB ve Sağlık Bakanlığı ile çalışma grubunun kurulması</a:t>
            </a:r>
            <a:endParaRPr lang="en-US" sz="1600" dirty="0"/>
          </a:p>
        </p:txBody>
      </p:sp>
    </p:spTree>
  </p:cSld>
  <p:clrMapOvr>
    <a:masterClrMapping/>
  </p:clrMapOvr>
</p:sld>
</file>

<file path=ppt/theme/theme1.xml><?xml version="1.0" encoding="utf-8"?>
<a:theme xmlns:a="http://schemas.openxmlformats.org/drawingml/2006/main" name="Uydukent">
  <a:themeElements>
    <a:clrScheme name="Uydukent">
      <a:dk1>
        <a:srgbClr val="1B2430"/>
      </a:dk1>
      <a:lt1>
        <a:srgbClr val="FFFFFF"/>
      </a:lt1>
      <a:dk2>
        <a:srgbClr val="0B2E4F"/>
      </a:dk2>
      <a:lt2>
        <a:srgbClr val="F6F4EE"/>
      </a:lt2>
      <a:accent1>
        <a:srgbClr val="9A5418"/>
      </a:accent1>
      <a:accent2>
        <a:srgbClr val="3E7CB1"/>
      </a:accent2>
      <a:accent3>
        <a:srgbClr val="6B8F5E"/>
      </a:accent3>
      <a:accent4>
        <a:srgbClr val="D9A441"/>
      </a:accent4>
      <a:accent5>
        <a:srgbClr val="5E6875"/>
      </a:accent5>
      <a:accent6>
        <a:srgbClr val="B5453A"/>
      </a:accent6>
      <a:hlink>
        <a:srgbClr val="3E7CB1"/>
      </a:hlink>
      <a:folHlink>
        <a:srgbClr val="6B5B95"/>
      </a:folHlink>
    </a:clrScheme>
    <a:fontScheme name="Uyduke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Belen &amp; Partners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Kahramankazan Uydukent fizibilitesi</dc:title>
  <dc:subject>Savunma ve havacılık sanayi çalışanları için akıllı bir yaşam alanı</dc:subject>
  <dc:creator>Belen &amp; Partners</dc:creator>
  <cp:lastModifiedBy>Belen &amp; Partners</cp:lastModifiedBy>
  <cp:revision>1</cp:revision>
  <dcterms:created xsi:type="dcterms:W3CDTF">2026-10-23T14:32:44Z</dcterms:created>
  <dcterms:modified xsi:type="dcterms:W3CDTF">2026-10-23T14:32:44Z</dcterms:modified>
</cp:coreProperties>
</file>