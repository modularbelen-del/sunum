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f54ef736-af89-1502-2b01-b9f816d83339}">
          <p14:sldIdLst>
            <p14:sldId id="256"/>
            <p14:sldId id="257"/>
            <p14:sldId id="258"/>
            <p14:sldId id="259"/>
          </p14:sldIdLst>
        </p14:section>
        <p14:section name="Yer ve saha" id="{e5cd3bb0-2797-6d13-54ed-0467d321e6b5}">
          <p14:sldIdLst>
            <p14:sldId id="260"/>
            <p14:sldId id="261"/>
            <p14:sldId id="262"/>
            <p14:sldId id="263"/>
            <p14:sldId id="264"/>
          </p14:sldIdLst>
        </p14:section>
        <p14:section name="Dünyadan uygulamalar" id="{ae321536-ff00-73ac-1d61-4d393c51ea06}">
          <p14:sldIdLst/>
        </p14:section>
        <p14:section name="Yaşam alanı" id="{ea6f26f1-df7c-121e-1f25-1799ecbcf111}">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Yatırım ve fayda" id="{b476659c-e9e1-3df1-8d5d-c7b5a094912e}">
          <p14:sldIdLst>
            <p14:sldId id="282"/>
            <p14:sldId id="283"/>
          </p14:sldIdLst>
        </p14:section>
        <p14:section name="Uygulama" id="{f3bc0d53-73d4-1e59-73e9-79597f486ba6}">
          <p14:sldIdLst>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Savunma sanayii istihdamı (bin kişi)</a:t>
            </a:r>
          </a:p>
        </c:rich>
      </c:tx>
      <c:layout/>
      <c:overlay val="0"/>
    </c:title>
    <c:autoTitleDeleted val="0"/>
    <c:plotArea>
      <c:layout/>
      <c:barChart>
        <c:barDir val="col"/>
        <c:grouping val="clustered"/>
        <c:varyColors val="0"/>
        <c:ser>
          <c:idx val="0"/>
          <c:order val="0"/>
          <c:tx>
            <c:strRef>
              <c:f>Sheet1!$B$1</c:f>
              <c:strCache>
                <c:ptCount val="1"/>
                <c:pt idx="0">
                  <c:v>Savunma sanayii istihdamı</c:v>
                </c:pt>
              </c:strCache>
            </c:strRef>
          </c:tx>
          <c:spPr>
            <a:solidFill>
              <a:srgbClr val="0B2E4F"/>
            </a:solidFill>
            <a:effectLst/>
          </c:spPr>
          <c:invertIfNegative val="0"/>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2022</c:v>
                  </c:pt>
                  <c:pt idx="1">
                    <c:v>2028 hedefi</c:v>
                  </c:pt>
                </c:lvl>
              </c:multiLvlStrCache>
            </c:multiLvlStrRef>
          </c:cat>
          <c:val>
            <c:numRef>
              <c:f>Sheet1!$B$2:$B$3</c:f>
              <c:numCache>
                <c:formatCode>General</c:formatCode>
                <c:ptCount val="2"/>
                <c:pt idx="0">
                  <c:v>81.1</c:v>
                </c:pt>
                <c:pt idx="1">
                  <c:v>158</c:v>
                </c:pt>
              </c:numCache>
            </c:numRef>
          </c:val>
        </c:ser>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80"/>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Arazi kullanımı (ha; toplam 51,1)</a:t>
            </a:r>
          </a:p>
        </c:rich>
      </c:tx>
      <c:layout/>
      <c:overlay val="0"/>
    </c:title>
    <c:autoTitleDeleted val="0"/>
    <c:plotArea>
      <c:layout/>
      <c:barChart>
        <c:barDir val="bar"/>
        <c:grouping val="clustered"/>
        <c:varyColors val="0"/>
        <c:ser>
          <c:idx val="0"/>
          <c:order val="0"/>
          <c:tx>
            <c:strRef>
              <c:f>Sheet1!$B$1</c:f>
              <c:strCache>
                <c:ptCount val="1"/>
                <c:pt idx="0">
                  <c:v>Alan (ha)</c:v>
                </c:pt>
              </c:strCache>
            </c:strRef>
          </c:tx>
          <c:spPr>
            <a:solidFill>
              <a:srgbClr val="6B8F5E"/>
            </a:solidFill>
            <a:effectLst/>
          </c:spPr>
          <c:invertIfNegative val="0"/>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Sheet1!$A$2:$A$9</c:f>
              <c:multiLvlStrCache>
                <c:ptCount val="8"/>
                <c:lvl>
                  <c:pt idx="0">
                    <c:v>Konut adaları (net)</c:v>
                  </c:pt>
                  <c:pt idx="1">
                    <c:v>Yollar, otopark, aktarma</c:v>
                  </c:pt>
                  <c:pt idx="2">
                    <c:v>Korunan yamaç ve yarıntılar</c:v>
                  </c:pt>
                  <c:pt idx="3">
                    <c:v>Yapay göl ve göl parkı</c:v>
                  </c:pt>
                  <c:pt idx="4">
                    <c:v>Eğitim</c:v>
                  </c:pt>
                  <c:pt idx="5">
                    <c:v>Sağlık, sosyal, ibadet, teknik</c:v>
                  </c:pt>
                  <c:pt idx="6">
                    <c:v>Spor ve mahalle parkları</c:v>
                  </c:pt>
                  <c:pt idx="7">
                    <c:v>Mahalle merkezi ve ticaret</c:v>
                  </c:pt>
                </c:lvl>
              </c:multiLvlStrCache>
            </c:multiLvlStrRef>
          </c:cat>
          <c:val>
            <c:numRef>
              <c:f>Sheet1!$B$2:$B$9</c:f>
              <c:numCache>
                <c:formatCode>General</c:formatCode>
                <c:ptCount val="8"/>
                <c:pt idx="0">
                  <c:v>13.1</c:v>
                </c:pt>
                <c:pt idx="1">
                  <c:v>10.2</c:v>
                </c:pt>
                <c:pt idx="2">
                  <c:v>10</c:v>
                </c:pt>
                <c:pt idx="3">
                  <c:v>6</c:v>
                </c:pt>
                <c:pt idx="4">
                  <c:v>4.9</c:v>
                </c:pt>
                <c:pt idx="5">
                  <c:v>3.2</c:v>
                </c:pt>
                <c:pt idx="6">
                  <c:v>2.5</c:v>
                </c:pt>
                <c:pt idx="7">
                  <c:v>1.2</c:v>
                </c:pt>
              </c:numCache>
            </c:numRef>
          </c:val>
        </c:ser>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5"/>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Kademelere göre öğrenci</a:t>
            </a:r>
          </a:p>
        </c:rich>
      </c:tx>
      <c:layout/>
      <c:overlay val="0"/>
    </c:title>
    <c:autoTitleDeleted val="0"/>
    <c:plotArea>
      <c:layout/>
      <c:barChart>
        <c:barDir val="col"/>
        <c:grouping val="clustered"/>
        <c:varyColors val="0"/>
        <c:ser>
          <c:idx val="0"/>
          <c:order val="0"/>
          <c:tx>
            <c:strRef>
              <c:f>Sheet1!$B$1</c:f>
              <c:strCache>
                <c:ptCount val="1"/>
                <c:pt idx="0">
                  <c:v>Öğrenci</c:v>
                </c:pt>
              </c:strCache>
            </c:strRef>
          </c:tx>
          <c:spPr>
            <a:solidFill>
              <a:srgbClr val="3E7CB1"/>
            </a:solidFill>
            <a:effectLst/>
          </c:spPr>
          <c:invertIfNegative val="0"/>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Kreş ve anaokulu</c:v>
                  </c:pt>
                  <c:pt idx="1">
                    <c:v>İlkokul</c:v>
                  </c:pt>
                  <c:pt idx="2">
                    <c:v>Ortaokul</c:v>
                  </c:pt>
                  <c:pt idx="3">
                    <c:v>Lise</c:v>
                  </c:pt>
                </c:lvl>
              </c:multiLvlStrCache>
            </c:multiLvlStrRef>
          </c:cat>
          <c:val>
            <c:numRef>
              <c:f>Sheet1!$B$2:$B$5</c:f>
              <c:numCache>
                <c:formatCode>General</c:formatCode>
                <c:ptCount val="4"/>
                <c:pt idx="0">
                  <c:v>338</c:v>
                </c:pt>
                <c:pt idx="1">
                  <c:v>450</c:v>
                </c:pt>
                <c:pt idx="2">
                  <c:v>412</c:v>
                </c:pt>
                <c:pt idx="3">
                  <c:v>338</c:v>
                </c:pt>
              </c:numCache>
            </c:numRef>
          </c:val>
        </c:ser>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52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Baz senaryo, milyar TL</a:t>
            </a:r>
          </a:p>
        </c:rich>
      </c:tx>
      <c:layout/>
      <c:overlay val="0"/>
    </c:title>
    <c:autoTitleDeleted val="0"/>
    <c:plotArea>
      <c:layout/>
      <c:barChart>
        <c:barDir val="bar"/>
        <c:grouping val="clustered"/>
        <c:varyColors val="0"/>
        <c:ser>
          <c:idx val="0"/>
          <c:order val="0"/>
          <c:tx>
            <c:strRef>
              <c:f>Sheet1!$B$1</c:f>
              <c:strCache>
                <c:ptCount val="1"/>
                <c:pt idx="0">
                  <c:v>Baz senaryo (milyar TL)</c:v>
                </c:pt>
              </c:strCache>
            </c:strRef>
          </c:tx>
          <c:spPr>
            <a:solidFill>
              <a:srgbClr val="0B2E4F"/>
            </a:solidFill>
            <a:effectLst/>
          </c:spPr>
          <c:invertIfNegative val="0"/>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B2E4F"/>
              </a:solidFill>
              <a:effectLst/>
            </c:spPr>
          </c:dPt>
          <c:dPt>
            <c:idx val="1"/>
            <c:invertIfNegative val="0"/>
            <c:bubble3D val="0"/>
            <c:spPr>
              <a:solidFill>
                <a:srgbClr val="9A5418"/>
              </a:solidFill>
              <a:effectLst/>
            </c:spPr>
          </c:dPt>
          <c:dPt>
            <c:idx val="2"/>
            <c:invertIfNegative val="0"/>
            <c:bubble3D val="0"/>
            <c:spPr>
              <a:solidFill>
                <a:srgbClr val="5E6875"/>
              </a:solidFill>
              <a:effectLst/>
            </c:spPr>
          </c:dPt>
          <c:dPt>
            <c:idx val="3"/>
            <c:invertIfNegative val="0"/>
            <c:bubble3D val="0"/>
            <c:spPr>
              <a:solidFill>
                <a:srgbClr val="9A5418"/>
              </a:solidFill>
              <a:effectLst/>
            </c:spPr>
          </c:dPt>
          <c:dPt>
            <c:idx val="4"/>
            <c:invertIfNegative val="0"/>
            <c:bubble3D val="0"/>
            <c:spPr>
              <a:solidFill>
                <a:srgbClr val="0B2E4F"/>
              </a:solidFill>
              <a:effectLst/>
            </c:spPr>
          </c:dPt>
          <c:dPt>
            <c:idx val="5"/>
            <c:invertIfNegative val="0"/>
            <c:bubble3D val="0"/>
            <c:spPr>
              <a:solidFill>
                <a:srgbClr val="9A5418"/>
              </a:solidFill>
              <a:effectLst/>
            </c:spPr>
          </c:dPt>
          <c:dPt>
            <c:idx val="6"/>
            <c:invertIfNegative val="0"/>
            <c:bubble3D val="0"/>
            <c:spPr>
              <a:solidFill>
                <a:srgbClr val="9A5418"/>
              </a:solidFill>
              <a:effectLst/>
            </c:spPr>
          </c:dPt>
          <c:dPt>
            <c:idx val="7"/>
            <c:invertIfNegative val="0"/>
            <c:bubble3D val="0"/>
            <c:spPr>
              <a:solidFill>
                <a:srgbClr val="9A5418"/>
              </a:solidFill>
              <a:effectLst/>
            </c:spPr>
          </c:dPt>
          <c:dPt>
            <c:idx val="8"/>
            <c:invertIfNegative val="0"/>
            <c:bubble3D val="0"/>
            <c:spPr>
              <a:solidFill>
                <a:srgbClr val="0B2E4F"/>
              </a:solidFill>
              <a:effectLst/>
            </c:spPr>
          </c:dPt>
          <c:dPt>
            <c:idx val="9"/>
            <c:invertIfNegative val="0"/>
            <c:bubble3D val="0"/>
            <c:spPr>
              <a:solidFill>
                <a:srgbClr val="9A5418"/>
              </a:solidFill>
              <a:effectLst/>
            </c:spPr>
          </c:dPt>
          <c:cat>
            <c:multiLvlStrRef>
              <c:f>Sheet1!$A$2:$A$11</c:f>
              <c:multiLvlStrCache>
                <c:ptCount val="10"/>
                <c:lvl>
                  <c:pt idx="0">
                    <c:v>Konutlar</c:v>
                  </c:pt>
                  <c:pt idx="1">
                    <c:v>Kentsel altyapı</c:v>
                  </c:pt>
                  <c:pt idx="2">
                    <c:v>Proje, etüt, beklenmeyen (%10)</c:v>
                  </c:pt>
                  <c:pt idx="3">
                    <c:v>Ekspres hat ve aktarma</c:v>
                  </c:pt>
                  <c:pt idx="4">
                    <c:v>Mahalle merkezi ve ticaret</c:v>
                  </c:pt>
                  <c:pt idx="5">
                    <c:v>Göl, parklar, yamaç parkurları</c:v>
                  </c:pt>
                  <c:pt idx="6">
                    <c:v>Kültür, spor, sağlık</c:v>
                  </c:pt>
                  <c:pt idx="7">
                    <c:v>Devlet okul kampüsü</c:v>
                  </c:pt>
                  <c:pt idx="8">
                    <c:v>Özel okul kampüsü</c:v>
                  </c:pt>
                  <c:pt idx="9">
                    <c:v>Akıllı şehir sistemleri</c:v>
                  </c:pt>
                </c:lvl>
              </c:multiLvlStrCache>
            </c:multiLvlStrRef>
          </c:cat>
          <c:val>
            <c:numRef>
              <c:f>Sheet1!$B$2:$B$11</c:f>
              <c:numCache>
                <c:formatCode>General</c:formatCode>
                <c:ptCount val="10"/>
                <c:pt idx="0">
                  <c:v>7.94</c:v>
                </c:pt>
                <c:pt idx="1">
                  <c:v>1.59</c:v>
                </c:pt>
                <c:pt idx="2">
                  <c:v>1.14</c:v>
                </c:pt>
                <c:pt idx="3">
                  <c:v>0.48</c:v>
                </c:pt>
                <c:pt idx="4">
                  <c:v>0.32</c:v>
                </c:pt>
                <c:pt idx="5">
                  <c:v>0.3</c:v>
                </c:pt>
                <c:pt idx="6">
                  <c:v>0.28</c:v>
                </c:pt>
                <c:pt idx="7">
                  <c:v>0.2</c:v>
                </c:pt>
                <c:pt idx="8">
                  <c:v>0.16</c:v>
                </c:pt>
                <c:pt idx="9">
                  <c:v>0.15</c:v>
                </c:pt>
              </c:numCache>
            </c:numRef>
          </c:val>
        </c:ser>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9.2"/>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Milyar TL (reel %5 indirim)</a:t>
            </a:r>
          </a:p>
        </c:rich>
      </c:tx>
      <c:layout/>
      <c:overlay val="0"/>
    </c:title>
    <c:autoTitleDeleted val="0"/>
    <c:plotArea>
      <c:layout/>
      <c:barChart>
        <c:barDir val="col"/>
        <c:grouping val="clustered"/>
        <c:varyColors val="0"/>
        <c:ser>
          <c:idx val="0"/>
          <c:order val="0"/>
          <c:tx>
            <c:strRef>
              <c:f>Sheet1!$B$1</c:f>
              <c:strCache>
                <c:ptCount val="1"/>
                <c:pt idx="0">
                  <c:v>Ulaşım faydası, 30 yıllık bugünkü değer</c:v>
                </c:pt>
              </c:strCache>
            </c:strRef>
          </c:tx>
          <c:spPr>
            <a:solidFill>
              <a:srgbClr val="6B8F5E"/>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Sheet1!$B$2:$B$4</c:f>
              <c:numCache>
                <c:formatCode>General</c:formatCode>
                <c:ptCount val="3"/>
                <c:pt idx="0">
                  <c:v>0.62</c:v>
                </c:pt>
                <c:pt idx="1">
                  <c:v>0.92</c:v>
                </c:pt>
                <c:pt idx="2">
                  <c:v>1.95</c:v>
                </c:pt>
              </c:numCache>
            </c:numRef>
          </c:val>
        </c:ser>
        <c:ser>
          <c:idx val="1"/>
          <c:order val="1"/>
          <c:tx>
            <c:strRef>
              <c:f>Sheet1!$C$1</c:f>
              <c:strCache>
                <c:ptCount val="1"/>
                <c:pt idx="0">
                  <c:v>Kamu ve ortak kullanım payı</c:v>
                </c:pt>
              </c:strCache>
            </c:strRef>
          </c:tx>
          <c:spPr>
            <a:solidFill>
              <a:srgbClr val="9A5418"/>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Sheet1!$C$2:$C$4</c:f>
              <c:numCache>
                <c:formatCode>General</c:formatCode>
                <c:ptCount val="3"/>
                <c:pt idx="0">
                  <c:v>2.54</c:v>
                </c:pt>
                <c:pt idx="1">
                  <c:v>3.29</c:v>
                </c:pt>
                <c:pt idx="2">
                  <c:v>4.11</c:v>
                </c:pt>
              </c:numCache>
            </c:numRef>
          </c:val>
        </c:ser>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8"/>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Belen &amp; Partners tarafından hazırlanan Kahramankazan Uydukent fizibilite çalışması sunulmaktadır. Çalışma, Kahramankazan Sarıayak'taki 511 bin metrekarelik Hazine arazisinin savunma ve havacılık sanayi çalışanlarına yönelik bir yaşam alanı olarak değerlendirilmesini konu almaktadır. Kapak görseli bölgeden alınmış drone çekimidir (22 Eylül 2026). Bazı rakamlar ilgili kurumlardan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Önerinin özü, Hazine arazisinde eğitim, sağlık ve sosyal donatılarıyla bütünleşik, herkese açık bir yaşam alanı kurulmasıdır. Arazi Hazine mülkiyetinde olup satın alınması öngörülmemektedir; değerlendirme kararı Cumhurbaşkanlığının takdirindedir. Önerilen senaryo 2.500 konut ve yaklaşık 7.500 kişidir. Toplam yatırım baz senaryoda yaklaşık 12,5 milyar TL, aralık 9,9–15,9 milyar TL'dir. Sanayi bölgelerine 35 dakikanın altında ulaşım hedefi Uydukent Ekspres ile sağlanacaktır.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Kalkınma Planı, savunma sanayii istihdamının 2022–2028 döneminde yaklaşık iki katına çıkarılmasını hedeflemektedir. Bu büyümenin gerektirdiği nitelikli personelin bölgede yaşayabileceği konut, eğitim ve sosyal altyapı bir ön koşuldur. SSB Stratejik Planı, deneyimli personelin ayrılmasını resmi bir tehdit olarak tanımlamaktadır. Ana firmanın çalışan sayısı kaynaklara göre 13 ile 17 bin arasında değişmekte olup güncel resmi rakam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Kahramankazan için öngörülen 2030 savunma sanayii ekosisteminin yaşam alanı bileşenidir. Ekosistem; ilçe merkezinin kentsel dönüşümü, Kışla'daki HAB uzay gelişim alanı, Kınık özel endüstri sanayi alanı, Soğucak'taki tropik yaşam ve sağlık merkezi ile bunları bağlayan hafif raylı sistemden oluşmaktadır. Ekosistemin tamamı 35,6 milyon metrekare olup diğer projelerle birlikte 100–200 bin kişilik kapasite öngörülmektedir. Uydukent'in kendi programı 51,1 hektar, 2.500 konut ve yaklaşık 7.500 kişidir.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Kahramankazan merkezine 8, Kınık sanayi alanına 11 kilometre uzaklıktadır; HAB ve Kışla bölgesine Kınık üzerinden yaklaşık 19 kilometredir. Uydukent sanayi bölgelerine en yakın nokta değildir; Eryaman ve Yenikent daha yakındır. Uydukent'in katkısı, işe yolculuğun Ankara'nın en yoğun sabah koridoru olan Batıkent–Susuz kesiminden ilçe içindeki ekspres hatta aktarılmasıdır. Mesafeler proje ekibinin bölge görselinden alınmış olup yol mesafesi mi kuş uçuşu mu olduğu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üç seçenekle karşılaştırılmıştır: mevcut durumun sürdürülmesi, HAB'a bitişik bir saha ve Yenikent. Uydukent'in güçlü yönleri tek malikli kamu arazisi olması, kamulaştırma gerektirmemesi, askeri yasak bölgenin dışında kalmasının beklenmesi ve stratejik tesisin büyüme alanını korumasıdır. Sanayi bölgelerine uzaklık ve raylı sistemin henüz bulunmaması orta düzeyde değerlendirilmiş olup ekspres hat ve planlanan hafif raylı sistemle telafi edilmesi öngörülmektedir. HAB'a bitişik saha ve Yenikent için arazi mülkiyeti araştırılmamıştır.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görüntüleri Sarıayak bölgesinin arazi yapısını göstermektedir. Tepe üstündeki tarla platoları yapılaşmaya uygun bölümlerdir. Yamaçlarda erozyon yarıntıları ve eşyükselti teraslarına dikilmiş çam ağaçlandırması bulunmaktadır; bu alanların hukuki statüsü teyit edilecektir. Vadilerdeki mevcut köy yerleşimiyle bütünleşik bir tasarım öngörülmektedir. Platolardan ovaya açılan manzara önemli bir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teyit kalemi, yamaçlardaki teraslı ağaçlandırmanın 6831 sayılı Kanun kapsamındaki statüsüdür; bu alanlar programda zaten korunan yamaç olarak ayrılmıştır. Zemin koşulları jeoteknik etütle belirlenecektir. Ankara'nın üst ölçekli planı iptal edildiğinden imar durumunun kurumlardan yazılı olarak alınması gerekmektedir. Uydukent'in HAB ve Kışla bölgesine yaklaşık 19 kilometre uzaklığı, askeri yasak bölgenin dışında kalmasını olası kılmaktadır; pist ekseni ve gürültü ilişkisi parsel koordinatıyla yeniden hesaplanacaktır.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beş üst ölçekli politika belgesiyle doğrudan uyumludur. En güçlü bağ, 12. Kalkınma Planı'nın savunma sanayii istihdam hedefi ile SSB Stratejik Planı'nın insan kaynağı tespitidir. Yerleşim ile toplu taşımanın birlikte planlanması, akıllı ve yeşil yerleşim ve sıfır atık ilkeleri de plan maddeleri arasındadır. Akıllı şehirler stratejisindeki ilgili eylem numarası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değerlendirilmiştir: 2.000, 2.500 ve 3.000 konut. Önerilen senaryo 2.500 konut ve yaklaşık 7.500 kişidir. Arazinin yaklaşık beşte biri korunan yamaç olarak ayrılmış, net konut alanı 13,1 hektar olarak hesaplanmıştır. Donatı alanları Mekânsal Planlar Yapım Yönetmeliği Ek-2 standartlarına göre ihtiyatlı kademeden belirlenmiştir. Brüt yoğunluk hektar başına 49 konuttur; TAI Ankara Lodgings projesinde bu değer 37,5'tir.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Şema ölçeklidir ancak parsel sınırı elde bulunmadığından haritaya oturtulmamıştır. Yapay göl ve göl parkı merkezde yer almaktadır. Göl kıyısında mahalle merkezi, kültür merkezi ve cami; doğuda aile sağlığı merkezi ve 112 istasyonu; güneyde spor kompleksi konumlandırılmıştır. Okul kampüsleri konutlara yürüme mesafesindedir. Dört mahalle platolarda, yamaç ve yarıntılar ise alanı çevreleyen yeşil kuşakta yer almaktadır.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 bölgeleme şemasındaki kurgunun kuşbakışı kavramsal ifadesidir. Merkezde yapay göl ve göl parkı, çevresinde ring yol, platolarda dört konut mahallesi, batıda okul kampüsleri, kuzeyde mahalle merkezi, kültür merkezi ve cami yer almaktadır. Yamaçlar ağaçlandırılmış yeşil kuşak olarak korunmaktadır. Görsel temsilî olup mimari tasarım niteliği taşımamaktadır.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Konut adaları, ortasında çocuk oyun alanları ve yeşil avlular bulunan çevre blokları olarak kurgulanmıştır. Kat yükseklikleri beş ile sekiz kat arasında değişmekte, çatılarda güneş panelleri yer almaktadır. Ana sokaklara bakan zemin katlarda mahalle ticareti öngörülmektedir.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olanakları, ailelerin yer seçiminde belirleyici ölçüttür. Genç aile varsayımıyla yaklaşık 1.540 öğrenci ve 57 derslik ihtiyacı hesaplanmıştır. MEB normlarında bir devlet okul kampüsü ile iki dilli, nitelikli bir özel okul kampüsü önerilmektedir. Kalıcı binalar tamamlanana kadar modüler sınıfların ilk günden hizmet vermesi öngörülmektedir.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Görselin ön planında özel okul kampüsü, arka planda devlet okul kampüsü yer almaktadır. Kampüsler avlulu yapılar, spor sahaları ve yeşil alanlarla kurgulanmıştır; konutlara yürüme mesafesindedir. Okulların spor salonu ve kütüphanesinin akşamları mahalleye açılması öngörülmektedir.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Büyük işverenlerin yakınında nitelikli okul kurulması uluslararası ölçekte yaygın bir uygulamadır. Toulouse'daki uluslararası okul Airbus'ın talebiyle açılmıştır. Songdo'daki Chadwick 260–280 öğrenciyle başlamış, bugün yaklaşık 1.500 öğrenciye ulaşmıştır; bu durum kampüsün büyümeye göre planlanması gerektiğini göstermektedir. Wolfsburg'da Volkswagen okulu kurarak şehre devretmiştir. Türkiye'de Deneyap atölyeleri okullara eklenebilecek bir modeldir.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 hizmeti üç basamakta kurgulanmıştır. Yerleşim içinde ilk günden aile sağlığı merkezi, 112 istasyonu ve poliklinik öngörülmektedir. İlçede 2022'de hizmete açılan Kahramankazan Devlet Hastanesi bulunmaktadır; yatak sayısı kaynaklarda 150 ile 190 arasında değişmektedir. Proje ekibinin yeni şehir hastanesi olarak andığı tesis, kaynaklarda devlet hastanesi olarak geçmektedir. Sejong örneği, acil hizmetin baştan planlanmasının önemini göstermektedir.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göl arazinin içinde, 2,5 hektar su yüzeyi ve 3,5 hektar göl parkıyla planlanmıştır. Ankara'da Ocak 2026'da barajların aktif doluluğu yüzde 1'e indiğinden gölün şebeke suyuyla doldurulması önerilmemektedir. Gölün yağmur suyu hasadı ve ileri arıtılmış atıksuyla beslenmesi, şebekenin yalnızca acil durumda kullanılması öngörülmektedir. Çökeltim havuzu, sirkülasyon ve biyolojik arıtma ilk günden tasarlanacaktır. Göl aynı zamanda taşkın dengeleme havzası ve sosyal yaşamın merkezidir.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 göl kıyısından mahalle merkezine doğru bakmaktadır. Göl çevresinde yürüyüş ve koşu parkuru, amfi basamaklar, iskele ve kafeler; kıyıda mahalle merkezi, kültür merkezi ve cami yer almaktadır. Göl, sosyal yaşamın ve yağmur suyu yönetiminin merkezi olarak tasarlanmıştır.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 göl, mahalle merkezinin odağı olarak kullanılmaktadır. Reston'daki Lake Anne köy merkezi tescilli miras statüsündedir. Columbia'da göllerin bakımı sakin aidatıyla yürütülmekte, işletme modeli baştan kurulmaktadır. Singapur Bishan'da beton kanal doğal bir nehir parkına dönüştürülmüştür. Ankara'daki Göksu Parkı'nda 2021–22'de yaşanan su kalitesi sorunları, sirkülasyon, arıtma ve işletmeci gereksinimini göstermektedir.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Hedef, HAB ve Kınık sanayi alanlarına kapıdan kapıya 35 dakikanın altında ve sabit sürede ulaşımdır. Güzergâh Uydukent'ten Kınık'a 11, Kınık'tan HAB ve Kışla bölgesine 8 kilometredir. İlk günden mesaiye bağlı 13 elektrikli otobüsün çalışması öngörülmektedir; sabah zirvesinde yaklaşık 875 yolcu taşınacak, Batıkent–Susuz–Eryaman koridorundan yaklaşık 560 otomobil çekilecektir. Koridor baştan raylı sistem standardında ayrılacak, ekosistemde planlanan hafif raylı sisteme bağlantı talebe göre değerlendirilecektir.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 projelerinin altyapı ve araç bileşenleri bu tabloda yer almaktadır. Uydukent Ekspres ve aktarma istasyonu ilk günden hizmete girecek olup yatırım tutarları hesaplanmıştır. Otobüs öncelikli koridor ile ekosistemin hafif raylı sistemine bağlantı ilerleyen aşamalarda talebe göre değerlendirilecektir. Ring hat ve Yenikent aktarması mevcut hizmetlere bağlantıyı sağlamaktadır.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Ulaşımın hizmet ve yönetim bileşenleri, altyapı yatırımlarını tamamlayan düşük maliyetli önlemlerdir. Çağrılı servis, bisiklet ve yaya ağı son kilometre erişimini sağlamakta; akıllı durak, ulaşım uygulaması ve park yönetimi talebi toplu taşımaya yönlendirmektedir. Kademeli mesai, yatırım gerektirmeden sabah zirvesini düşüren en etkili araçtır.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Servis ve aktarma istasyonu yerleşimin ana girişinde yer almaktadır. Güneş panelli peron örtüsü altında elektrikli ekspres otobüsler, ring hat ve mahalle içi çağrılı servis buluşmaktadır. İstasyon, ileride otobüs öncelikli koridor ve hafif raylı sistem bağlantısının da düğüm noktası olacaktır.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bileşenleri; ulaşım, eğitim ve sosyal yaşam ihtiyaçlarına hizmet edecek biçimde tasarlanmıştır. Songdo deneyimi, teknolojinin tek başına topluluk oluşturmadığını göstermektedir; bu nedenle fiziksel buluşma mekânlarıyla birlikte planlanmaktadır. Sakinlerin önemli bölümünün savunma sanayi çalışanı olacağı dikkate alınarak veri güvenliği temel tasarım ilkesi olarak benimsenmiştir: veriler yurt içinde ve yerli altyapıda tutulacak, yalnızca gerekli veri toplanacak ve bağımsız güvenlik denetimi yapılacaktır.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Projenin sektöre katkısı iki yönlüdür: nitelikli personelin bölgeye kazandırılması ve deneyimli personelin korunması. Bu katkı altı başlıkta sağlanmaktadır: ulaşım süresi, aile yaşamı, eş istihdamı, sosyal yaşam, konut erişimi ve veri güvenliği. Konutların herkese açık olarak satışa sunulması ve savunma sanayi çalışanlarına öncelik tanınması öngörülmektedir. Uygulama modeli bu çalışmanın kapsamı dışındadır.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Toplam yatırım baz senaryoda 12,54 milyar TL, aralık 9,9–15,9 milyar TL'dir. Yatırımın büyük bölümünü konutlar oluşturmaktadır; konutlar, özel okul ve ticaret satış ve işletme gelirleriyle karşılanan kalemlerdir. Altyapı, devlet okulları, sağlık, kültür ve spor tesisleri, göl ve parklar, akıllı şehir sistemleri ve ekspres hattan oluşan kamu ve ortak kullanım payı yaklaşık 3,3 milyar TL olup toplamın yüzde 26'sıdır. Tutarlar KDV ve arazi bedeli hariçtir.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kamu faydası; kazanılan zaman, yakıt tasarrufu ve önlenen emisyon toplamında yılda 40 ile 127 milyon TL olarak hesaplanmıştır. Bu faydanın otuz yıllık bugünkü değeri kamu payının yüzde 19 ile 59'u arasındadır; dolayısıyla tek başına kamu payını karşılamamaktadır. Bu değer bir alt sınırdır; koridordaki diğer kullanıcılar, kaza maliyetleri, hizmetlere erişim ve personel kaybının işverene maliyeti ölçülmemiştir. Projenin temel gerekçesi stratejiktir.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kentlerden elde edilen temel ders, hizmetlerin gecikmesi durumunda ailelerin taşınmadığıdır. Bu nedenle Aşama 0'da ulaşım, sağlık, kreş ve sosyal yaşamın ilk bileşenlerinin ilk konut teslimiyle eş zamanlı açılması öngörülmektedir; modüler yapılar bunu mümkün kılmaktadır. Her aşamanın öncesinde bir karar kapısı bulunmaktadır. İlk karar kapısı bu sunumda talep edilen karardır; son karar kapısı hafif raylı sisteme bağlantının talebe göre değerlendirilmesidir.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Belen &amp; Partners olarak savunma sanayi için iki şehirde yerleşke ölçeğinde projeler gerçekleştirdik. Kahramankazan'daki TAI Ankara Lodgings 2022 yılında, 400 bin metrekare alanda 1.500 konutla tasarlanmıştır; okul, sağlık ocağı ve spor tesisleri yürüme mesafesindedir. Kahramanmaraş'ta lojman ve fabrika projesi gerçekleştirilmiştir. Kahramankazan'ın kentsel dönüşümü, kent merkezi ve Serapınar projeleri de aynı ilçededir; Uydukent bu planlama sürecinin yeni halkasıdır.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iki risk saha koşullarıyla ilgilidir: yamaçların hukuki statüsü ve zemin. Her ikisi de kararın ardından atılacak ilk teyit adımlarıdır. Su riski göl için önerilen kaynak planıyla, gürültü riski parsel koordinatına göre yapılacak hesap ve yerleşim düzeniyle, hizmetlerin gecikmesi riski Aşama 0 ile karşılanmaktadır.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Talep edilen karar, Sarıayak'taki Hazine arazisinin savunma ve havacılık sanayi çalışanlarına yönelik bir yaşam alanı olarak değerlendirilmesidir. Kararın ardından öngörülen ilk adımlar şunlardır: parsel bilgileri ve halihazır harita, yamaçların hukuki statüsü ve zemin etüdü, imar durumu ve altyapı kapasite görüşleri, savunma sanayi çalışanlarına yönelik ön talep anketi ve kurumlar arası çalışma grubunun kurulması. Dikkatiniz için teşekkür ederiz.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YU">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86868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383280"/>
            <a:ext cx="7863840" cy="9144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RA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694944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OT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5074920"/>
            <a:ext cx="713232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731520" y="5349240"/>
            <a:ext cx="7223760" cy="54864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Kapak fotoğrafı: bölgeden ova manzarası" descr="/home/user/sunum/araclar/sunum/assets/kapak.jpg">    </p:cNvPr>
          <p:cNvPicPr>
            <a:picLocks noChangeAspect="1"/>
          </p:cNvPicPr>
          <p:nvPr/>
        </p:nvPicPr>
        <p:blipFill>
          <a:blip r:embed="rId1"/>
          <a:stretch>
            <a:fillRect/>
          </a:stretch>
        </p:blipFill>
        <p:spPr>
          <a:xfrm>
            <a:off x="0" y="0"/>
            <a:ext cx="12191695" cy="6858000"/>
          </a:xfrm>
          <a:prstGeom prst="rect">
            <a:avLst/>
          </a:prstGeom>
        </p:spPr>
      </p:pic>
      <p:sp>
        <p:nvSpPr>
          <p:cNvPr id="3" name="Karartma"/>
          <p:cNvSpPr/>
          <p:nvPr/>
        </p:nvSpPr>
        <p:spPr>
          <a:xfrm>
            <a:off x="0" y="0"/>
            <a:ext cx="12191695" cy="6858000"/>
          </a:xfrm>
          <a:prstGeom prst="rect">
            <a:avLst/>
          </a:prstGeom>
          <a:solidFill>
            <a:schemeClr val="tx2">
              <a:alpha val="72000"/>
            </a:schemeClr>
          </a:solidFill>
          <a:ln/>
        </p:spPr>
      </p:sp>
      <p:sp>
        <p:nvSpPr>
          <p:cNvPr id="4" name="Text 1"/>
          <p:cNvSpPr txBox="1"/>
          <p:nvPr/>
        </p:nvSpPr>
        <p:spPr>
          <a:xfrm>
            <a:off x="548640" y="1600200"/>
            <a:ext cx="7315200" cy="320040"/>
          </a:xfrm>
          <a:prstGeom prst="rect">
            <a:avLst/>
          </a:prstGeom>
          <a:noFill/>
          <a:ln/>
        </p:spPr>
        <p:txBody>
          <a:bodyPr wrap="square" lIns="0" tIns="0" rIns="0" bIns="0" rtlCol="0" anchor="t"/>
          <a:lstStyle/>
          <a:p>
            <a:pPr indent="0" marL="0">
              <a:buNone/>
            </a:pPr>
            <a:r>
              <a:rPr lang="en-US" sz="1400" b="1" spc="200" kern="0" dirty="0">
                <a:solidFill>
                  <a:schemeClr val="accent4"/>
                </a:solidFill>
              </a:rPr>
              <a:t>FİZİBİLİTE SUNUMU</a:t>
            </a:r>
            <a:endParaRPr lang="en-US" sz="1400" dirty="0"/>
          </a:p>
        </p:txBody>
      </p:sp>
      <p:sp>
        <p:nvSpPr>
          <p:cNvPr id="5" name="Text 0"/>
          <p:cNvSpPr/>
          <p:nvPr>
            <p:ph idx="100" type="title" hasCustomPrompt="1"/>
          </p:nvPr>
        </p:nvSpPr>
        <p:spPr>
          <a:xfrm>
            <a:off x="548640" y="2148840"/>
            <a:ext cx="8686800" cy="1097280"/>
          </a:xfrm>
          <a:prstGeom prst="rect">
            <a:avLst/>
          </a:prstGeom>
          <a:noFill/>
          <a:ln/>
        </p:spPr>
        <p:txBody>
          <a:bodyPr wrap="square" lIns="0" tIns="0" rIns="0" bIns="0" rtlCol="0" anchor="b"/>
          <a:lstStyle/>
          <a:p>
            <a:pPr algn="l" indent="0" marL="0">
              <a:buNone/>
            </a:pPr>
            <a:r>
              <a:rPr lang="en-US" sz="5400" b="1" dirty="0">
                <a:solidFill>
                  <a:schemeClr val="bg1"/>
                </a:solidFill>
              </a:rPr>
              <a:t>Kahramankazan Uydukent</a:t>
            </a:r>
            <a:endParaRPr lang="en-US" sz="5400" dirty="0"/>
          </a:p>
        </p:txBody>
      </p:sp>
      <p:sp>
        <p:nvSpPr>
          <p:cNvPr id="6" name="Text 0"/>
          <p:cNvSpPr/>
          <p:nvPr>
            <p:ph idx="101" type="body" hasCustomPrompt="1"/>
          </p:nvPr>
        </p:nvSpPr>
        <p:spPr>
          <a:xfrm>
            <a:off x="548640" y="3383280"/>
            <a:ext cx="7863840" cy="914400"/>
          </a:xfrm>
          <a:prstGeom prst="rect">
            <a:avLst/>
          </a:prstGeom>
          <a:noFill/>
          <a:ln/>
        </p:spPr>
        <p:txBody>
          <a:bodyPr wrap="square" lIns="0" tIns="0" rIns="0" bIns="0" rtlCol="0" anchor="t"/>
          <a:lstStyle/>
          <a:p>
            <a:pPr algn="l" indent="0" marL="0">
              <a:buNone/>
            </a:pPr>
            <a:r>
              <a:rPr lang="en-US" sz="2200" dirty="0">
                <a:solidFill>
                  <a:schemeClr val="bg1"/>
                </a:solidFill>
              </a:rPr>
              <a:t>Savunma ve havacılık sanayi çalışanları için akıllı bir yaşam alanı</a:t>
            </a:r>
            <a:endParaRPr lang="en-US" sz="2200" dirty="0"/>
          </a:p>
        </p:txBody>
      </p:sp>
      <p:sp>
        <p:nvSpPr>
          <p:cNvPr id="7" name="Text 4"/>
          <p:cNvSpPr txBox="1"/>
          <p:nvPr/>
        </p:nvSpPr>
        <p:spPr>
          <a:xfrm>
            <a:off x="548640" y="4480560"/>
            <a:ext cx="7315200" cy="320040"/>
          </a:xfrm>
          <a:prstGeom prst="rect">
            <a:avLst/>
          </a:prstGeom>
          <a:noFill/>
          <a:ln/>
        </p:spPr>
        <p:txBody>
          <a:bodyPr wrap="square" lIns="0" tIns="0" rIns="0" bIns="0" rtlCol="0" anchor="t"/>
          <a:lstStyle/>
          <a:p>
            <a:pPr indent="0" marL="0">
              <a:buNone/>
            </a:pPr>
            <a:r>
              <a:rPr lang="en-US" sz="1600" dirty="0">
                <a:solidFill>
                  <a:schemeClr val="bg2"/>
                </a:solidFill>
              </a:rPr>
              <a:t>Sarıayak, Kahramankazan · 511.000 m² Hazine arazisi</a:t>
            </a:r>
            <a:endParaRPr lang="en-US" sz="1600" dirty="0"/>
          </a:p>
        </p:txBody>
      </p:sp>
      <p:sp>
        <p:nvSpPr>
          <p:cNvPr id="8" name="Text 5"/>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chemeClr val="bg1"/>
                </a:solidFill>
              </a:rPr>
              <a:t>Belen &amp; Partners · Ekim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ÖZET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bg1"/>
                </a:solidFill>
              </a:rPr>
              <a:t>Önerinin özeti</a:t>
            </a:r>
            <a:endParaRPr lang="en-US" sz="3600" dirty="0"/>
          </a:p>
        </p:txBody>
      </p:sp>
      <p:sp>
        <p:nvSpPr>
          <p:cNvPr id="4" name="Text 2"/>
          <p:cNvSpPr txBox="1"/>
          <p:nvPr/>
        </p:nvSpPr>
        <p:spPr>
          <a:xfrm>
            <a:off x="548640" y="1691640"/>
            <a:ext cx="10241280" cy="137160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Sarıayak'taki 511 bin m²'lik Hazine arazisinde, savunma ve havacılık sanayi çalışanlarına yönelik, eğitim, sağlık ve sosyal donatılarıyla bütünleşik, herkese açık bir yaşam alanının kurulması önerilmektedir: Kahramankazan Uydukent.</a:t>
            </a:r>
            <a:endParaRPr lang="en-US" sz="2600" dirty="0"/>
          </a:p>
        </p:txBody>
      </p:sp>
      <p:sp>
        <p:nvSpPr>
          <p:cNvPr id="5" name="Gösterge"/>
          <p:cNvSpPr/>
          <p:nvPr/>
        </p:nvSpPr>
        <p:spPr>
          <a:xfrm>
            <a:off x="548640" y="3520440"/>
            <a:ext cx="2036003" cy="1783080"/>
          </a:xfrm>
          <a:prstGeom prst="roundRect">
            <a:avLst>
              <a:gd name="adj" fmla="val 4103"/>
            </a:avLst>
          </a:prstGeom>
          <a:solidFill>
            <a:schemeClr val="bg1">
              <a:alpha val="12000"/>
            </a:schemeClr>
          </a:solidFill>
          <a:ln/>
        </p:spPr>
      </p:sp>
      <p:sp>
        <p:nvSpPr>
          <p:cNvPr id="6" name="Text 4"/>
          <p:cNvSpPr txBox="1"/>
          <p:nvPr/>
        </p:nvSpPr>
        <p:spPr>
          <a:xfrm>
            <a:off x="731520"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51,1 ha</a:t>
            </a:r>
            <a:endParaRPr lang="en-US" sz="2800" dirty="0"/>
          </a:p>
        </p:txBody>
      </p:sp>
      <p:sp>
        <p:nvSpPr>
          <p:cNvPr id="7" name="Text 5"/>
          <p:cNvSpPr txBox="1"/>
          <p:nvPr/>
        </p:nvSpPr>
        <p:spPr>
          <a:xfrm>
            <a:off x="731520"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Hazine arazisi; satın alma gerektirmez</a:t>
            </a:r>
            <a:endParaRPr lang="en-US" sz="1400" dirty="0"/>
          </a:p>
        </p:txBody>
      </p:sp>
      <p:sp>
        <p:nvSpPr>
          <p:cNvPr id="8" name="Gösterge"/>
          <p:cNvSpPr/>
          <p:nvPr/>
        </p:nvSpPr>
        <p:spPr>
          <a:xfrm>
            <a:off x="2813243" y="3520440"/>
            <a:ext cx="2036003" cy="1783080"/>
          </a:xfrm>
          <a:prstGeom prst="roundRect">
            <a:avLst>
              <a:gd name="adj" fmla="val 4103"/>
            </a:avLst>
          </a:prstGeom>
          <a:solidFill>
            <a:schemeClr val="bg1">
              <a:alpha val="12000"/>
            </a:schemeClr>
          </a:solidFill>
          <a:ln/>
        </p:spPr>
      </p:sp>
      <p:sp>
        <p:nvSpPr>
          <p:cNvPr id="9" name="Text 7"/>
          <p:cNvSpPr txBox="1"/>
          <p:nvPr/>
        </p:nvSpPr>
        <p:spPr>
          <a:xfrm>
            <a:off x="2996123"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2.500</a:t>
            </a:r>
            <a:endParaRPr lang="en-US" sz="2800" dirty="0"/>
          </a:p>
        </p:txBody>
      </p:sp>
      <p:sp>
        <p:nvSpPr>
          <p:cNvPr id="10" name="Text 8"/>
          <p:cNvSpPr txBox="1"/>
          <p:nvPr/>
        </p:nvSpPr>
        <p:spPr>
          <a:xfrm>
            <a:off x="2996123"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konut (önerilen senaryo)</a:t>
            </a:r>
            <a:endParaRPr lang="en-US" sz="1400" dirty="0"/>
          </a:p>
        </p:txBody>
      </p:sp>
      <p:sp>
        <p:nvSpPr>
          <p:cNvPr id="11" name="Gösterge"/>
          <p:cNvSpPr/>
          <p:nvPr/>
        </p:nvSpPr>
        <p:spPr>
          <a:xfrm>
            <a:off x="5077846" y="3520440"/>
            <a:ext cx="2036003" cy="1783080"/>
          </a:xfrm>
          <a:prstGeom prst="roundRect">
            <a:avLst>
              <a:gd name="adj" fmla="val 4103"/>
            </a:avLst>
          </a:prstGeom>
          <a:solidFill>
            <a:schemeClr val="bg1">
              <a:alpha val="12000"/>
            </a:schemeClr>
          </a:solidFill>
          <a:ln/>
        </p:spPr>
      </p:sp>
      <p:sp>
        <p:nvSpPr>
          <p:cNvPr id="12" name="Text 10"/>
          <p:cNvSpPr txBox="1"/>
          <p:nvPr/>
        </p:nvSpPr>
        <p:spPr>
          <a:xfrm>
            <a:off x="5260726"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~7.500</a:t>
            </a:r>
            <a:endParaRPr lang="en-US" sz="2800" dirty="0"/>
          </a:p>
        </p:txBody>
      </p:sp>
      <p:sp>
        <p:nvSpPr>
          <p:cNvPr id="13" name="Text 11"/>
          <p:cNvSpPr txBox="1"/>
          <p:nvPr/>
        </p:nvSpPr>
        <p:spPr>
          <a:xfrm>
            <a:off x="5260726"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kişi</a:t>
            </a:r>
            <a:endParaRPr lang="en-US" sz="1400" dirty="0"/>
          </a:p>
        </p:txBody>
      </p:sp>
      <p:sp>
        <p:nvSpPr>
          <p:cNvPr id="14" name="Gösterge"/>
          <p:cNvSpPr/>
          <p:nvPr/>
        </p:nvSpPr>
        <p:spPr>
          <a:xfrm>
            <a:off x="7342449" y="3520440"/>
            <a:ext cx="2036003" cy="1783080"/>
          </a:xfrm>
          <a:prstGeom prst="roundRect">
            <a:avLst>
              <a:gd name="adj" fmla="val 4103"/>
            </a:avLst>
          </a:prstGeom>
          <a:solidFill>
            <a:schemeClr val="bg1">
              <a:alpha val="12000"/>
            </a:schemeClr>
          </a:solidFill>
          <a:ln/>
        </p:spPr>
      </p:sp>
      <p:sp>
        <p:nvSpPr>
          <p:cNvPr id="15" name="Text 13"/>
          <p:cNvSpPr txBox="1"/>
          <p:nvPr/>
        </p:nvSpPr>
        <p:spPr>
          <a:xfrm>
            <a:off x="7525329"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~12,5 mlr</a:t>
            </a:r>
            <a:endParaRPr lang="en-US" sz="2800" dirty="0"/>
          </a:p>
        </p:txBody>
      </p:sp>
      <p:sp>
        <p:nvSpPr>
          <p:cNvPr id="16" name="Text 14"/>
          <p:cNvSpPr txBox="1"/>
          <p:nvPr/>
        </p:nvSpPr>
        <p:spPr>
          <a:xfrm>
            <a:off x="7525329"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TL toplam yatırım (9,9–15,9)</a:t>
            </a:r>
            <a:endParaRPr lang="en-US" sz="1400" dirty="0"/>
          </a:p>
        </p:txBody>
      </p:sp>
      <p:sp>
        <p:nvSpPr>
          <p:cNvPr id="17" name="Gösterge"/>
          <p:cNvSpPr/>
          <p:nvPr/>
        </p:nvSpPr>
        <p:spPr>
          <a:xfrm>
            <a:off x="9607052" y="3520440"/>
            <a:ext cx="2036003" cy="1783080"/>
          </a:xfrm>
          <a:prstGeom prst="roundRect">
            <a:avLst>
              <a:gd name="adj" fmla="val 4103"/>
            </a:avLst>
          </a:prstGeom>
          <a:solidFill>
            <a:schemeClr val="bg1">
              <a:alpha val="12000"/>
            </a:schemeClr>
          </a:solidFill>
          <a:ln/>
        </p:spPr>
      </p:sp>
      <p:sp>
        <p:nvSpPr>
          <p:cNvPr id="18" name="Text 16"/>
          <p:cNvSpPr txBox="1"/>
          <p:nvPr/>
        </p:nvSpPr>
        <p:spPr>
          <a:xfrm>
            <a:off x="9789932"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&lt; 35 dk</a:t>
            </a:r>
            <a:endParaRPr lang="en-US" sz="2800" dirty="0"/>
          </a:p>
        </p:txBody>
      </p:sp>
      <p:sp>
        <p:nvSpPr>
          <p:cNvPr id="19" name="Text 17"/>
          <p:cNvSpPr txBox="1"/>
          <p:nvPr/>
        </p:nvSpPr>
        <p:spPr>
          <a:xfrm>
            <a:off x="9789932"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sanayi bölgelerine ekspres ulaşım (hedef)</a:t>
            </a:r>
            <a:endParaRPr lang="en-US" sz="1400" dirty="0"/>
          </a:p>
        </p:txBody>
      </p:sp>
      <p:sp>
        <p:nvSpPr>
          <p:cNvPr id="20" name="Text 18"/>
          <p:cNvSpPr txBox="1"/>
          <p:nvPr/>
        </p:nvSpPr>
        <p:spPr>
          <a:xfrm>
            <a:off x="548640" y="5623560"/>
            <a:ext cx="11094415" cy="320040"/>
          </a:xfrm>
          <a:prstGeom prst="rect">
            <a:avLst/>
          </a:prstGeom>
          <a:noFill/>
          <a:ln/>
        </p:spPr>
        <p:txBody>
          <a:bodyPr wrap="square" lIns="0" tIns="0" rIns="0" bIns="0" rtlCol="0" anchor="t"/>
          <a:lstStyle/>
          <a:p>
            <a:pPr indent="0" marL="0">
              <a:buNone/>
            </a:pPr>
            <a:r>
              <a:rPr lang="en-US" sz="1300" dirty="0">
                <a:solidFill>
                  <a:schemeClr val="bg2"/>
                </a:solidFill>
              </a:rPr>
              <a:t>Konutların herkese açık olarak satışa sunulması ve savunma sanayi çalışanlarına öncelik tanınması öngörülmektedir. Tutarlar 2026 fiyatlarıyla, KDV ve arazi bedeli hariçtir.</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GEREKÇE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Sektörel büyüme ve insan kaynağı ihtiyacı</a:t>
            </a:r>
            <a:endParaRPr lang="en-US" sz="3600" dirty="0"/>
          </a:p>
        </p:txBody>
      </p:sp>
      <p:graphicFrame>
        <p:nvGraphicFramePr>
          <p:cNvPr id="4" name="Chart 0" descr=""/>
          <p:cNvGraphicFramePr/>
          <p:nvPr/>
        </p:nvGraphicFramePr>
        <p:xfrm>
          <a:off x="548640" y="1600200"/>
          <a:ext cx="4846320" cy="4343400"/>
        </p:xfrm>
        <a:graphic xmlns:a="http://schemas.openxmlformats.org/drawingml/2006/main">
          <a:graphicData uri="http://schemas.openxmlformats.org/drawingml/2006/chart">
            <c:chart xmlns:c="http://schemas.openxmlformats.org/drawingml/2006/chart" r:id="rId1"/>
          </a:graphicData>
        </a:graphic>
      </p:graphicFrame>
      <p:sp>
        <p:nvSpPr>
          <p:cNvPr id="5" name="İkon zemini"/>
          <p:cNvSpPr/>
          <p:nvPr/>
        </p:nvSpPr>
        <p:spPr>
          <a:xfrm>
            <a:off x="5852160" y="1645920"/>
            <a:ext cx="640080" cy="640080"/>
          </a:xfrm>
          <a:prstGeom prst="ellipse">
            <a:avLst/>
          </a:prstGeom>
          <a:solidFill>
            <a:schemeClr val="tx2"/>
          </a:solidFill>
          <a:ln/>
        </p:spPr>
      </p:sp>
      <p:pic>
        <p:nvPicPr>
          <p:cNvPr id="6" name="İkon FaChartLine" descr="preencoded.png">    </p:cNvPr>
          <p:cNvPicPr>
            <a:picLocks noChangeAspect="1"/>
          </p:cNvPicPr>
          <p:nvPr/>
        </p:nvPicPr>
        <p:blipFill>
          <a:blip r:embed="rId2"/>
          <a:stretch>
            <a:fillRect/>
          </a:stretch>
        </p:blipFill>
        <p:spPr>
          <a:xfrm>
            <a:off x="6005779" y="1799539"/>
            <a:ext cx="332842" cy="332842"/>
          </a:xfrm>
          <a:prstGeom prst="rect">
            <a:avLst/>
          </a:prstGeom>
        </p:spPr>
      </p:pic>
      <p:sp>
        <p:nvSpPr>
          <p:cNvPr id="7" name="Text 3"/>
          <p:cNvSpPr txBox="1"/>
          <p:nvPr/>
        </p:nvSpPr>
        <p:spPr>
          <a:xfrm>
            <a:off x="6675120" y="16459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İstihdam hedefi</a:t>
            </a:r>
            <a:endParaRPr lang="en-US" sz="1800" dirty="0"/>
          </a:p>
        </p:txBody>
      </p:sp>
      <p:sp>
        <p:nvSpPr>
          <p:cNvPr id="8" name="Text 4"/>
          <p:cNvSpPr txBox="1"/>
          <p:nvPr/>
        </p:nvSpPr>
        <p:spPr>
          <a:xfrm>
            <a:off x="6675120" y="2057400"/>
            <a:ext cx="4937760" cy="868680"/>
          </a:xfrm>
          <a:prstGeom prst="rect">
            <a:avLst/>
          </a:prstGeom>
          <a:noFill/>
          <a:ln/>
        </p:spPr>
        <p:txBody>
          <a:bodyPr wrap="square" lIns="0" tIns="0" rIns="0" bIns="0" rtlCol="0" anchor="t"/>
          <a:lstStyle/>
          <a:p>
            <a:pPr indent="0" marL="0">
              <a:buNone/>
            </a:pPr>
            <a:r>
              <a:rPr lang="en-US" sz="1500" dirty="0">
                <a:solidFill>
                  <a:schemeClr val="tx1"/>
                </a:solidFill>
              </a:rPr>
              <a:t>12. Kalkınma Planı'nda sektör istihdamının 2022'deki 81,1 binden 2028'de 158 bine çıkarılması hedeflenmektedir.</a:t>
            </a:r>
            <a:endParaRPr lang="en-US" sz="1500" dirty="0"/>
          </a:p>
        </p:txBody>
      </p:sp>
      <p:sp>
        <p:nvSpPr>
          <p:cNvPr id="9" name="İkon zemini"/>
          <p:cNvSpPr/>
          <p:nvPr/>
        </p:nvSpPr>
        <p:spPr>
          <a:xfrm>
            <a:off x="5852160" y="3108960"/>
            <a:ext cx="640080" cy="640080"/>
          </a:xfrm>
          <a:prstGeom prst="ellipse">
            <a:avLst/>
          </a:prstGeom>
          <a:solidFill>
            <a:schemeClr val="tx2"/>
          </a:solidFill>
          <a:ln/>
        </p:spPr>
      </p:sp>
      <p:pic>
        <p:nvPicPr>
          <p:cNvPr id="10" name="İkon FaTriangleExclamation" descr="preencoded.png">    </p:cNvPr>
          <p:cNvPicPr>
            <a:picLocks noChangeAspect="1"/>
          </p:cNvPicPr>
          <p:nvPr/>
        </p:nvPicPr>
        <p:blipFill>
          <a:blip r:embed="rId3"/>
          <a:stretch>
            <a:fillRect/>
          </a:stretch>
        </p:blipFill>
        <p:spPr>
          <a:xfrm>
            <a:off x="6005779" y="3262579"/>
            <a:ext cx="332842" cy="332842"/>
          </a:xfrm>
          <a:prstGeom prst="rect">
            <a:avLst/>
          </a:prstGeom>
        </p:spPr>
      </p:pic>
      <p:sp>
        <p:nvSpPr>
          <p:cNvPr id="11" name="Text 6"/>
          <p:cNvSpPr txBox="1"/>
          <p:nvPr/>
        </p:nvSpPr>
        <p:spPr>
          <a:xfrm>
            <a:off x="6675120" y="3108960"/>
            <a:ext cx="4937760" cy="365760"/>
          </a:xfrm>
          <a:prstGeom prst="rect">
            <a:avLst/>
          </a:prstGeom>
          <a:noFill/>
          <a:ln/>
        </p:spPr>
        <p:txBody>
          <a:bodyPr wrap="square" lIns="0" tIns="0" rIns="0" bIns="0" rtlCol="0" anchor="t"/>
          <a:lstStyle/>
          <a:p>
            <a:pPr indent="0" marL="0">
              <a:buNone/>
            </a:pPr>
            <a:r>
              <a:rPr lang="en-US" sz="1800" b="1" dirty="0">
                <a:solidFill>
                  <a:schemeClr val="tx2"/>
                </a:solidFill>
              </a:rPr>
              <a:t>Nitelikli personel kaybı riski</a:t>
            </a:r>
            <a:endParaRPr lang="en-US" sz="1800" dirty="0"/>
          </a:p>
        </p:txBody>
      </p:sp>
      <p:sp>
        <p:nvSpPr>
          <p:cNvPr id="12" name="Text 7"/>
          <p:cNvSpPr txBox="1"/>
          <p:nvPr/>
        </p:nvSpPr>
        <p:spPr>
          <a:xfrm>
            <a:off x="6675120" y="3520440"/>
            <a:ext cx="4937760" cy="868680"/>
          </a:xfrm>
          <a:prstGeom prst="rect">
            <a:avLst/>
          </a:prstGeom>
          <a:noFill/>
          <a:ln/>
        </p:spPr>
        <p:txBody>
          <a:bodyPr wrap="square" lIns="0" tIns="0" rIns="0" bIns="0" rtlCol="0" anchor="t"/>
          <a:lstStyle/>
          <a:p>
            <a:pPr indent="0" marL="0">
              <a:buNone/>
            </a:pPr>
            <a:r>
              <a:rPr lang="en-US" sz="1500" dirty="0">
                <a:solidFill>
                  <a:schemeClr val="tx1"/>
                </a:solidFill>
              </a:rPr>
              <a:t>SSB Stratejik Planı 2024–2028'de deneyimli personelin yurt dışına veya başka sektörlere geçişi tehdit olarak tanımlanmaktadır.</a:t>
            </a:r>
            <a:endParaRPr lang="en-US" sz="1500" dirty="0"/>
          </a:p>
        </p:txBody>
      </p:sp>
      <p:sp>
        <p:nvSpPr>
          <p:cNvPr id="13" name="İkon zemini"/>
          <p:cNvSpPr/>
          <p:nvPr/>
        </p:nvSpPr>
        <p:spPr>
          <a:xfrm>
            <a:off x="5852160" y="4572000"/>
            <a:ext cx="640080" cy="640080"/>
          </a:xfrm>
          <a:prstGeom prst="ellipse">
            <a:avLst/>
          </a:prstGeom>
          <a:solidFill>
            <a:schemeClr val="tx2"/>
          </a:solidFill>
          <a:ln/>
        </p:spPr>
      </p:sp>
      <p:pic>
        <p:nvPicPr>
          <p:cNvPr id="14" name="İkon FaIndustry" descr="preencoded.png">    </p:cNvPr>
          <p:cNvPicPr>
            <a:picLocks noChangeAspect="1"/>
          </p:cNvPicPr>
          <p:nvPr/>
        </p:nvPicPr>
        <p:blipFill>
          <a:blip r:embed="rId4"/>
          <a:stretch>
            <a:fillRect/>
          </a:stretch>
        </p:blipFill>
        <p:spPr>
          <a:xfrm>
            <a:off x="6005779" y="4725619"/>
            <a:ext cx="332842" cy="332842"/>
          </a:xfrm>
          <a:prstGeom prst="rect">
            <a:avLst/>
          </a:prstGeom>
        </p:spPr>
      </p:pic>
      <p:sp>
        <p:nvSpPr>
          <p:cNvPr id="15" name="Text 9"/>
          <p:cNvSpPr txBox="1"/>
          <p:nvPr/>
        </p:nvSpPr>
        <p:spPr>
          <a:xfrm>
            <a:off x="6675120" y="4572000"/>
            <a:ext cx="4937760" cy="365760"/>
          </a:xfrm>
          <a:prstGeom prst="rect">
            <a:avLst/>
          </a:prstGeom>
          <a:noFill/>
          <a:ln/>
        </p:spPr>
        <p:txBody>
          <a:bodyPr wrap="square" lIns="0" tIns="0" rIns="0" bIns="0" rtlCol="0" anchor="t"/>
          <a:lstStyle/>
          <a:p>
            <a:pPr indent="0" marL="0">
              <a:buNone/>
            </a:pPr>
            <a:r>
              <a:rPr lang="en-US" sz="1800" b="1" dirty="0">
                <a:solidFill>
                  <a:schemeClr val="tx2"/>
                </a:solidFill>
              </a:rPr>
              <a:t>Kahramankazan savunma ve havacılık kümesi</a:t>
            </a:r>
            <a:endParaRPr lang="en-US" sz="1800" dirty="0"/>
          </a:p>
        </p:txBody>
      </p:sp>
      <p:sp>
        <p:nvSpPr>
          <p:cNvPr id="16" name="Text 10"/>
          <p:cNvSpPr txBox="1"/>
          <p:nvPr/>
        </p:nvSpPr>
        <p:spPr>
          <a:xfrm>
            <a:off x="6675120" y="4983480"/>
            <a:ext cx="4937760" cy="868680"/>
          </a:xfrm>
          <a:prstGeom prst="rect">
            <a:avLst/>
          </a:prstGeom>
          <a:noFill/>
          <a:ln/>
        </p:spPr>
        <p:txBody>
          <a:bodyPr wrap="square" lIns="0" tIns="0" rIns="0" bIns="0" rtlCol="0" anchor="t"/>
          <a:lstStyle/>
          <a:p>
            <a:pPr indent="0" marL="0">
              <a:buNone/>
            </a:pPr>
            <a:r>
              <a:rPr lang="en-US" sz="1500" dirty="0">
                <a:solidFill>
                  <a:schemeClr val="tx1"/>
                </a:solidFill>
              </a:rPr>
              <a:t>Kümenin ana firmasında 13–17 bin çalışan bulunmaktadır (TUSAŞ, 2023–24 beyanları); HAB OSB için 15 bin istihdam hedeflenmektedir.</a:t>
            </a:r>
            <a:endParaRPr lang="en-US" sz="1500" dirty="0"/>
          </a:p>
        </p:txBody>
      </p:sp>
      <p:sp>
        <p:nvSpPr>
          <p:cNvPr id="17"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Tablo 22; SSB Stratejik Planı 2024–2028, s. 46; TUSAŞ çalışan sayıları basın beyanlarından,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EKOSİSTEM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Kahramankazan 2030 ekosistemi</a:t>
            </a:r>
            <a:endParaRPr lang="en-US" sz="3600" dirty="0"/>
          </a:p>
        </p:txBody>
      </p:sp>
      <p:pic>
        <p:nvPicPr>
          <p:cNvPr id="4" name="Kahramankazan 2030 savunma sanayii ekosistemi" descr="/home/user/sunum/araclar/sunum/assets/ekosistem.jpg">    </p:cNvPr>
          <p:cNvPicPr>
            <a:picLocks noChangeAspect="1"/>
          </p:cNvPicPr>
          <p:nvPr/>
        </p:nvPicPr>
        <p:blipFill>
          <a:blip r:embed="rId1"/>
          <a:stretch>
            <a:fillRect/>
          </a:stretch>
        </p:blipFill>
        <p:spPr>
          <a:xfrm>
            <a:off x="548640" y="1600200"/>
            <a:ext cx="6903720" cy="3883343"/>
          </a:xfrm>
          <a:prstGeom prst="rect">
            <a:avLst/>
          </a:prstGeom>
        </p:spPr>
      </p:pic>
      <p:sp>
        <p:nvSpPr>
          <p:cNvPr id="5" name="Bölge 1"/>
          <p:cNvSpPr/>
          <p:nvPr/>
        </p:nvSpPr>
        <p:spPr>
          <a:xfrm>
            <a:off x="7772400" y="1627632"/>
            <a:ext cx="384048" cy="384048"/>
          </a:xfrm>
          <a:prstGeom prst="ellipse">
            <a:avLst/>
          </a:prstGeom>
          <a:solidFill>
            <a:srgbClr val="C93BB8"/>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8275320" y="15727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Kentsel Dönüşüm Bölgesi</a:t>
            </a:r>
            <a:endParaRPr lang="en-US" sz="1400" dirty="0"/>
          </a:p>
          <a:p>
            <a:pPr indent="0" marL="0">
              <a:buNone/>
            </a:pPr>
            <a:r>
              <a:rPr lang="en-US" sz="1200" dirty="0">
                <a:solidFill>
                  <a:schemeClr val="accent5"/>
                </a:solidFill>
              </a:rPr>
              <a:t>Kahramankazan merkezi</a:t>
            </a:r>
            <a:endParaRPr lang="en-US" sz="1400" dirty="0"/>
          </a:p>
        </p:txBody>
      </p:sp>
      <p:sp>
        <p:nvSpPr>
          <p:cNvPr id="7" name="Bölge 2"/>
          <p:cNvSpPr/>
          <p:nvPr/>
        </p:nvSpPr>
        <p:spPr>
          <a:xfrm>
            <a:off x="7772400" y="2176272"/>
            <a:ext cx="384048" cy="384048"/>
          </a:xfrm>
          <a:prstGeom prst="ellipse">
            <a:avLst/>
          </a:prstGeom>
          <a:solidFill>
            <a:srgbClr val="D9363E"/>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5"/>
          <p:cNvSpPr txBox="1"/>
          <p:nvPr/>
        </p:nvSpPr>
        <p:spPr>
          <a:xfrm>
            <a:off x="8275320" y="212140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HAB Uzay Gelişim Alanı</a:t>
            </a:r>
            <a:endParaRPr lang="en-US" sz="1400" dirty="0"/>
          </a:p>
          <a:p>
            <a:pPr indent="0" marL="0">
              <a:buNone/>
            </a:pPr>
            <a:r>
              <a:rPr lang="en-US" sz="1200" dirty="0">
                <a:solidFill>
                  <a:schemeClr val="accent5"/>
                </a:solidFill>
              </a:rPr>
              <a:t>Kışla Bölgesi</a:t>
            </a:r>
            <a:endParaRPr lang="en-US" sz="1400" dirty="0"/>
          </a:p>
        </p:txBody>
      </p:sp>
      <p:sp>
        <p:nvSpPr>
          <p:cNvPr id="9" name="Bu çalışma"/>
          <p:cNvSpPr/>
          <p:nvPr/>
        </p:nvSpPr>
        <p:spPr>
          <a:xfrm>
            <a:off x="7680960" y="2642616"/>
            <a:ext cx="3962095" cy="548640"/>
          </a:xfrm>
          <a:prstGeom prst="roundRect">
            <a:avLst>
              <a:gd name="adj" fmla="val 10000"/>
            </a:avLst>
          </a:prstGeom>
          <a:solidFill>
            <a:schemeClr val="bg1"/>
          </a:solidFill>
          <a:ln w="15875">
            <a:solidFill>
              <a:srgbClr val="2F7DE1"/>
            </a:solidFill>
            <a:prstDash val="solid"/>
          </a:ln>
        </p:spPr>
      </p:sp>
      <p:sp>
        <p:nvSpPr>
          <p:cNvPr id="10" name="Bölge 3"/>
          <p:cNvSpPr/>
          <p:nvPr/>
        </p:nvSpPr>
        <p:spPr>
          <a:xfrm>
            <a:off x="7772400" y="2724912"/>
            <a:ext cx="384048" cy="384048"/>
          </a:xfrm>
          <a:prstGeom prst="ellipse">
            <a:avLst/>
          </a:prstGeom>
          <a:solidFill>
            <a:srgbClr val="2F7DE1"/>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275320" y="267004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Uydukent (bu çalışmanın konusu)</a:t>
            </a:r>
            <a:endParaRPr lang="en-US" sz="1400" dirty="0"/>
          </a:p>
          <a:p>
            <a:pPr indent="0" marL="0">
              <a:buNone/>
            </a:pPr>
            <a:r>
              <a:rPr lang="en-US" sz="1200" dirty="0">
                <a:solidFill>
                  <a:schemeClr val="accent5"/>
                </a:solidFill>
              </a:rPr>
              <a:t>Sarıayak Bölgesi · 51,1 ha</a:t>
            </a:r>
            <a:endParaRPr lang="en-US" sz="1400" dirty="0"/>
          </a:p>
        </p:txBody>
      </p:sp>
      <p:sp>
        <p:nvSpPr>
          <p:cNvPr id="12" name="Bölge 4"/>
          <p:cNvSpPr/>
          <p:nvPr/>
        </p:nvSpPr>
        <p:spPr>
          <a:xfrm>
            <a:off x="7772400" y="3273552"/>
            <a:ext cx="384048" cy="384048"/>
          </a:xfrm>
          <a:prstGeom prst="ellipse">
            <a:avLst/>
          </a:prstGeom>
          <a:solidFill>
            <a:srgbClr val="E8831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275320" y="321868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Kınık Özel Endüstri Sanayi Alanı</a:t>
            </a:r>
            <a:endParaRPr lang="en-US" sz="1400" dirty="0"/>
          </a:p>
          <a:p>
            <a:pPr indent="0" marL="0">
              <a:buNone/>
            </a:pPr>
            <a:r>
              <a:rPr lang="en-US" sz="1200" dirty="0">
                <a:solidFill>
                  <a:schemeClr val="accent5"/>
                </a:solidFill>
              </a:rPr>
              <a:t>Kınık Bölgesi</a:t>
            </a:r>
            <a:endParaRPr lang="en-US" sz="1400" dirty="0"/>
          </a:p>
        </p:txBody>
      </p:sp>
      <p:sp>
        <p:nvSpPr>
          <p:cNvPr id="14" name="Bölge 5"/>
          <p:cNvSpPr/>
          <p:nvPr/>
        </p:nvSpPr>
        <p:spPr>
          <a:xfrm>
            <a:off x="7772400" y="3822192"/>
            <a:ext cx="384048" cy="384048"/>
          </a:xfrm>
          <a:prstGeom prst="ellipse">
            <a:avLst/>
          </a:prstGeom>
          <a:solidFill>
            <a:srgbClr val="F0A040"/>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275320" y="376732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Hafif raylı ulaşım sistemi</a:t>
            </a:r>
            <a:endParaRPr lang="en-US" sz="1400" dirty="0"/>
          </a:p>
          <a:p>
            <a:pPr indent="0" marL="0">
              <a:buNone/>
            </a:pPr>
            <a:r>
              <a:rPr lang="en-US" sz="1200" dirty="0">
                <a:solidFill>
                  <a:schemeClr val="accent5"/>
                </a:solidFill>
              </a:rPr>
              <a:t>Kahramankazan–Kışla hattı</a:t>
            </a:r>
            <a:endParaRPr lang="en-US" sz="1400" dirty="0"/>
          </a:p>
        </p:txBody>
      </p:sp>
      <p:sp>
        <p:nvSpPr>
          <p:cNvPr id="16" name="Bölge +"/>
          <p:cNvSpPr/>
          <p:nvPr/>
        </p:nvSpPr>
        <p:spPr>
          <a:xfrm>
            <a:off x="7772400" y="4370832"/>
            <a:ext cx="384048" cy="384048"/>
          </a:xfrm>
          <a:prstGeom prst="ellipse">
            <a:avLst/>
          </a:prstGeom>
          <a:solidFill>
            <a:srgbClr val="2AAFB8"/>
          </a:solid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7" name="Text 14"/>
          <p:cNvSpPr txBox="1"/>
          <p:nvPr/>
        </p:nvSpPr>
        <p:spPr>
          <a:xfrm>
            <a:off x="8275320" y="43159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Tropik yaşam ve sağlık merkezi</a:t>
            </a:r>
            <a:endParaRPr lang="en-US" sz="1400" dirty="0"/>
          </a:p>
          <a:p>
            <a:pPr indent="0" marL="0">
              <a:buNone/>
            </a:pPr>
            <a:r>
              <a:rPr lang="en-US" sz="1200" dirty="0">
                <a:solidFill>
                  <a:schemeClr val="accent5"/>
                </a:solidFill>
              </a:rPr>
              <a:t>Soğucak Bölgesi</a:t>
            </a:r>
            <a:endParaRPr lang="en-US" sz="1400" dirty="0"/>
          </a:p>
        </p:txBody>
      </p:sp>
      <p:sp>
        <p:nvSpPr>
          <p:cNvPr id="18" name="Gösterge"/>
          <p:cNvSpPr/>
          <p:nvPr/>
        </p:nvSpPr>
        <p:spPr>
          <a:xfrm>
            <a:off x="7680960" y="4983480"/>
            <a:ext cx="3962095" cy="1005840"/>
          </a:xfrm>
          <a:prstGeom prst="roundRect">
            <a:avLst>
              <a:gd name="adj" fmla="val 7273"/>
            </a:avLst>
          </a:prstGeom>
          <a:solidFill>
            <a:schemeClr val="bg1"/>
          </a:solidFill>
          <a:ln/>
          <a:effectLst>
            <a:outerShdw sx="100000" sy="100000" kx="0" ky="0" algn="bl" rotWithShape="0" blurRad="76200" dist="19050" dir="5400000">
              <a:srgbClr val="000000">
                <a:alpha val="12000"/>
              </a:srgbClr>
            </a:outerShdw>
          </a:effectLst>
        </p:spPr>
      </p:sp>
      <p:sp>
        <p:nvSpPr>
          <p:cNvPr id="19" name="Text 16"/>
          <p:cNvSpPr txBox="1"/>
          <p:nvPr/>
        </p:nvSpPr>
        <p:spPr>
          <a:xfrm>
            <a:off x="7863840" y="5111496"/>
            <a:ext cx="3596335" cy="502920"/>
          </a:xfrm>
          <a:prstGeom prst="rect">
            <a:avLst/>
          </a:prstGeom>
          <a:noFill/>
          <a:ln/>
        </p:spPr>
        <p:txBody>
          <a:bodyPr wrap="square" lIns="0" tIns="0" rIns="0" bIns="0" rtlCol="0" anchor="b"/>
          <a:lstStyle/>
          <a:p>
            <a:pPr indent="0" marL="0">
              <a:buNone/>
            </a:pPr>
            <a:r>
              <a:rPr lang="en-US" sz="1800" b="1" dirty="0">
                <a:solidFill>
                  <a:schemeClr val="tx2"/>
                </a:solidFill>
                <a:latin typeface="Cambria" pitchFamily="34" charset="0"/>
                <a:ea typeface="Cambria" pitchFamily="34" charset="-122"/>
                <a:cs typeface="Cambria" pitchFamily="34" charset="-120"/>
              </a:rPr>
              <a:t>35,6 mn m² · 100–200 bin kişi</a:t>
            </a:r>
            <a:endParaRPr lang="en-US" sz="1800" dirty="0"/>
          </a:p>
        </p:txBody>
      </p:sp>
      <p:sp>
        <p:nvSpPr>
          <p:cNvPr id="20" name="Text 17"/>
          <p:cNvSpPr txBox="1"/>
          <p:nvPr/>
        </p:nvSpPr>
        <p:spPr>
          <a:xfrm>
            <a:off x="7863840" y="5632704"/>
            <a:ext cx="3596335" cy="265176"/>
          </a:xfrm>
          <a:prstGeom prst="rect">
            <a:avLst/>
          </a:prstGeom>
          <a:noFill/>
          <a:ln/>
        </p:spPr>
        <p:txBody>
          <a:bodyPr wrap="square" lIns="0" tIns="0" rIns="0" bIns="0" rtlCol="0" anchor="t"/>
          <a:lstStyle/>
          <a:p>
            <a:pPr indent="0" marL="0">
              <a:buNone/>
            </a:pPr>
            <a:r>
              <a:rPr lang="en-US" sz="1200" dirty="0">
                <a:solidFill>
                  <a:schemeClr val="tx1"/>
                </a:solidFill>
              </a:rPr>
              <a:t>ekosistemin tamamı, diğer projelerle birlikte</a:t>
            </a:r>
            <a:endParaRPr lang="en-US" sz="12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proje ekibinin ekosistem görseli (vizyon; teyit edilecek). Uydukent'in kendi programı: 51,1 ha, 2.500 konut, ~7.500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KONUM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Konum: kent içi trafik koridorunun dışında</a:t>
            </a:r>
            <a:endParaRPr lang="en-US" sz="3600" dirty="0"/>
          </a:p>
        </p:txBody>
      </p:sp>
      <p:pic>
        <p:nvPicPr>
          <p:cNvPr id="4" name="Bölge mesafeleri" descr="/home/user/sunum/araclar/sunum/assets/mesafeler.jpg">    </p:cNvPr>
          <p:cNvPicPr>
            <a:picLocks noChangeAspect="1"/>
          </p:cNvPicPr>
          <p:nvPr/>
        </p:nvPicPr>
        <p:blipFill>
          <a:blip r:embed="rId1"/>
          <a:stretch>
            <a:fillRect/>
          </a:stretch>
        </p:blipFill>
        <p:spPr>
          <a:xfrm>
            <a:off x="548640" y="1600200"/>
            <a:ext cx="6675120" cy="3754755"/>
          </a:xfrm>
          <a:prstGeom prst="rect">
            <a:avLst/>
          </a:prstGeom>
        </p:spPr>
      </p:pic>
      <p:sp>
        <p:nvSpPr>
          <p:cNvPr id="5" name="Text 2"/>
          <p:cNvSpPr txBox="1"/>
          <p:nvPr/>
        </p:nvSpPr>
        <p:spPr>
          <a:xfrm>
            <a:off x="548640" y="5428107"/>
            <a:ext cx="6675120" cy="274320"/>
          </a:xfrm>
          <a:prstGeom prst="rect">
            <a:avLst/>
          </a:prstGeom>
          <a:noFill/>
          <a:ln/>
        </p:spPr>
        <p:txBody>
          <a:bodyPr wrap="square" lIns="0" tIns="0" rIns="0" bIns="0" rtlCol="0" anchor="t"/>
          <a:lstStyle/>
          <a:p>
            <a:pPr indent="0" marL="0">
              <a:buNone/>
            </a:pPr>
            <a:r>
              <a:rPr lang="en-US" sz="1100" dirty="0">
                <a:solidFill>
                  <a:schemeClr val="accent5"/>
                </a:solidFill>
              </a:rPr>
              <a:t>Proje ekibinin bölge görseli; ölçeksiz perspektif, mesafeler görseldeki değerlerdir.</a:t>
            </a:r>
            <a:endParaRPr lang="en-US" sz="1100" dirty="0"/>
          </a:p>
        </p:txBody>
      </p:sp>
      <p:sp>
        <p:nvSpPr>
          <p:cNvPr id="6" name="Text 3"/>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600" b="1" dirty="0">
                <a:solidFill>
                  <a:schemeClr val="tx2"/>
                </a:solidFill>
              </a:rPr>
              <a:t>Uydukent'ten uzaklık (km)</a:t>
            </a:r>
            <a:endParaRPr lang="en-US" sz="1600" dirty="0"/>
          </a:p>
        </p:txBody>
      </p:sp>
      <p:sp>
        <p:nvSpPr>
          <p:cNvPr id="7" name="Text 4"/>
          <p:cNvSpPr txBox="1"/>
          <p:nvPr/>
        </p:nvSpPr>
        <p:spPr>
          <a:xfrm>
            <a:off x="7543800" y="2011680"/>
            <a:ext cx="4099255" cy="237744"/>
          </a:xfrm>
          <a:prstGeom prst="rect">
            <a:avLst/>
          </a:prstGeom>
          <a:noFill/>
          <a:ln/>
        </p:spPr>
        <p:txBody>
          <a:bodyPr wrap="square" lIns="0" tIns="0" rIns="0" bIns="0" rtlCol="0" anchor="t"/>
          <a:lstStyle/>
          <a:p>
            <a:pPr indent="0" marL="0">
              <a:buNone/>
            </a:pPr>
            <a:r>
              <a:rPr lang="en-US" sz="1300" dirty="0">
                <a:solidFill>
                  <a:schemeClr val="tx1"/>
                </a:solidFill>
              </a:rPr>
              <a:t>Kahramankazan merkezi</a:t>
            </a:r>
            <a:endParaRPr lang="en-US" sz="1300" dirty="0"/>
          </a:p>
        </p:txBody>
      </p:sp>
      <p:sp>
        <p:nvSpPr>
          <p:cNvPr id="8" name="Uzaklık çubuğu Kahramankazan merkezi"/>
          <p:cNvSpPr/>
          <p:nvPr/>
        </p:nvSpPr>
        <p:spPr>
          <a:xfrm>
            <a:off x="7543800" y="2276856"/>
            <a:ext cx="1097280" cy="182880"/>
          </a:xfrm>
          <a:prstGeom prst="rect">
            <a:avLst/>
          </a:prstGeom>
          <a:solidFill>
            <a:schemeClr val="accent5"/>
          </a:solidFill>
          <a:ln/>
        </p:spPr>
      </p:sp>
      <p:sp>
        <p:nvSpPr>
          <p:cNvPr id="9" name="Text 6"/>
          <p:cNvSpPr txBox="1"/>
          <p:nvPr/>
        </p:nvSpPr>
        <p:spPr>
          <a:xfrm>
            <a:off x="8714232" y="221284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8</a:t>
            </a:r>
            <a:endParaRPr lang="en-US" sz="1400" dirty="0"/>
          </a:p>
        </p:txBody>
      </p:sp>
      <p:sp>
        <p:nvSpPr>
          <p:cNvPr id="10" name="Text 7"/>
          <p:cNvSpPr txBox="1"/>
          <p:nvPr/>
        </p:nvSpPr>
        <p:spPr>
          <a:xfrm>
            <a:off x="7543800" y="2560320"/>
            <a:ext cx="4099255" cy="237744"/>
          </a:xfrm>
          <a:prstGeom prst="rect">
            <a:avLst/>
          </a:prstGeom>
          <a:noFill/>
          <a:ln/>
        </p:spPr>
        <p:txBody>
          <a:bodyPr wrap="square" lIns="0" tIns="0" rIns="0" bIns="0" rtlCol="0" anchor="t"/>
          <a:lstStyle/>
          <a:p>
            <a:pPr indent="0" marL="0">
              <a:buNone/>
            </a:pPr>
            <a:r>
              <a:rPr lang="en-US" sz="1300" dirty="0">
                <a:solidFill>
                  <a:schemeClr val="tx1"/>
                </a:solidFill>
              </a:rPr>
              <a:t>Kınık sanayi alanı</a:t>
            </a:r>
            <a:endParaRPr lang="en-US" sz="1300" dirty="0"/>
          </a:p>
        </p:txBody>
      </p:sp>
      <p:sp>
        <p:nvSpPr>
          <p:cNvPr id="11" name="Uzaklık çubuğu Kınık sanayi alanı"/>
          <p:cNvSpPr/>
          <p:nvPr/>
        </p:nvSpPr>
        <p:spPr>
          <a:xfrm>
            <a:off x="7543800" y="2825496"/>
            <a:ext cx="1508760" cy="182880"/>
          </a:xfrm>
          <a:prstGeom prst="rect">
            <a:avLst/>
          </a:prstGeom>
          <a:solidFill>
            <a:schemeClr val="accent5"/>
          </a:solidFill>
          <a:ln/>
        </p:spPr>
      </p:sp>
      <p:sp>
        <p:nvSpPr>
          <p:cNvPr id="12" name="Text 9"/>
          <p:cNvSpPr txBox="1"/>
          <p:nvPr/>
        </p:nvSpPr>
        <p:spPr>
          <a:xfrm>
            <a:off x="9125712" y="276148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11</a:t>
            </a:r>
            <a:endParaRPr lang="en-US" sz="1400" dirty="0"/>
          </a:p>
        </p:txBody>
      </p:sp>
      <p:sp>
        <p:nvSpPr>
          <p:cNvPr id="13" name="Text 10"/>
          <p:cNvSpPr txBox="1"/>
          <p:nvPr/>
        </p:nvSpPr>
        <p:spPr>
          <a:xfrm>
            <a:off x="7543800" y="3108960"/>
            <a:ext cx="4099255" cy="237744"/>
          </a:xfrm>
          <a:prstGeom prst="rect">
            <a:avLst/>
          </a:prstGeom>
          <a:noFill/>
          <a:ln/>
        </p:spPr>
        <p:txBody>
          <a:bodyPr wrap="square" lIns="0" tIns="0" rIns="0" bIns="0" rtlCol="0" anchor="t"/>
          <a:lstStyle/>
          <a:p>
            <a:pPr indent="0" marL="0">
              <a:buNone/>
            </a:pPr>
            <a:r>
              <a:rPr lang="en-US" sz="1300" b="1" dirty="0">
                <a:solidFill>
                  <a:schemeClr val="accent1"/>
                </a:solidFill>
              </a:rPr>
              <a:t>HAB / Kışla, Kınık üzerinden</a:t>
            </a:r>
            <a:endParaRPr lang="en-US" sz="1300" dirty="0"/>
          </a:p>
        </p:txBody>
      </p:sp>
      <p:sp>
        <p:nvSpPr>
          <p:cNvPr id="14" name="Uzaklık çubuğu HAB / Kışla, Kınık üzerinden"/>
          <p:cNvSpPr/>
          <p:nvPr/>
        </p:nvSpPr>
        <p:spPr>
          <a:xfrm>
            <a:off x="7543800" y="3374136"/>
            <a:ext cx="2606040" cy="182880"/>
          </a:xfrm>
          <a:prstGeom prst="rect">
            <a:avLst/>
          </a:prstGeom>
          <a:solidFill>
            <a:schemeClr val="accent1"/>
          </a:solidFill>
          <a:ln/>
        </p:spPr>
      </p:sp>
      <p:sp>
        <p:nvSpPr>
          <p:cNvPr id="15" name="Text 12"/>
          <p:cNvSpPr txBox="1"/>
          <p:nvPr/>
        </p:nvSpPr>
        <p:spPr>
          <a:xfrm>
            <a:off x="10222992" y="3310128"/>
            <a:ext cx="548640" cy="292608"/>
          </a:xfrm>
          <a:prstGeom prst="rect">
            <a:avLst/>
          </a:prstGeom>
          <a:noFill/>
          <a:ln/>
        </p:spPr>
        <p:txBody>
          <a:bodyPr wrap="square" lIns="0" tIns="0" rIns="0" bIns="0" rtlCol="0" anchor="ctr"/>
          <a:lstStyle/>
          <a:p>
            <a:pPr indent="0" marL="0">
              <a:buNone/>
            </a:pPr>
            <a:r>
              <a:rPr lang="en-US" sz="1400" b="1" dirty="0">
                <a:solidFill>
                  <a:schemeClr val="accent1"/>
                </a:solidFill>
              </a:rPr>
              <a:t>19</a:t>
            </a:r>
            <a:endParaRPr lang="en-US" sz="1400" dirty="0"/>
          </a:p>
        </p:txBody>
      </p:sp>
      <p:sp>
        <p:nvSpPr>
          <p:cNvPr id="16" name="Text 13"/>
          <p:cNvSpPr txBox="1"/>
          <p:nvPr/>
        </p:nvSpPr>
        <p:spPr>
          <a:xfrm>
            <a:off x="7543800" y="3657600"/>
            <a:ext cx="4099255" cy="237744"/>
          </a:xfrm>
          <a:prstGeom prst="rect">
            <a:avLst/>
          </a:prstGeom>
          <a:noFill/>
          <a:ln/>
        </p:spPr>
        <p:txBody>
          <a:bodyPr wrap="square" lIns="0" tIns="0" rIns="0" bIns="0" rtlCol="0" anchor="t"/>
          <a:lstStyle/>
          <a:p>
            <a:pPr indent="0" marL="0">
              <a:buNone/>
            </a:pPr>
            <a:r>
              <a:rPr lang="en-US" sz="1300" dirty="0">
                <a:solidFill>
                  <a:schemeClr val="tx1"/>
                </a:solidFill>
              </a:rPr>
              <a:t>HAB / Kışla, merkez üzerinden</a:t>
            </a:r>
            <a:endParaRPr lang="en-US" sz="1300" dirty="0"/>
          </a:p>
        </p:txBody>
      </p:sp>
      <p:sp>
        <p:nvSpPr>
          <p:cNvPr id="17" name="Uzaklık çubuğu HAB / Kışla, merkez üzerinden"/>
          <p:cNvSpPr/>
          <p:nvPr/>
        </p:nvSpPr>
        <p:spPr>
          <a:xfrm>
            <a:off x="7543800" y="3922776"/>
            <a:ext cx="3291840" cy="182880"/>
          </a:xfrm>
          <a:prstGeom prst="rect">
            <a:avLst/>
          </a:prstGeom>
          <a:solidFill>
            <a:schemeClr val="accent5"/>
          </a:solidFill>
          <a:ln/>
        </p:spPr>
      </p:sp>
      <p:sp>
        <p:nvSpPr>
          <p:cNvPr id="18" name="Text 15"/>
          <p:cNvSpPr txBox="1"/>
          <p:nvPr/>
        </p:nvSpPr>
        <p:spPr>
          <a:xfrm>
            <a:off x="10908792" y="385876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24</a:t>
            </a:r>
            <a:endParaRPr lang="en-US" sz="1400" dirty="0"/>
          </a:p>
        </p:txBody>
      </p:sp>
      <p:sp>
        <p:nvSpPr>
          <p:cNvPr id="19" name="Kart"/>
          <p:cNvSpPr/>
          <p:nvPr/>
        </p:nvSpPr>
        <p:spPr>
          <a:xfrm>
            <a:off x="7543800" y="4206240"/>
            <a:ext cx="4099255" cy="1783080"/>
          </a:xfrm>
          <a:prstGeom prst="roundRect">
            <a:avLst>
              <a:gd name="adj" fmla="val 4103"/>
            </a:avLst>
          </a:prstGeom>
          <a:solidFill>
            <a:schemeClr val="bg1"/>
          </a:solidFill>
          <a:ln/>
          <a:effectLst>
            <a:outerShdw sx="100000" sy="100000" kx="0" ky="0" algn="bl" rotWithShape="0" blurRad="76200" dist="19050" dir="5400000">
              <a:srgbClr val="000000">
                <a:alpha val="12000"/>
              </a:srgbClr>
            </a:outerShdw>
          </a:effectLst>
        </p:spPr>
      </p:sp>
      <p:sp>
        <p:nvSpPr>
          <p:cNvPr id="20" name="Text 17"/>
          <p:cNvSpPr txBox="1"/>
          <p:nvPr/>
        </p:nvSpPr>
        <p:spPr>
          <a:xfrm>
            <a:off x="7726680" y="4315968"/>
            <a:ext cx="3733495" cy="160020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Değerlendirme: yolculuk koridorunun değişmesi</a:t>
            </a:r>
            <a:endParaRPr lang="en-US" sz="1400" dirty="0"/>
          </a:p>
          <a:p>
            <a:pPr indent="0" marL="0">
              <a:spcAft>
                <a:spcPts val="400"/>
              </a:spcAft>
              <a:buNone/>
            </a:pPr>
            <a:r>
              <a:rPr lang="en-US" sz="1300" dirty="0">
                <a:solidFill>
                  <a:schemeClr val="tx1"/>
                </a:solidFill>
              </a:rPr>
              <a:t>Eryaman'ın TUSAŞ'a kuş uçuşu uzaklığı 11,7 km, Yenikent'in 9,1 km'dir. Uydukent'in katkısı, işe yolculuğun Batıkent–Susuz kesiminden ilçe içi ekspres hatta aktarılmasıdır.</a:t>
            </a:r>
            <a:endParaRPr lang="en-US" sz="14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19 ve 24 km, görseldeki iki bacağın toplamıdır (hesap). Kahramankazan–Kışla 16 km değeri, OSM'den hesaplanan 16,9 km ile uyumlu.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YER SEÇİMİ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Alternatif sahaların karşılaştırılması</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2057400"/>
                <a:gridCol w="2514600"/>
                <a:gridCol w="2057400"/>
                <a:gridCol w="2544775"/>
              </a:tblGrid>
              <a:tr h="512064">
                <a:tc>
                  <a:txBody>
                    <a:bodyPr/>
                    <a:lstStyle/>
                    <a:p>
                      <a:pPr indent="0" marL="0">
                        <a:buNone/>
                      </a:pPr>
                      <a:r>
                        <a:rPr lang="en-US" sz="1400" b="1" dirty="0">
                          <a:solidFill>
                            <a:srgbClr val="FFFFFF"/>
                          </a:solidFill>
                        </a:rPr>
                        <a:t>Ölçüt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 Bir şey yapmamak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 HAB'a bitişik saha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(C) Yenikent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 (Sarıayak)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r>
              <a:tr h="512064">
                <a:tc>
                  <a:txBody>
                    <a:bodyPr/>
                    <a:lstStyle/>
                    <a:p>
                      <a:pPr indent="0" marL="0">
                        <a:buNone/>
                      </a:pPr>
                      <a:r>
                        <a:rPr lang="en-US" sz="1400" b="1" dirty="0">
                          <a:solidFill>
                            <a:srgbClr val="1B2430"/>
                          </a:solidFill>
                        </a:rPr>
                        <a:t>Arazi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Yeni arazi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askeri alan ve OSB ile iç içe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kentsel parseller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511 bin m², tek malik Hazine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Askeri kısıtlar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Etkilenmez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Yasak bölge içinde, yükseklik sınırı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Sınıra yakın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HAB'a ~19 km; yasak bölge dışında (teyit)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Sabah piki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Sürer ve büyür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Azalır: yolculuk koridor değiştirir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Sanayi bölgesine uzaklık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12–17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dirty="0">
                          <a:solidFill>
                            <a:srgbClr val="1B2430"/>
                          </a:solidFill>
                        </a:rPr>
                        <a:t>5 km'den az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Kınık 11 km, HAB ~19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Raylı erişim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Var (Başkentray)</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Planlanan hafif raylı sisteme bağlanır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Kent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Sıfırdan kurulur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Sincan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İlçe merkezi 8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Tesisin büyüme alanı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Daralır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Kısmen etkilenir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bl>
          </a:graphicData>
        </a:graphic>
      </p:graphicFrame>
      <p:sp>
        <p:nvSpPr>
          <p:cNvPr id="5" name="Gösterim"/>
          <p:cNvSpPr/>
          <p:nvPr/>
        </p:nvSpPr>
        <p:spPr>
          <a:xfrm>
            <a:off x="548640" y="5879592"/>
            <a:ext cx="201168" cy="201168"/>
          </a:xfrm>
          <a:prstGeom prst="rect">
            <a:avLst/>
          </a:prstGeom>
          <a:solidFill>
            <a:srgbClr val="E2ECDD"/>
          </a:solidFill>
          <a:ln w="9525">
            <a:solidFill>
              <a:srgbClr val="DDD8CC"/>
            </a:solidFill>
            <a:prstDash val="solid"/>
          </a:ln>
        </p:spPr>
      </p:sp>
      <p:sp>
        <p:nvSpPr>
          <p:cNvPr id="6" name="Text 3"/>
          <p:cNvSpPr txBox="1"/>
          <p:nvPr/>
        </p:nvSpPr>
        <p:spPr>
          <a:xfrm>
            <a:off x="82296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Avantaj</a:t>
            </a:r>
            <a:endParaRPr lang="en-US" sz="1200" dirty="0"/>
          </a:p>
        </p:txBody>
      </p:sp>
      <p:sp>
        <p:nvSpPr>
          <p:cNvPr id="7" name="Gösterim"/>
          <p:cNvSpPr/>
          <p:nvPr/>
        </p:nvSpPr>
        <p:spPr>
          <a:xfrm>
            <a:off x="2103120" y="5879592"/>
            <a:ext cx="201168" cy="201168"/>
          </a:xfrm>
          <a:prstGeom prst="rect">
            <a:avLst/>
          </a:prstGeom>
          <a:solidFill>
            <a:srgbClr val="F7EBD3"/>
          </a:solidFill>
          <a:ln w="9525">
            <a:solidFill>
              <a:srgbClr val="DDD8CC"/>
            </a:solidFill>
            <a:prstDash val="solid"/>
          </a:ln>
        </p:spPr>
      </p:sp>
      <p:sp>
        <p:nvSpPr>
          <p:cNvPr id="8" name="Text 5"/>
          <p:cNvSpPr txBox="1"/>
          <p:nvPr/>
        </p:nvSpPr>
        <p:spPr>
          <a:xfrm>
            <a:off x="237744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Orta</a:t>
            </a:r>
            <a:endParaRPr lang="en-US" sz="1200" dirty="0"/>
          </a:p>
        </p:txBody>
      </p:sp>
      <p:sp>
        <p:nvSpPr>
          <p:cNvPr id="9" name="Gösterim"/>
          <p:cNvSpPr/>
          <p:nvPr/>
        </p:nvSpPr>
        <p:spPr>
          <a:xfrm>
            <a:off x="3657600" y="5879592"/>
            <a:ext cx="201168" cy="201168"/>
          </a:xfrm>
          <a:prstGeom prst="rect">
            <a:avLst/>
          </a:prstGeom>
          <a:solidFill>
            <a:srgbClr val="F6DFDB"/>
          </a:solidFill>
          <a:ln w="9525">
            <a:solidFill>
              <a:srgbClr val="DDD8CC"/>
            </a:solidFill>
            <a:prstDash val="solid"/>
          </a:ln>
        </p:spPr>
      </p:sp>
      <p:sp>
        <p:nvSpPr>
          <p:cNvPr id="10" name="Text 7"/>
          <p:cNvSpPr txBox="1"/>
          <p:nvPr/>
        </p:nvSpPr>
        <p:spPr>
          <a:xfrm>
            <a:off x="393192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Zayıf nokta</a:t>
            </a:r>
            <a:endParaRPr lang="en-US" sz="1200" dirty="0"/>
          </a:p>
        </p:txBody>
      </p:sp>
      <p:sp>
        <p:nvSpPr>
          <p:cNvPr id="11" name="Text 8"/>
          <p:cNvSpPr txBox="1"/>
          <p:nvPr/>
        </p:nvSpPr>
        <p:spPr>
          <a:xfrm>
            <a:off x="5303520" y="5833872"/>
            <a:ext cx="6336792" cy="292608"/>
          </a:xfrm>
          <a:prstGeom prst="rect">
            <a:avLst/>
          </a:prstGeom>
          <a:noFill/>
          <a:ln/>
        </p:spPr>
        <p:txBody>
          <a:bodyPr wrap="square" lIns="0" tIns="0" rIns="0" bIns="0" rtlCol="0" anchor="ctr"/>
          <a:lstStyle/>
          <a:p>
            <a:pPr algn="r" indent="0" marL="0">
              <a:buNone/>
            </a:pPr>
            <a:r>
              <a:rPr lang="en-US" sz="1300" b="1" dirty="0">
                <a:solidFill>
                  <a:schemeClr val="tx2"/>
                </a:solidFill>
              </a:rPr>
              <a:t>Uzaklığın telafisi: Uydukent Ekspres ve planlanan hafif raylı sistem.</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BÖLGEDEN GÖRÜNÜM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Bölgenin arazi yapısı</a:t>
            </a:r>
            <a:endParaRPr lang="en-US" sz="3600" dirty="0"/>
          </a:p>
        </p:txBody>
      </p:sp>
      <p:pic>
        <p:nvPicPr>
          <p:cNvPr id="4" name="Sarıayak bölgesinde köy ve plato" descr="/home/user/sunum/araclar/sunum/assets/saha_buyuk.jpg">    </p:cNvPr>
          <p:cNvPicPr>
            <a:picLocks noChangeAspect="1"/>
          </p:cNvPicPr>
          <p:nvPr/>
        </p:nvPicPr>
        <p:blipFill>
          <a:blip r:embed="rId1"/>
          <a:stretch>
            <a:fillRect/>
          </a:stretch>
        </p:blipFill>
        <p:spPr>
          <a:xfrm>
            <a:off x="548640" y="1600200"/>
            <a:ext cx="6720840" cy="4389120"/>
          </a:xfrm>
          <a:prstGeom prst="rect">
            <a:avLst/>
          </a:prstGeom>
        </p:spPr>
      </p:pic>
      <p:pic>
        <p:nvPicPr>
          <p:cNvPr id="5" name="Yarıntı ve teraslı ağaçlandırma" descr="/home/user/sunum/araclar/sunum/assets/saha_sag1.jpg">    </p:cNvPr>
          <p:cNvPicPr>
            <a:picLocks noChangeAspect="1"/>
          </p:cNvPicPr>
          <p:nvPr/>
        </p:nvPicPr>
        <p:blipFill>
          <a:blip r:embed="rId2"/>
          <a:stretch>
            <a:fillRect/>
          </a:stretch>
        </p:blipFill>
        <p:spPr>
          <a:xfrm>
            <a:off x="7452360" y="1600200"/>
            <a:ext cx="4187952" cy="2103120"/>
          </a:xfrm>
          <a:prstGeom prst="rect">
            <a:avLst/>
          </a:prstGeom>
        </p:spPr>
      </p:pic>
      <p:pic>
        <p:nvPicPr>
          <p:cNvPr id="6" name="Yamaç terasları ve yollar" descr="/home/user/sunum/araclar/sunum/assets/saha_sag2.jpg">    </p:cNvPr>
          <p:cNvPicPr>
            <a:picLocks noChangeAspect="1"/>
          </p:cNvPicPr>
          <p:nvPr/>
        </p:nvPicPr>
        <p:blipFill>
          <a:blip r:embed="rId3"/>
          <a:stretch>
            <a:fillRect/>
          </a:stretch>
        </p:blipFill>
        <p:spPr>
          <a:xfrm>
            <a:off x="7452360" y="3886200"/>
            <a:ext cx="4187952" cy="2103120"/>
          </a:xfrm>
          <a:prstGeom prst="rect">
            <a:avLst/>
          </a:prstGeom>
        </p:spPr>
      </p:pic>
      <p:sp>
        <p:nvSpPr>
          <p:cNvPr id="7" name="Fotoğraf etiketi"/>
          <p:cNvSpPr/>
          <p:nvPr/>
        </p:nvSpPr>
        <p:spPr>
          <a:xfrm>
            <a:off x="731520" y="5440680"/>
            <a:ext cx="33832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Vadide köy yerleşimi, platoda tarlalar</a:t>
            </a:r>
            <a:endParaRPr lang="en-US" sz="1300" dirty="0"/>
          </a:p>
        </p:txBody>
      </p:sp>
      <p:sp>
        <p:nvSpPr>
          <p:cNvPr id="8" name="Fotoğraf etiketi"/>
          <p:cNvSpPr/>
          <p:nvPr/>
        </p:nvSpPr>
        <p:spPr>
          <a:xfrm>
            <a:off x="7635240" y="3154680"/>
            <a:ext cx="310896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Yarıntı ve teraslı çam ağaçlandırması</a:t>
            </a:r>
            <a:endParaRPr lang="en-US" sz="1300" dirty="0"/>
          </a:p>
        </p:txBody>
      </p:sp>
      <p:sp>
        <p:nvSpPr>
          <p:cNvPr id="9" name="Fotoğraf etiketi"/>
          <p:cNvSpPr/>
          <p:nvPr/>
        </p:nvSpPr>
        <p:spPr>
          <a:xfrm>
            <a:off x="7635240" y="5440680"/>
            <a:ext cx="31546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Yamaç terasları, enerji hattı ve yollar</a:t>
            </a:r>
            <a:endParaRPr lang="en-US" sz="1300" dirty="0"/>
          </a:p>
        </p:txBody>
      </p:sp>
      <p:sp>
        <p:nvSpPr>
          <p:cNvPr id="10" name="Text 5"/>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çekimi: 22 Eylül 2026, Sarıayak bölgesi, proje ekibi. Parsel sınırı işaretli değildir; topoğrafya halihazır haritayla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SAHA ANALİZİ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bulguları ve yapılacak teyitler</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00200"/>
                <a:gridCol w="3566160"/>
                <a:gridCol w="2926080"/>
                <a:gridCol w="3001975"/>
              </a:tblGrid>
              <a:tr h="530352">
                <a:tc>
                  <a:txBody>
                    <a:bodyPr/>
                    <a:lstStyle/>
                    <a:p>
                      <a:pPr indent="0" marL="0">
                        <a:buNone/>
                      </a:pPr>
                      <a:r>
                        <a:rPr lang="en-US" sz="1400" b="1" dirty="0">
                          <a:solidFill>
                            <a:srgbClr val="FFFFFF"/>
                          </a:solidFill>
                        </a:rPr>
                        <a:t>Konu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Bulgu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Değerlendirme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Yapılacak iş</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Topoğrafya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Bölgede platolar, dik yamaçlar, yarıntılar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Konut platolara; alanın ~%20'si 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Halihazır harita, eğim analizi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Ağaçlandırma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 yamaçlarında teraslı çam dikimi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Statü varsa yapılaşma dışında kalır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Orman İşletme, Milli Emlak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Zemin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Olası jipsli, marnlı birimler (tahmin)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maliyetini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Zemin etüdü ve jeoteknik rapor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Plan durumu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ÇDP 2020'de iptal; 2050 planı onaylanmadı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statüsü belirsiz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(ABB, ÇŞİDB)</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Deprem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Akademik çalışma: Kazan için 0,30–0,35 g bandı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ortalamasının üzerinde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AFAD sorgusu, TBDY 2018</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Altyapı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Enerji hattı, stabilize yollar; kapasite verisi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Hat güzergâhı yerleşimi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ASKİ, Başkent EDAŞ, Başkentgaz görüşü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Uçuş ekseni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HAB'a ~19 km; pist ekseni ilişkisi hesaplanmadı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Gürültü ve algı riski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bölgedeki drone tespitleri (22 Eylül 2026), ABB jeoloji raporu, akademik olasılıksal tehlike çalışması. Tümü Sarıayak parseli için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POLİTİKA UYUMU</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Üst ölçekli politika belgeleriyle uyum</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017520"/>
                <a:gridCol w="3657600"/>
                <a:gridCol w="4419295"/>
              </a:tblGrid>
              <a:tr h="457200">
                <a:tc>
                  <a:txBody>
                    <a:bodyPr/>
                    <a:lstStyle/>
                    <a:p>
                      <a:pPr indent="0" marL="0">
                        <a:buNone/>
                      </a:pPr>
                      <a:r>
                        <a:rPr lang="en-US" sz="1400" b="1" dirty="0">
                          <a:solidFill>
                            <a:srgbClr val="FFFFFF"/>
                          </a:solidFill>
                        </a:rPr>
                        <a:t>Belge</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Madde ve hedef</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Uydukent'teki karşılığı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rowSpan="5">
                  <a:txBody>
                    <a:bodyPr/>
                    <a:lstStyle/>
                    <a:p>
                      <a:pPr indent="0" marL="0">
                        <a:buNone/>
                      </a:pPr>
                      <a:r>
                        <a:rPr lang="en-US" sz="1400" b="1" dirty="0">
                          <a:solidFill>
                            <a:srgbClr val="1B2430"/>
                          </a:solidFill>
                        </a:rPr>
                        <a:t>12. Kalkınma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 520.3, Tablo 22: istihdam 81,1 → 158 bin</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Nitelikli personelin bölgede yerleşmesi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430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yatırım yeri ile yaşam alanı erişimi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850, 853.2, 857</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yeşil, dirençli, mahalle kültürlü yerleşim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884.2, 885</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Yerleşim ile toplu taşımanın birlikte planlanması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880.5, 881–882</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Sıfır atık, yağmur suyu hasadı (göl ve peyzaj)</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2026 Yıllık Program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853.2, 885.4</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şehir öğeleri; Akıllı Ulaşım Eylem Planı 2025–2030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SSB Stratejik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H3.5; s. 46 tehdit tespiti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Deneyimli personeli sektörde tutmak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2030 Ulusal Akıllı Şehirler Stratejisi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Veri yönetimi, dijital güvenlik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yaşam alanı ve veri güvenliği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2026 Cumhurbaşkanlığı Yıllık Programı; SSB Stratejik Planı 2024–2028. Akıllı şehirler stratejisindeki eylem numarası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ALAN PROGRAMI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Önerilen alan programı: 2.500 konut</a:t>
            </a:r>
            <a:endParaRPr lang="en-US" sz="3600" dirty="0"/>
          </a:p>
        </p:txBody>
      </p:sp>
      <p:graphicFrame>
        <p:nvGraphicFramePr>
          <p:cNvPr id="4" name="Chart 0" descr=""/>
          <p:cNvGraphicFramePr/>
          <p:nvPr/>
        </p:nvGraphicFramePr>
        <p:xfrm>
          <a:off x="548640" y="160020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Gösterge"/>
          <p:cNvSpPr/>
          <p:nvPr/>
        </p:nvSpPr>
        <p:spPr>
          <a:xfrm>
            <a:off x="690372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6" name="Text 3"/>
          <p:cNvSpPr txBox="1"/>
          <p:nvPr/>
        </p:nvSpPr>
        <p:spPr>
          <a:xfrm>
            <a:off x="708660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13,1 ha</a:t>
            </a:r>
            <a:endParaRPr lang="en-US" sz="2600" dirty="0"/>
          </a:p>
        </p:txBody>
      </p:sp>
      <p:sp>
        <p:nvSpPr>
          <p:cNvPr id="7" name="Text 4"/>
          <p:cNvSpPr txBox="1"/>
          <p:nvPr/>
        </p:nvSpPr>
        <p:spPr>
          <a:xfrm>
            <a:off x="708660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konut alanı</a:t>
            </a:r>
            <a:endParaRPr lang="en-US" sz="1300" dirty="0"/>
          </a:p>
        </p:txBody>
      </p:sp>
      <p:sp>
        <p:nvSpPr>
          <p:cNvPr id="8" name="Gösterge"/>
          <p:cNvSpPr/>
          <p:nvPr/>
        </p:nvSpPr>
        <p:spPr>
          <a:xfrm>
            <a:off x="937260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9" name="Text 6"/>
          <p:cNvSpPr txBox="1"/>
          <p:nvPr/>
        </p:nvSpPr>
        <p:spPr>
          <a:xfrm>
            <a:off x="955548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2,29</a:t>
            </a:r>
            <a:endParaRPr lang="en-US" sz="2600" dirty="0"/>
          </a:p>
        </p:txBody>
      </p:sp>
      <p:sp>
        <p:nvSpPr>
          <p:cNvPr id="10" name="Text 7"/>
          <p:cNvSpPr txBox="1"/>
          <p:nvPr/>
        </p:nvSpPr>
        <p:spPr>
          <a:xfrm>
            <a:off x="955548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emsal</a:t>
            </a:r>
            <a:endParaRPr lang="en-US" sz="1300" dirty="0"/>
          </a:p>
        </p:txBody>
      </p:sp>
      <p:sp>
        <p:nvSpPr>
          <p:cNvPr id="11" name="Gösterge"/>
          <p:cNvSpPr/>
          <p:nvPr/>
        </p:nvSpPr>
        <p:spPr>
          <a:xfrm>
            <a:off x="690372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708660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49</a:t>
            </a:r>
            <a:endParaRPr lang="en-US" sz="2600" dirty="0"/>
          </a:p>
        </p:txBody>
      </p:sp>
      <p:sp>
        <p:nvSpPr>
          <p:cNvPr id="13" name="Text 10"/>
          <p:cNvSpPr txBox="1"/>
          <p:nvPr/>
        </p:nvSpPr>
        <p:spPr>
          <a:xfrm>
            <a:off x="708660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konut/ha (brüt)</a:t>
            </a:r>
            <a:endParaRPr lang="en-US" sz="1300" dirty="0"/>
          </a:p>
        </p:txBody>
      </p:sp>
      <p:sp>
        <p:nvSpPr>
          <p:cNvPr id="14" name="Gösterge"/>
          <p:cNvSpPr/>
          <p:nvPr/>
        </p:nvSpPr>
        <p:spPr>
          <a:xfrm>
            <a:off x="937260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955548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24,7 m²</a:t>
            </a:r>
            <a:endParaRPr lang="en-US" sz="2600" dirty="0"/>
          </a:p>
        </p:txBody>
      </p:sp>
      <p:sp>
        <p:nvSpPr>
          <p:cNvPr id="16" name="Text 13"/>
          <p:cNvSpPr txBox="1"/>
          <p:nvPr/>
        </p:nvSpPr>
        <p:spPr>
          <a:xfrm>
            <a:off x="955548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kişi başı yeşil alan</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03720" y="4206240"/>
          <a:ext cx="4736592" cy="914400"/>
        </p:xfrm>
        <a:graphic>
          <a:graphicData uri="http://schemas.openxmlformats.org/drawingml/2006/table">
            <a:tbl>
              <a:tblPr/>
              <a:tblGrid>
                <a:gridCol w="1993392"/>
                <a:gridCol w="914400"/>
                <a:gridCol w="914400"/>
                <a:gridCol w="914400"/>
              </a:tblGrid>
              <a:tr h="384048">
                <a:tc>
                  <a:txBody>
                    <a:bodyPr/>
                    <a:lstStyle/>
                    <a:p>
                      <a:pPr algn="l" indent="0" marL="0">
                        <a:buNone/>
                      </a:pPr>
                      <a:r>
                        <a:rPr lang="en-US" sz="1400" b="1" dirty="0">
                          <a:solidFill>
                            <a:srgbClr val="FFFFFF"/>
                          </a:solidFill>
                        </a:rPr>
                        <a:t>Senaryo</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c>
                  <a:txBody>
                    <a:bodyPr/>
                    <a:lstStyle/>
                    <a:p>
                      <a:pPr algn="r" indent="0" marL="0">
                        <a:buNone/>
                      </a:pPr>
                      <a:r>
                        <a:rPr lang="en-US" sz="1400" b="1" dirty="0">
                          <a:solidFill>
                            <a:srgbClr val="FFFFFF"/>
                          </a:solidFill>
                        </a:rPr>
                        <a:t>3.000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Nüfus</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6.000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7.500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9.000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Net emsal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2,29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3,21</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Kişi başı yeşil (m²)</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30,3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24,7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20,9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3,0 kişi; konut başına 120 m² brüt inşaat; donatılar MPYY Ek-2. Karşılaştırma: TAI Ankara Lodgings brüt ~37,5 konut/ha.</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BÖLGELEME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Bölgeleme: göl merkezli mekânsal kurgu</a:t>
            </a:r>
            <a:endParaRPr lang="en-US" sz="3600" dirty="0"/>
          </a:p>
        </p:txBody>
      </p:sp>
      <p:sp>
        <p:nvSpPr>
          <p:cNvPr id="4" name="Kart"/>
          <p:cNvSpPr/>
          <p:nvPr/>
        </p:nvSpPr>
        <p:spPr>
          <a:xfrm>
            <a:off x="548640" y="1600200"/>
            <a:ext cx="7215033" cy="4434840"/>
          </a:xfrm>
          <a:prstGeom prst="roundRect">
            <a:avLst>
              <a:gd name="adj" fmla="val 1649"/>
            </a:avLst>
          </a:prstGeom>
          <a:solidFill>
            <a:schemeClr val="bg1"/>
          </a:solidFill>
          <a:ln/>
          <a:effectLst>
            <a:outerShdw sx="100000" sy="100000" kx="0" ky="0" algn="bl" rotWithShape="0" blurRad="76200" dist="19050" dir="5400000">
              <a:srgbClr val="000000">
                <a:alpha val="12000"/>
              </a:srgbClr>
            </a:outerShdw>
          </a:effectLst>
        </p:spPr>
      </p:sp>
      <p:pic>
        <p:nvPicPr>
          <p:cNvPr id="5" name="Bölgeleme şeması" descr="/home/user/sunum/araclar/sunum/assets/bolgeleme.png">    </p:cNvPr>
          <p:cNvPicPr>
            <a:picLocks noChangeAspect="1"/>
          </p:cNvPicPr>
          <p:nvPr/>
        </p:nvPicPr>
        <p:blipFill>
          <a:blip r:embed="rId1"/>
          <a:stretch>
            <a:fillRect/>
          </a:stretch>
        </p:blipFill>
        <p:spPr>
          <a:xfrm>
            <a:off x="548640" y="1600200"/>
            <a:ext cx="7215033" cy="4434840"/>
          </a:xfrm>
          <a:prstGeom prst="rect">
            <a:avLst/>
          </a:prstGeom>
        </p:spPr>
      </p:pic>
      <p:sp>
        <p:nvSpPr>
          <p:cNvPr id="6" name="İkon zemini"/>
          <p:cNvSpPr/>
          <p:nvPr/>
        </p:nvSpPr>
        <p:spPr>
          <a:xfrm>
            <a:off x="8083713" y="1691640"/>
            <a:ext cx="548640" cy="548640"/>
          </a:xfrm>
          <a:prstGeom prst="ellipse">
            <a:avLst/>
          </a:prstGeom>
          <a:solidFill>
            <a:schemeClr val="tx2"/>
          </a:solidFill>
          <a:ln/>
        </p:spPr>
      </p:sp>
      <p:pic>
        <p:nvPicPr>
          <p:cNvPr id="7" name="İkon FaHouse" descr="preencoded.png">    </p:cNvPr>
          <p:cNvPicPr>
            <a:picLocks noChangeAspect="1"/>
          </p:cNvPicPr>
          <p:nvPr/>
        </p:nvPicPr>
        <p:blipFill>
          <a:blip r:embed="rId2"/>
          <a:stretch>
            <a:fillRect/>
          </a:stretch>
        </p:blipFill>
        <p:spPr>
          <a:xfrm>
            <a:off x="8215386" y="1823314"/>
            <a:ext cx="285293" cy="285293"/>
          </a:xfrm>
          <a:prstGeom prst="rect">
            <a:avLst/>
          </a:prstGeom>
        </p:spPr>
      </p:pic>
      <p:sp>
        <p:nvSpPr>
          <p:cNvPr id="8" name="Text 4"/>
          <p:cNvSpPr txBox="1"/>
          <p:nvPr/>
        </p:nvSpPr>
        <p:spPr>
          <a:xfrm>
            <a:off x="8769513" y="1673352"/>
            <a:ext cx="2873543" cy="960120"/>
          </a:xfrm>
          <a:prstGeom prst="rect">
            <a:avLst/>
          </a:prstGeom>
          <a:noFill/>
          <a:ln/>
        </p:spPr>
        <p:txBody>
          <a:bodyPr wrap="square" lIns="0" tIns="0" rIns="0" bIns="0" rtlCol="0" anchor="t"/>
          <a:lstStyle/>
          <a:p>
            <a:pPr indent="0" marL="0">
              <a:buNone/>
            </a:pPr>
            <a:r>
              <a:rPr lang="en-US" sz="1500" dirty="0">
                <a:solidFill>
                  <a:schemeClr val="tx1"/>
                </a:solidFill>
              </a:rPr>
              <a:t>Dört mahalle, manzaraya yönelik platolarda konumlandırılmaktadır</a:t>
            </a:r>
            <a:endParaRPr lang="en-US" sz="1500" dirty="0"/>
          </a:p>
        </p:txBody>
      </p:sp>
      <p:sp>
        <p:nvSpPr>
          <p:cNvPr id="9" name="İkon zemini"/>
          <p:cNvSpPr/>
          <p:nvPr/>
        </p:nvSpPr>
        <p:spPr>
          <a:xfrm>
            <a:off x="8083713" y="2788920"/>
            <a:ext cx="548640" cy="548640"/>
          </a:xfrm>
          <a:prstGeom prst="ellipse">
            <a:avLst/>
          </a:prstGeom>
          <a:solidFill>
            <a:schemeClr val="tx2"/>
          </a:solidFill>
          <a:ln/>
        </p:spPr>
      </p:sp>
      <p:pic>
        <p:nvPicPr>
          <p:cNvPr id="10" name="İkon FaSchool" descr="preencoded.png">    </p:cNvPr>
          <p:cNvPicPr>
            <a:picLocks noChangeAspect="1"/>
          </p:cNvPicPr>
          <p:nvPr/>
        </p:nvPicPr>
        <p:blipFill>
          <a:blip r:embed="rId3"/>
          <a:stretch>
            <a:fillRect/>
          </a:stretch>
        </p:blipFill>
        <p:spPr>
          <a:xfrm>
            <a:off x="8215386" y="2920594"/>
            <a:ext cx="285293" cy="285293"/>
          </a:xfrm>
          <a:prstGeom prst="rect">
            <a:avLst/>
          </a:prstGeom>
        </p:spPr>
      </p:pic>
      <p:sp>
        <p:nvSpPr>
          <p:cNvPr id="11" name="Text 6"/>
          <p:cNvSpPr txBox="1"/>
          <p:nvPr/>
        </p:nvSpPr>
        <p:spPr>
          <a:xfrm>
            <a:off x="8769513" y="2770632"/>
            <a:ext cx="2873543" cy="960120"/>
          </a:xfrm>
          <a:prstGeom prst="rect">
            <a:avLst/>
          </a:prstGeom>
          <a:noFill/>
          <a:ln/>
        </p:spPr>
        <p:txBody>
          <a:bodyPr wrap="square" lIns="0" tIns="0" rIns="0" bIns="0" rtlCol="0" anchor="t"/>
          <a:lstStyle/>
          <a:p>
            <a:pPr indent="0" marL="0">
              <a:buNone/>
            </a:pPr>
            <a:r>
              <a:rPr lang="en-US" sz="1500" dirty="0">
                <a:solidFill>
                  <a:schemeClr val="tx1"/>
                </a:solidFill>
              </a:rPr>
              <a:t>İki okul kampüsü göl parkının batısındadır; en uzak konuta mesafe ~500 m'dir</a:t>
            </a:r>
            <a:endParaRPr lang="en-US" sz="1500" dirty="0"/>
          </a:p>
        </p:txBody>
      </p:sp>
      <p:sp>
        <p:nvSpPr>
          <p:cNvPr id="12" name="İkon zemini"/>
          <p:cNvSpPr/>
          <p:nvPr/>
        </p:nvSpPr>
        <p:spPr>
          <a:xfrm>
            <a:off x="8083713" y="3886200"/>
            <a:ext cx="548640" cy="548640"/>
          </a:xfrm>
          <a:prstGeom prst="ellipse">
            <a:avLst/>
          </a:prstGeom>
          <a:solidFill>
            <a:schemeClr val="tx2"/>
          </a:solidFill>
          <a:ln/>
        </p:spPr>
      </p:sp>
      <p:pic>
        <p:nvPicPr>
          <p:cNvPr id="13" name="İkon FaBus" descr="preencoded.png">    </p:cNvPr>
          <p:cNvPicPr>
            <a:picLocks noChangeAspect="1"/>
          </p:cNvPicPr>
          <p:nvPr/>
        </p:nvPicPr>
        <p:blipFill>
          <a:blip r:embed="rId4"/>
          <a:stretch>
            <a:fillRect/>
          </a:stretch>
        </p:blipFill>
        <p:spPr>
          <a:xfrm>
            <a:off x="8215386" y="4017874"/>
            <a:ext cx="285293" cy="285293"/>
          </a:xfrm>
          <a:prstGeom prst="rect">
            <a:avLst/>
          </a:prstGeom>
        </p:spPr>
      </p:pic>
      <p:sp>
        <p:nvSpPr>
          <p:cNvPr id="14" name="Text 8"/>
          <p:cNvSpPr txBox="1"/>
          <p:nvPr/>
        </p:nvSpPr>
        <p:spPr>
          <a:xfrm>
            <a:off x="8769513" y="3867912"/>
            <a:ext cx="2873543" cy="960120"/>
          </a:xfrm>
          <a:prstGeom prst="rect">
            <a:avLst/>
          </a:prstGeom>
          <a:noFill/>
          <a:ln/>
        </p:spPr>
        <p:txBody>
          <a:bodyPr wrap="square" lIns="0" tIns="0" rIns="0" bIns="0" rtlCol="0" anchor="t"/>
          <a:lstStyle/>
          <a:p>
            <a:pPr indent="0" marL="0">
              <a:buNone/>
            </a:pPr>
            <a:r>
              <a:rPr lang="en-US" sz="1500" dirty="0">
                <a:solidFill>
                  <a:schemeClr val="tx1"/>
                </a:solidFill>
              </a:rPr>
              <a:t>Servis ve aktarma istasyonu ana girişte yer almaktadır</a:t>
            </a:r>
            <a:endParaRPr lang="en-US" sz="1500" dirty="0"/>
          </a:p>
        </p:txBody>
      </p:sp>
      <p:sp>
        <p:nvSpPr>
          <p:cNvPr id="15" name="İkon zemini"/>
          <p:cNvSpPr/>
          <p:nvPr/>
        </p:nvSpPr>
        <p:spPr>
          <a:xfrm>
            <a:off x="8083713" y="4983480"/>
            <a:ext cx="548640" cy="548640"/>
          </a:xfrm>
          <a:prstGeom prst="ellipse">
            <a:avLst/>
          </a:prstGeom>
          <a:solidFill>
            <a:schemeClr val="tx2"/>
          </a:solidFill>
          <a:ln/>
        </p:spPr>
      </p:sp>
      <p:pic>
        <p:nvPicPr>
          <p:cNvPr id="16" name="İkon FaTree" descr="preencoded.png">    </p:cNvPr>
          <p:cNvPicPr>
            <a:picLocks noChangeAspect="1"/>
          </p:cNvPicPr>
          <p:nvPr/>
        </p:nvPicPr>
        <p:blipFill>
          <a:blip r:embed="rId5"/>
          <a:stretch>
            <a:fillRect/>
          </a:stretch>
        </p:blipFill>
        <p:spPr>
          <a:xfrm>
            <a:off x="8215386" y="5115154"/>
            <a:ext cx="285293" cy="285293"/>
          </a:xfrm>
          <a:prstGeom prst="rect">
            <a:avLst/>
          </a:prstGeom>
        </p:spPr>
      </p:pic>
      <p:sp>
        <p:nvSpPr>
          <p:cNvPr id="17" name="Text 10"/>
          <p:cNvSpPr txBox="1"/>
          <p:nvPr/>
        </p:nvSpPr>
        <p:spPr>
          <a:xfrm>
            <a:off x="8769513" y="4965192"/>
            <a:ext cx="2873543" cy="960120"/>
          </a:xfrm>
          <a:prstGeom prst="rect">
            <a:avLst/>
          </a:prstGeom>
          <a:noFill/>
          <a:ln/>
        </p:spPr>
        <p:txBody>
          <a:bodyPr wrap="square" lIns="0" tIns="0" rIns="0" bIns="0" rtlCol="0" anchor="t"/>
          <a:lstStyle/>
          <a:p>
            <a:pPr indent="0" marL="0">
              <a:buNone/>
            </a:pPr>
            <a:r>
              <a:rPr lang="en-US" sz="1500" dirty="0">
                <a:solidFill>
                  <a:schemeClr val="tx1"/>
                </a:solidFill>
              </a:rPr>
              <a:t>Korunan yamaçlar, yürüyüş parkurları ve seyir noktalarıyla yeşil kuşak oluşturmaktadır</a:t>
            </a:r>
            <a:endParaRPr lang="en-US" sz="15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Şematiktir. Ölçeklidir; parsel sınırı ve yön temsilidir. Sınır ve topoğrafik harita gelince yeniden çizilecek.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Kahramankazan Uydukent: genel görünüm" descr="/home/user/sunum/araclar/sunum/assets/kavram_gene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KUŞBAKIŞI</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Kahramankazan Uydukent: genel görünüm</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bölgeleme şemasına dayanır, mimari tasarım değildir.</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Avlulu konut adaları" descr="/home/user/sunum/araclar/sunum/assets/kavram_konut.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KONUT</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Avlulu konut adaları</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5–8 katlı avlulu adalar, çatılarda güneş panelleri.</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EĞİTİM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yürüme mesafesinde okul kampüsleri</a:t>
            </a:r>
            <a:endParaRPr lang="en-US" sz="3600" dirty="0"/>
          </a:p>
        </p:txBody>
      </p:sp>
      <p:sp>
        <p:nvSpPr>
          <p:cNvPr id="4" name="Gösterge"/>
          <p:cNvSpPr/>
          <p:nvPr/>
        </p:nvSpPr>
        <p:spPr>
          <a:xfrm>
            <a:off x="54864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~1.540</a:t>
            </a:r>
            <a:endParaRPr lang="en-US" sz="3000" dirty="0"/>
          </a:p>
        </p:txBody>
      </p:sp>
      <p:sp>
        <p:nvSpPr>
          <p:cNvPr id="6" name="Text 4"/>
          <p:cNvSpPr txBox="1"/>
          <p:nvPr/>
        </p:nvSpPr>
        <p:spPr>
          <a:xfrm>
            <a:off x="73152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öğrenci (tahmin)</a:t>
            </a:r>
            <a:endParaRPr lang="en-US" sz="1300" dirty="0"/>
          </a:p>
        </p:txBody>
      </p:sp>
      <p:sp>
        <p:nvSpPr>
          <p:cNvPr id="7" name="Gösterge"/>
          <p:cNvSpPr/>
          <p:nvPr/>
        </p:nvSpPr>
        <p:spPr>
          <a:xfrm>
            <a:off x="278892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297180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~57</a:t>
            </a:r>
            <a:endParaRPr lang="en-US" sz="3000" dirty="0"/>
          </a:p>
        </p:txBody>
      </p:sp>
      <p:sp>
        <p:nvSpPr>
          <p:cNvPr id="9" name="Text 7"/>
          <p:cNvSpPr txBox="1"/>
          <p:nvPr/>
        </p:nvSpPr>
        <p:spPr>
          <a:xfrm>
            <a:off x="297180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derslik</a:t>
            </a:r>
            <a:endParaRPr lang="en-US" sz="1300" dirty="0"/>
          </a:p>
        </p:txBody>
      </p:sp>
      <p:graphicFrame>
        <p:nvGraphicFramePr>
          <p:cNvPr id="10" name="Chart 0" descr=""/>
          <p:cNvGraphicFramePr/>
          <p:nvPr/>
        </p:nvGraphicFramePr>
        <p:xfrm>
          <a:off x="548640" y="2880360"/>
          <a:ext cx="4297680" cy="3108960"/>
        </p:xfrm>
        <a:graphic xmlns:a="http://schemas.openxmlformats.org/drawingml/2006/main">
          <a:graphicData uri="http://schemas.openxmlformats.org/drawingml/2006/chart">
            <c:chart xmlns:c="http://schemas.openxmlformats.org/drawingml/2006/chart" r:id="rId1"/>
          </a:graphicData>
        </a:graphic>
      </p:graphicFrame>
      <p:sp>
        <p:nvSpPr>
          <p:cNvPr id="11" name="Kart"/>
          <p:cNvSpPr/>
          <p:nvPr/>
        </p:nvSpPr>
        <p:spPr>
          <a:xfrm>
            <a:off x="5166360"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5394960" y="1828800"/>
            <a:ext cx="548640" cy="548640"/>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5526634" y="1960474"/>
            <a:ext cx="285293" cy="285293"/>
          </a:xfrm>
          <a:prstGeom prst="rect">
            <a:avLst/>
          </a:prstGeom>
        </p:spPr>
      </p:pic>
      <p:sp>
        <p:nvSpPr>
          <p:cNvPr id="14" name="Text 10"/>
          <p:cNvSpPr txBox="1"/>
          <p:nvPr/>
        </p:nvSpPr>
        <p:spPr>
          <a:xfrm>
            <a:off x="6080760"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Devlet okul kampüsü</a:t>
            </a:r>
            <a:endParaRPr lang="en-US" sz="1700" dirty="0"/>
          </a:p>
        </p:txBody>
      </p:sp>
      <p:sp>
        <p:nvSpPr>
          <p:cNvPr id="15" name="Text 11"/>
          <p:cNvSpPr txBox="1"/>
          <p:nvPr/>
        </p:nvSpPr>
        <p:spPr>
          <a:xfrm>
            <a:off x="6080760"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2,2 ha · ~32 derslik</a:t>
            </a:r>
            <a:endParaRPr lang="en-US" sz="1300" dirty="0"/>
          </a:p>
        </p:txBody>
      </p:sp>
      <p:sp>
        <p:nvSpPr>
          <p:cNvPr id="16" name="Text 12"/>
          <p:cNvSpPr txBox="1"/>
          <p:nvPr/>
        </p:nvSpPr>
        <p:spPr>
          <a:xfrm>
            <a:off x="5394960"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Anaokulu, ilkokul ve ortaokul bir arada, MEB normlarında planlanmaktadır. Spor salonu ve kütüphanenin akşamları mahalleye açılması öngörülmektedir.</a:t>
            </a:r>
            <a:endParaRPr lang="en-US" sz="1500" dirty="0"/>
          </a:p>
        </p:txBody>
      </p:sp>
      <p:sp>
        <p:nvSpPr>
          <p:cNvPr id="17" name="Kart"/>
          <p:cNvSpPr/>
          <p:nvPr/>
        </p:nvSpPr>
        <p:spPr>
          <a:xfrm>
            <a:off x="8541868"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8" name="İkon zemini"/>
          <p:cNvSpPr/>
          <p:nvPr/>
        </p:nvSpPr>
        <p:spPr>
          <a:xfrm>
            <a:off x="8770468" y="1828800"/>
            <a:ext cx="548640" cy="548640"/>
          </a:xfrm>
          <a:prstGeom prst="ellipse">
            <a:avLst/>
          </a:prstGeom>
          <a:solidFill>
            <a:schemeClr val="tx2"/>
          </a:solidFill>
          <a:ln/>
        </p:spPr>
      </p:sp>
      <p:pic>
        <p:nvPicPr>
          <p:cNvPr id="19" name="İkon FaUserGraduate" descr="preencoded.png">    </p:cNvPr>
          <p:cNvPicPr>
            <a:picLocks noChangeAspect="1"/>
          </p:cNvPicPr>
          <p:nvPr/>
        </p:nvPicPr>
        <p:blipFill>
          <a:blip r:embed="rId3"/>
          <a:stretch>
            <a:fillRect/>
          </a:stretch>
        </p:blipFill>
        <p:spPr>
          <a:xfrm>
            <a:off x="8902141" y="1960474"/>
            <a:ext cx="285293" cy="285293"/>
          </a:xfrm>
          <a:prstGeom prst="rect">
            <a:avLst/>
          </a:prstGeom>
        </p:spPr>
      </p:pic>
      <p:sp>
        <p:nvSpPr>
          <p:cNvPr id="20" name="Text 15"/>
          <p:cNvSpPr txBox="1"/>
          <p:nvPr/>
        </p:nvSpPr>
        <p:spPr>
          <a:xfrm>
            <a:off x="9456268"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Özel okul kampüsü</a:t>
            </a:r>
            <a:endParaRPr lang="en-US" sz="1700" dirty="0"/>
          </a:p>
        </p:txBody>
      </p:sp>
      <p:sp>
        <p:nvSpPr>
          <p:cNvPr id="21" name="Text 16"/>
          <p:cNvSpPr txBox="1"/>
          <p:nvPr/>
        </p:nvSpPr>
        <p:spPr>
          <a:xfrm>
            <a:off x="9456268"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2,4 ha · ~25 derslik</a:t>
            </a:r>
            <a:endParaRPr lang="en-US" sz="1300" dirty="0"/>
          </a:p>
        </p:txBody>
      </p:sp>
      <p:sp>
        <p:nvSpPr>
          <p:cNvPr id="22" name="Text 17"/>
          <p:cNvSpPr txBox="1"/>
          <p:nvPr/>
        </p:nvSpPr>
        <p:spPr>
          <a:xfrm>
            <a:off x="8770468"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İki dilli, anaokulundan liseye kesintisiz eğitim; güçlü akademik program ve nitelikli öğretmen kadrosu.</a:t>
            </a:r>
            <a:endParaRPr lang="en-US" sz="1500" dirty="0"/>
          </a:p>
        </p:txBody>
      </p:sp>
      <p:sp>
        <p:nvSpPr>
          <p:cNvPr id="23" name="Kart"/>
          <p:cNvSpPr/>
          <p:nvPr/>
        </p:nvSpPr>
        <p:spPr>
          <a:xfrm>
            <a:off x="5166360" y="4297680"/>
            <a:ext cx="6476695" cy="1691640"/>
          </a:xfrm>
          <a:prstGeom prst="roundRect">
            <a:avLst>
              <a:gd name="adj" fmla="val 4324"/>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5394960" y="4453128"/>
            <a:ext cx="6019495" cy="141732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rPr>
              <a:t>Destekleyici unsurlar: </a:t>
            </a:r>
            <a:pPr indent="0" marL="0">
              <a:spcAft>
                <a:spcPts val="800"/>
              </a:spcAft>
              <a:buNone/>
            </a:pPr>
            <a:r>
              <a:rPr lang="en-US" sz="1500" dirty="0">
                <a:solidFill>
                  <a:schemeClr val="tx1"/>
                </a:solidFill>
              </a:rPr>
              <a:t>kreşler zemin katlarda ve mahalle merkezinde; her okulda Deneyap ve makerspace atölyesi; ilçedeki meslek yüksekokuluyla staj ve sürekli eğitim.</a:t>
            </a:r>
            <a:endParaRPr lang="en-US" sz="1500" dirty="0"/>
          </a:p>
          <a:p>
            <a:pPr indent="0" marL="0">
              <a:spcAft>
                <a:spcPts val="800"/>
              </a:spcAft>
              <a:buNone/>
            </a:pPr>
            <a:r>
              <a:rPr lang="en-US" sz="1500" b="1" dirty="0">
                <a:solidFill>
                  <a:schemeClr val="tx2"/>
                </a:solidFill>
              </a:rPr>
              <a:t>Sorumlu kurumlar ve takvim: </a:t>
            </a:r>
            <a:pPr indent="0" marL="0">
              <a:spcAft>
                <a:spcPts val="800"/>
              </a:spcAft>
              <a:buNone/>
            </a:pPr>
            <a:r>
              <a:rPr lang="en-US" sz="1500" dirty="0">
                <a:solidFill>
                  <a:schemeClr val="tx1"/>
                </a:solidFill>
              </a:rPr>
              <a:t>MEB, özel okul yatırımcıları ve sanayi kuruluşları; kreş ve modüler sınıfların ilk günden hizmete girmesi.</a:t>
            </a:r>
            <a:endParaRPr lang="en-US" sz="1500" dirty="0"/>
          </a:p>
        </p:txBody>
      </p:sp>
      <p:sp>
        <p:nvSpPr>
          <p:cNvPr id="25"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1.000 kişi başına öğrenci (genç aile varsayımı): kreş-anaokulu 45, ilkokul 60, ortaokul 55, lise 45. Derslik başına 30 öğrenci (anaokulunda 20).</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kul kampüsleri" descr="/home/user/sunum/araclar/sunum/assets/kavram_oku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EĞİTİM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Okul kampüsleri</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özel okul (ön planda) ve devlet okul kampüsü, spor sahaları.</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Dünyadan örnekler: işveren yakınında okul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tx2"/>
          </a:solidFill>
          <a:ln/>
        </p:spPr>
      </p:sp>
      <p:pic>
        <p:nvPicPr>
          <p:cNvPr id="6" name="İkon FaPlaneDeparture"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Toulouse, Fransa · 1999</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International School of Toulouse</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Airbus'ın talebiyle kuruldu; uluslararası mühendis aileleri için.</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Okul, mühendis ailesini çeken ilk unsur.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Songdo, Kore · 2010</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Chadwick International</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260–280 öğrenciyle açıldı; bugün ~1.500 öğrenci.</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Okul talebi büyür; kampüs büyümeye göre planlanır.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tx2"/>
          </a:solidFill>
          <a:ln/>
        </p:spPr>
      </p:sp>
      <p:pic>
        <p:nvPicPr>
          <p:cNvPr id="20" name="İkon FaBuildingColumns"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Wolfsburg, Almanya · 2009</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Neue Schule Wolfsburg</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Volkswagen okulu kurdu ve şehre bağışladı.</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İşveren katkısıyla nitelikli okul mümkün.</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tx2"/>
          </a:solidFill>
          <a:ln/>
        </p:spPr>
      </p:sp>
      <p:pic>
        <p:nvPicPr>
          <p:cNvPr id="27" name="İkon FaFlask"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Türkiye · 2022</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Deneyap atölyeleri</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 atölye, 6.803 öğrenci.</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Teknoloji atölyesi her okula eklenebilir.</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(kurum ve basın kaynakları). Dünya örneklerinin fotoğrafları telif nedeniyle kullanılmadı.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SAĞLIK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yerleşim içinde birinci basamak</a:t>
            </a:r>
            <a:endParaRPr lang="en-US" sz="3600" dirty="0"/>
          </a:p>
        </p:txBody>
      </p:sp>
      <p:sp>
        <p:nvSpPr>
          <p:cNvPr id="4" name="Kart"/>
          <p:cNvSpPr/>
          <p:nvPr/>
        </p:nvSpPr>
        <p:spPr>
          <a:xfrm>
            <a:off x="548640" y="1600200"/>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929384"/>
            <a:ext cx="640080" cy="640080"/>
          </a:xfrm>
          <a:prstGeom prst="ellipse">
            <a:avLst/>
          </a:prstGeom>
          <a:solidFill>
            <a:schemeClr val="accent1"/>
          </a:solidFill>
          <a:ln/>
        </p:spPr>
      </p:sp>
      <p:pic>
        <p:nvPicPr>
          <p:cNvPr id="6" name="İkon FaKitMedical" descr="preencoded.png">    </p:cNvPr>
          <p:cNvPicPr>
            <a:picLocks noChangeAspect="1"/>
          </p:cNvPicPr>
          <p:nvPr/>
        </p:nvPicPr>
        <p:blipFill>
          <a:blip r:embed="rId1"/>
          <a:stretch>
            <a:fillRect/>
          </a:stretch>
        </p:blipFill>
        <p:spPr>
          <a:xfrm>
            <a:off x="930859" y="2083003"/>
            <a:ext cx="332842" cy="332842"/>
          </a:xfrm>
          <a:prstGeom prst="rect">
            <a:avLst/>
          </a:prstGeom>
        </p:spPr>
      </p:pic>
      <p:sp>
        <p:nvSpPr>
          <p:cNvPr id="7" name="Text 4"/>
          <p:cNvSpPr txBox="1"/>
          <p:nvPr/>
        </p:nvSpPr>
        <p:spPr>
          <a:xfrm>
            <a:off x="1600200" y="1737360"/>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Yerleşim içinde · ilk gün</a:t>
            </a:r>
            <a:endParaRPr lang="en-US" sz="1300" dirty="0"/>
          </a:p>
        </p:txBody>
      </p:sp>
      <p:sp>
        <p:nvSpPr>
          <p:cNvPr id="8" name="Text 5"/>
          <p:cNvSpPr txBox="1"/>
          <p:nvPr/>
        </p:nvSpPr>
        <p:spPr>
          <a:xfrm>
            <a:off x="1600200" y="2011680"/>
            <a:ext cx="5349240" cy="320040"/>
          </a:xfrm>
          <a:prstGeom prst="rect">
            <a:avLst/>
          </a:prstGeom>
          <a:noFill/>
          <a:ln/>
        </p:spPr>
        <p:txBody>
          <a:bodyPr wrap="square" lIns="0" tIns="0" rIns="0" bIns="0" rtlCol="0" anchor="t"/>
          <a:lstStyle/>
          <a:p>
            <a:pPr indent="0" marL="0">
              <a:buNone/>
            </a:pPr>
            <a:r>
              <a:rPr lang="en-US" sz="1700" b="1" dirty="0">
                <a:solidFill>
                  <a:schemeClr val="tx2"/>
                </a:solidFill>
              </a:rPr>
              <a:t>Aile sağlığı merkezi, 112 istasyonu ve poliklinik</a:t>
            </a:r>
            <a:endParaRPr lang="en-US" sz="1700" dirty="0"/>
          </a:p>
        </p:txBody>
      </p:sp>
      <p:sp>
        <p:nvSpPr>
          <p:cNvPr id="9" name="Text 6"/>
          <p:cNvSpPr txBox="1"/>
          <p:nvPr/>
        </p:nvSpPr>
        <p:spPr>
          <a:xfrm>
            <a:off x="1600200" y="2350008"/>
            <a:ext cx="5349240" cy="502920"/>
          </a:xfrm>
          <a:prstGeom prst="rect">
            <a:avLst/>
          </a:prstGeom>
          <a:noFill/>
          <a:ln/>
        </p:spPr>
        <p:txBody>
          <a:bodyPr wrap="square" lIns="0" tIns="0" rIns="0" bIns="0" rtlCol="0" anchor="t"/>
          <a:lstStyle/>
          <a:p>
            <a:pPr indent="0" marL="0">
              <a:buNone/>
            </a:pPr>
            <a:r>
              <a:rPr lang="en-US" sz="1400" dirty="0">
                <a:solidFill>
                  <a:schemeClr val="tx1"/>
                </a:solidFill>
              </a:rPr>
              <a:t>~2.500 m² bina, 1,12 ha alan; yürüme mesafesinde.</a:t>
            </a:r>
            <a:endParaRPr lang="en-US" sz="1400" dirty="0"/>
          </a:p>
        </p:txBody>
      </p:sp>
      <p:sp>
        <p:nvSpPr>
          <p:cNvPr id="10" name="Kart"/>
          <p:cNvSpPr/>
          <p:nvPr/>
        </p:nvSpPr>
        <p:spPr>
          <a:xfrm>
            <a:off x="548640" y="3081528"/>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77240" y="3410712"/>
            <a:ext cx="640080" cy="640080"/>
          </a:xfrm>
          <a:prstGeom prst="ellipse">
            <a:avLst/>
          </a:prstGeom>
          <a:solidFill>
            <a:schemeClr val="tx2"/>
          </a:solidFill>
          <a:ln/>
        </p:spPr>
      </p:sp>
      <p:pic>
        <p:nvPicPr>
          <p:cNvPr id="12" name="İkon FaHospital" descr="preencoded.png">    </p:cNvPr>
          <p:cNvPicPr>
            <a:picLocks noChangeAspect="1"/>
          </p:cNvPicPr>
          <p:nvPr/>
        </p:nvPicPr>
        <p:blipFill>
          <a:blip r:embed="rId2"/>
          <a:stretch>
            <a:fillRect/>
          </a:stretch>
        </p:blipFill>
        <p:spPr>
          <a:xfrm>
            <a:off x="930859" y="3564331"/>
            <a:ext cx="332842" cy="332842"/>
          </a:xfrm>
          <a:prstGeom prst="rect">
            <a:avLst/>
          </a:prstGeom>
        </p:spPr>
      </p:pic>
      <p:sp>
        <p:nvSpPr>
          <p:cNvPr id="13" name="Text 9"/>
          <p:cNvSpPr txBox="1"/>
          <p:nvPr/>
        </p:nvSpPr>
        <p:spPr>
          <a:xfrm>
            <a:off x="1600200" y="3218688"/>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İlçede · ~8 km</a:t>
            </a:r>
            <a:endParaRPr lang="en-US" sz="1300" dirty="0"/>
          </a:p>
        </p:txBody>
      </p:sp>
      <p:sp>
        <p:nvSpPr>
          <p:cNvPr id="14" name="Text 10"/>
          <p:cNvSpPr txBox="1"/>
          <p:nvPr/>
        </p:nvSpPr>
        <p:spPr>
          <a:xfrm>
            <a:off x="1600200" y="3493008"/>
            <a:ext cx="5349240" cy="320040"/>
          </a:xfrm>
          <a:prstGeom prst="rect">
            <a:avLst/>
          </a:prstGeom>
          <a:noFill/>
          <a:ln/>
        </p:spPr>
        <p:txBody>
          <a:bodyPr wrap="square" lIns="0" tIns="0" rIns="0" bIns="0" rtlCol="0" anchor="t"/>
          <a:lstStyle/>
          <a:p>
            <a:pPr indent="0" marL="0">
              <a:buNone/>
            </a:pPr>
            <a:r>
              <a:rPr lang="en-US" sz="1700" b="1" dirty="0">
                <a:solidFill>
                  <a:schemeClr val="tx2"/>
                </a:solidFill>
              </a:rPr>
              <a:t>Kahramankazan Devlet Hastanesi</a:t>
            </a:r>
            <a:endParaRPr lang="en-US" sz="1700" dirty="0"/>
          </a:p>
        </p:txBody>
      </p:sp>
      <p:sp>
        <p:nvSpPr>
          <p:cNvPr id="15" name="Text 11"/>
          <p:cNvSpPr txBox="1"/>
          <p:nvPr/>
        </p:nvSpPr>
        <p:spPr>
          <a:xfrm>
            <a:off x="1600200" y="3831336"/>
            <a:ext cx="5349240" cy="502920"/>
          </a:xfrm>
          <a:prstGeom prst="rect">
            <a:avLst/>
          </a:prstGeom>
          <a:noFill/>
          <a:ln/>
        </p:spPr>
        <p:txBody>
          <a:bodyPr wrap="square" lIns="0" tIns="0" rIns="0" bIns="0" rtlCol="0" anchor="t"/>
          <a:lstStyle/>
          <a:p>
            <a:pPr indent="0" marL="0">
              <a:buNone/>
            </a:pPr>
            <a:r>
              <a:rPr lang="en-US" sz="1400" dirty="0">
                <a:solidFill>
                  <a:schemeClr val="tx1"/>
                </a:solidFill>
              </a:rPr>
              <a:t>2022'de açıldı; ~150 yatak (kaynaklarda 150–190). Ring hat ve randevuya bağlı servis.</a:t>
            </a:r>
            <a:endParaRPr lang="en-US" sz="1400" dirty="0"/>
          </a:p>
        </p:txBody>
      </p:sp>
      <p:sp>
        <p:nvSpPr>
          <p:cNvPr id="16" name="Kart"/>
          <p:cNvSpPr/>
          <p:nvPr/>
        </p:nvSpPr>
        <p:spPr>
          <a:xfrm>
            <a:off x="548640" y="4562856"/>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7" name="İkon zemini"/>
          <p:cNvSpPr/>
          <p:nvPr/>
        </p:nvSpPr>
        <p:spPr>
          <a:xfrm>
            <a:off x="777240" y="4892040"/>
            <a:ext cx="640080" cy="640080"/>
          </a:xfrm>
          <a:prstGeom prst="ellipse">
            <a:avLst/>
          </a:prstGeom>
          <a:solidFill>
            <a:schemeClr val="tx2"/>
          </a:solidFill>
          <a:ln/>
        </p:spPr>
      </p:sp>
      <p:pic>
        <p:nvPicPr>
          <p:cNvPr id="18" name="İkon FaHeartPulse" descr="preencoded.png">    </p:cNvPr>
          <p:cNvPicPr>
            <a:picLocks noChangeAspect="1"/>
          </p:cNvPicPr>
          <p:nvPr/>
        </p:nvPicPr>
        <p:blipFill>
          <a:blip r:embed="rId3"/>
          <a:stretch>
            <a:fillRect/>
          </a:stretch>
        </p:blipFill>
        <p:spPr>
          <a:xfrm>
            <a:off x="930859" y="5045659"/>
            <a:ext cx="332842" cy="332842"/>
          </a:xfrm>
          <a:prstGeom prst="rect">
            <a:avLst/>
          </a:prstGeom>
        </p:spPr>
      </p:pic>
      <p:sp>
        <p:nvSpPr>
          <p:cNvPr id="19" name="Text 14"/>
          <p:cNvSpPr txBox="1"/>
          <p:nvPr/>
        </p:nvSpPr>
        <p:spPr>
          <a:xfrm>
            <a:off x="1600200" y="4700016"/>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Ankara</a:t>
            </a:r>
            <a:endParaRPr lang="en-US" sz="1300" dirty="0"/>
          </a:p>
        </p:txBody>
      </p:sp>
      <p:sp>
        <p:nvSpPr>
          <p:cNvPr id="20" name="Text 15"/>
          <p:cNvSpPr txBox="1"/>
          <p:nvPr/>
        </p:nvSpPr>
        <p:spPr>
          <a:xfrm>
            <a:off x="1600200" y="4974336"/>
            <a:ext cx="5349240" cy="320040"/>
          </a:xfrm>
          <a:prstGeom prst="rect">
            <a:avLst/>
          </a:prstGeom>
          <a:noFill/>
          <a:ln/>
        </p:spPr>
        <p:txBody>
          <a:bodyPr wrap="square" lIns="0" tIns="0" rIns="0" bIns="0" rtlCol="0" anchor="t"/>
          <a:lstStyle/>
          <a:p>
            <a:pPr indent="0" marL="0">
              <a:buNone/>
            </a:pPr>
            <a:r>
              <a:rPr lang="en-US" sz="1700" b="1" dirty="0">
                <a:solidFill>
                  <a:schemeClr val="tx2"/>
                </a:solidFill>
              </a:rPr>
              <a:t>Üst basamak hastaneler</a:t>
            </a:r>
            <a:endParaRPr lang="en-US" sz="1700" dirty="0"/>
          </a:p>
        </p:txBody>
      </p:sp>
      <p:sp>
        <p:nvSpPr>
          <p:cNvPr id="21" name="Text 16"/>
          <p:cNvSpPr txBox="1"/>
          <p:nvPr/>
        </p:nvSpPr>
        <p:spPr>
          <a:xfrm>
            <a:off x="1600200" y="5312664"/>
            <a:ext cx="5349240" cy="502920"/>
          </a:xfrm>
          <a:prstGeom prst="rect">
            <a:avLst/>
          </a:prstGeom>
          <a:noFill/>
          <a:ln/>
        </p:spPr>
        <p:txBody>
          <a:bodyPr wrap="square" lIns="0" tIns="0" rIns="0" bIns="0" rtlCol="0" anchor="t"/>
          <a:lstStyle/>
          <a:p>
            <a:pPr indent="0" marL="0">
              <a:buNone/>
            </a:pPr>
            <a:r>
              <a:rPr lang="en-US" sz="1400" dirty="0">
                <a:solidFill>
                  <a:schemeClr val="tx1"/>
                </a:solidFill>
              </a:rPr>
              <a:t>Sevk zinciri ve tele-sağlık bağlantısı.</a:t>
            </a:r>
            <a:endParaRPr lang="en-US" sz="1400" dirty="0"/>
          </a:p>
        </p:txBody>
      </p:sp>
      <p:sp>
        <p:nvSpPr>
          <p:cNvPr id="22" name="Text 17"/>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700" b="1" dirty="0">
                <a:solidFill>
                  <a:schemeClr val="tx2"/>
                </a:solidFill>
              </a:rPr>
              <a:t>Dünyadan çıkarımlar</a:t>
            </a:r>
            <a:endParaRPr lang="en-US" sz="1700" dirty="0"/>
          </a:p>
        </p:txBody>
      </p:sp>
      <p:sp>
        <p:nvSpPr>
          <p:cNvPr id="23" name="Kart"/>
          <p:cNvSpPr/>
          <p:nvPr/>
        </p:nvSpPr>
        <p:spPr>
          <a:xfrm>
            <a:off x="7543800" y="20574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7726680" y="21945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Sejong, Kore · 2024</a:t>
            </a:r>
            <a:endParaRPr lang="en-US" sz="1400" dirty="0"/>
          </a:p>
          <a:p>
            <a:pPr indent="0" marL="0">
              <a:spcAft>
                <a:spcPts val="400"/>
              </a:spcAft>
              <a:buNone/>
            </a:pPr>
            <a:r>
              <a:rPr lang="en-US" sz="1400" dirty="0">
                <a:solidFill>
                  <a:schemeClr val="tx1"/>
                </a:solidFill>
              </a:rPr>
              <a:t>Tek acil merkezi gece yetişkin hizmetini kesti.</a:t>
            </a:r>
            <a:endParaRPr lang="en-US" sz="1400" dirty="0"/>
          </a:p>
          <a:p>
            <a:pPr indent="0" marL="0">
              <a:spcAft>
                <a:spcPts val="400"/>
              </a:spcAft>
              <a:buNone/>
            </a:pPr>
            <a:r>
              <a:rPr lang="en-US" sz="1400" b="1" dirty="0">
                <a:solidFill>
                  <a:schemeClr val="tx2"/>
                </a:solidFill>
              </a:rPr>
              <a:t>Acil ve 112 baştan planlanmalı.</a:t>
            </a:r>
            <a:endParaRPr lang="en-US" sz="1400" dirty="0"/>
          </a:p>
        </p:txBody>
      </p:sp>
      <p:sp>
        <p:nvSpPr>
          <p:cNvPr id="25" name="Kart"/>
          <p:cNvSpPr/>
          <p:nvPr/>
        </p:nvSpPr>
        <p:spPr>
          <a:xfrm>
            <a:off x="7543800" y="36576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6" name="Text 21"/>
          <p:cNvSpPr txBox="1"/>
          <p:nvPr/>
        </p:nvSpPr>
        <p:spPr>
          <a:xfrm>
            <a:off x="7726680" y="37947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Lake Nona, ABD · 2012</a:t>
            </a:r>
            <a:endParaRPr lang="en-US" sz="1400" dirty="0"/>
          </a:p>
          <a:p>
            <a:pPr indent="0" marL="0">
              <a:spcAft>
                <a:spcPts val="400"/>
              </a:spcAft>
              <a:buNone/>
            </a:pPr>
            <a:r>
              <a:rPr lang="en-US" sz="1400" dirty="0">
                <a:solidFill>
                  <a:schemeClr val="tx1"/>
                </a:solidFill>
              </a:rPr>
              <a:t>Nemours çocuk hastanesi yerleşimin kurum çıpası oldu.</a:t>
            </a:r>
            <a:endParaRPr lang="en-US" sz="1400" dirty="0"/>
          </a:p>
          <a:p>
            <a:pPr indent="0" marL="0">
              <a:spcAft>
                <a:spcPts val="400"/>
              </a:spcAft>
              <a:buNone/>
            </a:pPr>
            <a:r>
              <a:rPr lang="en-US" sz="1400" b="1" dirty="0">
                <a:solidFill>
                  <a:schemeClr val="tx2"/>
                </a:solidFill>
              </a:rPr>
              <a:t>Sağlık kurumu, yerleşime güven verir.</a:t>
            </a:r>
            <a:endParaRPr lang="en-US" sz="1400" dirty="0"/>
          </a:p>
        </p:txBody>
      </p:sp>
      <p:sp>
        <p:nvSpPr>
          <p:cNvPr id="27" name="Text 22"/>
          <p:cNvSpPr txBox="1"/>
          <p:nvPr/>
        </p:nvSpPr>
        <p:spPr>
          <a:xfrm>
            <a:off x="7543800" y="5349240"/>
            <a:ext cx="4099255" cy="548640"/>
          </a:xfrm>
          <a:prstGeom prst="rect">
            <a:avLst/>
          </a:prstGeom>
          <a:noFill/>
          <a:ln/>
        </p:spPr>
        <p:txBody>
          <a:bodyPr wrap="square" lIns="0" tIns="0" rIns="0" bIns="0" rtlCol="0" anchor="t"/>
          <a:lstStyle/>
          <a:p>
            <a:pPr indent="0" marL="0">
              <a:buNone/>
            </a:pPr>
            <a:r>
              <a:rPr lang="en-US" sz="1400" b="1" dirty="0">
                <a:solidFill>
                  <a:schemeClr val="tx2"/>
                </a:solidFill>
              </a:rPr>
              <a:t>Sorumlu kurumlar: </a:t>
            </a:r>
            <a:pPr indent="0" marL="0">
              <a:buNone/>
            </a:pPr>
            <a:r>
              <a:rPr lang="en-US" sz="1400" dirty="0">
                <a:solidFill>
                  <a:schemeClr val="tx1"/>
                </a:solidFill>
              </a:rPr>
              <a:t>Sağlık Bakanlığı, Ankara İl Sağlık Müdürlüğü.</a:t>
            </a:r>
            <a:endParaRPr lang="en-US" sz="1400" dirty="0"/>
          </a:p>
        </p:txBody>
      </p:sp>
      <p:sp>
        <p:nvSpPr>
          <p:cNvPr id="28" name="Text 23"/>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ekibinin "yeni şehir hastanesi" dediği tesis, kaynaklarda Kahramankazan Devlet Hastanesi olarak geçiyor; adı ve kapasitesi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SOSYAL YAŞAM VE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Yapay göl: su döngüsü ve sosyal yaşam</a:t>
            </a:r>
            <a:endParaRPr lang="en-US" sz="3600" dirty="0"/>
          </a:p>
        </p:txBody>
      </p:sp>
      <p:sp>
        <p:nvSpPr>
          <p:cNvPr id="4" name="Kart"/>
          <p:cNvSpPr/>
          <p:nvPr/>
        </p:nvSpPr>
        <p:spPr>
          <a:xfrm>
            <a:off x="548640" y="1600200"/>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13232" y="1819656"/>
            <a:ext cx="566928" cy="566928"/>
          </a:xfrm>
          <a:prstGeom prst="ellipse">
            <a:avLst/>
          </a:prstGeom>
          <a:solidFill>
            <a:schemeClr val="accent2"/>
          </a:solidFill>
          <a:ln/>
        </p:spPr>
      </p:sp>
      <p:pic>
        <p:nvPicPr>
          <p:cNvPr id="6" name="İkon FaCloudRain" descr="preencoded.png">    </p:cNvPr>
          <p:cNvPicPr>
            <a:picLocks noChangeAspect="1"/>
          </p:cNvPicPr>
          <p:nvPr/>
        </p:nvPicPr>
        <p:blipFill>
          <a:blip r:embed="rId1"/>
          <a:stretch>
            <a:fillRect/>
          </a:stretch>
        </p:blipFill>
        <p:spPr>
          <a:xfrm>
            <a:off x="849295" y="1955719"/>
            <a:ext cx="294803" cy="294803"/>
          </a:xfrm>
          <a:prstGeom prst="rect">
            <a:avLst/>
          </a:prstGeom>
        </p:spPr>
      </p:pic>
      <p:sp>
        <p:nvSpPr>
          <p:cNvPr id="7" name="Text 4"/>
          <p:cNvSpPr txBox="1"/>
          <p:nvPr/>
        </p:nvSpPr>
        <p:spPr>
          <a:xfrm>
            <a:off x="1417320" y="1728216"/>
            <a:ext cx="2103120" cy="292608"/>
          </a:xfrm>
          <a:prstGeom prst="rect">
            <a:avLst/>
          </a:prstGeom>
          <a:noFill/>
          <a:ln/>
        </p:spPr>
        <p:txBody>
          <a:bodyPr wrap="square" lIns="0" tIns="0" rIns="0" bIns="0" rtlCol="0" anchor="t"/>
          <a:lstStyle/>
          <a:p>
            <a:pPr indent="0" marL="0">
              <a:buNone/>
            </a:pPr>
            <a:r>
              <a:rPr lang="en-US" sz="1500" b="1" dirty="0">
                <a:solidFill>
                  <a:schemeClr val="tx2"/>
                </a:solidFill>
              </a:rPr>
              <a:t>Yağmur suyu hasadı</a:t>
            </a:r>
            <a:endParaRPr lang="en-US" sz="1500" dirty="0"/>
          </a:p>
        </p:txBody>
      </p:sp>
      <p:sp>
        <p:nvSpPr>
          <p:cNvPr id="8" name="Text 5"/>
          <p:cNvSpPr txBox="1"/>
          <p:nvPr/>
        </p:nvSpPr>
        <p:spPr>
          <a:xfrm>
            <a:off x="1417320" y="2039112"/>
            <a:ext cx="2103120" cy="530352"/>
          </a:xfrm>
          <a:prstGeom prst="rect">
            <a:avLst/>
          </a:prstGeom>
          <a:noFill/>
          <a:ln/>
        </p:spPr>
        <p:txBody>
          <a:bodyPr wrap="square" lIns="0" tIns="0" rIns="0" bIns="0" rtlCol="0" anchor="t"/>
          <a:lstStyle/>
          <a:p>
            <a:pPr indent="0" marL="0">
              <a:buNone/>
            </a:pPr>
            <a:r>
              <a:rPr lang="en-US" sz="1300" dirty="0">
                <a:solidFill>
                  <a:schemeClr val="tx1"/>
                </a:solidFill>
              </a:rPr>
              <a:t>~80–120 bin m³/yıl; kurak yıllarda düşer</a:t>
            </a:r>
            <a:endParaRPr lang="en-US" sz="1300" dirty="0"/>
          </a:p>
        </p:txBody>
      </p:sp>
      <p:sp>
        <p:nvSpPr>
          <p:cNvPr id="9" name="Ok"/>
          <p:cNvSpPr/>
          <p:nvPr/>
        </p:nvSpPr>
        <p:spPr>
          <a:xfrm>
            <a:off x="3657600" y="2112264"/>
            <a:ext cx="685800" cy="648767"/>
          </a:xfrm>
          <a:prstGeom prst="line">
            <a:avLst/>
          </a:prstGeom>
          <a:noFill/>
          <a:ln w="25400">
            <a:solidFill>
              <a:schemeClr val="accent2"/>
            </a:solidFill>
            <a:prstDash val="solid"/>
            <a:tailEnd type="triangle"/>
          </a:ln>
        </p:spPr>
      </p:sp>
      <p:sp>
        <p:nvSpPr>
          <p:cNvPr id="10" name="Kart"/>
          <p:cNvSpPr/>
          <p:nvPr/>
        </p:nvSpPr>
        <p:spPr>
          <a:xfrm>
            <a:off x="548640" y="2807208"/>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13232" y="3026664"/>
            <a:ext cx="566928" cy="566928"/>
          </a:xfrm>
          <a:prstGeom prst="ellipse">
            <a:avLst/>
          </a:prstGeom>
          <a:solidFill>
            <a:schemeClr val="accent2"/>
          </a:solidFill>
          <a:ln/>
        </p:spPr>
      </p:sp>
      <p:pic>
        <p:nvPicPr>
          <p:cNvPr id="12" name="İkon FaRecycle" descr="preencoded.png">    </p:cNvPr>
          <p:cNvPicPr>
            <a:picLocks noChangeAspect="1"/>
          </p:cNvPicPr>
          <p:nvPr/>
        </p:nvPicPr>
        <p:blipFill>
          <a:blip r:embed="rId2"/>
          <a:stretch>
            <a:fillRect/>
          </a:stretch>
        </p:blipFill>
        <p:spPr>
          <a:xfrm>
            <a:off x="849295" y="3162727"/>
            <a:ext cx="294803" cy="294803"/>
          </a:xfrm>
          <a:prstGeom prst="rect">
            <a:avLst/>
          </a:prstGeom>
        </p:spPr>
      </p:pic>
      <p:sp>
        <p:nvSpPr>
          <p:cNvPr id="13" name="Text 9"/>
          <p:cNvSpPr txBox="1"/>
          <p:nvPr/>
        </p:nvSpPr>
        <p:spPr>
          <a:xfrm>
            <a:off x="1417320" y="2935224"/>
            <a:ext cx="2103120" cy="292608"/>
          </a:xfrm>
          <a:prstGeom prst="rect">
            <a:avLst/>
          </a:prstGeom>
          <a:noFill/>
          <a:ln/>
        </p:spPr>
        <p:txBody>
          <a:bodyPr wrap="square" lIns="0" tIns="0" rIns="0" bIns="0" rtlCol="0" anchor="t"/>
          <a:lstStyle/>
          <a:p>
            <a:pPr indent="0" marL="0">
              <a:buNone/>
            </a:pPr>
            <a:r>
              <a:rPr lang="en-US" sz="1500" b="1" dirty="0">
                <a:solidFill>
                  <a:schemeClr val="tx2"/>
                </a:solidFill>
              </a:rPr>
              <a:t>İleri arıtılmış atıksu</a:t>
            </a:r>
            <a:endParaRPr lang="en-US" sz="1500" dirty="0"/>
          </a:p>
        </p:txBody>
      </p:sp>
      <p:sp>
        <p:nvSpPr>
          <p:cNvPr id="14" name="Text 10"/>
          <p:cNvSpPr txBox="1"/>
          <p:nvPr/>
        </p:nvSpPr>
        <p:spPr>
          <a:xfrm>
            <a:off x="1417320" y="3246120"/>
            <a:ext cx="2103120" cy="530352"/>
          </a:xfrm>
          <a:prstGeom prst="rect">
            <a:avLst/>
          </a:prstGeom>
          <a:noFill/>
          <a:ln/>
        </p:spPr>
        <p:txBody>
          <a:bodyPr wrap="square" lIns="0" tIns="0" rIns="0" bIns="0" rtlCol="0" anchor="t"/>
          <a:lstStyle/>
          <a:p>
            <a:pPr indent="0" marL="0">
              <a:buNone/>
            </a:pPr>
            <a:r>
              <a:rPr lang="en-US" sz="1300" dirty="0">
                <a:solidFill>
                  <a:schemeClr val="tx1"/>
                </a:solidFill>
              </a:rPr>
              <a:t>Tatlar / Kahramankazan AAT; sürekli takviye</a:t>
            </a:r>
            <a:endParaRPr lang="en-US" sz="1300" dirty="0"/>
          </a:p>
        </p:txBody>
      </p:sp>
      <p:sp>
        <p:nvSpPr>
          <p:cNvPr id="15" name="Ok"/>
          <p:cNvSpPr/>
          <p:nvPr/>
        </p:nvSpPr>
        <p:spPr>
          <a:xfrm>
            <a:off x="3657600" y="3319272"/>
            <a:ext cx="685800" cy="-15088"/>
          </a:xfrm>
          <a:prstGeom prst="line">
            <a:avLst/>
          </a:prstGeom>
          <a:noFill/>
          <a:ln w="25400">
            <a:solidFill>
              <a:schemeClr val="accent2"/>
            </a:solidFill>
            <a:prstDash val="solid"/>
            <a:tailEnd type="triangle"/>
          </a:ln>
        </p:spPr>
      </p:sp>
      <p:sp>
        <p:nvSpPr>
          <p:cNvPr id="16" name="Kart"/>
          <p:cNvSpPr/>
          <p:nvPr/>
        </p:nvSpPr>
        <p:spPr>
          <a:xfrm>
            <a:off x="548640" y="4014216"/>
            <a:ext cx="3063240" cy="1024128"/>
          </a:xfrm>
          <a:prstGeom prst="roundRect">
            <a:avLst>
              <a:gd name="adj" fmla="val 7143"/>
            </a:avLst>
          </a:prstGeom>
          <a:solidFill>
            <a:schemeClr val="bg2"/>
          </a:solidFill>
          <a:ln w="12700">
            <a:solidFill>
              <a:srgbClr val="5E6875"/>
            </a:solidFill>
            <a:prstDash val="dash"/>
          </a:ln>
        </p:spPr>
      </p:sp>
      <p:sp>
        <p:nvSpPr>
          <p:cNvPr id="17" name="İkon zemini"/>
          <p:cNvSpPr/>
          <p:nvPr/>
        </p:nvSpPr>
        <p:spPr>
          <a:xfrm>
            <a:off x="713232" y="4233672"/>
            <a:ext cx="566928" cy="566928"/>
          </a:xfrm>
          <a:prstGeom prst="ellipse">
            <a:avLst/>
          </a:prstGeom>
          <a:solidFill>
            <a:schemeClr val="accent5"/>
          </a:solidFill>
          <a:ln/>
        </p:spPr>
      </p:sp>
      <p:pic>
        <p:nvPicPr>
          <p:cNvPr id="18" name="İkon FaFaucetDrip" descr="preencoded.png">    </p:cNvPr>
          <p:cNvPicPr>
            <a:picLocks noChangeAspect="1"/>
          </p:cNvPicPr>
          <p:nvPr/>
        </p:nvPicPr>
        <p:blipFill>
          <a:blip r:embed="rId3"/>
          <a:stretch>
            <a:fillRect/>
          </a:stretch>
        </p:blipFill>
        <p:spPr>
          <a:xfrm>
            <a:off x="849295" y="4369735"/>
            <a:ext cx="294803" cy="294803"/>
          </a:xfrm>
          <a:prstGeom prst="rect">
            <a:avLst/>
          </a:prstGeom>
        </p:spPr>
      </p:pic>
      <p:sp>
        <p:nvSpPr>
          <p:cNvPr id="19" name="Text 14"/>
          <p:cNvSpPr txBox="1"/>
          <p:nvPr/>
        </p:nvSpPr>
        <p:spPr>
          <a:xfrm>
            <a:off x="1417320" y="4142232"/>
            <a:ext cx="2103120" cy="292608"/>
          </a:xfrm>
          <a:prstGeom prst="rect">
            <a:avLst/>
          </a:prstGeom>
          <a:noFill/>
          <a:ln/>
        </p:spPr>
        <p:txBody>
          <a:bodyPr wrap="square" lIns="0" tIns="0" rIns="0" bIns="0" rtlCol="0" anchor="t"/>
          <a:lstStyle/>
          <a:p>
            <a:pPr indent="0" marL="0">
              <a:buNone/>
            </a:pPr>
            <a:r>
              <a:rPr lang="en-US" sz="1500" b="1" dirty="0">
                <a:solidFill>
                  <a:schemeClr val="tx2"/>
                </a:solidFill>
              </a:rPr>
              <a:t>Şebeke suyu</a:t>
            </a:r>
            <a:endParaRPr lang="en-US" sz="1500" dirty="0"/>
          </a:p>
        </p:txBody>
      </p:sp>
      <p:sp>
        <p:nvSpPr>
          <p:cNvPr id="20" name="Text 15"/>
          <p:cNvSpPr txBox="1"/>
          <p:nvPr/>
        </p:nvSpPr>
        <p:spPr>
          <a:xfrm>
            <a:off x="1417320" y="4453128"/>
            <a:ext cx="2103120" cy="530352"/>
          </a:xfrm>
          <a:prstGeom prst="rect">
            <a:avLst/>
          </a:prstGeom>
          <a:noFill/>
          <a:ln/>
        </p:spPr>
        <p:txBody>
          <a:bodyPr wrap="square" lIns="0" tIns="0" rIns="0" bIns="0" rtlCol="0" anchor="t"/>
          <a:lstStyle/>
          <a:p>
            <a:pPr indent="0" marL="0">
              <a:buNone/>
            </a:pPr>
            <a:r>
              <a:rPr lang="en-US" sz="1300" dirty="0">
                <a:solidFill>
                  <a:schemeClr val="tx1"/>
                </a:solidFill>
              </a:rPr>
              <a:t>Yalnızca acil durumda</a:t>
            </a:r>
            <a:endParaRPr lang="en-US" sz="1300" dirty="0"/>
          </a:p>
        </p:txBody>
      </p:sp>
      <p:sp>
        <p:nvSpPr>
          <p:cNvPr id="21" name="Ok"/>
          <p:cNvSpPr/>
          <p:nvPr/>
        </p:nvSpPr>
        <p:spPr>
          <a:xfrm>
            <a:off x="3657600" y="4526280"/>
            <a:ext cx="685800" cy="-678942"/>
          </a:xfrm>
          <a:prstGeom prst="line">
            <a:avLst/>
          </a:prstGeom>
          <a:noFill/>
          <a:ln w="25400">
            <a:solidFill>
              <a:schemeClr val="accent5"/>
            </a:solidFill>
            <a:prstDash val="dash"/>
            <a:tailEnd type="triangle"/>
          </a:ln>
        </p:spPr>
      </p:sp>
      <p:sp>
        <p:nvSpPr>
          <p:cNvPr id="22" name="Yapay göl"/>
          <p:cNvSpPr/>
          <p:nvPr/>
        </p:nvSpPr>
        <p:spPr>
          <a:xfrm>
            <a:off x="4343400" y="2103120"/>
            <a:ext cx="2834640" cy="2194560"/>
          </a:xfrm>
          <a:prstGeom prst="ellipse">
            <a:avLst/>
          </a:prstGeom>
          <a:solidFill>
            <a:schemeClr val="accent2"/>
          </a:solidFill>
          <a:ln w="127000">
            <a:solidFill>
              <a:schemeClr val="accent3"/>
            </a:solidFill>
            <a:prstDash val="solid"/>
          </a:ln>
        </p:spPr>
      </p:sp>
      <p:sp>
        <p:nvSpPr>
          <p:cNvPr id="23" name="Text 18"/>
          <p:cNvSpPr txBox="1"/>
          <p:nvPr/>
        </p:nvSpPr>
        <p:spPr>
          <a:xfrm>
            <a:off x="4434840" y="2697480"/>
            <a:ext cx="2651760" cy="1097280"/>
          </a:xfrm>
          <a:prstGeom prst="rect">
            <a:avLst/>
          </a:prstGeom>
          <a:noFill/>
          <a:ln/>
        </p:spPr>
        <p:txBody>
          <a:bodyPr wrap="square" lIns="0" tIns="0" rIns="0" bIns="0" rtlCol="0" anchor="t"/>
          <a:lstStyle/>
          <a:p>
            <a:pPr algn="ctr" indent="0" marL="0">
              <a:buNone/>
            </a:pPr>
            <a:r>
              <a:rPr lang="en-US" sz="2000" b="1" dirty="0">
                <a:solidFill>
                  <a:schemeClr val="bg1"/>
                </a:solidFill>
              </a:rPr>
              <a:t>Yapay göl</a:t>
            </a:r>
            <a:endParaRPr lang="en-US" sz="1400" dirty="0"/>
          </a:p>
          <a:p>
            <a:pPr algn="ctr" indent="0" marL="0">
              <a:buNone/>
            </a:pPr>
            <a:r>
              <a:rPr lang="en-US" sz="1500" dirty="0">
                <a:solidFill>
                  <a:schemeClr val="bg1"/>
                </a:solidFill>
              </a:rPr>
              <a:t>2,5 ha su yüzeyi</a:t>
            </a:r>
            <a:endParaRPr lang="en-US" sz="1400" dirty="0"/>
          </a:p>
          <a:p>
            <a:pPr algn="ctr" indent="0" marL="0">
              <a:buNone/>
            </a:pPr>
            <a:r>
              <a:rPr lang="en-US" sz="1500" dirty="0">
                <a:solidFill>
                  <a:schemeClr val="bg1"/>
                </a:solidFill>
              </a:rPr>
              <a:t>+ 3,5 ha göl parkı</a:t>
            </a:r>
            <a:endParaRPr lang="en-US" sz="1400" dirty="0"/>
          </a:p>
        </p:txBody>
      </p:sp>
      <p:sp>
        <p:nvSpPr>
          <p:cNvPr id="24" name="Arıtma etiketi"/>
          <p:cNvSpPr/>
          <p:nvPr/>
        </p:nvSpPr>
        <p:spPr>
          <a:xfrm>
            <a:off x="4023360" y="4526280"/>
            <a:ext cx="3474720" cy="384048"/>
          </a:xfrm>
          <a:prstGeom prst="roundRect">
            <a:avLst>
              <a:gd name="adj" fmla="val 14286"/>
            </a:avLst>
          </a:prstGeom>
          <a:solidFill>
            <a:schemeClr val="bg1"/>
          </a:solidFill>
          <a:ln w="12700">
            <a:solidFill>
              <a:schemeClr val="accent2"/>
            </a:solidFill>
          </a:ln>
        </p:spPr>
        <p:txBody>
          <a:bodyPr wrap="square" lIns="0" tIns="0" rIns="0" bIns="0" rtlCol="0" anchor="ctr"/>
          <a:lstStyle/>
          <a:p>
            <a:pPr algn="ctr" indent="0" marL="0">
              <a:buNone/>
            </a:pPr>
            <a:r>
              <a:rPr lang="en-US" sz="1300" b="1" dirty="0">
                <a:solidFill>
                  <a:schemeClr val="tx2"/>
                </a:solidFill>
              </a:rPr>
              <a:t>Çökeltim havuzu · sirkülasyon · biyolojik arıtma</a:t>
            </a:r>
            <a:endParaRPr lang="en-US" sz="1300" dirty="0"/>
          </a:p>
        </p:txBody>
      </p:sp>
      <p:sp>
        <p:nvSpPr>
          <p:cNvPr id="25" name="Ok"/>
          <p:cNvSpPr/>
          <p:nvPr/>
        </p:nvSpPr>
        <p:spPr>
          <a:xfrm>
            <a:off x="7223760" y="3200400"/>
            <a:ext cx="502920" cy="0"/>
          </a:xfrm>
          <a:prstGeom prst="line">
            <a:avLst/>
          </a:prstGeom>
          <a:noFill/>
          <a:ln w="25400">
            <a:solidFill>
              <a:schemeClr val="accent2"/>
            </a:solidFill>
            <a:prstDash val="solid"/>
            <a:tailEnd type="triangle"/>
          </a:ln>
        </p:spPr>
      </p:sp>
      <p:sp>
        <p:nvSpPr>
          <p:cNvPr id="26" name="Kart"/>
          <p:cNvSpPr/>
          <p:nvPr/>
        </p:nvSpPr>
        <p:spPr>
          <a:xfrm>
            <a:off x="7818120" y="1600200"/>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27" name="İkon zemini"/>
          <p:cNvSpPr/>
          <p:nvPr/>
        </p:nvSpPr>
        <p:spPr>
          <a:xfrm>
            <a:off x="7982712" y="1819656"/>
            <a:ext cx="566928" cy="566928"/>
          </a:xfrm>
          <a:prstGeom prst="ellipse">
            <a:avLst/>
          </a:prstGeom>
          <a:solidFill>
            <a:schemeClr val="accent3"/>
          </a:solidFill>
          <a:ln/>
        </p:spPr>
      </p:sp>
      <p:pic>
        <p:nvPicPr>
          <p:cNvPr id="28" name="İkon FaPersonWalking" descr="preencoded.png">    </p:cNvPr>
          <p:cNvPicPr>
            <a:picLocks noChangeAspect="1"/>
          </p:cNvPicPr>
          <p:nvPr/>
        </p:nvPicPr>
        <p:blipFill>
          <a:blip r:embed="rId4"/>
          <a:stretch>
            <a:fillRect/>
          </a:stretch>
        </p:blipFill>
        <p:spPr>
          <a:xfrm>
            <a:off x="8118775" y="1955719"/>
            <a:ext cx="294803" cy="294803"/>
          </a:xfrm>
          <a:prstGeom prst="rect">
            <a:avLst/>
          </a:prstGeom>
        </p:spPr>
      </p:pic>
      <p:sp>
        <p:nvSpPr>
          <p:cNvPr id="29" name="Text 23"/>
          <p:cNvSpPr txBox="1"/>
          <p:nvPr/>
        </p:nvSpPr>
        <p:spPr>
          <a:xfrm>
            <a:off x="8686800" y="1728216"/>
            <a:ext cx="2743200" cy="292608"/>
          </a:xfrm>
          <a:prstGeom prst="rect">
            <a:avLst/>
          </a:prstGeom>
          <a:noFill/>
          <a:ln/>
        </p:spPr>
        <p:txBody>
          <a:bodyPr wrap="square" lIns="0" tIns="0" rIns="0" bIns="0" rtlCol="0" anchor="t"/>
          <a:lstStyle/>
          <a:p>
            <a:pPr indent="0" marL="0">
              <a:buNone/>
            </a:pPr>
            <a:r>
              <a:rPr lang="en-US" sz="1500" b="1" dirty="0">
                <a:solidFill>
                  <a:schemeClr val="tx2"/>
                </a:solidFill>
              </a:rPr>
              <a:t>Göl çevresi</a:t>
            </a:r>
            <a:endParaRPr lang="en-US" sz="1500" dirty="0"/>
          </a:p>
        </p:txBody>
      </p:sp>
      <p:sp>
        <p:nvSpPr>
          <p:cNvPr id="30" name="Text 24"/>
          <p:cNvSpPr txBox="1"/>
          <p:nvPr/>
        </p:nvSpPr>
        <p:spPr>
          <a:xfrm>
            <a:off x="8686800" y="2039112"/>
            <a:ext cx="2880360" cy="548640"/>
          </a:xfrm>
          <a:prstGeom prst="rect">
            <a:avLst/>
          </a:prstGeom>
          <a:noFill/>
          <a:ln/>
        </p:spPr>
        <p:txBody>
          <a:bodyPr wrap="square" lIns="0" tIns="0" rIns="0" bIns="0" rtlCol="0" anchor="t"/>
          <a:lstStyle/>
          <a:p>
            <a:pPr indent="0" marL="0">
              <a:buNone/>
            </a:pPr>
            <a:r>
              <a:rPr lang="en-US" sz="1300" dirty="0">
                <a:solidFill>
                  <a:schemeClr val="tx1"/>
                </a:solidFill>
              </a:rPr>
              <a:t>Yürüyüş ve koşu parkuru, kafe, amfi, çocuk oyun alanları</a:t>
            </a:r>
            <a:endParaRPr lang="en-US" sz="1300" dirty="0"/>
          </a:p>
        </p:txBody>
      </p:sp>
      <p:sp>
        <p:nvSpPr>
          <p:cNvPr id="31" name="Kart"/>
          <p:cNvSpPr/>
          <p:nvPr/>
        </p:nvSpPr>
        <p:spPr>
          <a:xfrm>
            <a:off x="7818120" y="2807208"/>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2" name="İkon zemini"/>
          <p:cNvSpPr/>
          <p:nvPr/>
        </p:nvSpPr>
        <p:spPr>
          <a:xfrm>
            <a:off x="7982712" y="3026664"/>
            <a:ext cx="566928" cy="566928"/>
          </a:xfrm>
          <a:prstGeom prst="ellipse">
            <a:avLst/>
          </a:prstGeom>
          <a:solidFill>
            <a:schemeClr val="accent3"/>
          </a:solidFill>
          <a:ln/>
        </p:spPr>
      </p:sp>
      <p:pic>
        <p:nvPicPr>
          <p:cNvPr id="33" name="İkon FaSailboat" descr="preencoded.png">    </p:cNvPr>
          <p:cNvPicPr>
            <a:picLocks noChangeAspect="1"/>
          </p:cNvPicPr>
          <p:nvPr/>
        </p:nvPicPr>
        <p:blipFill>
          <a:blip r:embed="rId5"/>
          <a:stretch>
            <a:fillRect/>
          </a:stretch>
        </p:blipFill>
        <p:spPr>
          <a:xfrm>
            <a:off x="8118775" y="3162727"/>
            <a:ext cx="294803" cy="294803"/>
          </a:xfrm>
          <a:prstGeom prst="rect">
            <a:avLst/>
          </a:prstGeom>
        </p:spPr>
      </p:pic>
      <p:sp>
        <p:nvSpPr>
          <p:cNvPr id="34" name="Text 27"/>
          <p:cNvSpPr txBox="1"/>
          <p:nvPr/>
        </p:nvSpPr>
        <p:spPr>
          <a:xfrm>
            <a:off x="8686800" y="2935224"/>
            <a:ext cx="2743200" cy="292608"/>
          </a:xfrm>
          <a:prstGeom prst="rect">
            <a:avLst/>
          </a:prstGeom>
          <a:noFill/>
          <a:ln/>
        </p:spPr>
        <p:txBody>
          <a:bodyPr wrap="square" lIns="0" tIns="0" rIns="0" bIns="0" rtlCol="0" anchor="t"/>
          <a:lstStyle/>
          <a:p>
            <a:pPr indent="0" marL="0">
              <a:buNone/>
            </a:pPr>
            <a:r>
              <a:rPr lang="en-US" sz="1500" b="1" dirty="0">
                <a:solidFill>
                  <a:schemeClr val="tx2"/>
                </a:solidFill>
              </a:rPr>
              <a:t>Su üstü</a:t>
            </a:r>
            <a:endParaRPr lang="en-US" sz="1500" dirty="0"/>
          </a:p>
        </p:txBody>
      </p:sp>
      <p:sp>
        <p:nvSpPr>
          <p:cNvPr id="35" name="Text 28"/>
          <p:cNvSpPr txBox="1"/>
          <p:nvPr/>
        </p:nvSpPr>
        <p:spPr>
          <a:xfrm>
            <a:off x="8686800" y="3246120"/>
            <a:ext cx="2880360" cy="548640"/>
          </a:xfrm>
          <a:prstGeom prst="rect">
            <a:avLst/>
          </a:prstGeom>
          <a:noFill/>
          <a:ln/>
        </p:spPr>
        <p:txBody>
          <a:bodyPr wrap="square" lIns="0" tIns="0" rIns="0" bIns="0" rtlCol="0" anchor="t"/>
          <a:lstStyle/>
          <a:p>
            <a:pPr indent="0" marL="0">
              <a:buNone/>
            </a:pPr>
            <a:r>
              <a:rPr lang="en-US" sz="1300" dirty="0">
                <a:solidFill>
                  <a:schemeClr val="tx1"/>
                </a:solidFill>
              </a:rPr>
              <a:t>Kano ve pedal tekne; kışın uygunsa buz pateni</a:t>
            </a:r>
            <a:endParaRPr lang="en-US" sz="1300" dirty="0"/>
          </a:p>
        </p:txBody>
      </p:sp>
      <p:sp>
        <p:nvSpPr>
          <p:cNvPr id="36" name="Kart"/>
          <p:cNvSpPr/>
          <p:nvPr/>
        </p:nvSpPr>
        <p:spPr>
          <a:xfrm>
            <a:off x="7818120" y="4014216"/>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7" name="İkon zemini"/>
          <p:cNvSpPr/>
          <p:nvPr/>
        </p:nvSpPr>
        <p:spPr>
          <a:xfrm>
            <a:off x="7982712" y="4233672"/>
            <a:ext cx="566928" cy="566928"/>
          </a:xfrm>
          <a:prstGeom prst="ellipse">
            <a:avLst/>
          </a:prstGeom>
          <a:solidFill>
            <a:schemeClr val="accent3"/>
          </a:solidFill>
          <a:ln/>
        </p:spPr>
      </p:sp>
      <p:pic>
        <p:nvPicPr>
          <p:cNvPr id="38" name="İkon FaBookOpen" descr="preencoded.png">    </p:cNvPr>
          <p:cNvPicPr>
            <a:picLocks noChangeAspect="1"/>
          </p:cNvPicPr>
          <p:nvPr/>
        </p:nvPicPr>
        <p:blipFill>
          <a:blip r:embed="rId6"/>
          <a:stretch>
            <a:fillRect/>
          </a:stretch>
        </p:blipFill>
        <p:spPr>
          <a:xfrm>
            <a:off x="8118775" y="4369735"/>
            <a:ext cx="294803" cy="294803"/>
          </a:xfrm>
          <a:prstGeom prst="rect">
            <a:avLst/>
          </a:prstGeom>
        </p:spPr>
      </p:pic>
      <p:sp>
        <p:nvSpPr>
          <p:cNvPr id="39" name="Text 31"/>
          <p:cNvSpPr txBox="1"/>
          <p:nvPr/>
        </p:nvSpPr>
        <p:spPr>
          <a:xfrm>
            <a:off x="8686800" y="4142232"/>
            <a:ext cx="2743200" cy="292608"/>
          </a:xfrm>
          <a:prstGeom prst="rect">
            <a:avLst/>
          </a:prstGeom>
          <a:noFill/>
          <a:ln/>
        </p:spPr>
        <p:txBody>
          <a:bodyPr wrap="square" lIns="0" tIns="0" rIns="0" bIns="0" rtlCol="0" anchor="t"/>
          <a:lstStyle/>
          <a:p>
            <a:pPr indent="0" marL="0">
              <a:buNone/>
            </a:pPr>
            <a:r>
              <a:rPr lang="en-US" sz="1500" b="1" dirty="0">
                <a:solidFill>
                  <a:schemeClr val="tx2"/>
                </a:solidFill>
              </a:rPr>
              <a:t>Kıyıda</a:t>
            </a:r>
            <a:endParaRPr lang="en-US" sz="1500" dirty="0"/>
          </a:p>
        </p:txBody>
      </p:sp>
      <p:sp>
        <p:nvSpPr>
          <p:cNvPr id="40" name="Text 32"/>
          <p:cNvSpPr txBox="1"/>
          <p:nvPr/>
        </p:nvSpPr>
        <p:spPr>
          <a:xfrm>
            <a:off x="8686800" y="4453128"/>
            <a:ext cx="2880360" cy="548640"/>
          </a:xfrm>
          <a:prstGeom prst="rect">
            <a:avLst/>
          </a:prstGeom>
          <a:noFill/>
          <a:ln/>
        </p:spPr>
        <p:txBody>
          <a:bodyPr wrap="square" lIns="0" tIns="0" rIns="0" bIns="0" rtlCol="0" anchor="t"/>
          <a:lstStyle/>
          <a:p>
            <a:pPr indent="0" marL="0">
              <a:buNone/>
            </a:pPr>
            <a:r>
              <a:rPr lang="en-US" sz="1300" dirty="0">
                <a:solidFill>
                  <a:schemeClr val="tx1"/>
                </a:solidFill>
              </a:rPr>
              <a:t>Kültür merkezi, kütüphane, meydan ve haftalık pazar</a:t>
            </a:r>
            <a:endParaRPr lang="en-US" sz="1300" dirty="0"/>
          </a:p>
        </p:txBody>
      </p:sp>
      <p:sp>
        <p:nvSpPr>
          <p:cNvPr id="41" name="Kart"/>
          <p:cNvSpPr/>
          <p:nvPr/>
        </p:nvSpPr>
        <p:spPr>
          <a:xfrm>
            <a:off x="548640" y="5303520"/>
            <a:ext cx="11094415" cy="658368"/>
          </a:xfrm>
          <a:prstGeom prst="roundRect">
            <a:avLst>
              <a:gd name="adj" fmla="val 11111"/>
            </a:avLst>
          </a:prstGeom>
          <a:solidFill>
            <a:srgbClr val="F6DFDB"/>
          </a:solidFill>
          <a:ln/>
        </p:spPr>
      </p:sp>
      <p:sp>
        <p:nvSpPr>
          <p:cNvPr id="42" name="İkon zemini"/>
          <p:cNvSpPr/>
          <p:nvPr/>
        </p:nvSpPr>
        <p:spPr>
          <a:xfrm>
            <a:off x="713232" y="5385816"/>
            <a:ext cx="475488" cy="475488"/>
          </a:xfrm>
          <a:prstGeom prst="ellipse">
            <a:avLst/>
          </a:prstGeom>
          <a:solidFill>
            <a:schemeClr val="accent6"/>
          </a:solidFill>
          <a:ln/>
        </p:spPr>
      </p:sp>
      <p:pic>
        <p:nvPicPr>
          <p:cNvPr id="43" name="İkon FaTriangleExclamation" descr="preencoded.png">    </p:cNvPr>
          <p:cNvPicPr>
            <a:picLocks noChangeAspect="1"/>
          </p:cNvPicPr>
          <p:nvPr/>
        </p:nvPicPr>
        <p:blipFill>
          <a:blip r:embed="rId7"/>
          <a:stretch>
            <a:fillRect/>
          </a:stretch>
        </p:blipFill>
        <p:spPr>
          <a:xfrm>
            <a:off x="827349" y="5499933"/>
            <a:ext cx="247254" cy="247254"/>
          </a:xfrm>
          <a:prstGeom prst="rect">
            <a:avLst/>
          </a:prstGeom>
        </p:spPr>
      </p:pic>
      <p:sp>
        <p:nvSpPr>
          <p:cNvPr id="44" name="Text 35"/>
          <p:cNvSpPr txBox="1"/>
          <p:nvPr/>
        </p:nvSpPr>
        <p:spPr>
          <a:xfrm>
            <a:off x="1325880" y="5367528"/>
            <a:ext cx="10134295" cy="548640"/>
          </a:xfrm>
          <a:prstGeom prst="rect">
            <a:avLst/>
          </a:prstGeom>
          <a:noFill/>
          <a:ln/>
        </p:spPr>
        <p:txBody>
          <a:bodyPr wrap="square" lIns="0" tIns="0" rIns="0" bIns="0" rtlCol="0" anchor="ctr"/>
          <a:lstStyle/>
          <a:p>
            <a:pPr indent="0" marL="0">
              <a:buNone/>
            </a:pPr>
            <a:r>
              <a:rPr lang="en-US" sz="1400" dirty="0">
                <a:solidFill>
                  <a:schemeClr val="tx1"/>
                </a:solidFill>
              </a:rPr>
              <a:t>Ankara barajlarında aktif doluluk 8 Ocak 2026'da %1'e inmiştir. Bu nedenle gölün şebeke suyuyla doldurulması önerilmemekte; ilk dolumun (~50 bin m³; 30–75 bin) yağmur suyu ve arıtılmış atıksuyla yapılması öngörülmektedir.</a:t>
            </a:r>
            <a:endParaRPr lang="en-US" sz="1400" dirty="0"/>
          </a:p>
        </p:txBody>
      </p:sp>
      <p:sp>
        <p:nvSpPr>
          <p:cNvPr id="45" name="Text 3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ASKİ verisi (BirGün, 10 Ocak 2026); yağış 350–450 mm/yıl, akış katsayısı 0,4–0,6 ile hasat tahmini. Buharlaşma kaybı hesaplanacak.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öl kıyısı ve mahalle merkezi" descr="/home/user/sunum/araclar/sunum/assets/kavram_go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SOSYAL YAŞAM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Göl kıyısı ve mahalle merkezi</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göl kıyısı promenadı, amfi, iskele, mahalle merkezi ve cami.</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Dünyadan örnekler: mahalle merkezinde göl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accent2"/>
          </a:solidFill>
          <a:ln/>
        </p:spPr>
      </p:sp>
      <p:pic>
        <p:nvPicPr>
          <p:cNvPr id="6" name="İkon FaWater"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Reston, ABD · 1963–67</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Lake Anne köy merkezi</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17 ha'lık köy merkezi gölün kıyısında; 2017'de tescilli miras.</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Göl ile meydan birlikte tasarlanınca merkez olur.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accent2"/>
          </a:solidFill>
          <a:ln/>
        </p:spPr>
      </p:sp>
      <p:pic>
        <p:nvPicPr>
          <p:cNvPr id="13" name="İkon FaPeopleGroup"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Columbia, ABD · 1966–74</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Wilde Lake ve Kittamaqundi</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9–15 ha'lık mahalle gölleri; bakım sakin aidatıyla.</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İşletme modeli baştan kurulur.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accent2"/>
          </a:solidFill>
          <a:ln/>
        </p:spPr>
      </p:sp>
      <p:pic>
        <p:nvPicPr>
          <p:cNvPr id="20" name="İkon FaLeaf"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Bishan-AMK, Singapur · 2012</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Beton kanaldan nehir parkına</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2,7 km kanal 3 km doğal nehre dönüştü; 76 milyon SGD.</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Su altyapısı aynı zamanda park olabilir.</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w="12700">
            <a:solidFill>
              <a:srgbClr val="9A5418"/>
            </a:solidFill>
            <a:prstDash val="solid"/>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Göksu Parkı, Ankara · 2003</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Eryaman'ın göl parkı</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50,8 ha park, 12–14 ha gölet; 2021–22'de su kalitesi sorunu.</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Sirkülasyon, arıtma ve işletmeci ilk günden.</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Columbia gölleri 22–37 acre. Bishan ziyaretçi sayısı (yılda 6 milyonu aşkın) kurum beyanıdır.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VE TRAFİK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sanayi bölgelerine 35 dakika hedefi</a:t>
            </a:r>
            <a:endParaRPr lang="en-US" sz="3600" dirty="0"/>
          </a:p>
        </p:txBody>
      </p:sp>
      <p:sp>
        <p:nvSpPr>
          <p:cNvPr id="4" name="Ekspres hat"/>
          <p:cNvSpPr/>
          <p:nvPr/>
        </p:nvSpPr>
        <p:spPr>
          <a:xfrm>
            <a:off x="868680" y="2331720"/>
            <a:ext cx="5943600" cy="0"/>
          </a:xfrm>
          <a:prstGeom prst="line">
            <a:avLst/>
          </a:prstGeom>
          <a:noFill/>
          <a:ln w="76200">
            <a:solidFill>
              <a:schemeClr val="tx2"/>
            </a:solidFill>
            <a:prstDash val="solid"/>
          </a:ln>
        </p:spPr>
      </p:sp>
      <p:sp>
        <p:nvSpPr>
          <p:cNvPr id="5" name="Durak Uydukent"/>
          <p:cNvSpPr/>
          <p:nvPr/>
        </p:nvSpPr>
        <p:spPr>
          <a:xfrm>
            <a:off x="685800" y="2148840"/>
            <a:ext cx="365760" cy="365760"/>
          </a:xfrm>
          <a:prstGeom prst="ellipse">
            <a:avLst/>
          </a:prstGeom>
          <a:solidFill>
            <a:schemeClr val="accent1"/>
          </a:solidFill>
          <a:ln w="38100">
            <a:solidFill>
              <a:schemeClr val="tx2"/>
            </a:solidFill>
            <a:prstDash val="solid"/>
          </a:ln>
        </p:spPr>
      </p:sp>
      <p:sp>
        <p:nvSpPr>
          <p:cNvPr id="6" name="Text 4"/>
          <p:cNvSpPr txBox="1"/>
          <p:nvPr/>
        </p:nvSpPr>
        <p:spPr>
          <a:xfrm>
            <a:off x="-4572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Uydukent</a:t>
            </a:r>
            <a:endParaRPr lang="en-US" sz="1400" dirty="0"/>
          </a:p>
        </p:txBody>
      </p:sp>
      <p:sp>
        <p:nvSpPr>
          <p:cNvPr id="7" name="Durak Kınık sanayi alanı"/>
          <p:cNvSpPr/>
          <p:nvPr/>
        </p:nvSpPr>
        <p:spPr>
          <a:xfrm>
            <a:off x="3703320" y="2148840"/>
            <a:ext cx="365760" cy="365760"/>
          </a:xfrm>
          <a:prstGeom prst="ellipse">
            <a:avLst/>
          </a:prstGeom>
          <a:solidFill>
            <a:schemeClr val="bg1"/>
          </a:solidFill>
          <a:ln w="38100">
            <a:solidFill>
              <a:schemeClr val="tx2"/>
            </a:solidFill>
            <a:prstDash val="solid"/>
          </a:ln>
        </p:spPr>
      </p:sp>
      <p:sp>
        <p:nvSpPr>
          <p:cNvPr id="8" name="Text 6"/>
          <p:cNvSpPr txBox="1"/>
          <p:nvPr/>
        </p:nvSpPr>
        <p:spPr>
          <a:xfrm>
            <a:off x="2971800" y="2606040"/>
            <a:ext cx="1828800" cy="320040"/>
          </a:xfrm>
          <a:prstGeom prst="rect">
            <a:avLst/>
          </a:prstGeom>
          <a:noFill/>
          <a:ln/>
        </p:spPr>
        <p:txBody>
          <a:bodyPr wrap="square" lIns="0" tIns="0" rIns="0" bIns="0" rtlCol="0" anchor="t"/>
          <a:lstStyle/>
          <a:p>
            <a:pPr algn="ctr" indent="0" marL="0">
              <a:buNone/>
            </a:pPr>
            <a:r>
              <a:rPr lang="en-US" sz="1400" dirty="0">
                <a:solidFill>
                  <a:schemeClr val="tx1"/>
                </a:solidFill>
              </a:rPr>
              <a:t>Kınık sanayi alanı</a:t>
            </a:r>
            <a:endParaRPr lang="en-US" sz="1400" dirty="0"/>
          </a:p>
        </p:txBody>
      </p:sp>
      <p:sp>
        <p:nvSpPr>
          <p:cNvPr id="9" name="Durak HAB / Kışla"/>
          <p:cNvSpPr/>
          <p:nvPr/>
        </p:nvSpPr>
        <p:spPr>
          <a:xfrm>
            <a:off x="6629400" y="2148840"/>
            <a:ext cx="365760" cy="365760"/>
          </a:xfrm>
          <a:prstGeom prst="ellipse">
            <a:avLst/>
          </a:prstGeom>
          <a:solidFill>
            <a:schemeClr val="accent1"/>
          </a:solidFill>
          <a:ln w="38100">
            <a:solidFill>
              <a:schemeClr val="tx2"/>
            </a:solidFill>
            <a:prstDash val="solid"/>
          </a:ln>
        </p:spPr>
      </p:sp>
      <p:sp>
        <p:nvSpPr>
          <p:cNvPr id="10" name="Text 8"/>
          <p:cNvSpPr txBox="1"/>
          <p:nvPr/>
        </p:nvSpPr>
        <p:spPr>
          <a:xfrm>
            <a:off x="589788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HAB / Kışla</a:t>
            </a:r>
            <a:endParaRPr lang="en-US" sz="1400" dirty="0"/>
          </a:p>
        </p:txBody>
      </p:sp>
      <p:sp>
        <p:nvSpPr>
          <p:cNvPr id="11" name="Text 9"/>
          <p:cNvSpPr txBox="1"/>
          <p:nvPr/>
        </p:nvSpPr>
        <p:spPr>
          <a:xfrm>
            <a:off x="19202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11 km</a:t>
            </a:r>
            <a:endParaRPr lang="en-US" sz="1300" dirty="0"/>
          </a:p>
        </p:txBody>
      </p:sp>
      <p:sp>
        <p:nvSpPr>
          <p:cNvPr id="12" name="Text 10"/>
          <p:cNvSpPr txBox="1"/>
          <p:nvPr/>
        </p:nvSpPr>
        <p:spPr>
          <a:xfrm>
            <a:off x="48920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8 km</a:t>
            </a:r>
            <a:endParaRPr lang="en-US" sz="1300" dirty="0"/>
          </a:p>
        </p:txBody>
      </p:sp>
      <p:sp>
        <p:nvSpPr>
          <p:cNvPr id="13" name="Text 11"/>
          <p:cNvSpPr txBox="1"/>
          <p:nvPr/>
        </p:nvSpPr>
        <p:spPr>
          <a:xfrm>
            <a:off x="548640" y="1600200"/>
            <a:ext cx="6766560" cy="320040"/>
          </a:xfrm>
          <a:prstGeom prst="rect">
            <a:avLst/>
          </a:prstGeom>
          <a:noFill/>
          <a:ln/>
        </p:spPr>
        <p:txBody>
          <a:bodyPr wrap="square" lIns="0" tIns="0" rIns="0" bIns="0" rtlCol="0" anchor="t"/>
          <a:lstStyle/>
          <a:p>
            <a:pPr indent="0" marL="0">
              <a:buNone/>
            </a:pPr>
            <a:r>
              <a:rPr lang="en-US" sz="1500" b="1" dirty="0">
                <a:solidFill>
                  <a:schemeClr val="tx2"/>
                </a:solidFill>
              </a:rPr>
              <a:t>Uydukent Ekspres · ~19 km · hedef kapıdan kapıya 35 dk'nın altı</a:t>
            </a:r>
            <a:endParaRPr lang="en-US" sz="1500" dirty="0"/>
          </a:p>
        </p:txBody>
      </p:sp>
      <p:sp>
        <p:nvSpPr>
          <p:cNvPr id="14" name="Kart"/>
          <p:cNvSpPr/>
          <p:nvPr/>
        </p:nvSpPr>
        <p:spPr>
          <a:xfrm>
            <a:off x="54864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5" name="Text 13"/>
          <p:cNvSpPr txBox="1"/>
          <p:nvPr/>
        </p:nvSpPr>
        <p:spPr>
          <a:xfrm>
            <a:off x="73152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İlk gün</a:t>
            </a:r>
            <a:endParaRPr lang="en-US" sz="1700" dirty="0"/>
          </a:p>
        </p:txBody>
      </p:sp>
      <p:sp>
        <p:nvSpPr>
          <p:cNvPr id="16" name="Text 14"/>
          <p:cNvSpPr txBox="1"/>
          <p:nvPr/>
        </p:nvSpPr>
        <p:spPr>
          <a:xfrm>
            <a:off x="73152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Mesaiye bağlı elektrikli ekspres otobüs; garantili koltuk, sabit sefer süresi</a:t>
            </a:r>
            <a:endParaRPr lang="en-US" sz="1400" dirty="0"/>
          </a:p>
        </p:txBody>
      </p:sp>
      <p:sp>
        <p:nvSpPr>
          <p:cNvPr id="17" name="Kart"/>
          <p:cNvSpPr/>
          <p:nvPr/>
        </p:nvSpPr>
        <p:spPr>
          <a:xfrm>
            <a:off x="288036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8" name="Text 16"/>
          <p:cNvSpPr txBox="1"/>
          <p:nvPr/>
        </p:nvSpPr>
        <p:spPr>
          <a:xfrm>
            <a:off x="306324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3–6 yıl</a:t>
            </a:r>
            <a:endParaRPr lang="en-US" sz="1700" dirty="0"/>
          </a:p>
        </p:txBody>
      </p:sp>
      <p:sp>
        <p:nvSpPr>
          <p:cNvPr id="19" name="Text 17"/>
          <p:cNvSpPr txBox="1"/>
          <p:nvPr/>
        </p:nvSpPr>
        <p:spPr>
          <a:xfrm>
            <a:off x="306324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Otobüs öncelikli koridor (BRT); koridor raylı sistem standardında ayrılır</a:t>
            </a:r>
            <a:endParaRPr lang="en-US" sz="1400" dirty="0"/>
          </a:p>
        </p:txBody>
      </p:sp>
      <p:sp>
        <p:nvSpPr>
          <p:cNvPr id="20" name="Kart"/>
          <p:cNvSpPr/>
          <p:nvPr/>
        </p:nvSpPr>
        <p:spPr>
          <a:xfrm>
            <a:off x="521208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21" name="Text 19"/>
          <p:cNvSpPr txBox="1"/>
          <p:nvPr/>
        </p:nvSpPr>
        <p:spPr>
          <a:xfrm>
            <a:off x="539496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6–12 yıl</a:t>
            </a:r>
            <a:endParaRPr lang="en-US" sz="1700" dirty="0"/>
          </a:p>
        </p:txBody>
      </p:sp>
      <p:sp>
        <p:nvSpPr>
          <p:cNvPr id="22" name="Text 20"/>
          <p:cNvSpPr txBox="1"/>
          <p:nvPr/>
        </p:nvSpPr>
        <p:spPr>
          <a:xfrm>
            <a:off x="539496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Talep yeterse ekosistemde planlanan hafif raylı sisteme bağlantı</a:t>
            </a:r>
            <a:endParaRPr lang="en-US" sz="1400" dirty="0"/>
          </a:p>
        </p:txBody>
      </p:sp>
      <p:sp>
        <p:nvSpPr>
          <p:cNvPr id="23" name="Text 21"/>
          <p:cNvSpPr txBox="1"/>
          <p:nvPr/>
        </p:nvSpPr>
        <p:spPr>
          <a:xfrm>
            <a:off x="548640" y="5440680"/>
            <a:ext cx="6766560" cy="548640"/>
          </a:xfrm>
          <a:prstGeom prst="rect">
            <a:avLst/>
          </a:prstGeom>
          <a:noFill/>
          <a:ln/>
        </p:spPr>
        <p:txBody>
          <a:bodyPr wrap="square" lIns="0" tIns="0" rIns="0" bIns="0" rtlCol="0" anchor="t"/>
          <a:lstStyle/>
          <a:p>
            <a:pPr indent="0" marL="0">
              <a:buNone/>
            </a:pPr>
            <a:r>
              <a:rPr lang="en-US" sz="1400" b="1" dirty="0">
                <a:solidFill>
                  <a:schemeClr val="tx2"/>
                </a:solidFill>
              </a:rPr>
              <a:t>Tamamlayıcı hizmetler: </a:t>
            </a:r>
            <a:pPr indent="0" marL="0">
              <a:buNone/>
            </a:pPr>
            <a:r>
              <a:rPr lang="en-US" sz="1400" dirty="0">
                <a:solidFill>
                  <a:schemeClr val="tx1"/>
                </a:solidFill>
              </a:rPr>
              <a:t>Kahramankazan merkezine ring hat (8 km), Yenikent aktarması (Başkentray), mahalle içi çağrılı servis, kademeli mesai.</a:t>
            </a:r>
            <a:endParaRPr lang="en-US" sz="1400" dirty="0"/>
          </a:p>
        </p:txBody>
      </p:sp>
      <p:sp>
        <p:nvSpPr>
          <p:cNvPr id="24" name="Gösterge"/>
          <p:cNvSpPr/>
          <p:nvPr/>
        </p:nvSpPr>
        <p:spPr>
          <a:xfrm>
            <a:off x="7635240"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7818120"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13</a:t>
            </a:r>
            <a:endParaRPr lang="en-US" sz="3200" dirty="0"/>
          </a:p>
        </p:txBody>
      </p:sp>
      <p:sp>
        <p:nvSpPr>
          <p:cNvPr id="26" name="Text 24"/>
          <p:cNvSpPr txBox="1"/>
          <p:nvPr/>
        </p:nvSpPr>
        <p:spPr>
          <a:xfrm>
            <a:off x="7818120"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elektrikli otobüs, %15 yedekli</a:t>
            </a:r>
            <a:endParaRPr lang="en-US" sz="1400" dirty="0"/>
          </a:p>
        </p:txBody>
      </p:sp>
      <p:sp>
        <p:nvSpPr>
          <p:cNvPr id="27" name="Gösterge"/>
          <p:cNvSpPr/>
          <p:nvPr/>
        </p:nvSpPr>
        <p:spPr>
          <a:xfrm>
            <a:off x="9729216"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8" name="Text 26"/>
          <p:cNvSpPr txBox="1"/>
          <p:nvPr/>
        </p:nvSpPr>
        <p:spPr>
          <a:xfrm>
            <a:off x="9912096"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~875</a:t>
            </a:r>
            <a:endParaRPr lang="en-US" sz="3200" dirty="0"/>
          </a:p>
        </p:txBody>
      </p:sp>
      <p:sp>
        <p:nvSpPr>
          <p:cNvPr id="29" name="Text 27"/>
          <p:cNvSpPr txBox="1"/>
          <p:nvPr/>
        </p:nvSpPr>
        <p:spPr>
          <a:xfrm>
            <a:off x="9912096"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sabah pikinde ekspres yolcusu</a:t>
            </a:r>
            <a:endParaRPr lang="en-US" sz="1400" dirty="0"/>
          </a:p>
        </p:txBody>
      </p:sp>
      <p:sp>
        <p:nvSpPr>
          <p:cNvPr id="30" name="Gösterge"/>
          <p:cNvSpPr/>
          <p:nvPr/>
        </p:nvSpPr>
        <p:spPr>
          <a:xfrm>
            <a:off x="7635240"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1" name="Text 29"/>
          <p:cNvSpPr txBox="1"/>
          <p:nvPr/>
        </p:nvSpPr>
        <p:spPr>
          <a:xfrm>
            <a:off x="7818120"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~560</a:t>
            </a:r>
            <a:endParaRPr lang="en-US" sz="3200" dirty="0"/>
          </a:p>
        </p:txBody>
      </p:sp>
      <p:sp>
        <p:nvSpPr>
          <p:cNvPr id="32" name="Text 30"/>
          <p:cNvSpPr txBox="1"/>
          <p:nvPr/>
        </p:nvSpPr>
        <p:spPr>
          <a:xfrm>
            <a:off x="7818120"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otomobil, pikte koridordan çekilir</a:t>
            </a:r>
            <a:endParaRPr lang="en-US" sz="1400" dirty="0"/>
          </a:p>
        </p:txBody>
      </p:sp>
      <p:sp>
        <p:nvSpPr>
          <p:cNvPr id="33" name="Gösterge"/>
          <p:cNvSpPr/>
          <p:nvPr/>
        </p:nvSpPr>
        <p:spPr>
          <a:xfrm>
            <a:off x="9729216"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4" name="Text 32"/>
          <p:cNvSpPr txBox="1"/>
          <p:nvPr/>
        </p:nvSpPr>
        <p:spPr>
          <a:xfrm>
            <a:off x="9912096"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374 t</a:t>
            </a:r>
            <a:endParaRPr lang="en-US" sz="3200" dirty="0"/>
          </a:p>
        </p:txBody>
      </p:sp>
      <p:sp>
        <p:nvSpPr>
          <p:cNvPr id="35" name="Text 33"/>
          <p:cNvSpPr txBox="1"/>
          <p:nvPr/>
        </p:nvSpPr>
        <p:spPr>
          <a:xfrm>
            <a:off x="9912096"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CO₂ yılda önlenir</a:t>
            </a:r>
            <a:endParaRPr lang="en-US" sz="1400" dirty="0"/>
          </a:p>
        </p:txBody>
      </p:sp>
      <p:sp>
        <p:nvSpPr>
          <p:cNvPr id="36" name="Text 3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başına 1,4 çalışan; en az yarısı savunma ve havacılık kümesinde (1.750 kişi); ekspres payı %50; otobüs başına ~85 yolcu.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PROJELERİ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projeleri: altyapı ve araçlar</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240280"/>
                <a:gridCol w="3520440"/>
                <a:gridCol w="1600200"/>
                <a:gridCol w="2331720"/>
                <a:gridCol w="1401775"/>
              </a:tblGrid>
              <a:tr h="621792">
                <a:tc>
                  <a:txBody>
                    <a:bodyPr/>
                    <a:lstStyle/>
                    <a:p>
                      <a:pPr indent="0" marL="0">
                        <a:buNone/>
                      </a:pPr>
                      <a:r>
                        <a:rPr lang="en-US" sz="1300" b="1" dirty="0">
                          <a:solidFill>
                            <a:srgbClr val="FFFFFF"/>
                          </a:solidFill>
                        </a:rPr>
                        <a:t>Proje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Kapsam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Yatırım (mn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Sorumlu (öneri)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Aşama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621792">
                <a:tc>
                  <a:txBody>
                    <a:bodyPr/>
                    <a:lstStyle/>
                    <a:p>
                      <a:pPr indent="0" marL="0">
                        <a:buNone/>
                      </a:pPr>
                      <a:r>
                        <a:rPr lang="en-US" sz="1300" b="1" dirty="0">
                          <a:solidFill>
                            <a:srgbClr val="1B2430"/>
                          </a:solidFill>
                        </a:rPr>
                        <a:t>Uydukent Ekspres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13 elektrikli otobüs (12 m) ve şarj deposu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452 (385–524)</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Sanayi işverenleri, ABB EGO</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Servis ve aktarma istasyonu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Ana girişte peron, kapalı bekleme alanı ve duraklar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 (20–45)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Otobüs öncelikli koridor (BRT)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Uydukent–Kınık–HAB; raylı sistem standardında koridor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KGM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Hafif raylı sistem bağlantısı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Ekosistemde planlanan Kahramankazan–Kışla hattına bağlantı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Ulaştırma ve Altyapı Bak.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6–12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Kahramankazan ring hattı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İlçe merkezi, Devlet Hastanesi ve çarşıya 8 km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EGO, Kahramankazan Bld.</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Yenikent aktarması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Başkentray Yenikent ucundan sanayi bölgelerine servis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TCDD, ABB EGO, işverenler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Yatırım değerleri 2026 TL, KDV hariç (hesap notu 10). Sorumlu kurumlar öneri niteliğindedir ve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PROJELERİ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projeleri: hizmet ve yönetim</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240280"/>
                <a:gridCol w="3520440"/>
                <a:gridCol w="1600200"/>
                <a:gridCol w="2331720"/>
                <a:gridCol w="1401775"/>
              </a:tblGrid>
              <a:tr h="621792">
                <a:tc>
                  <a:txBody>
                    <a:bodyPr/>
                    <a:lstStyle/>
                    <a:p>
                      <a:pPr indent="0" marL="0">
                        <a:buNone/>
                      </a:pPr>
                      <a:r>
                        <a:rPr lang="en-US" sz="1300" b="1" dirty="0">
                          <a:solidFill>
                            <a:srgbClr val="FFFFFF"/>
                          </a:solidFill>
                        </a:rPr>
                        <a:t>Proje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Kapsam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Yatırım (mn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Sorumlu (öneri)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Aşama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621792">
                <a:tc>
                  <a:txBody>
                    <a:bodyPr/>
                    <a:lstStyle/>
                    <a:p>
                      <a:pPr indent="0" marL="0">
                        <a:buNone/>
                      </a:pPr>
                      <a:r>
                        <a:rPr lang="en-US" sz="1300" b="1" dirty="0">
                          <a:solidFill>
                            <a:srgbClr val="1B2430"/>
                          </a:solidFill>
                        </a:rPr>
                        <a:t>Mahalle içi çağrılı servis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Uygulamadan çağrılan küçük elektrikli araçlar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İşletmeci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Bisiklet ve yaya ağı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Mahalleler, okullar ve göl arasında kesintisiz ağ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Kentsel altyapı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Akıllı durak ve sinyalizasyon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Otobüs önceliği, gerçek zamanlı durak ekranları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şehir kalemi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Ulaşım uygulaması (MaaS)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Servis, EGO ve Başkentray tek uygulamada; koltuk rezervasyonu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şehir kalemi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İşletmeci, ABB EGO</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Park yönetimi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Mahalle girişlerinde akıllı otopark; servis kullanımına teşvik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Kademeli mesai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15–30 dakikalık kademeli ve esnek mesai düzeni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Yatırım gerektirmez</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Sanayi işverenleri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Yatırım değerleri 2026 TL, KDV hariç (hesap notu 10). Sorumlu kurumlar öneri niteliğindedir ve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ervis ve aktarma istasyonu" descr="/home/user/sunum/araclar/sunum/assets/kavram_istasyon.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ULAŞIM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Servis ve aktarma istasyonu</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güneş panelli peron örtüsü ve elektrikli ekspres otobüsler.</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AKILLI ŞEHİR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veri güvenliği</a:t>
            </a:r>
            <a:endParaRPr lang="en-US" sz="3600" dirty="0"/>
          </a:p>
        </p:txBody>
      </p:sp>
      <p:sp>
        <p:nvSpPr>
          <p:cNvPr id="4" name="Kart"/>
          <p:cNvSpPr/>
          <p:nvPr/>
        </p:nvSpPr>
        <p:spPr>
          <a:xfrm>
            <a:off x="54864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801368"/>
            <a:ext cx="548640" cy="548640"/>
          </a:xfrm>
          <a:prstGeom prst="ellipse">
            <a:avLst/>
          </a:prstGeom>
          <a:solidFill>
            <a:schemeClr val="tx2"/>
          </a:solidFill>
          <a:ln/>
        </p:spPr>
      </p:sp>
      <p:pic>
        <p:nvPicPr>
          <p:cNvPr id="6" name="İkon FaMobileScreen" descr="preencoded.png">    </p:cNvPr>
          <p:cNvPicPr>
            <a:picLocks noChangeAspect="1"/>
          </p:cNvPicPr>
          <p:nvPr/>
        </p:nvPicPr>
        <p:blipFill>
          <a:blip r:embed="rId1"/>
          <a:stretch>
            <a:fillRect/>
          </a:stretch>
        </p:blipFill>
        <p:spPr>
          <a:xfrm>
            <a:off x="863194" y="1933042"/>
            <a:ext cx="285293" cy="285293"/>
          </a:xfrm>
          <a:prstGeom prst="rect">
            <a:avLst/>
          </a:prstGeom>
        </p:spPr>
      </p:pic>
      <p:sp>
        <p:nvSpPr>
          <p:cNvPr id="7" name="Text 4"/>
          <p:cNvSpPr txBox="1"/>
          <p:nvPr/>
        </p:nvSpPr>
        <p:spPr>
          <a:xfrm>
            <a:off x="141732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Ulaşım uygulaması</a:t>
            </a:r>
            <a:endParaRPr lang="en-US" sz="1500" dirty="0"/>
          </a:p>
        </p:txBody>
      </p:sp>
      <p:sp>
        <p:nvSpPr>
          <p:cNvPr id="8" name="Text 5"/>
          <p:cNvSpPr txBox="1"/>
          <p:nvPr/>
        </p:nvSpPr>
        <p:spPr>
          <a:xfrm>
            <a:off x="141732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Mesaiye bağlı; servis, EGO ve Başkentray tek uygulamada</a:t>
            </a:r>
            <a:endParaRPr lang="en-US" sz="1300" dirty="0"/>
          </a:p>
        </p:txBody>
      </p:sp>
      <p:sp>
        <p:nvSpPr>
          <p:cNvPr id="9" name="Kart"/>
          <p:cNvSpPr/>
          <p:nvPr/>
        </p:nvSpPr>
        <p:spPr>
          <a:xfrm>
            <a:off x="429768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0" name="İkon zemini"/>
          <p:cNvSpPr/>
          <p:nvPr/>
        </p:nvSpPr>
        <p:spPr>
          <a:xfrm>
            <a:off x="4480560" y="1801368"/>
            <a:ext cx="548640" cy="548640"/>
          </a:xfrm>
          <a:prstGeom prst="ellipse">
            <a:avLst/>
          </a:prstGeom>
          <a:solidFill>
            <a:schemeClr val="tx2"/>
          </a:solidFill>
          <a:ln/>
        </p:spPr>
      </p:sp>
      <p:pic>
        <p:nvPicPr>
          <p:cNvPr id="11" name="İkon FaTrafficLight" descr="preencoded.png">    </p:cNvPr>
          <p:cNvPicPr>
            <a:picLocks noChangeAspect="1"/>
          </p:cNvPicPr>
          <p:nvPr/>
        </p:nvPicPr>
        <p:blipFill>
          <a:blip r:embed="rId2"/>
          <a:stretch>
            <a:fillRect/>
          </a:stretch>
        </p:blipFill>
        <p:spPr>
          <a:xfrm>
            <a:off x="4612234" y="1933042"/>
            <a:ext cx="285293" cy="285293"/>
          </a:xfrm>
          <a:prstGeom prst="rect">
            <a:avLst/>
          </a:prstGeom>
        </p:spPr>
      </p:pic>
      <p:sp>
        <p:nvSpPr>
          <p:cNvPr id="12" name="Text 8"/>
          <p:cNvSpPr txBox="1"/>
          <p:nvPr/>
        </p:nvSpPr>
        <p:spPr>
          <a:xfrm>
            <a:off x="516636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Akıllı koridor</a:t>
            </a:r>
            <a:endParaRPr lang="en-US" sz="1500" dirty="0"/>
          </a:p>
        </p:txBody>
      </p:sp>
      <p:sp>
        <p:nvSpPr>
          <p:cNvPr id="13" name="Text 9"/>
          <p:cNvSpPr txBox="1"/>
          <p:nvPr/>
        </p:nvSpPr>
        <p:spPr>
          <a:xfrm>
            <a:off x="516636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Otobüse öncelikli sinyalizasyon ve durak ekranları</a:t>
            </a:r>
            <a:endParaRPr lang="en-US" sz="1300" dirty="0"/>
          </a:p>
        </p:txBody>
      </p:sp>
      <p:sp>
        <p:nvSpPr>
          <p:cNvPr id="14" name="Kart"/>
          <p:cNvSpPr/>
          <p:nvPr/>
        </p:nvSpPr>
        <p:spPr>
          <a:xfrm>
            <a:off x="54864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İkon zemini"/>
          <p:cNvSpPr/>
          <p:nvPr/>
        </p:nvSpPr>
        <p:spPr>
          <a:xfrm>
            <a:off x="731520" y="3310128"/>
            <a:ext cx="548640" cy="548640"/>
          </a:xfrm>
          <a:prstGeom prst="ellipse">
            <a:avLst/>
          </a:prstGeom>
          <a:solidFill>
            <a:schemeClr val="tx2"/>
          </a:solidFill>
          <a:ln/>
        </p:spPr>
      </p:sp>
      <p:pic>
        <p:nvPicPr>
          <p:cNvPr id="16" name="İkon FaSolarPanel" descr="preencoded.png">    </p:cNvPr>
          <p:cNvPicPr>
            <a:picLocks noChangeAspect="1"/>
          </p:cNvPicPr>
          <p:nvPr/>
        </p:nvPicPr>
        <p:blipFill>
          <a:blip r:embed="rId3"/>
          <a:stretch>
            <a:fillRect/>
          </a:stretch>
        </p:blipFill>
        <p:spPr>
          <a:xfrm>
            <a:off x="863194" y="3441802"/>
            <a:ext cx="285293" cy="285293"/>
          </a:xfrm>
          <a:prstGeom prst="rect">
            <a:avLst/>
          </a:prstGeom>
        </p:spPr>
      </p:pic>
      <p:sp>
        <p:nvSpPr>
          <p:cNvPr id="17" name="Text 12"/>
          <p:cNvSpPr txBox="1"/>
          <p:nvPr/>
        </p:nvSpPr>
        <p:spPr>
          <a:xfrm>
            <a:off x="141732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Enerji ve altyapı</a:t>
            </a:r>
            <a:endParaRPr lang="en-US" sz="1500" dirty="0"/>
          </a:p>
        </p:txBody>
      </p:sp>
      <p:sp>
        <p:nvSpPr>
          <p:cNvPr id="18" name="Text 13"/>
          <p:cNvSpPr txBox="1"/>
          <p:nvPr/>
        </p:nvSpPr>
        <p:spPr>
          <a:xfrm>
            <a:off x="141732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Her binaya fiber, akıllı sayaç, çatı güneş enerjisi</a:t>
            </a:r>
            <a:endParaRPr lang="en-US" sz="1300" dirty="0"/>
          </a:p>
        </p:txBody>
      </p:sp>
      <p:sp>
        <p:nvSpPr>
          <p:cNvPr id="19" name="Kart"/>
          <p:cNvSpPr/>
          <p:nvPr/>
        </p:nvSpPr>
        <p:spPr>
          <a:xfrm>
            <a:off x="429768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İkon zemini"/>
          <p:cNvSpPr/>
          <p:nvPr/>
        </p:nvSpPr>
        <p:spPr>
          <a:xfrm>
            <a:off x="4480560" y="3310128"/>
            <a:ext cx="548640" cy="548640"/>
          </a:xfrm>
          <a:prstGeom prst="ellipse">
            <a:avLst/>
          </a:prstGeom>
          <a:solidFill>
            <a:schemeClr val="tx2"/>
          </a:solidFill>
          <a:ln/>
        </p:spPr>
      </p:sp>
      <p:pic>
        <p:nvPicPr>
          <p:cNvPr id="21" name="İkon FaDroplet" descr="preencoded.png">    </p:cNvPr>
          <p:cNvPicPr>
            <a:picLocks noChangeAspect="1"/>
          </p:cNvPicPr>
          <p:nvPr/>
        </p:nvPicPr>
        <p:blipFill>
          <a:blip r:embed="rId4"/>
          <a:stretch>
            <a:fillRect/>
          </a:stretch>
        </p:blipFill>
        <p:spPr>
          <a:xfrm>
            <a:off x="4612234" y="3441802"/>
            <a:ext cx="285293" cy="285293"/>
          </a:xfrm>
          <a:prstGeom prst="rect">
            <a:avLst/>
          </a:prstGeom>
        </p:spPr>
      </p:pic>
      <p:sp>
        <p:nvSpPr>
          <p:cNvPr id="22" name="Text 16"/>
          <p:cNvSpPr txBox="1"/>
          <p:nvPr/>
        </p:nvSpPr>
        <p:spPr>
          <a:xfrm>
            <a:off x="516636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Su yönetimi</a:t>
            </a:r>
            <a:endParaRPr lang="en-US" sz="1500" dirty="0"/>
          </a:p>
        </p:txBody>
      </p:sp>
      <p:sp>
        <p:nvSpPr>
          <p:cNvPr id="23" name="Text 17"/>
          <p:cNvSpPr txBox="1"/>
          <p:nvPr/>
        </p:nvSpPr>
        <p:spPr>
          <a:xfrm>
            <a:off x="516636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Gölde su kalitesi ve seviye sensörleri, akıllı sulama</a:t>
            </a:r>
            <a:endParaRPr lang="en-US" sz="1300" dirty="0"/>
          </a:p>
        </p:txBody>
      </p:sp>
      <p:sp>
        <p:nvSpPr>
          <p:cNvPr id="24" name="Kart"/>
          <p:cNvSpPr/>
          <p:nvPr/>
        </p:nvSpPr>
        <p:spPr>
          <a:xfrm>
            <a:off x="54864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5" name="İkon zemini"/>
          <p:cNvSpPr/>
          <p:nvPr/>
        </p:nvSpPr>
        <p:spPr>
          <a:xfrm>
            <a:off x="731520" y="4818888"/>
            <a:ext cx="548640" cy="548640"/>
          </a:xfrm>
          <a:prstGeom prst="ellipse">
            <a:avLst/>
          </a:prstGeom>
          <a:solidFill>
            <a:schemeClr val="tx2"/>
          </a:solidFill>
          <a:ln/>
        </p:spPr>
      </p:sp>
      <p:pic>
        <p:nvPicPr>
          <p:cNvPr id="26" name="İkon FaFlask" descr="preencoded.png">    </p:cNvPr>
          <p:cNvPicPr>
            <a:picLocks noChangeAspect="1"/>
          </p:cNvPicPr>
          <p:nvPr/>
        </p:nvPicPr>
        <p:blipFill>
          <a:blip r:embed="rId5"/>
          <a:stretch>
            <a:fillRect/>
          </a:stretch>
        </p:blipFill>
        <p:spPr>
          <a:xfrm>
            <a:off x="863194" y="4950562"/>
            <a:ext cx="285293" cy="285293"/>
          </a:xfrm>
          <a:prstGeom prst="rect">
            <a:avLst/>
          </a:prstGeom>
        </p:spPr>
      </p:pic>
      <p:sp>
        <p:nvSpPr>
          <p:cNvPr id="27" name="Text 20"/>
          <p:cNvSpPr txBox="1"/>
          <p:nvPr/>
        </p:nvSpPr>
        <p:spPr>
          <a:xfrm>
            <a:off x="141732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Eğitim</a:t>
            </a:r>
            <a:endParaRPr lang="en-US" sz="1500" dirty="0"/>
          </a:p>
        </p:txBody>
      </p:sp>
      <p:sp>
        <p:nvSpPr>
          <p:cNvPr id="28" name="Text 21"/>
          <p:cNvSpPr txBox="1"/>
          <p:nvPr/>
        </p:nvSpPr>
        <p:spPr>
          <a:xfrm>
            <a:off x="141732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Deneyap ve makerspace; mühendis mentorluk platformu</a:t>
            </a:r>
            <a:endParaRPr lang="en-US" sz="1300" dirty="0"/>
          </a:p>
        </p:txBody>
      </p:sp>
      <p:sp>
        <p:nvSpPr>
          <p:cNvPr id="29" name="Kart"/>
          <p:cNvSpPr/>
          <p:nvPr/>
        </p:nvSpPr>
        <p:spPr>
          <a:xfrm>
            <a:off x="429768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30" name="İkon zemini"/>
          <p:cNvSpPr/>
          <p:nvPr/>
        </p:nvSpPr>
        <p:spPr>
          <a:xfrm>
            <a:off x="4480560" y="4818888"/>
            <a:ext cx="548640" cy="548640"/>
          </a:xfrm>
          <a:prstGeom prst="ellipse">
            <a:avLst/>
          </a:prstGeom>
          <a:solidFill>
            <a:schemeClr val="tx2"/>
          </a:solidFill>
          <a:ln/>
        </p:spPr>
      </p:sp>
      <p:pic>
        <p:nvPicPr>
          <p:cNvPr id="31" name="İkon FaPeopleGroup" descr="preencoded.png">    </p:cNvPr>
          <p:cNvPicPr>
            <a:picLocks noChangeAspect="1"/>
          </p:cNvPicPr>
          <p:nvPr/>
        </p:nvPicPr>
        <p:blipFill>
          <a:blip r:embed="rId6"/>
          <a:stretch>
            <a:fillRect/>
          </a:stretch>
        </p:blipFill>
        <p:spPr>
          <a:xfrm>
            <a:off x="4612234" y="4950562"/>
            <a:ext cx="285293" cy="285293"/>
          </a:xfrm>
          <a:prstGeom prst="rect">
            <a:avLst/>
          </a:prstGeom>
        </p:spPr>
      </p:pic>
      <p:sp>
        <p:nvSpPr>
          <p:cNvPr id="32" name="Text 24"/>
          <p:cNvSpPr txBox="1"/>
          <p:nvPr/>
        </p:nvSpPr>
        <p:spPr>
          <a:xfrm>
            <a:off x="516636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Topluluk platformu</a:t>
            </a:r>
            <a:endParaRPr lang="en-US" sz="1500" dirty="0"/>
          </a:p>
        </p:txBody>
      </p:sp>
      <p:sp>
        <p:nvSpPr>
          <p:cNvPr id="33" name="Text 25"/>
          <p:cNvSpPr txBox="1"/>
          <p:nvPr/>
        </p:nvSpPr>
        <p:spPr>
          <a:xfrm>
            <a:off x="516636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Etkinlik takvimi, tesis rezervasyonu, yeni gelen aile programı</a:t>
            </a:r>
            <a:endParaRPr lang="en-US" sz="1300" dirty="0"/>
          </a:p>
        </p:txBody>
      </p:sp>
      <p:sp>
        <p:nvSpPr>
          <p:cNvPr id="34" name="Veri güvenliği paneli"/>
          <p:cNvSpPr/>
          <p:nvPr/>
        </p:nvSpPr>
        <p:spPr>
          <a:xfrm>
            <a:off x="8046720" y="1600200"/>
            <a:ext cx="3596335" cy="4343400"/>
          </a:xfrm>
          <a:prstGeom prst="roundRect">
            <a:avLst>
              <a:gd name="adj" fmla="val 2034"/>
            </a:avLst>
          </a:prstGeom>
          <a:solidFill>
            <a:schemeClr val="tx2"/>
          </a:solidFill>
          <a:ln/>
        </p:spPr>
      </p:sp>
      <p:sp>
        <p:nvSpPr>
          <p:cNvPr id="35" name="İkon zemini"/>
          <p:cNvSpPr/>
          <p:nvPr/>
        </p:nvSpPr>
        <p:spPr>
          <a:xfrm>
            <a:off x="8321040" y="1874520"/>
            <a:ext cx="640080" cy="640080"/>
          </a:xfrm>
          <a:prstGeom prst="ellipse">
            <a:avLst/>
          </a:prstGeom>
          <a:solidFill>
            <a:schemeClr val="accent4"/>
          </a:solidFill>
          <a:ln/>
        </p:spPr>
      </p:sp>
      <p:pic>
        <p:nvPicPr>
          <p:cNvPr id="36" name="İkon FaShieldHalved" descr="preencoded.png">    </p:cNvPr>
          <p:cNvPicPr>
            <a:picLocks noChangeAspect="1"/>
          </p:cNvPicPr>
          <p:nvPr/>
        </p:nvPicPr>
        <p:blipFill>
          <a:blip r:embed="rId7"/>
          <a:stretch>
            <a:fillRect/>
          </a:stretch>
        </p:blipFill>
        <p:spPr>
          <a:xfrm>
            <a:off x="8474659" y="2028139"/>
            <a:ext cx="332842" cy="332842"/>
          </a:xfrm>
          <a:prstGeom prst="rect">
            <a:avLst/>
          </a:prstGeom>
        </p:spPr>
      </p:pic>
      <p:sp>
        <p:nvSpPr>
          <p:cNvPr id="37" name="Text 28"/>
          <p:cNvSpPr txBox="1"/>
          <p:nvPr/>
        </p:nvSpPr>
        <p:spPr>
          <a:xfrm>
            <a:off x="9098280" y="1874520"/>
            <a:ext cx="2316175" cy="685800"/>
          </a:xfrm>
          <a:prstGeom prst="rect">
            <a:avLst/>
          </a:prstGeom>
          <a:noFill/>
          <a:ln/>
        </p:spPr>
        <p:txBody>
          <a:bodyPr wrap="square" lIns="0" tIns="0" rIns="0" bIns="0" rtlCol="0" anchor="t"/>
          <a:lstStyle/>
          <a:p>
            <a:pPr indent="0" marL="0">
              <a:buNone/>
            </a:pPr>
            <a:r>
              <a:rPr lang="en-US" sz="1800" b="1" dirty="0">
                <a:solidFill>
                  <a:schemeClr val="bg1"/>
                </a:solidFill>
              </a:rPr>
              <a:t>Veri güvenliği: temel tasarım ilkesi</a:t>
            </a:r>
            <a:endParaRPr lang="en-US" sz="1800" dirty="0"/>
          </a:p>
        </p:txBody>
      </p:sp>
      <p:sp>
        <p:nvSpPr>
          <p:cNvPr id="38" name="Text 29"/>
          <p:cNvSpPr txBox="1"/>
          <p:nvPr/>
        </p:nvSpPr>
        <p:spPr>
          <a:xfrm>
            <a:off x="8321040" y="2743200"/>
            <a:ext cx="3047695" cy="31089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Sakinlerin önemli bölümü savunma sanayi çalışanı olacağından konum, ulaşım ve kamera verileri hassastır.</a:t>
            </a:r>
            <a:endParaRPr lang="en-US" sz="1500" dirty="0"/>
          </a:p>
          <a:p>
            <a:pPr marL="342900" indent="-342900">
              <a:spcAft>
                <a:spcPts val="600"/>
              </a:spcAft>
              <a:buSzPct val="100000"/>
              <a:buChar char="•"/>
            </a:pPr>
            <a:r>
              <a:rPr lang="en-US" sz="1500" dirty="0">
                <a:solidFill>
                  <a:schemeClr val="bg1"/>
                </a:solidFill>
              </a:rPr>
              <a:t>Veriler yurt içinde ve yerli altyapıda tutulacaktır.</a:t>
            </a:r>
            <a:endParaRPr lang="en-US" sz="1500" dirty="0"/>
          </a:p>
          <a:p>
            <a:pPr marL="342900" indent="-342900">
              <a:spcAft>
                <a:spcPts val="600"/>
              </a:spcAft>
              <a:buSzPct val="100000"/>
              <a:buChar char="•"/>
            </a:pPr>
            <a:r>
              <a:rPr lang="en-US" sz="1500" dirty="0">
                <a:solidFill>
                  <a:schemeClr val="bg1"/>
                </a:solidFill>
              </a:rPr>
              <a:t>Yalnızca gerekli veri toplanacak; ulaşım planlaması anonim veriyle yapılacaktır.</a:t>
            </a:r>
            <a:endParaRPr lang="en-US" sz="1500" dirty="0"/>
          </a:p>
          <a:p>
            <a:pPr marL="342900" indent="-342900">
              <a:spcAft>
                <a:spcPts val="600"/>
              </a:spcAft>
              <a:buSzPct val="100000"/>
              <a:buChar char="•"/>
            </a:pPr>
            <a:r>
              <a:rPr lang="en-US" sz="1500" dirty="0">
                <a:solidFill>
                  <a:schemeClr val="bg1"/>
                </a:solidFill>
              </a:rPr>
              <a:t>KVKK'ya ek olarak bağımsız güvenlik denetimi uygulanacaktır.</a:t>
            </a:r>
            <a:endParaRPr lang="en-US" sz="1500" dirty="0"/>
          </a:p>
        </p:txBody>
      </p:sp>
      <p:sp>
        <p:nvSpPr>
          <p:cNvPr id="39" name="Text 3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Akıllı şehir sistemleri için yatırım tahmini 150 milyon TL (100–225); konut başına 40–90 bin TL varsayımı.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SEKTÖRE KATKI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sanayiine katkılar</a:t>
            </a:r>
            <a:endParaRPr lang="en-US" sz="3600" dirty="0"/>
          </a:p>
        </p:txBody>
      </p:sp>
      <p:sp>
        <p:nvSpPr>
          <p:cNvPr id="4" name="İkon zemini"/>
          <p:cNvSpPr/>
          <p:nvPr/>
        </p:nvSpPr>
        <p:spPr>
          <a:xfrm>
            <a:off x="548640" y="1691640"/>
            <a:ext cx="658368" cy="658368"/>
          </a:xfrm>
          <a:prstGeom prst="ellipse">
            <a:avLst/>
          </a:prstGeom>
          <a:solidFill>
            <a:schemeClr val="tx2"/>
          </a:solidFill>
          <a:ln/>
        </p:spPr>
      </p:sp>
      <p:pic>
        <p:nvPicPr>
          <p:cNvPr id="5" name="İkon FaClock" descr="preencoded.png">    </p:cNvPr>
          <p:cNvPicPr>
            <a:picLocks noChangeAspect="1"/>
          </p:cNvPicPr>
          <p:nvPr/>
        </p:nvPicPr>
        <p:blipFill>
          <a:blip r:embed="rId1"/>
          <a:stretch>
            <a:fillRect/>
          </a:stretch>
        </p:blipFill>
        <p:spPr>
          <a:xfrm>
            <a:off x="706648" y="1849648"/>
            <a:ext cx="342351" cy="342351"/>
          </a:xfrm>
          <a:prstGeom prst="rect">
            <a:avLst/>
          </a:prstGeom>
        </p:spPr>
      </p:pic>
      <p:sp>
        <p:nvSpPr>
          <p:cNvPr id="6" name="Text 3"/>
          <p:cNvSpPr txBox="1"/>
          <p:nvPr/>
        </p:nvSpPr>
        <p:spPr>
          <a:xfrm>
            <a:off x="13716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Ulaşım süresi</a:t>
            </a:r>
            <a:endParaRPr lang="en-US" sz="1800" dirty="0"/>
          </a:p>
        </p:txBody>
      </p:sp>
      <p:sp>
        <p:nvSpPr>
          <p:cNvPr id="7" name="Text 4"/>
          <p:cNvSpPr txBox="1"/>
          <p:nvPr/>
        </p:nvSpPr>
        <p:spPr>
          <a:xfrm>
            <a:off x="13716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Ekspres hat ve kademeli mesaiyle sabit ve kısa yolculuk</a:t>
            </a:r>
            <a:endParaRPr lang="en-US" sz="1500" dirty="0"/>
          </a:p>
        </p:txBody>
      </p:sp>
      <p:sp>
        <p:nvSpPr>
          <p:cNvPr id="8" name="İkon zemini"/>
          <p:cNvSpPr/>
          <p:nvPr/>
        </p:nvSpPr>
        <p:spPr>
          <a:xfrm>
            <a:off x="4434840" y="1691640"/>
            <a:ext cx="658368" cy="658368"/>
          </a:xfrm>
          <a:prstGeom prst="ellipse">
            <a:avLst/>
          </a:prstGeom>
          <a:solidFill>
            <a:schemeClr val="accent1"/>
          </a:solidFill>
          <a:ln/>
        </p:spPr>
      </p:sp>
      <p:pic>
        <p:nvPicPr>
          <p:cNvPr id="9" name="İkon FaChildren" descr="preencoded.png">    </p:cNvPr>
          <p:cNvPicPr>
            <a:picLocks noChangeAspect="1"/>
          </p:cNvPicPr>
          <p:nvPr/>
        </p:nvPicPr>
        <p:blipFill>
          <a:blip r:embed="rId2"/>
          <a:stretch>
            <a:fillRect/>
          </a:stretch>
        </p:blipFill>
        <p:spPr>
          <a:xfrm>
            <a:off x="4592848" y="1849648"/>
            <a:ext cx="342351" cy="342351"/>
          </a:xfrm>
          <a:prstGeom prst="rect">
            <a:avLst/>
          </a:prstGeom>
        </p:spPr>
      </p:pic>
      <p:sp>
        <p:nvSpPr>
          <p:cNvPr id="10" name="Text 6"/>
          <p:cNvSpPr txBox="1"/>
          <p:nvPr/>
        </p:nvSpPr>
        <p:spPr>
          <a:xfrm>
            <a:off x="52578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Aile yaşamı</a:t>
            </a:r>
            <a:endParaRPr lang="en-US" sz="1800" dirty="0"/>
          </a:p>
        </p:txBody>
      </p:sp>
      <p:sp>
        <p:nvSpPr>
          <p:cNvPr id="11" name="Text 7"/>
          <p:cNvSpPr txBox="1"/>
          <p:nvPr/>
        </p:nvSpPr>
        <p:spPr>
          <a:xfrm>
            <a:off x="52578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Okul, kreş ve sağlık hizmetleri yürüme mesafesinde</a:t>
            </a:r>
            <a:endParaRPr lang="en-US" sz="1500" dirty="0"/>
          </a:p>
        </p:txBody>
      </p:sp>
      <p:sp>
        <p:nvSpPr>
          <p:cNvPr id="12" name="İkon zemini"/>
          <p:cNvSpPr/>
          <p:nvPr/>
        </p:nvSpPr>
        <p:spPr>
          <a:xfrm>
            <a:off x="548640" y="3200400"/>
            <a:ext cx="658368" cy="658368"/>
          </a:xfrm>
          <a:prstGeom prst="ellipse">
            <a:avLst/>
          </a:prstGeom>
          <a:solidFill>
            <a:schemeClr val="tx2"/>
          </a:solidFill>
          <a:ln/>
        </p:spPr>
      </p:sp>
      <p:pic>
        <p:nvPicPr>
          <p:cNvPr id="13" name="İkon FaBriefcase" descr="preencoded.png">    </p:cNvPr>
          <p:cNvPicPr>
            <a:picLocks noChangeAspect="1"/>
          </p:cNvPicPr>
          <p:nvPr/>
        </p:nvPicPr>
        <p:blipFill>
          <a:blip r:embed="rId3"/>
          <a:stretch>
            <a:fillRect/>
          </a:stretch>
        </p:blipFill>
        <p:spPr>
          <a:xfrm>
            <a:off x="706648" y="3358408"/>
            <a:ext cx="342351" cy="342351"/>
          </a:xfrm>
          <a:prstGeom prst="rect">
            <a:avLst/>
          </a:prstGeom>
        </p:spPr>
      </p:pic>
      <p:sp>
        <p:nvSpPr>
          <p:cNvPr id="14" name="Text 9"/>
          <p:cNvSpPr txBox="1"/>
          <p:nvPr/>
        </p:nvSpPr>
        <p:spPr>
          <a:xfrm>
            <a:off x="13716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Eş istihdamı</a:t>
            </a:r>
            <a:endParaRPr lang="en-US" sz="1800" dirty="0"/>
          </a:p>
        </p:txBody>
      </p:sp>
      <p:sp>
        <p:nvSpPr>
          <p:cNvPr id="15" name="Text 10"/>
          <p:cNvSpPr txBox="1"/>
          <p:nvPr/>
        </p:nvSpPr>
        <p:spPr>
          <a:xfrm>
            <a:off x="13716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Kariyer danışmanlığı ve mahalle merkezinde ortak çalışma alanı</a:t>
            </a:r>
            <a:endParaRPr lang="en-US" sz="1500" dirty="0"/>
          </a:p>
        </p:txBody>
      </p:sp>
      <p:sp>
        <p:nvSpPr>
          <p:cNvPr id="16" name="İkon zemini"/>
          <p:cNvSpPr/>
          <p:nvPr/>
        </p:nvSpPr>
        <p:spPr>
          <a:xfrm>
            <a:off x="4434840" y="3200400"/>
            <a:ext cx="658368" cy="658368"/>
          </a:xfrm>
          <a:prstGeom prst="ellipse">
            <a:avLst/>
          </a:prstGeom>
          <a:solidFill>
            <a:schemeClr val="accent1"/>
          </a:solidFill>
          <a:ln/>
        </p:spPr>
      </p:sp>
      <p:pic>
        <p:nvPicPr>
          <p:cNvPr id="17" name="İkon FaPeopleGroup" descr="preencoded.png">    </p:cNvPr>
          <p:cNvPicPr>
            <a:picLocks noChangeAspect="1"/>
          </p:cNvPicPr>
          <p:nvPr/>
        </p:nvPicPr>
        <p:blipFill>
          <a:blip r:embed="rId4"/>
          <a:stretch>
            <a:fillRect/>
          </a:stretch>
        </p:blipFill>
        <p:spPr>
          <a:xfrm>
            <a:off x="4592848" y="3358408"/>
            <a:ext cx="342351" cy="342351"/>
          </a:xfrm>
          <a:prstGeom prst="rect">
            <a:avLst/>
          </a:prstGeom>
        </p:spPr>
      </p:pic>
      <p:sp>
        <p:nvSpPr>
          <p:cNvPr id="18" name="Text 12"/>
          <p:cNvSpPr txBox="1"/>
          <p:nvPr/>
        </p:nvSpPr>
        <p:spPr>
          <a:xfrm>
            <a:off x="52578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Sosyal yaşam</a:t>
            </a:r>
            <a:endParaRPr lang="en-US" sz="1800" dirty="0"/>
          </a:p>
        </p:txBody>
      </p:sp>
      <p:sp>
        <p:nvSpPr>
          <p:cNvPr id="19" name="Text 13"/>
          <p:cNvSpPr txBox="1"/>
          <p:nvPr/>
        </p:nvSpPr>
        <p:spPr>
          <a:xfrm>
            <a:off x="52578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Göl, kültür merkezi, kulüpler ve yeni gelen aile programı</a:t>
            </a:r>
            <a:endParaRPr lang="en-US" sz="1500" dirty="0"/>
          </a:p>
        </p:txBody>
      </p:sp>
      <p:sp>
        <p:nvSpPr>
          <p:cNvPr id="20" name="İkon zemini"/>
          <p:cNvSpPr/>
          <p:nvPr/>
        </p:nvSpPr>
        <p:spPr>
          <a:xfrm>
            <a:off x="548640" y="4709160"/>
            <a:ext cx="658368" cy="658368"/>
          </a:xfrm>
          <a:prstGeom prst="ellipse">
            <a:avLst/>
          </a:prstGeom>
          <a:solidFill>
            <a:schemeClr val="tx2"/>
          </a:solidFill>
          <a:ln/>
        </p:spPr>
      </p:sp>
      <p:pic>
        <p:nvPicPr>
          <p:cNvPr id="21" name="İkon FaHouse" descr="preencoded.png">    </p:cNvPr>
          <p:cNvPicPr>
            <a:picLocks noChangeAspect="1"/>
          </p:cNvPicPr>
          <p:nvPr/>
        </p:nvPicPr>
        <p:blipFill>
          <a:blip r:embed="rId5"/>
          <a:stretch>
            <a:fillRect/>
          </a:stretch>
        </p:blipFill>
        <p:spPr>
          <a:xfrm>
            <a:off x="706648" y="4867168"/>
            <a:ext cx="342351" cy="342351"/>
          </a:xfrm>
          <a:prstGeom prst="rect">
            <a:avLst/>
          </a:prstGeom>
        </p:spPr>
      </p:pic>
      <p:sp>
        <p:nvSpPr>
          <p:cNvPr id="22" name="Text 15"/>
          <p:cNvSpPr txBox="1"/>
          <p:nvPr/>
        </p:nvSpPr>
        <p:spPr>
          <a:xfrm>
            <a:off x="13716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Konut erişimi</a:t>
            </a:r>
            <a:endParaRPr lang="en-US" sz="1800" dirty="0"/>
          </a:p>
        </p:txBody>
      </p:sp>
      <p:sp>
        <p:nvSpPr>
          <p:cNvPr id="23" name="Text 16"/>
          <p:cNvSpPr txBox="1"/>
          <p:nvPr/>
        </p:nvSpPr>
        <p:spPr>
          <a:xfrm>
            <a:off x="13716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Herkese açık satış; savunma sanayi çalışanlarına öncelik</a:t>
            </a:r>
            <a:endParaRPr lang="en-US" sz="1500" dirty="0"/>
          </a:p>
        </p:txBody>
      </p:sp>
      <p:sp>
        <p:nvSpPr>
          <p:cNvPr id="24" name="İkon zemini"/>
          <p:cNvSpPr/>
          <p:nvPr/>
        </p:nvSpPr>
        <p:spPr>
          <a:xfrm>
            <a:off x="4434840" y="4709160"/>
            <a:ext cx="658368" cy="658368"/>
          </a:xfrm>
          <a:prstGeom prst="ellipse">
            <a:avLst/>
          </a:prstGeom>
          <a:solidFill>
            <a:schemeClr val="accent1"/>
          </a:solidFill>
          <a:ln/>
        </p:spPr>
      </p:sp>
      <p:pic>
        <p:nvPicPr>
          <p:cNvPr id="25" name="İkon FaLock" descr="preencoded.png">    </p:cNvPr>
          <p:cNvPicPr>
            <a:picLocks noChangeAspect="1"/>
          </p:cNvPicPr>
          <p:nvPr/>
        </p:nvPicPr>
        <p:blipFill>
          <a:blip r:embed="rId6"/>
          <a:stretch>
            <a:fillRect/>
          </a:stretch>
        </p:blipFill>
        <p:spPr>
          <a:xfrm>
            <a:off x="4592848" y="4867168"/>
            <a:ext cx="342351" cy="342351"/>
          </a:xfrm>
          <a:prstGeom prst="rect">
            <a:avLst/>
          </a:prstGeom>
        </p:spPr>
      </p:pic>
      <p:sp>
        <p:nvSpPr>
          <p:cNvPr id="26" name="Text 18"/>
          <p:cNvSpPr txBox="1"/>
          <p:nvPr/>
        </p:nvSpPr>
        <p:spPr>
          <a:xfrm>
            <a:off x="52578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Veri güvenliği</a:t>
            </a:r>
            <a:endParaRPr lang="en-US" sz="1800" dirty="0"/>
          </a:p>
        </p:txBody>
      </p:sp>
      <p:sp>
        <p:nvSpPr>
          <p:cNvPr id="27" name="Text 19"/>
          <p:cNvSpPr txBox="1"/>
          <p:nvPr/>
        </p:nvSpPr>
        <p:spPr>
          <a:xfrm>
            <a:off x="52578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Çalışan verilerinin yerli altyapıda korunması</a:t>
            </a:r>
            <a:endParaRPr lang="en-US" sz="1500" dirty="0"/>
          </a:p>
        </p:txBody>
      </p:sp>
      <p:sp>
        <p:nvSpPr>
          <p:cNvPr id="28" name="Alıntı paneli"/>
          <p:cNvSpPr/>
          <p:nvPr/>
        </p:nvSpPr>
        <p:spPr>
          <a:xfrm>
            <a:off x="8321040" y="1600200"/>
            <a:ext cx="3322015" cy="4343400"/>
          </a:xfrm>
          <a:prstGeom prst="roundRect">
            <a:avLst>
              <a:gd name="adj" fmla="val 2202"/>
            </a:avLst>
          </a:prstGeom>
          <a:solidFill>
            <a:schemeClr val="tx2"/>
          </a:solidFill>
          <a:ln/>
        </p:spPr>
      </p:sp>
      <p:sp>
        <p:nvSpPr>
          <p:cNvPr id="29" name="Text 21"/>
          <p:cNvSpPr txBox="1"/>
          <p:nvPr/>
        </p:nvSpPr>
        <p:spPr>
          <a:xfrm>
            <a:off x="8595360" y="1691640"/>
            <a:ext cx="914400" cy="82296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a:t>
            </a:r>
            <a:endParaRPr lang="en-US" sz="6000" dirty="0"/>
          </a:p>
        </p:txBody>
      </p:sp>
      <p:sp>
        <p:nvSpPr>
          <p:cNvPr id="30" name="Text 22"/>
          <p:cNvSpPr txBox="1"/>
          <p:nvPr/>
        </p:nvSpPr>
        <p:spPr>
          <a:xfrm>
            <a:off x="8595360" y="2468880"/>
            <a:ext cx="2773375" cy="2697480"/>
          </a:xfrm>
          <a:prstGeom prst="rect">
            <a:avLst/>
          </a:prstGeom>
          <a:noFill/>
          <a:ln/>
        </p:spPr>
        <p:txBody>
          <a:bodyPr wrap="square" lIns="0" tIns="0" rIns="0" bIns="0" rtlCol="0" anchor="t"/>
          <a:lstStyle/>
          <a:p>
            <a:pPr indent="0" marL="0">
              <a:buNone/>
            </a:pPr>
            <a:r>
              <a:rPr lang="en-US" sz="1800" i="1" dirty="0">
                <a:solidFill>
                  <a:schemeClr val="bg1"/>
                </a:solidFill>
                <a:latin typeface="Cambria" pitchFamily="34" charset="0"/>
                <a:ea typeface="Cambria" pitchFamily="34" charset="-122"/>
                <a:cs typeface="Cambria" pitchFamily="34" charset="-120"/>
              </a:rPr>
              <a:t>Nitelikli personel kaybı resmi bir risk olarak tanımlanmıştır. Aileleriyle yaşanabilir bir yaşam alanı, istihdam hedefinin altyapısını oluşturmaktadır.</a:t>
            </a:r>
            <a:endParaRPr lang="en-US" sz="1800" dirty="0"/>
          </a:p>
        </p:txBody>
      </p:sp>
      <p:sp>
        <p:nvSpPr>
          <p:cNvPr id="31" name="Text 23"/>
          <p:cNvSpPr txBox="1"/>
          <p:nvPr/>
        </p:nvSpPr>
        <p:spPr>
          <a:xfrm>
            <a:off x="8595360" y="5212080"/>
            <a:ext cx="2773375" cy="731520"/>
          </a:xfrm>
          <a:prstGeom prst="rect">
            <a:avLst/>
          </a:prstGeom>
          <a:noFill/>
          <a:ln/>
        </p:spPr>
        <p:txBody>
          <a:bodyPr wrap="square" lIns="0" tIns="0" rIns="0" bIns="0" rtlCol="0" anchor="t"/>
          <a:lstStyle/>
          <a:p>
            <a:pPr indent="0" marL="0">
              <a:buNone/>
            </a:pPr>
            <a:r>
              <a:rPr lang="en-US" sz="1200" dirty="0">
                <a:solidFill>
                  <a:schemeClr val="bg2"/>
                </a:solidFill>
              </a:rPr>
              <a:t>Dayanak: SSB Stratejik Planı 2024–2028, s. 46; 12. Kalkınma Planı, Tablo 22.</a:t>
            </a:r>
            <a:endParaRPr lang="en-US" sz="1200" dirty="0"/>
          </a:p>
        </p:txBody>
      </p:sp>
      <p:sp>
        <p:nvSpPr>
          <p:cNvPr id="32" name="Text 2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Uygulama modeli (yapım ve satış yöntemi) bu çalışmanın kapsamı dışındadır.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YATIRIM TUTARI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Yatırım tutarı: yaklaşık 12,5 milyar TL</a:t>
            </a:r>
            <a:endParaRPr lang="en-US" sz="3600" dirty="0"/>
          </a:p>
        </p:txBody>
      </p:sp>
      <p:graphicFrame>
        <p:nvGraphicFramePr>
          <p:cNvPr id="4" name="Chart 0" descr=""/>
          <p:cNvGraphicFramePr/>
          <p:nvPr/>
        </p:nvGraphicFramePr>
        <p:xfrm>
          <a:off x="548640" y="160020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Gösterim"/>
          <p:cNvSpPr/>
          <p:nvPr/>
        </p:nvSpPr>
        <p:spPr>
          <a:xfrm>
            <a:off x="822960" y="5687568"/>
            <a:ext cx="201168" cy="201168"/>
          </a:xfrm>
          <a:prstGeom prst="rect">
            <a:avLst/>
          </a:prstGeom>
          <a:solidFill>
            <a:schemeClr val="accent1"/>
          </a:solidFill>
          <a:ln/>
        </p:spPr>
      </p:sp>
      <p:sp>
        <p:nvSpPr>
          <p:cNvPr id="6" name="Text 3"/>
          <p:cNvSpPr txBox="1"/>
          <p:nvPr/>
        </p:nvSpPr>
        <p:spPr>
          <a:xfrm>
            <a:off x="10972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Kamu ve ortak kullanım</a:t>
            </a:r>
            <a:endParaRPr lang="en-US" sz="1200" dirty="0"/>
          </a:p>
        </p:txBody>
      </p:sp>
      <p:sp>
        <p:nvSpPr>
          <p:cNvPr id="7" name="Gösterim"/>
          <p:cNvSpPr/>
          <p:nvPr/>
        </p:nvSpPr>
        <p:spPr>
          <a:xfrm>
            <a:off x="3063240" y="5687568"/>
            <a:ext cx="201168" cy="201168"/>
          </a:xfrm>
          <a:prstGeom prst="rect">
            <a:avLst/>
          </a:prstGeom>
          <a:solidFill>
            <a:schemeClr val="tx2"/>
          </a:solidFill>
          <a:ln/>
        </p:spPr>
      </p:sp>
      <p:sp>
        <p:nvSpPr>
          <p:cNvPr id="8" name="Text 5"/>
          <p:cNvSpPr txBox="1"/>
          <p:nvPr/>
        </p:nvSpPr>
        <p:spPr>
          <a:xfrm>
            <a:off x="333756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Satış ve işletme geliriyle karşılanan</a:t>
            </a:r>
            <a:endParaRPr lang="en-US" sz="1200" dirty="0"/>
          </a:p>
        </p:txBody>
      </p:sp>
      <p:sp>
        <p:nvSpPr>
          <p:cNvPr id="9" name="Gösterim"/>
          <p:cNvSpPr/>
          <p:nvPr/>
        </p:nvSpPr>
        <p:spPr>
          <a:xfrm>
            <a:off x="6080760" y="5687568"/>
            <a:ext cx="201168" cy="201168"/>
          </a:xfrm>
          <a:prstGeom prst="rect">
            <a:avLst/>
          </a:prstGeom>
          <a:solidFill>
            <a:schemeClr val="accent5"/>
          </a:solidFill>
          <a:ln/>
        </p:spPr>
      </p:sp>
      <p:sp>
        <p:nvSpPr>
          <p:cNvPr id="10" name="Text 7"/>
          <p:cNvSpPr txBox="1"/>
          <p:nvPr/>
        </p:nvSpPr>
        <p:spPr>
          <a:xfrm>
            <a:off x="63550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Ortak gider</a:t>
            </a:r>
            <a:endParaRPr lang="en-US" sz="1200" dirty="0"/>
          </a:p>
        </p:txBody>
      </p:sp>
      <p:sp>
        <p:nvSpPr>
          <p:cNvPr id="11" name="Gösterge"/>
          <p:cNvSpPr/>
          <p:nvPr/>
        </p:nvSpPr>
        <p:spPr>
          <a:xfrm>
            <a:off x="7818120" y="160020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8001000" y="172821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12,54 mlr TL</a:t>
            </a:r>
            <a:endParaRPr lang="en-US" sz="3000" dirty="0"/>
          </a:p>
        </p:txBody>
      </p:sp>
      <p:sp>
        <p:nvSpPr>
          <p:cNvPr id="13" name="Text 10"/>
          <p:cNvSpPr txBox="1"/>
          <p:nvPr/>
        </p:nvSpPr>
        <p:spPr>
          <a:xfrm>
            <a:off x="8001000" y="2409444"/>
            <a:ext cx="3459175" cy="425196"/>
          </a:xfrm>
          <a:prstGeom prst="rect">
            <a:avLst/>
          </a:prstGeom>
          <a:noFill/>
          <a:ln/>
        </p:spPr>
        <p:txBody>
          <a:bodyPr wrap="square" lIns="0" tIns="0" rIns="0" bIns="0" rtlCol="0" anchor="t"/>
          <a:lstStyle/>
          <a:p>
            <a:pPr indent="0" marL="0">
              <a:buNone/>
            </a:pPr>
            <a:r>
              <a:rPr lang="en-US" sz="1300" dirty="0">
                <a:solidFill>
                  <a:schemeClr val="tx1"/>
                </a:solidFill>
              </a:rPr>
              <a:t>toplam yatırım · aralık 9,93–15,94</a:t>
            </a:r>
            <a:endParaRPr lang="en-US" sz="1300" dirty="0"/>
          </a:p>
        </p:txBody>
      </p:sp>
      <p:sp>
        <p:nvSpPr>
          <p:cNvPr id="14" name="Gösterge"/>
          <p:cNvSpPr/>
          <p:nvPr/>
        </p:nvSpPr>
        <p:spPr>
          <a:xfrm>
            <a:off x="7818120" y="310896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8001000" y="3236976"/>
            <a:ext cx="3459175" cy="66294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3,29 mlr TL</a:t>
            </a:r>
            <a:endParaRPr lang="en-US" sz="3000" dirty="0"/>
          </a:p>
        </p:txBody>
      </p:sp>
      <p:sp>
        <p:nvSpPr>
          <p:cNvPr id="16" name="Text 13"/>
          <p:cNvSpPr txBox="1"/>
          <p:nvPr/>
        </p:nvSpPr>
        <p:spPr>
          <a:xfrm>
            <a:off x="8001000" y="3918204"/>
            <a:ext cx="3459175" cy="425196"/>
          </a:xfrm>
          <a:prstGeom prst="rect">
            <a:avLst/>
          </a:prstGeom>
          <a:noFill/>
          <a:ln/>
        </p:spPr>
        <p:txBody>
          <a:bodyPr wrap="square" lIns="0" tIns="0" rIns="0" bIns="0" rtlCol="0" anchor="t"/>
          <a:lstStyle/>
          <a:p>
            <a:pPr indent="0" marL="0">
              <a:buNone/>
            </a:pPr>
            <a:r>
              <a:rPr lang="en-US" sz="1300" dirty="0">
                <a:solidFill>
                  <a:schemeClr val="tx1"/>
                </a:solidFill>
              </a:rPr>
              <a:t>kamu ve ortak kullanım payı · %26 · aralık 2,54–4,11</a:t>
            </a:r>
            <a:endParaRPr lang="en-US" sz="1300" dirty="0"/>
          </a:p>
        </p:txBody>
      </p:sp>
      <p:sp>
        <p:nvSpPr>
          <p:cNvPr id="17" name="Gösterge"/>
          <p:cNvSpPr/>
          <p:nvPr/>
        </p:nvSpPr>
        <p:spPr>
          <a:xfrm>
            <a:off x="7818120" y="461772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8" name="Text 15"/>
          <p:cNvSpPr txBox="1"/>
          <p:nvPr/>
        </p:nvSpPr>
        <p:spPr>
          <a:xfrm>
            <a:off x="8001000" y="474573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 mn TL</a:t>
            </a:r>
            <a:endParaRPr lang="en-US" sz="3000" dirty="0"/>
          </a:p>
        </p:txBody>
      </p:sp>
      <p:sp>
        <p:nvSpPr>
          <p:cNvPr id="19" name="Text 16"/>
          <p:cNvSpPr txBox="1"/>
          <p:nvPr/>
        </p:nvSpPr>
        <p:spPr>
          <a:xfrm>
            <a:off x="8001000" y="5426964"/>
            <a:ext cx="3459175" cy="425196"/>
          </a:xfrm>
          <a:prstGeom prst="rect">
            <a:avLst/>
          </a:prstGeom>
          <a:noFill/>
          <a:ln/>
        </p:spPr>
        <p:txBody>
          <a:bodyPr wrap="square" lIns="0" tIns="0" rIns="0" bIns="0" rtlCol="0" anchor="t"/>
          <a:lstStyle/>
          <a:p>
            <a:pPr indent="0" marL="0">
              <a:buNone/>
            </a:pPr>
            <a:r>
              <a:rPr lang="en-US" sz="1300" dirty="0">
                <a:solidFill>
                  <a:schemeClr val="tx1"/>
                </a:solidFill>
              </a:rPr>
              <a:t>konut başına toplam yatırım</a:t>
            </a:r>
            <a:endParaRPr lang="en-US" sz="1300" dirty="0"/>
          </a:p>
        </p:txBody>
      </p:sp>
      <p:sp>
        <p:nvSpPr>
          <p:cNvPr id="20" name="Text 17"/>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TL, KDV ve arazi hariç; arazi Hazine'nin. Başlıca belirsizlikler: yapı sınıfı, altyapı oranı, zemin ve yıllık %25–30 maliyet artışı.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KAMU FAYDASI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ölçülebilen değerler</a:t>
            </a:r>
            <a:endParaRPr lang="en-US" sz="3600" dirty="0"/>
          </a:p>
        </p:txBody>
      </p:sp>
      <p:graphicFrame>
        <p:nvGraphicFramePr>
          <p:cNvPr id="4" name="Chart 0" descr=""/>
          <p:cNvGraphicFramePr/>
          <p:nvPr/>
        </p:nvGraphicFramePr>
        <p:xfrm>
          <a:off x="548640" y="1600200"/>
          <a:ext cx="566928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59375" cy="914400"/>
        </p:xfrm>
        <a:graphic>
          <a:graphicData uri="http://schemas.openxmlformats.org/drawingml/2006/table">
            <a:tbl>
              <a:tblPr/>
              <a:tblGrid>
                <a:gridCol w="2130552"/>
                <a:gridCol w="914400"/>
                <a:gridCol w="914400"/>
                <a:gridCol w="914400"/>
              </a:tblGrid>
              <a:tr h="384048">
                <a:tc>
                  <a:txBody>
                    <a:bodyPr/>
                    <a:lstStyle/>
                    <a:p>
                      <a:pPr algn="l" indent="0" marL="0">
                        <a:buNone/>
                      </a:pPr>
                      <a:r>
                        <a:rPr lang="en-US" sz="1400" b="1" dirty="0">
                          <a:solidFill>
                            <a:srgbClr val="FFFFFF"/>
                          </a:solidFill>
                        </a:rPr>
                        <a:t>Yıllık fayda (milyon TL)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Düşük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Baz</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Yüksek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Kazanılan zaman</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26</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45</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112</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Yakıt tasarrufu</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Önlenen CO₂</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Toplam</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40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127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r>
            </a:tbl>
          </a:graphicData>
        </a:graphic>
      </p:graphicFrame>
      <p:sp>
        <p:nvSpPr>
          <p:cNvPr id="6" name="Kart"/>
          <p:cNvSpPr/>
          <p:nvPr/>
        </p:nvSpPr>
        <p:spPr>
          <a:xfrm>
            <a:off x="6583680" y="3749040"/>
            <a:ext cx="5059375" cy="2240280"/>
          </a:xfrm>
          <a:prstGeom prst="roundRect">
            <a:avLst>
              <a:gd name="adj" fmla="val 3265"/>
            </a:avLst>
          </a:prstGeom>
          <a:solidFill>
            <a:schemeClr val="bg1"/>
          </a:solidFill>
          <a:ln/>
          <a:effectLst>
            <a:outerShdw sx="100000" sy="100000" kx="0" ky="0" algn="bl" rotWithShape="0" blurRad="76200" dist="19050" dir="5400000">
              <a:srgbClr val="000000">
                <a:alpha val="12000"/>
              </a:srgbClr>
            </a:outerShdw>
          </a:effectLst>
        </p:spPr>
      </p:sp>
      <p:sp>
        <p:nvSpPr>
          <p:cNvPr id="7" name="Text 3"/>
          <p:cNvSpPr txBox="1"/>
          <p:nvPr/>
        </p:nvSpPr>
        <p:spPr>
          <a:xfrm>
            <a:off x="6812280" y="3886200"/>
            <a:ext cx="4602175" cy="20116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Stratejik gerekçe</a:t>
            </a:r>
            <a:endParaRPr lang="en-US" sz="1400" dirty="0"/>
          </a:p>
          <a:p>
            <a:pPr indent="0" marL="0">
              <a:spcAft>
                <a:spcPts val="600"/>
              </a:spcAft>
              <a:buNone/>
            </a:pPr>
            <a:r>
              <a:rPr lang="en-US" sz="1400" dirty="0">
                <a:solidFill>
                  <a:schemeClr val="tx1"/>
                </a:solidFill>
              </a:rPr>
              <a:t>Ölçülen ulaşım faydası kamu payının %19–59'u düzeyindedir. Ölçülmeyen faydalar: koridordaki diğer kullanıcıların zamanı, kaza ve bakım maliyetleri, hizmetlere erişim, belediye gelirleri ve personel kaybının işverene maliyeti.</a:t>
            </a:r>
            <a:endParaRPr lang="en-US" sz="1400" dirty="0"/>
          </a:p>
          <a:p>
            <a:pPr indent="0" marL="0">
              <a:spcAft>
                <a:spcPts val="600"/>
              </a:spcAft>
              <a:buNone/>
            </a:pPr>
            <a:r>
              <a:rPr lang="en-US" sz="1400" b="1" dirty="0">
                <a:solidFill>
                  <a:schemeClr val="tx1"/>
                </a:solidFill>
              </a:rPr>
              <a:t>İnşaat döneminde yılda ~617 kişilik şantiye istihdamı öngörülmektedir (varsayım).</a:t>
            </a:r>
            <a:endParaRPr lang="en-US" sz="1400" dirty="0"/>
          </a:p>
        </p:txBody>
      </p:sp>
      <p:sp>
        <p:nvSpPr>
          <p:cNvPr id="8" name="Text 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220 iş günü; günde 20–50 dk kazanç; zaman değeri 200 TL/saat (yüksekte 350); otomobil payı %40'tan %25'e; araç başına 1,25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ETAPLAMA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Etaplama ve karar kapıları</a:t>
            </a:r>
            <a:endParaRPr lang="en-US" sz="3600" dirty="0"/>
          </a:p>
        </p:txBody>
      </p:sp>
      <p:sp>
        <p:nvSpPr>
          <p:cNvPr id="4" name="Karar kapısı"/>
          <p:cNvSpPr/>
          <p:nvPr/>
        </p:nvSpPr>
        <p:spPr>
          <a:xfrm>
            <a:off x="548640" y="1645920"/>
            <a:ext cx="457200" cy="457200"/>
          </a:xfrm>
          <a:prstGeom prst="diamond">
            <a:avLst/>
          </a:prstGeom>
          <a:solidFill>
            <a:schemeClr val="accent1"/>
          </a:solidFill>
          <a:ln/>
        </p:spPr>
      </p:sp>
      <p:sp>
        <p:nvSpPr>
          <p:cNvPr id="5" name="Text 3"/>
          <p:cNvSpPr txBox="1"/>
          <p:nvPr/>
        </p:nvSpPr>
        <p:spPr>
          <a:xfrm>
            <a:off x="1115568"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1</a:t>
            </a:r>
            <a:endParaRPr lang="en-US" sz="1400" dirty="0"/>
          </a:p>
          <a:p>
            <a:pPr indent="0" marL="0">
              <a:buNone/>
            </a:pPr>
            <a:r>
              <a:rPr lang="en-US" sz="1400" dirty="0">
                <a:solidFill>
                  <a:schemeClr val="tx1"/>
                </a:solidFill>
              </a:rPr>
              <a:t>Arazinin bu amaçla değerlendirilmesi</a:t>
            </a:r>
            <a:endParaRPr lang="en-US" sz="1400" dirty="0"/>
          </a:p>
        </p:txBody>
      </p:sp>
      <p:sp>
        <p:nvSpPr>
          <p:cNvPr id="6" name="Kart"/>
          <p:cNvSpPr/>
          <p:nvPr/>
        </p:nvSpPr>
        <p:spPr>
          <a:xfrm>
            <a:off x="548640"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7" name="Text 5"/>
          <p:cNvSpPr txBox="1"/>
          <p:nvPr/>
        </p:nvSpPr>
        <p:spPr>
          <a:xfrm>
            <a:off x="749808"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Hazırlık</a:t>
            </a:r>
            <a:endParaRPr lang="en-US" sz="2000" dirty="0"/>
          </a:p>
        </p:txBody>
      </p:sp>
      <p:sp>
        <p:nvSpPr>
          <p:cNvPr id="8" name="Text 6"/>
          <p:cNvSpPr txBox="1"/>
          <p:nvPr/>
        </p:nvSpPr>
        <p:spPr>
          <a:xfrm>
            <a:off x="749808"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süre teyit edilecek</a:t>
            </a:r>
            <a:endParaRPr lang="en-US" sz="1300" dirty="0"/>
          </a:p>
        </p:txBody>
      </p:sp>
      <p:sp>
        <p:nvSpPr>
          <p:cNvPr id="9" name="Text 7"/>
          <p:cNvSpPr txBox="1"/>
          <p:nvPr/>
        </p:nvSpPr>
        <p:spPr>
          <a:xfrm>
            <a:off x="749808"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Parsel, yamaç statüsü, zemin ve imar teyitleri</a:t>
            </a:r>
            <a:endParaRPr lang="en-US" sz="1400" dirty="0"/>
          </a:p>
          <a:p>
            <a:pPr marL="342900" indent="-342900">
              <a:spcAft>
                <a:spcPts val="600"/>
              </a:spcAft>
              <a:buSzPct val="100000"/>
              <a:buChar char="•"/>
            </a:pPr>
            <a:r>
              <a:rPr lang="en-US" sz="1400" dirty="0">
                <a:solidFill>
                  <a:schemeClr val="tx1"/>
                </a:solidFill>
              </a:rPr>
              <a:t>Sanayi çalışanlarına ön talep anketi</a:t>
            </a:r>
            <a:endParaRPr lang="en-US" sz="1400" dirty="0"/>
          </a:p>
          <a:p>
            <a:pPr marL="342900" indent="-342900">
              <a:spcAft>
                <a:spcPts val="600"/>
              </a:spcAft>
              <a:buSzPct val="100000"/>
              <a:buChar char="•"/>
            </a:pPr>
            <a:r>
              <a:rPr lang="en-US" sz="1400" dirty="0">
                <a:solidFill>
                  <a:schemeClr val="tx1"/>
                </a:solidFill>
              </a:rPr>
              <a:t>Master plan ve projeler</a:t>
            </a:r>
            <a:endParaRPr lang="en-US" sz="1400" dirty="0"/>
          </a:p>
        </p:txBody>
      </p:sp>
      <p:sp>
        <p:nvSpPr>
          <p:cNvPr id="10" name="Karar kapısı"/>
          <p:cNvSpPr/>
          <p:nvPr/>
        </p:nvSpPr>
        <p:spPr>
          <a:xfrm>
            <a:off x="3379394" y="1645920"/>
            <a:ext cx="457200" cy="457200"/>
          </a:xfrm>
          <a:prstGeom prst="diamond">
            <a:avLst/>
          </a:prstGeom>
          <a:solidFill>
            <a:schemeClr val="accent1"/>
          </a:solidFill>
          <a:ln/>
        </p:spPr>
      </p:sp>
      <p:sp>
        <p:nvSpPr>
          <p:cNvPr id="11" name="Text 9"/>
          <p:cNvSpPr txBox="1"/>
          <p:nvPr/>
        </p:nvSpPr>
        <p:spPr>
          <a:xfrm>
            <a:off x="3946322"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2</a:t>
            </a:r>
            <a:endParaRPr lang="en-US" sz="1400" dirty="0"/>
          </a:p>
          <a:p>
            <a:pPr indent="0" marL="0">
              <a:buNone/>
            </a:pPr>
            <a:r>
              <a:rPr lang="en-US" sz="1400" dirty="0">
                <a:solidFill>
                  <a:schemeClr val="tx1"/>
                </a:solidFill>
              </a:rPr>
              <a:t>Plan onayı ve talep sonucu</a:t>
            </a:r>
            <a:endParaRPr lang="en-US" sz="1400" dirty="0"/>
          </a:p>
        </p:txBody>
      </p:sp>
      <p:sp>
        <p:nvSpPr>
          <p:cNvPr id="12" name="Kart"/>
          <p:cNvSpPr/>
          <p:nvPr/>
        </p:nvSpPr>
        <p:spPr>
          <a:xfrm>
            <a:off x="3379394" y="2514600"/>
            <a:ext cx="2602154" cy="2788920"/>
          </a:xfrm>
          <a:prstGeom prst="roundRect">
            <a:avLst>
              <a:gd name="adj" fmla="val 2811"/>
            </a:avLst>
          </a:prstGeom>
          <a:solidFill>
            <a:schemeClr val="tx2"/>
          </a:solidFill>
          <a:ln/>
          <a:effectLst>
            <a:outerShdw sx="100000" sy="100000" kx="0" ky="0" algn="bl" rotWithShape="0" blurRad="76200" dist="19050" dir="5400000">
              <a:srgbClr val="000000">
                <a:alpha val="12000"/>
              </a:srgbClr>
            </a:outerShdw>
          </a:effectLst>
        </p:spPr>
      </p:sp>
      <p:sp>
        <p:nvSpPr>
          <p:cNvPr id="13" name="Text 11"/>
          <p:cNvSpPr txBox="1"/>
          <p:nvPr/>
        </p:nvSpPr>
        <p:spPr>
          <a:xfrm>
            <a:off x="3580562" y="2679192"/>
            <a:ext cx="2199818"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Aşama 0</a:t>
            </a:r>
            <a:endParaRPr lang="en-US" sz="2000" dirty="0"/>
          </a:p>
        </p:txBody>
      </p:sp>
      <p:sp>
        <p:nvSpPr>
          <p:cNvPr id="14" name="Text 12"/>
          <p:cNvSpPr txBox="1"/>
          <p:nvPr/>
        </p:nvSpPr>
        <p:spPr>
          <a:xfrm>
            <a:off x="3580562" y="3081528"/>
            <a:ext cx="2199818" cy="320040"/>
          </a:xfrm>
          <a:prstGeom prst="rect">
            <a:avLst/>
          </a:prstGeom>
          <a:noFill/>
          <a:ln/>
        </p:spPr>
        <p:txBody>
          <a:bodyPr wrap="square" lIns="0" tIns="0" rIns="0" bIns="0" rtlCol="0" anchor="t"/>
          <a:lstStyle/>
          <a:p>
            <a:pPr indent="0" marL="0">
              <a:buNone/>
            </a:pPr>
            <a:r>
              <a:rPr lang="en-US" sz="1300" b="1" dirty="0">
                <a:solidFill>
                  <a:schemeClr val="accent4"/>
                </a:solidFill>
              </a:rPr>
              <a:t>ilk konut teslimiyle aynı gün</a:t>
            </a:r>
            <a:endParaRPr lang="en-US" sz="1300" dirty="0"/>
          </a:p>
        </p:txBody>
      </p:sp>
      <p:sp>
        <p:nvSpPr>
          <p:cNvPr id="15" name="Text 13"/>
          <p:cNvSpPr txBox="1"/>
          <p:nvPr/>
        </p:nvSpPr>
        <p:spPr>
          <a:xfrm>
            <a:off x="3580562"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Ekspres, ring hat, ulaşım uygulaması</a:t>
            </a:r>
            <a:endParaRPr lang="en-US" sz="1400" dirty="0"/>
          </a:p>
          <a:p>
            <a:pPr marL="342900" indent="-342900">
              <a:spcAft>
                <a:spcPts val="600"/>
              </a:spcAft>
              <a:buSzPct val="100000"/>
              <a:buChar char="•"/>
            </a:pPr>
            <a:r>
              <a:rPr lang="en-US" sz="1400" dirty="0">
                <a:solidFill>
                  <a:schemeClr val="bg1"/>
                </a:solidFill>
              </a:rPr>
              <a:t>ASM ve 112; modüler kreş ve sınıflar</a:t>
            </a:r>
            <a:endParaRPr lang="en-US" sz="1400" dirty="0"/>
          </a:p>
          <a:p>
            <a:pPr marL="342900" indent="-342900">
              <a:spcAft>
                <a:spcPts val="600"/>
              </a:spcAft>
              <a:buSzPct val="100000"/>
              <a:buChar char="•"/>
            </a:pPr>
            <a:r>
              <a:rPr lang="en-US" sz="1400" dirty="0">
                <a:solidFill>
                  <a:schemeClr val="bg1"/>
                </a:solidFill>
              </a:rPr>
              <a:t>Meydan, pazar, gölün ilk etabı; fiber</a:t>
            </a:r>
            <a:endParaRPr lang="en-US" sz="1400" dirty="0"/>
          </a:p>
        </p:txBody>
      </p:sp>
      <p:sp>
        <p:nvSpPr>
          <p:cNvPr id="16" name="Karar kapısı"/>
          <p:cNvSpPr/>
          <p:nvPr/>
        </p:nvSpPr>
        <p:spPr>
          <a:xfrm>
            <a:off x="6210148" y="1645920"/>
            <a:ext cx="457200" cy="457200"/>
          </a:xfrm>
          <a:prstGeom prst="diamond">
            <a:avLst/>
          </a:prstGeom>
          <a:solidFill>
            <a:schemeClr val="accent1"/>
          </a:solidFill>
          <a:ln/>
        </p:spPr>
      </p:sp>
      <p:sp>
        <p:nvSpPr>
          <p:cNvPr id="17" name="Text 15"/>
          <p:cNvSpPr txBox="1"/>
          <p:nvPr/>
        </p:nvSpPr>
        <p:spPr>
          <a:xfrm>
            <a:off x="6777076"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3</a:t>
            </a:r>
            <a:endParaRPr lang="en-US" sz="1400" dirty="0"/>
          </a:p>
          <a:p>
            <a:pPr indent="0" marL="0">
              <a:buNone/>
            </a:pPr>
            <a:r>
              <a:rPr lang="en-US" sz="1400" dirty="0">
                <a:solidFill>
                  <a:schemeClr val="tx1"/>
                </a:solidFill>
              </a:rPr>
              <a:t>Yolcu talebi ve okul kaydı</a:t>
            </a:r>
            <a:endParaRPr lang="en-US" sz="1400" dirty="0"/>
          </a:p>
        </p:txBody>
      </p:sp>
      <p:sp>
        <p:nvSpPr>
          <p:cNvPr id="18" name="Kart"/>
          <p:cNvSpPr/>
          <p:nvPr/>
        </p:nvSpPr>
        <p:spPr>
          <a:xfrm>
            <a:off x="6210148"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19" name="Text 17"/>
          <p:cNvSpPr txBox="1"/>
          <p:nvPr/>
        </p:nvSpPr>
        <p:spPr>
          <a:xfrm>
            <a:off x="6411316"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1</a:t>
            </a:r>
            <a:endParaRPr lang="en-US" sz="2000" dirty="0"/>
          </a:p>
        </p:txBody>
      </p:sp>
      <p:sp>
        <p:nvSpPr>
          <p:cNvPr id="20" name="Text 18"/>
          <p:cNvSpPr txBox="1"/>
          <p:nvPr/>
        </p:nvSpPr>
        <p:spPr>
          <a:xfrm>
            <a:off x="6411316"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3–6 yıl</a:t>
            </a:r>
            <a:endParaRPr lang="en-US" sz="1300" dirty="0"/>
          </a:p>
        </p:txBody>
      </p:sp>
      <p:sp>
        <p:nvSpPr>
          <p:cNvPr id="21" name="Text 19"/>
          <p:cNvSpPr txBox="1"/>
          <p:nvPr/>
        </p:nvSpPr>
        <p:spPr>
          <a:xfrm>
            <a:off x="6411316"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Otobüs öncelikli koridor (BRT)</a:t>
            </a:r>
            <a:endParaRPr lang="en-US" sz="1400" dirty="0"/>
          </a:p>
          <a:p>
            <a:pPr marL="342900" indent="-342900">
              <a:spcAft>
                <a:spcPts val="600"/>
              </a:spcAft>
              <a:buSzPct val="100000"/>
              <a:buChar char="•"/>
            </a:pPr>
            <a:r>
              <a:rPr lang="en-US" sz="1400" dirty="0">
                <a:solidFill>
                  <a:schemeClr val="tx1"/>
                </a:solidFill>
              </a:rPr>
              <a:t>Okul kampüsleri tamamlanır</a:t>
            </a:r>
            <a:endParaRPr lang="en-US" sz="1400" dirty="0"/>
          </a:p>
          <a:p>
            <a:pPr marL="342900" indent="-342900">
              <a:spcAft>
                <a:spcPts val="600"/>
              </a:spcAft>
              <a:buSzPct val="100000"/>
              <a:buChar char="•"/>
            </a:pPr>
            <a:r>
              <a:rPr lang="en-US" sz="1400" dirty="0">
                <a:solidFill>
                  <a:schemeClr val="tx1"/>
                </a:solidFill>
              </a:rPr>
              <a:t>Kültür merkezi, göl çevresi, spor</a:t>
            </a:r>
            <a:endParaRPr lang="en-US" sz="1400" dirty="0"/>
          </a:p>
        </p:txBody>
      </p:sp>
      <p:sp>
        <p:nvSpPr>
          <p:cNvPr id="22" name="Karar kapısı"/>
          <p:cNvSpPr/>
          <p:nvPr/>
        </p:nvSpPr>
        <p:spPr>
          <a:xfrm>
            <a:off x="9040901" y="1645920"/>
            <a:ext cx="457200" cy="457200"/>
          </a:xfrm>
          <a:prstGeom prst="diamond">
            <a:avLst/>
          </a:prstGeom>
          <a:solidFill>
            <a:schemeClr val="accent1"/>
          </a:solidFill>
          <a:ln/>
        </p:spPr>
      </p:sp>
      <p:sp>
        <p:nvSpPr>
          <p:cNvPr id="23" name="Text 21"/>
          <p:cNvSpPr txBox="1"/>
          <p:nvPr/>
        </p:nvSpPr>
        <p:spPr>
          <a:xfrm>
            <a:off x="9607829"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4</a:t>
            </a:r>
            <a:endParaRPr lang="en-US" sz="1400" dirty="0"/>
          </a:p>
          <a:p>
            <a:pPr indent="0" marL="0">
              <a:buNone/>
            </a:pPr>
            <a:r>
              <a:rPr lang="en-US" sz="1400" dirty="0">
                <a:solidFill>
                  <a:schemeClr val="tx1"/>
                </a:solidFill>
              </a:rPr>
              <a:t>Saatte 4–5 bin yolcu</a:t>
            </a:r>
            <a:endParaRPr lang="en-US" sz="1400" dirty="0"/>
          </a:p>
        </p:txBody>
      </p:sp>
      <p:sp>
        <p:nvSpPr>
          <p:cNvPr id="24" name="Kart"/>
          <p:cNvSpPr/>
          <p:nvPr/>
        </p:nvSpPr>
        <p:spPr>
          <a:xfrm>
            <a:off x="9040901"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9242069"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2</a:t>
            </a:r>
            <a:endParaRPr lang="en-US" sz="2000" dirty="0"/>
          </a:p>
        </p:txBody>
      </p:sp>
      <p:sp>
        <p:nvSpPr>
          <p:cNvPr id="26" name="Text 24"/>
          <p:cNvSpPr txBox="1"/>
          <p:nvPr/>
        </p:nvSpPr>
        <p:spPr>
          <a:xfrm>
            <a:off x="9242069"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6–12 yıl</a:t>
            </a:r>
            <a:endParaRPr lang="en-US" sz="1300" dirty="0"/>
          </a:p>
        </p:txBody>
      </p:sp>
      <p:sp>
        <p:nvSpPr>
          <p:cNvPr id="27" name="Text 25"/>
          <p:cNvSpPr txBox="1"/>
          <p:nvPr/>
        </p:nvSpPr>
        <p:spPr>
          <a:xfrm>
            <a:off x="9242069"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Hafif raylı sisteme bağlantı</a:t>
            </a:r>
            <a:endParaRPr lang="en-US" sz="1400" dirty="0"/>
          </a:p>
          <a:p>
            <a:pPr marL="342900" indent="-342900">
              <a:spcAft>
                <a:spcPts val="600"/>
              </a:spcAft>
              <a:buSzPct val="100000"/>
              <a:buChar char="•"/>
            </a:pPr>
            <a:r>
              <a:rPr lang="en-US" sz="1400" dirty="0">
                <a:solidFill>
                  <a:schemeClr val="tx1"/>
                </a:solidFill>
              </a:rPr>
              <a:t>MYO ile ortak programlar</a:t>
            </a:r>
            <a:endParaRPr lang="en-US" sz="1400" dirty="0"/>
          </a:p>
          <a:p>
            <a:pPr marL="342900" indent="-342900">
              <a:spcAft>
                <a:spcPts val="600"/>
              </a:spcAft>
              <a:buSzPct val="100000"/>
              <a:buChar char="•"/>
            </a:pPr>
            <a:r>
              <a:rPr lang="en-US" sz="1400" dirty="0">
                <a:solidFill>
                  <a:schemeClr val="tx1"/>
                </a:solidFill>
              </a:rPr>
              <a:t>Kalan konut etapları</a:t>
            </a:r>
            <a:endParaRPr lang="en-US" sz="1400" dirty="0"/>
          </a:p>
        </p:txBody>
      </p:sp>
      <p:sp>
        <p:nvSpPr>
          <p:cNvPr id="28" name="Kart"/>
          <p:cNvSpPr/>
          <p:nvPr/>
        </p:nvSpPr>
        <p:spPr>
          <a:xfrm>
            <a:off x="548640" y="5486400"/>
            <a:ext cx="11094415" cy="548640"/>
          </a:xfrm>
          <a:prstGeom prst="roundRect">
            <a:avLst>
              <a:gd name="adj" fmla="val 13333"/>
            </a:avLst>
          </a:prstGeom>
          <a:solidFill>
            <a:schemeClr val="bg1"/>
          </a:solidFill>
          <a:ln w="12700">
            <a:solidFill>
              <a:srgbClr val="DDD8CC"/>
            </a:solidFill>
            <a:prstDash val="solid"/>
          </a:ln>
        </p:spPr>
      </p:sp>
      <p:sp>
        <p:nvSpPr>
          <p:cNvPr id="29" name="Text 27"/>
          <p:cNvSpPr txBox="1"/>
          <p:nvPr/>
        </p:nvSpPr>
        <p:spPr>
          <a:xfrm>
            <a:off x="777240" y="5486400"/>
            <a:ext cx="10637215" cy="548640"/>
          </a:xfrm>
          <a:prstGeom prst="rect">
            <a:avLst/>
          </a:prstGeom>
          <a:noFill/>
          <a:ln/>
        </p:spPr>
        <p:txBody>
          <a:bodyPr wrap="square" lIns="0" tIns="0" rIns="0" bIns="0" rtlCol="0" anchor="ctr"/>
          <a:lstStyle/>
          <a:p>
            <a:pPr indent="0" marL="0">
              <a:buNone/>
            </a:pPr>
            <a:r>
              <a:rPr lang="en-US" sz="1400" b="1" dirty="0">
                <a:solidFill>
                  <a:schemeClr val="accent1"/>
                </a:solidFill>
              </a:rPr>
              <a:t>Etap ilkesi: </a:t>
            </a:r>
            <a:pPr indent="0" marL="0">
              <a:buNone/>
            </a:pPr>
            <a:r>
              <a:rPr lang="en-US" sz="1400" dirty="0">
                <a:solidFill>
                  <a:schemeClr val="tx1"/>
                </a:solidFill>
              </a:rPr>
              <a:t>her konut etabının okul, sağlık ve ulaşım hizmetleriyle eş zamanlı açılması; etap büyüklüğünün ön talep anketiyle belirlenmesi.</a:t>
            </a:r>
            <a:endParaRPr lang="en-US" sz="1400" dirty="0"/>
          </a:p>
        </p:txBody>
      </p:sp>
      <p:sp>
        <p:nvSpPr>
          <p:cNvPr id="30" name="Text 2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Süreler arazinin tahsisinden ve ilk konut tesliminden sayılır; hedef yıl belirlenince takvim yıllara çevrilecek.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REFERANSLAR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Referanslarımız: bölgedeki projelerimiz</a:t>
            </a:r>
            <a:endParaRPr lang="en-US" sz="3600" dirty="0"/>
          </a:p>
        </p:txBody>
      </p:sp>
      <p:sp>
        <p:nvSpPr>
          <p:cNvPr id="4" name="Kart"/>
          <p:cNvSpPr/>
          <p:nvPr/>
        </p:nvSpPr>
        <p:spPr>
          <a:xfrm>
            <a:off x="548640" y="1600200"/>
            <a:ext cx="5943600" cy="3429000"/>
          </a:xfrm>
          <a:prstGeom prst="roundRect">
            <a:avLst>
              <a:gd name="adj" fmla="val 2133"/>
            </a:avLst>
          </a:prstGeom>
          <a:solidFill>
            <a:schemeClr val="bg1"/>
          </a:solidFill>
          <a:ln/>
          <a:effectLst>
            <a:outerShdw sx="100000" sy="100000" kx="0" ky="0" algn="bl" rotWithShape="0" blurRad="76200" dist="19050" dir="5400000">
              <a:srgbClr val="000000">
                <a:alpha val="12000"/>
              </a:srgbClr>
            </a:outerShdw>
          </a:effectLst>
        </p:spPr>
      </p:sp>
      <p:pic>
        <p:nvPicPr>
          <p:cNvPr id="5" name="TAI Ankara Lodgings vaziyet perspektifi" descr="/home/user/sunum/araclar/sunum/assets/ref_tai_ankara.jpg">    </p:cNvPr>
          <p:cNvPicPr>
            <a:picLocks noChangeAspect="1"/>
          </p:cNvPicPr>
          <p:nvPr/>
        </p:nvPicPr>
        <p:blipFill>
          <a:blip r:embed="rId1"/>
          <a:stretch>
            <a:fillRect/>
          </a:stretch>
        </p:blipFill>
        <p:spPr>
          <a:xfrm>
            <a:off x="548640" y="1600200"/>
            <a:ext cx="5943600" cy="2366083"/>
          </a:xfrm>
          <a:prstGeom prst="rect">
            <a:avLst/>
          </a:prstGeom>
        </p:spPr>
      </p:pic>
      <p:sp>
        <p:nvSpPr>
          <p:cNvPr id="6" name="Text 3"/>
          <p:cNvSpPr txBox="1"/>
          <p:nvPr/>
        </p:nvSpPr>
        <p:spPr>
          <a:xfrm>
            <a:off x="777240" y="4103443"/>
            <a:ext cx="5486400" cy="347472"/>
          </a:xfrm>
          <a:prstGeom prst="rect">
            <a:avLst/>
          </a:prstGeom>
          <a:noFill/>
          <a:ln/>
        </p:spPr>
        <p:txBody>
          <a:bodyPr wrap="square" lIns="0" tIns="0" rIns="0" bIns="0" rtlCol="0" anchor="ctr"/>
          <a:lstStyle/>
          <a:p>
            <a:pPr indent="0" marL="0">
              <a:buNone/>
            </a:pPr>
            <a:r>
              <a:rPr lang="en-US" sz="1800" b="1" dirty="0">
                <a:solidFill>
                  <a:schemeClr val="tx2"/>
                </a:solidFill>
              </a:rPr>
              <a:t>TAI Ankara Lodgings  </a:t>
            </a:r>
            <a:pPr indent="0" marL="0">
              <a:buNone/>
            </a:pPr>
            <a:r>
              <a:rPr lang="en-US" sz="1300" b="1" dirty="0">
                <a:solidFill>
                  <a:schemeClr val="accent1"/>
                </a:solidFill>
              </a:rPr>
              <a:t>Kahramankazan · 2022 · 400.000 m² · 1.500 konut</a:t>
            </a:r>
            <a:endParaRPr lang="en-US" sz="1400" dirty="0"/>
          </a:p>
        </p:txBody>
      </p:sp>
      <p:sp>
        <p:nvSpPr>
          <p:cNvPr id="7" name="Text 4"/>
          <p:cNvSpPr txBox="1"/>
          <p:nvPr/>
        </p:nvSpPr>
        <p:spPr>
          <a:xfrm>
            <a:off x="777240" y="4487491"/>
            <a:ext cx="5486400" cy="566928"/>
          </a:xfrm>
          <a:prstGeom prst="rect">
            <a:avLst/>
          </a:prstGeom>
          <a:noFill/>
          <a:ln/>
        </p:spPr>
        <p:txBody>
          <a:bodyPr wrap="square" lIns="0" tIns="0" rIns="0" bIns="0" rtlCol="0" anchor="t"/>
          <a:lstStyle/>
          <a:p>
            <a:pPr indent="0" marL="0">
              <a:buNone/>
            </a:pPr>
            <a:r>
              <a:rPr lang="en-US" sz="1400" dirty="0">
                <a:solidFill>
                  <a:schemeClr val="tx1"/>
                </a:solidFill>
              </a:rPr>
              <a:t>Savunma sanayi çalışanları için yeni konut mahallesi; yeşil omurga boyunca okul, sağlık ocağı, kütüphane ve spor tesisleri yürüme mesafesinde.</a:t>
            </a:r>
            <a:endParaRPr lang="en-US" sz="1400" dirty="0"/>
          </a:p>
        </p:txBody>
      </p:sp>
      <p:sp>
        <p:nvSpPr>
          <p:cNvPr id="8" name="Kart"/>
          <p:cNvSpPr/>
          <p:nvPr/>
        </p:nvSpPr>
        <p:spPr>
          <a:xfrm>
            <a:off x="548640" y="5212080"/>
            <a:ext cx="5943600" cy="777240"/>
          </a:xfrm>
          <a:prstGeom prst="roundRect">
            <a:avLst>
              <a:gd name="adj" fmla="val 9412"/>
            </a:avLst>
          </a:prstGeom>
          <a:solidFill>
            <a:schemeClr val="bg1"/>
          </a:solidFill>
          <a:ln/>
          <a:effectLst>
            <a:outerShdw sx="100000" sy="100000" kx="0" ky="0" algn="bl" rotWithShape="0" blurRad="76200" dist="19050" dir="5400000">
              <a:srgbClr val="000000">
                <a:alpha val="12000"/>
              </a:srgbClr>
            </a:outerShdw>
          </a:effectLst>
        </p:spPr>
      </p:sp>
      <p:sp>
        <p:nvSpPr>
          <p:cNvPr id="9" name="İkon zemini"/>
          <p:cNvSpPr/>
          <p:nvPr/>
        </p:nvSpPr>
        <p:spPr>
          <a:xfrm>
            <a:off x="731520" y="5330952"/>
            <a:ext cx="548640" cy="548640"/>
          </a:xfrm>
          <a:prstGeom prst="ellipse">
            <a:avLst/>
          </a:prstGeom>
          <a:solidFill>
            <a:schemeClr val="accent1"/>
          </a:solidFill>
          <a:ln/>
        </p:spPr>
      </p:sp>
      <p:pic>
        <p:nvPicPr>
          <p:cNvPr id="10" name="İkon FaIndustry" descr="preencoded.png">    </p:cNvPr>
          <p:cNvPicPr>
            <a:picLocks noChangeAspect="1"/>
          </p:cNvPicPr>
          <p:nvPr/>
        </p:nvPicPr>
        <p:blipFill>
          <a:blip r:embed="rId2"/>
          <a:stretch>
            <a:fillRect/>
          </a:stretch>
        </p:blipFill>
        <p:spPr>
          <a:xfrm>
            <a:off x="863194" y="5462626"/>
            <a:ext cx="285293" cy="285293"/>
          </a:xfrm>
          <a:prstGeom prst="rect">
            <a:avLst/>
          </a:prstGeom>
        </p:spPr>
      </p:pic>
      <p:sp>
        <p:nvSpPr>
          <p:cNvPr id="11" name="Text 7"/>
          <p:cNvSpPr txBox="1"/>
          <p:nvPr/>
        </p:nvSpPr>
        <p:spPr>
          <a:xfrm>
            <a:off x="1417320" y="5285232"/>
            <a:ext cx="4892040" cy="658368"/>
          </a:xfrm>
          <a:prstGeom prst="rect">
            <a:avLst/>
          </a:prstGeom>
          <a:noFill/>
          <a:ln/>
        </p:spPr>
        <p:txBody>
          <a:bodyPr wrap="square" lIns="0" tIns="0" rIns="0" bIns="0" rtlCol="0" anchor="ctr"/>
          <a:lstStyle/>
          <a:p>
            <a:pPr indent="0" marL="0">
              <a:buNone/>
            </a:pPr>
            <a:r>
              <a:rPr lang="en-US" sz="1500" b="1" dirty="0">
                <a:solidFill>
                  <a:schemeClr val="tx2"/>
                </a:solidFill>
              </a:rPr>
              <a:t>TAI Kahramanmaraş Lodgings and Factory</a:t>
            </a:r>
            <a:endParaRPr lang="en-US" sz="1400" dirty="0"/>
          </a:p>
          <a:p>
            <a:pPr indent="0" marL="0">
              <a:buNone/>
            </a:pPr>
            <a:r>
              <a:rPr lang="en-US" sz="1300" dirty="0">
                <a:solidFill>
                  <a:schemeClr val="tx1"/>
                </a:solidFill>
              </a:rPr>
              <a:t>Lojmanlar ve fabrika: çalışan konutu ile üretim tesisi birlikte tasarlandı.</a:t>
            </a:r>
            <a:endParaRPr lang="en-US" sz="1400" dirty="0"/>
          </a:p>
        </p:txBody>
      </p:sp>
      <p:pic>
        <p:nvPicPr>
          <p:cNvPr id="12" name="Kahramankazan Kentsel Dönüşüm" descr="/home/user/sunum/araclar/sunum/assets/ref_kentsel_donusum.jpg">    </p:cNvPr>
          <p:cNvPicPr>
            <a:picLocks noChangeAspect="1"/>
          </p:cNvPicPr>
          <p:nvPr/>
        </p:nvPicPr>
        <p:blipFill>
          <a:blip r:embed="rId3"/>
          <a:stretch>
            <a:fillRect/>
          </a:stretch>
        </p:blipFill>
        <p:spPr>
          <a:xfrm>
            <a:off x="6812280" y="1600200"/>
            <a:ext cx="2323948" cy="1206619"/>
          </a:xfrm>
          <a:prstGeom prst="rect">
            <a:avLst/>
          </a:prstGeom>
        </p:spPr>
      </p:pic>
      <p:pic>
        <p:nvPicPr>
          <p:cNvPr id="13" name="Kahramankazan Kent Merkezi" descr="/home/user/sunum/araclar/sunum/assets/ref_kent_merkezi.jpg">    </p:cNvPr>
          <p:cNvPicPr>
            <a:picLocks noChangeAspect="1"/>
          </p:cNvPicPr>
          <p:nvPr/>
        </p:nvPicPr>
        <p:blipFill>
          <a:blip r:embed="rId4"/>
          <a:stretch>
            <a:fillRect/>
          </a:stretch>
        </p:blipFill>
        <p:spPr>
          <a:xfrm>
            <a:off x="9319108" y="1600200"/>
            <a:ext cx="2323948" cy="1206619"/>
          </a:xfrm>
          <a:prstGeom prst="rect">
            <a:avLst/>
          </a:prstGeom>
        </p:spPr>
      </p:pic>
      <p:sp>
        <p:nvSpPr>
          <p:cNvPr id="14" name="Text 8"/>
          <p:cNvSpPr txBox="1"/>
          <p:nvPr/>
        </p:nvSpPr>
        <p:spPr>
          <a:xfrm>
            <a:off x="6812280"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Kentsel Dönüşüm</a:t>
            </a:r>
            <a:endParaRPr lang="en-US" sz="1100" dirty="0"/>
          </a:p>
        </p:txBody>
      </p:sp>
      <p:sp>
        <p:nvSpPr>
          <p:cNvPr id="15" name="Text 9"/>
          <p:cNvSpPr txBox="1"/>
          <p:nvPr/>
        </p:nvSpPr>
        <p:spPr>
          <a:xfrm>
            <a:off x="9319108"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 Merkezi</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812280" y="3218299"/>
          <a:ext cx="4830775" cy="914400"/>
        </p:xfrm>
        <a:graphic>
          <a:graphicData uri="http://schemas.openxmlformats.org/drawingml/2006/table">
            <a:tbl>
              <a:tblPr/>
              <a:tblGrid>
                <a:gridCol w="2240280"/>
                <a:gridCol w="502920"/>
                <a:gridCol w="987552"/>
                <a:gridCol w="1100023"/>
              </a:tblGrid>
              <a:tr h="384048">
                <a:tc>
                  <a:txBody>
                    <a:bodyPr/>
                    <a:lstStyle/>
                    <a:p>
                      <a:pPr algn="l" indent="0" marL="0">
                        <a:buNone/>
                      </a:pPr>
                      <a:r>
                        <a:rPr lang="en-US" sz="1300" b="1" dirty="0">
                          <a:solidFill>
                            <a:srgbClr val="FFFFFF"/>
                          </a:solidFill>
                        </a:rPr>
                        <a:t>Proje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Yıl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Alan (m²)</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l" indent="0" marL="0">
                        <a:buNone/>
                      </a:pPr>
                      <a:r>
                        <a:rPr lang="en-US" sz="1300" b="1" dirty="0">
                          <a:solidFill>
                            <a:srgbClr val="FFFFFF"/>
                          </a:solidFill>
                        </a:rPr>
                        <a:t>Rol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algn="l" indent="0" marL="0">
                        <a:buNone/>
                      </a:pPr>
                      <a:r>
                        <a:rPr lang="en-US" sz="1300" dirty="0">
                          <a:solidFill>
                            <a:srgbClr val="1B2430"/>
                          </a:solidFill>
                        </a:rPr>
                        <a:t>Kahramankazan Kentsel Dönüşüm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523.000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Kahramankazan Kent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412.175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Serapınar Termal Yaşam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3.000.000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GIA Büyük Sanayi Alanı, Niğde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2024</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29.000.000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7" name="Text 10"/>
          <p:cNvSpPr txBox="1"/>
          <p:nvPr/>
        </p:nvSpPr>
        <p:spPr>
          <a:xfrm>
            <a:off x="6812280" y="5513832"/>
            <a:ext cx="4830775" cy="502920"/>
          </a:xfrm>
          <a:prstGeom prst="rect">
            <a:avLst/>
          </a:prstGeom>
          <a:noFill/>
          <a:ln/>
        </p:spPr>
        <p:txBody>
          <a:bodyPr wrap="square" lIns="0" tIns="0" rIns="0" bIns="0" rtlCol="0" anchor="t"/>
          <a:lstStyle/>
          <a:p>
            <a:pPr indent="0" marL="0">
              <a:buNone/>
            </a:pPr>
            <a:r>
              <a:rPr lang="en-US" sz="1300" b="1" dirty="0">
                <a:solidFill>
                  <a:schemeClr val="tx2"/>
                </a:solidFill>
              </a:rPr>
              <a:t>Savunma sanayinde ayrıca: </a:t>
            </a:r>
            <a:pPr indent="0" marL="0">
              <a:buNone/>
            </a:pPr>
            <a:r>
              <a:rPr lang="en-US" sz="1300" dirty="0">
                <a:solidFill>
                  <a:schemeClr val="tx1"/>
                </a:solidFill>
              </a:rPr>
              <a:t>MKE Teknopark ve Genel Müdürlük Binası (2020), TR Motor ofis ve fabrika binaları (2023).</a:t>
            </a:r>
            <a:endParaRPr lang="en-US" sz="13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ve görseller: Belen &amp; Partners kurumsal portföyü (Ağustos 2025). Roller portföydeki gibidir.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Riskler ve azaltma önlemleri</a:t>
            </a:r>
            <a:endParaRPr lang="en-US" sz="3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29000"/>
                <a:gridCol w="3108960"/>
                <a:gridCol w="4556455"/>
              </a:tblGrid>
              <a:tr h="475488">
                <a:tc>
                  <a:txBody>
                    <a:bodyPr/>
                    <a:lstStyle/>
                    <a:p>
                      <a:pPr indent="0" marL="0">
                        <a:buNone/>
                      </a:pPr>
                      <a:r>
                        <a:rPr lang="en-US" sz="1400" b="1" dirty="0">
                          <a:solidFill>
                            <a:srgbClr val="FFFFFF"/>
                          </a:solidFill>
                        </a:rPr>
                        <a:t>Risk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Etkisi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Önlem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75488">
                <a:tc>
                  <a:txBody>
                    <a:bodyPr/>
                    <a:lstStyle/>
                    <a:p>
                      <a:pPr indent="0" marL="0">
                        <a:buNone/>
                      </a:pPr>
                      <a:r>
                        <a:rPr lang="en-US" sz="1400" b="1" dirty="0">
                          <a:solidFill>
                            <a:srgbClr val="1B2430"/>
                          </a:solidFill>
                        </a:rPr>
                        <a:t>Yamaçların orman ya da ağaçlandırma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Yapılaşabilir alan küçülür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sunumdan önce teyit; program yamaçları zaten koruyor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Zemin: jips, marn, şişen kil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 artar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Jeoteknik etüt; yapılar platolarda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Kuraklık ve su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Göl dolumu ve peyzaj sulaması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Yağmur suyu ve arıtılmış atıksu; şebeke yalnızca acil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Uçuş ve test gürültüsü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Alıcı algısı, okul ve sağlık konforu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 gerekirse hassas yapılar uzakta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Hizmetlerin geç gelmesi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"Yatak odası kent" (Sejong, Songdo)</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0: hizmetler konutla aynı gün; modüler yapılar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Talep belirsizliği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Etap büyüklüğü şaşar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çalışanlarına ön talep anketi; etaplı gelişme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Plan ve imar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Takvim uzar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ve üst ölçek plan kararı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Maliyet artışı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Yatırım tutarı yükselir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Yüksek senaryo 15,9 milyar TL; yıllık güncelleme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Ayrıntılı risk tablosu ve teyit listesi raporda yer alır.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KARAR</a:t>
            </a: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lIns="0" tIns="0" rIns="0" bIns="0" rtlCol="0" anchor="t"/>
          <a:lstStyle/>
          <a:p>
            <a:pPr algn="l" indent="0" marL="0">
              <a:buNone/>
            </a:pPr>
            <a:r>
              <a:rPr lang="en-US" sz="3600" b="1" dirty="0">
                <a:solidFill>
                  <a:schemeClr val="bg1"/>
                </a:solidFill>
              </a:rPr>
              <a:t>Karar talebi ve sonraki adımlar</a:t>
            </a:r>
            <a:endParaRPr lang="en-US" sz="3600" dirty="0"/>
          </a:p>
        </p:txBody>
      </p:sp>
      <p:pic>
        <p:nvPicPr>
          <p:cNvPr id="4" name="Plato tarlaları" descr="/home/user/sunum/araclar/sunum/assets/karar.jpg">    </p:cNvPr>
          <p:cNvPicPr>
            <a:picLocks noChangeAspect="1"/>
          </p:cNvPicPr>
          <p:nvPr/>
        </p:nvPicPr>
        <p:blipFill>
          <a:blip r:embed="rId1"/>
          <a:stretch>
            <a:fillRect/>
          </a:stretch>
        </p:blipFill>
        <p:spPr>
          <a:xfrm>
            <a:off x="8031175" y="0"/>
            <a:ext cx="4160520" cy="6858000"/>
          </a:xfrm>
          <a:prstGeom prst="rect">
            <a:avLst/>
          </a:prstGeom>
        </p:spPr>
      </p:pic>
      <p:sp>
        <p:nvSpPr>
          <p:cNvPr id="5" name="Karar kutusu"/>
          <p:cNvSpPr/>
          <p:nvPr/>
        </p:nvSpPr>
        <p:spPr>
          <a:xfrm>
            <a:off x="548640" y="1600200"/>
            <a:ext cx="7071055" cy="1600200"/>
          </a:xfrm>
          <a:prstGeom prst="roundRect">
            <a:avLst>
              <a:gd name="adj" fmla="val 4571"/>
            </a:avLst>
          </a:prstGeom>
          <a:solidFill>
            <a:schemeClr val="bg1">
              <a:alpha val="12000"/>
            </a:schemeClr>
          </a:solidFill>
          <a:ln w="19050">
            <a:solidFill>
              <a:schemeClr val="accent4"/>
            </a:solidFill>
            <a:prstDash val="solid"/>
          </a:ln>
        </p:spPr>
      </p:sp>
      <p:sp>
        <p:nvSpPr>
          <p:cNvPr id="6" name="Text 3"/>
          <p:cNvSpPr txBox="1"/>
          <p:nvPr/>
        </p:nvSpPr>
        <p:spPr>
          <a:xfrm>
            <a:off x="822960" y="1764792"/>
            <a:ext cx="6522415" cy="132588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Talep</a:t>
            </a:r>
            <a:endParaRPr lang="en-US" sz="1400" dirty="0"/>
          </a:p>
          <a:p>
            <a:pPr indent="0" marL="0">
              <a:spcAft>
                <a:spcPts val="400"/>
              </a:spcAft>
              <a:buNone/>
            </a:pPr>
            <a:r>
              <a:rPr lang="en-US" sz="1800" dirty="0">
                <a:solidFill>
                  <a:schemeClr val="bg1"/>
                </a:solidFill>
                <a:latin typeface="Cambria" pitchFamily="34" charset="0"/>
                <a:ea typeface="Cambria" pitchFamily="34" charset="-122"/>
                <a:cs typeface="Cambria" pitchFamily="34" charset="-120"/>
              </a:rPr>
              <a:t>Sarıayak'taki 511.000 m²'lik Hazine arazisinin, savunma ve havacılık sanayi çalışanlarına yönelik bir yaşam alanı (Kahramankazan Uydukent) olarak değerlendirilmesi talep edilmektedir.</a:t>
            </a:r>
            <a:endParaRPr lang="en-US" sz="1400" dirty="0"/>
          </a:p>
        </p:txBody>
      </p:sp>
      <p:sp>
        <p:nvSpPr>
          <p:cNvPr id="7" name="Adım numarası"/>
          <p:cNvSpPr/>
          <p:nvPr/>
        </p:nvSpPr>
        <p:spPr>
          <a:xfrm>
            <a:off x="548640" y="342900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8" name="Text 5"/>
          <p:cNvSpPr txBox="1"/>
          <p:nvPr/>
        </p:nvSpPr>
        <p:spPr>
          <a:xfrm>
            <a:off x="1143000" y="3410712"/>
            <a:ext cx="6476695" cy="457200"/>
          </a:xfrm>
          <a:prstGeom prst="rect">
            <a:avLst/>
          </a:prstGeom>
          <a:noFill/>
          <a:ln/>
        </p:spPr>
        <p:txBody>
          <a:bodyPr wrap="square" lIns="0" tIns="0" rIns="0" bIns="0" rtlCol="0" anchor="ctr"/>
          <a:lstStyle/>
          <a:p>
            <a:pPr indent="0" marL="0">
              <a:buNone/>
            </a:pPr>
            <a:r>
              <a:rPr lang="en-US" sz="1600" dirty="0">
                <a:solidFill>
                  <a:schemeClr val="bg1"/>
                </a:solidFill>
              </a:rPr>
              <a:t>Sarıayak parselinin bilgileri ve sayısal halihazır haritanın temini</a:t>
            </a:r>
            <a:endParaRPr lang="en-US" sz="1600" dirty="0"/>
          </a:p>
        </p:txBody>
      </p:sp>
      <p:sp>
        <p:nvSpPr>
          <p:cNvPr id="9" name="Adım numarası"/>
          <p:cNvSpPr/>
          <p:nvPr/>
        </p:nvSpPr>
        <p:spPr>
          <a:xfrm>
            <a:off x="548640" y="400507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 7"/>
          <p:cNvSpPr txBox="1"/>
          <p:nvPr/>
        </p:nvSpPr>
        <p:spPr>
          <a:xfrm>
            <a:off x="1143000" y="3986784"/>
            <a:ext cx="6476695" cy="457200"/>
          </a:xfrm>
          <a:prstGeom prst="rect">
            <a:avLst/>
          </a:prstGeom>
          <a:noFill/>
          <a:ln/>
        </p:spPr>
        <p:txBody>
          <a:bodyPr wrap="square" lIns="0" tIns="0" rIns="0" bIns="0" rtlCol="0" anchor="ctr"/>
          <a:lstStyle/>
          <a:p>
            <a:pPr indent="0" marL="0">
              <a:buNone/>
            </a:pPr>
            <a:r>
              <a:rPr lang="en-US" sz="1600" dirty="0">
                <a:solidFill>
                  <a:schemeClr val="bg1"/>
                </a:solidFill>
              </a:rPr>
              <a:t>Yamaçların hukuki statüsünün (6831) belirlenmesi ve zemin etüdü</a:t>
            </a:r>
            <a:endParaRPr lang="en-US" sz="1600" dirty="0"/>
          </a:p>
        </p:txBody>
      </p:sp>
      <p:sp>
        <p:nvSpPr>
          <p:cNvPr id="11" name="Adım numarası"/>
          <p:cNvSpPr/>
          <p:nvPr/>
        </p:nvSpPr>
        <p:spPr>
          <a:xfrm>
            <a:off x="548640" y="4581144"/>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2" name="Text 9"/>
          <p:cNvSpPr txBox="1"/>
          <p:nvPr/>
        </p:nvSpPr>
        <p:spPr>
          <a:xfrm>
            <a:off x="1143000" y="4562856"/>
            <a:ext cx="6476695" cy="457200"/>
          </a:xfrm>
          <a:prstGeom prst="rect">
            <a:avLst/>
          </a:prstGeom>
          <a:noFill/>
          <a:ln/>
        </p:spPr>
        <p:txBody>
          <a:bodyPr wrap="square" lIns="0" tIns="0" rIns="0" bIns="0" rtlCol="0" anchor="ctr"/>
          <a:lstStyle/>
          <a:p>
            <a:pPr indent="0" marL="0">
              <a:buNone/>
            </a:pPr>
            <a:r>
              <a:rPr lang="en-US" sz="1600" dirty="0">
                <a:solidFill>
                  <a:schemeClr val="bg1"/>
                </a:solidFill>
              </a:rPr>
              <a:t>İmar durumu ile ASKİ, Başkent EDAŞ ve Başkentgaz kapasite görüşleri</a:t>
            </a:r>
            <a:endParaRPr lang="en-US" sz="1600" dirty="0"/>
          </a:p>
        </p:txBody>
      </p:sp>
      <p:sp>
        <p:nvSpPr>
          <p:cNvPr id="13" name="Adım numarası"/>
          <p:cNvSpPr/>
          <p:nvPr/>
        </p:nvSpPr>
        <p:spPr>
          <a:xfrm>
            <a:off x="548640" y="515721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4" name="Text 11"/>
          <p:cNvSpPr txBox="1"/>
          <p:nvPr/>
        </p:nvSpPr>
        <p:spPr>
          <a:xfrm>
            <a:off x="1143000" y="5138928"/>
            <a:ext cx="6476695" cy="457200"/>
          </a:xfrm>
          <a:prstGeom prst="rect">
            <a:avLst/>
          </a:prstGeom>
          <a:noFill/>
          <a:ln/>
        </p:spPr>
        <p:txBody>
          <a:bodyPr wrap="square" lIns="0" tIns="0" rIns="0" bIns="0" rtlCol="0" anchor="ctr"/>
          <a:lstStyle/>
          <a:p>
            <a:pPr indent="0" marL="0">
              <a:buNone/>
            </a:pPr>
            <a:r>
              <a:rPr lang="en-US" sz="1600" dirty="0">
                <a:solidFill>
                  <a:schemeClr val="bg1"/>
                </a:solidFill>
              </a:rPr>
              <a:t>Savunma sanayi çalışanlarına yönelik ön talep anketi</a:t>
            </a:r>
            <a:endParaRPr lang="en-US" sz="1600" dirty="0"/>
          </a:p>
        </p:txBody>
      </p:sp>
      <p:sp>
        <p:nvSpPr>
          <p:cNvPr id="15" name="Adım numarası"/>
          <p:cNvSpPr/>
          <p:nvPr/>
        </p:nvSpPr>
        <p:spPr>
          <a:xfrm>
            <a:off x="548640" y="5733288"/>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5</a:t>
            </a:r>
            <a:endParaRPr lang="en-US" sz="1500" dirty="0"/>
          </a:p>
        </p:txBody>
      </p:sp>
      <p:sp>
        <p:nvSpPr>
          <p:cNvPr id="16" name="Text 13"/>
          <p:cNvSpPr txBox="1"/>
          <p:nvPr/>
        </p:nvSpPr>
        <p:spPr>
          <a:xfrm>
            <a:off x="1143000" y="5715000"/>
            <a:ext cx="6476695" cy="457200"/>
          </a:xfrm>
          <a:prstGeom prst="rect">
            <a:avLst/>
          </a:prstGeom>
          <a:noFill/>
          <a:ln/>
        </p:spPr>
        <p:txBody>
          <a:bodyPr wrap="square" lIns="0" tIns="0" rIns="0" bIns="0" rtlCol="0" anchor="ctr"/>
          <a:lstStyle/>
          <a:p>
            <a:pPr indent="0" marL="0">
              <a:buNone/>
            </a:pPr>
            <a:r>
              <a:rPr lang="en-US" sz="1600" dirty="0">
                <a:solidFill>
                  <a:schemeClr val="bg1"/>
                </a:solidFill>
              </a:rPr>
              <a:t>SSB, sanayi kuruluşları, ABB, Kahramankazan Belediyesi, MEB ve Sağlık Bakanlığı ile çalışma grubunun kurulması</a:t>
            </a:r>
            <a:endParaRPr lang="en-US" sz="1600" dirty="0"/>
          </a:p>
        </p:txBody>
      </p:sp>
    </p:spTree>
  </p:cSld>
  <p:clrMapOvr>
    <a:masterClrMapping/>
  </p:clrMapOvr>
</p:sld>
</file>

<file path=ppt/theme/theme1.xml><?xml version="1.0" encoding="utf-8"?>
<a:theme xmlns:a="http://schemas.openxmlformats.org/drawingml/2006/main" name="Uydukent">
  <a:themeElements>
    <a:clrScheme name="Uydukent">
      <a:dk1>
        <a:srgbClr val="1B2430"/>
      </a:dk1>
      <a:lt1>
        <a:srgbClr val="FFFFFF"/>
      </a:lt1>
      <a:dk2>
        <a:srgbClr val="0B2E4F"/>
      </a:dk2>
      <a:lt2>
        <a:srgbClr val="F6F4EE"/>
      </a:lt2>
      <a:accent1>
        <a:srgbClr val="9A5418"/>
      </a:accent1>
      <a:accent2>
        <a:srgbClr val="3E7CB1"/>
      </a:accent2>
      <a:accent3>
        <a:srgbClr val="6B8F5E"/>
      </a:accent3>
      <a:accent4>
        <a:srgbClr val="D9A441"/>
      </a:accent4>
      <a:accent5>
        <a:srgbClr val="5E6875"/>
      </a:accent5>
      <a:accent6>
        <a:srgbClr val="B5453A"/>
      </a:accent6>
      <a:hlink>
        <a:srgbClr val="3E7CB1"/>
      </a:hlink>
      <a:folHlink>
        <a:srgbClr val="6B5B95"/>
      </a:folHlink>
    </a:clrScheme>
    <a:fontScheme name="Uyduk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Belen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Kahramankazan Uydukent fizibilitesi</dc:title>
  <dc:subject>Savunma ve havacılık sanayi çalışanları için akıllı bir yaşam alanı</dc:subject>
  <dc:creator>Belen &amp; Partners</dc:creator>
  <cp:lastModifiedBy>Belen &amp; Partners</cp:lastModifiedBy>
  <cp:revision>1</cp:revision>
  <dcterms:created xsi:type="dcterms:W3CDTF">2026-10-23T13:48:52Z</dcterms:created>
  <dcterms:modified xsi:type="dcterms:W3CDTF">2026-10-23T13:48:52Z</dcterms:modified>
</cp:coreProperties>
</file>